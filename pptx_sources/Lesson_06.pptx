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8"/>
  </p:notesMasterIdLst>
  <p:sldIdLst>
    <p:sldId id="256" r:id="rId2"/>
    <p:sldId id="275" r:id="rId3"/>
    <p:sldId id="315" r:id="rId4"/>
    <p:sldId id="316" r:id="rId5"/>
    <p:sldId id="317" r:id="rId6"/>
    <p:sldId id="319" r:id="rId7"/>
    <p:sldId id="341" r:id="rId8"/>
    <p:sldId id="322" r:id="rId9"/>
    <p:sldId id="323" r:id="rId10"/>
    <p:sldId id="324" r:id="rId11"/>
    <p:sldId id="325" r:id="rId12"/>
    <p:sldId id="326" r:id="rId13"/>
    <p:sldId id="327" r:id="rId14"/>
    <p:sldId id="332" r:id="rId15"/>
    <p:sldId id="342" r:id="rId16"/>
    <p:sldId id="343" r:id="rId17"/>
    <p:sldId id="344" r:id="rId18"/>
    <p:sldId id="329" r:id="rId19"/>
    <p:sldId id="330" r:id="rId20"/>
    <p:sldId id="331" r:id="rId21"/>
    <p:sldId id="334" r:id="rId22"/>
    <p:sldId id="333" r:id="rId23"/>
    <p:sldId id="348" r:id="rId24"/>
    <p:sldId id="346" r:id="rId25"/>
    <p:sldId id="347" r:id="rId26"/>
    <p:sldId id="26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4BAB93-BC66-4A42-A0C5-B8CA713CB41D}" v="1" dt="2026-08-11T02:25:43.4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30" autoAdjust="0"/>
    <p:restoredTop sz="94660"/>
  </p:normalViewPr>
  <p:slideViewPr>
    <p:cSldViewPr snapToGrid="0">
      <p:cViewPr varScale="1">
        <p:scale>
          <a:sx n="88" d="100"/>
          <a:sy n="88" d="100"/>
        </p:scale>
        <p:origin x="1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ine Labao" userId="d49f38c7da5d9737" providerId="LiveId" clId="{74BAE539-5A96-4830-AD90-F51E8ECC701B}"/>
    <pc:docChg chg="custSel addSld delSld modSld sldOrd">
      <pc:chgData name="Charine Labao" userId="d49f38c7da5d9737" providerId="LiveId" clId="{74BAE539-5A96-4830-AD90-F51E8ECC701B}" dt="2026-08-11T02:47:06.337" v="473" actId="20577"/>
      <pc:docMkLst>
        <pc:docMk/>
      </pc:docMkLst>
      <pc:sldChg chg="modSp mod">
        <pc:chgData name="Charine Labao" userId="d49f38c7da5d9737" providerId="LiveId" clId="{74BAE539-5A96-4830-AD90-F51E8ECC701B}" dt="2026-08-11T02:03:06.328" v="422" actId="20577"/>
        <pc:sldMkLst>
          <pc:docMk/>
          <pc:sldMk cId="153072248" sldId="323"/>
        </pc:sldMkLst>
        <pc:spChg chg="mod">
          <ac:chgData name="Charine Labao" userId="d49f38c7da5d9737" providerId="LiveId" clId="{74BAE539-5A96-4830-AD90-F51E8ECC701B}" dt="2026-08-11T02:03:06.328" v="422" actId="20577"/>
          <ac:spMkLst>
            <pc:docMk/>
            <pc:sldMk cId="153072248" sldId="323"/>
            <ac:spMk id="4" creationId="{27C7F417-607D-A2B2-2A48-A613959ADFF8}"/>
          </ac:spMkLst>
        </pc:spChg>
      </pc:sldChg>
      <pc:sldChg chg="modSp mod">
        <pc:chgData name="Charine Labao" userId="d49f38c7da5d9737" providerId="LiveId" clId="{74BAE539-5A96-4830-AD90-F51E8ECC701B}" dt="2026-08-11T02:14:10.716" v="459" actId="113"/>
        <pc:sldMkLst>
          <pc:docMk/>
          <pc:sldMk cId="2799871934" sldId="327"/>
        </pc:sldMkLst>
        <pc:spChg chg="mod">
          <ac:chgData name="Charine Labao" userId="d49f38c7da5d9737" providerId="LiveId" clId="{74BAE539-5A96-4830-AD90-F51E8ECC701B}" dt="2026-08-11T02:14:10.716" v="459" actId="113"/>
          <ac:spMkLst>
            <pc:docMk/>
            <pc:sldMk cId="2799871934" sldId="327"/>
            <ac:spMk id="2" creationId="{99CF4B50-1F36-EE34-F81B-BC0E70314169}"/>
          </ac:spMkLst>
        </pc:spChg>
      </pc:sldChg>
      <pc:sldChg chg="modSp mod">
        <pc:chgData name="Charine Labao" userId="d49f38c7da5d9737" providerId="LiveId" clId="{74BAE539-5A96-4830-AD90-F51E8ECC701B}" dt="2026-08-11T02:25:46.493" v="461" actId="20577"/>
        <pc:sldMkLst>
          <pc:docMk/>
          <pc:sldMk cId="2938806670" sldId="329"/>
        </pc:sldMkLst>
        <pc:spChg chg="mod">
          <ac:chgData name="Charine Labao" userId="d49f38c7da5d9737" providerId="LiveId" clId="{74BAE539-5A96-4830-AD90-F51E8ECC701B}" dt="2026-08-11T02:25:46.493" v="461" actId="20577"/>
          <ac:spMkLst>
            <pc:docMk/>
            <pc:sldMk cId="2938806670" sldId="329"/>
            <ac:spMk id="10" creationId="{5F639670-F441-F22D-0DD1-78B6D5288D76}"/>
          </ac:spMkLst>
        </pc:spChg>
      </pc:sldChg>
      <pc:sldChg chg="modSp mod">
        <pc:chgData name="Charine Labao" userId="d49f38c7da5d9737" providerId="LiveId" clId="{74BAE539-5A96-4830-AD90-F51E8ECC701B}" dt="2026-08-11T02:18:34.413" v="460" actId="20577"/>
        <pc:sldMkLst>
          <pc:docMk/>
          <pc:sldMk cId="3587796070" sldId="343"/>
        </pc:sldMkLst>
        <pc:spChg chg="mod">
          <ac:chgData name="Charine Labao" userId="d49f38c7da5d9737" providerId="LiveId" clId="{74BAE539-5A96-4830-AD90-F51E8ECC701B}" dt="2026-08-11T02:18:34.413" v="460" actId="20577"/>
          <ac:spMkLst>
            <pc:docMk/>
            <pc:sldMk cId="3587796070" sldId="343"/>
            <ac:spMk id="2" creationId="{1467E2CE-3021-702C-F69D-5D949EDED7DE}"/>
          </ac:spMkLst>
        </pc:spChg>
      </pc:sldChg>
      <pc:sldChg chg="modSp mod">
        <pc:chgData name="Charine Labao" userId="d49f38c7da5d9737" providerId="LiveId" clId="{74BAE539-5A96-4830-AD90-F51E8ECC701B}" dt="2026-08-11T02:47:06.337" v="473" actId="20577"/>
        <pc:sldMkLst>
          <pc:docMk/>
          <pc:sldMk cId="1460382348" sldId="347"/>
        </pc:sldMkLst>
        <pc:spChg chg="mod">
          <ac:chgData name="Charine Labao" userId="d49f38c7da5d9737" providerId="LiveId" clId="{74BAE539-5A96-4830-AD90-F51E8ECC701B}" dt="2026-08-11T02:47:06.337" v="473" actId="20577"/>
          <ac:spMkLst>
            <pc:docMk/>
            <pc:sldMk cId="1460382348" sldId="347"/>
            <ac:spMk id="7" creationId="{14C85C7A-139E-D44D-86E0-C146E1429C37}"/>
          </ac:spMkLst>
        </pc:spChg>
      </pc:sldChg>
      <pc:sldChg chg="modSp mod">
        <pc:chgData name="Charine Labao" userId="d49f38c7da5d9737" providerId="LiveId" clId="{74BAE539-5A96-4830-AD90-F51E8ECC701B}" dt="2026-08-11T02:44:28.631" v="464" actId="20577"/>
        <pc:sldMkLst>
          <pc:docMk/>
          <pc:sldMk cId="660076598" sldId="348"/>
        </pc:sldMkLst>
        <pc:spChg chg="mod">
          <ac:chgData name="Charine Labao" userId="d49f38c7da5d9737" providerId="LiveId" clId="{74BAE539-5A96-4830-AD90-F51E8ECC701B}" dt="2026-08-11T02:44:28.631" v="464" actId="20577"/>
          <ac:spMkLst>
            <pc:docMk/>
            <pc:sldMk cId="660076598" sldId="348"/>
            <ac:spMk id="3" creationId="{7CD4A698-375F-DEC9-BEFC-E3CB1B6E76DA}"/>
          </ac:spMkLst>
        </pc:spChg>
      </pc:sldChg>
      <pc:sldChg chg="del">
        <pc:chgData name="Charine Labao" userId="d49f38c7da5d9737" providerId="LiveId" clId="{74BAE539-5A96-4830-AD90-F51E8ECC701B}" dt="2026-08-11T02:02:20.308" v="420" actId="2696"/>
        <pc:sldMkLst>
          <pc:docMk/>
          <pc:sldMk cId="3428148668" sldId="34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9E4C6-9EB3-473B-A1C2-288F1938347A}" type="datetimeFigureOut">
              <a:rPr lang="en-PH" smtClean="0"/>
              <a:t>8/11/2026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AE25A-5D24-4004-A82D-A9BE88A40641}" type="slidenum">
              <a:rPr lang="en-PH" smtClean="0"/>
              <a:t>‹#›</a:t>
            </a:fld>
            <a:endParaRPr lang="en-PH"/>
          </a:p>
        </p:txBody>
      </p:sp>
    </p:spTree>
    <p:extLst>
      <p:ext uri="{BB962C8B-B14F-4D97-AF65-F5344CB8AC3E}">
        <p14:creationId xmlns:p14="http://schemas.microsoft.com/office/powerpoint/2010/main" val="600600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12</a:t>
            </a:fld>
            <a:endParaRPr lang="en-PH"/>
          </a:p>
        </p:txBody>
      </p:sp>
    </p:spTree>
    <p:extLst>
      <p:ext uri="{BB962C8B-B14F-4D97-AF65-F5344CB8AC3E}">
        <p14:creationId xmlns:p14="http://schemas.microsoft.com/office/powerpoint/2010/main" val="96922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15</a:t>
            </a:fld>
            <a:endParaRPr lang="en-PH"/>
          </a:p>
        </p:txBody>
      </p:sp>
    </p:spTree>
    <p:extLst>
      <p:ext uri="{BB962C8B-B14F-4D97-AF65-F5344CB8AC3E}">
        <p14:creationId xmlns:p14="http://schemas.microsoft.com/office/powerpoint/2010/main" val="3230353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0B9A-0072-EFC4-4DDB-3BDB35F22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A3B9C-6A5B-8BC8-18FB-86D86B29F643}"/>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D332D2E2-FCD9-12BB-BBC7-A22CCA188F3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8215F72-EE9B-7EC2-F407-2D13F8DC0552}"/>
              </a:ext>
            </a:extLst>
          </p:cNvPr>
          <p:cNvSpPr>
            <a:spLocks noGrp="1"/>
          </p:cNvSpPr>
          <p:nvPr>
            <p:ph type="sldNum" sz="quarter" idx="5"/>
          </p:nvPr>
        </p:nvSpPr>
        <p:spPr/>
        <p:txBody>
          <a:bodyPr/>
          <a:lstStyle/>
          <a:p>
            <a:fld id="{F7BAE25A-5D24-4004-A82D-A9BE88A40641}" type="slidenum">
              <a:rPr lang="en-PH" smtClean="0"/>
              <a:t>16</a:t>
            </a:fld>
            <a:endParaRPr lang="en-PH"/>
          </a:p>
        </p:txBody>
      </p:sp>
    </p:spTree>
    <p:extLst>
      <p:ext uri="{BB962C8B-B14F-4D97-AF65-F5344CB8AC3E}">
        <p14:creationId xmlns:p14="http://schemas.microsoft.com/office/powerpoint/2010/main" val="627591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C2898-31E3-306F-0D6C-B4561FBFB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911A8-9C3C-FBE6-6685-3A4878FDEC61}"/>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ACFD0B56-3D01-E8BE-EDCB-3B680417C6D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2CAF769-5C88-4D1C-9D94-782D6964479E}"/>
              </a:ext>
            </a:extLst>
          </p:cNvPr>
          <p:cNvSpPr>
            <a:spLocks noGrp="1"/>
          </p:cNvSpPr>
          <p:nvPr>
            <p:ph type="sldNum" sz="quarter" idx="5"/>
          </p:nvPr>
        </p:nvSpPr>
        <p:spPr/>
        <p:txBody>
          <a:bodyPr/>
          <a:lstStyle/>
          <a:p>
            <a:fld id="{F7BAE25A-5D24-4004-A82D-A9BE88A40641}" type="slidenum">
              <a:rPr lang="en-PH" smtClean="0"/>
              <a:t>17</a:t>
            </a:fld>
            <a:endParaRPr lang="en-PH"/>
          </a:p>
        </p:txBody>
      </p:sp>
    </p:spTree>
    <p:extLst>
      <p:ext uri="{BB962C8B-B14F-4D97-AF65-F5344CB8AC3E}">
        <p14:creationId xmlns:p14="http://schemas.microsoft.com/office/powerpoint/2010/main" val="2532464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24</a:t>
            </a:fld>
            <a:endParaRPr lang="en-PH"/>
          </a:p>
        </p:txBody>
      </p:sp>
    </p:spTree>
    <p:extLst>
      <p:ext uri="{BB962C8B-B14F-4D97-AF65-F5344CB8AC3E}">
        <p14:creationId xmlns:p14="http://schemas.microsoft.com/office/powerpoint/2010/main" val="1657735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8/11/2026</a:t>
            </a:fld>
            <a:endParaRPr lang="en-PH"/>
          </a:p>
        </p:txBody>
      </p:sp>
      <p:sp>
        <p:nvSpPr>
          <p:cNvPr id="5" name="Footer Placeholder 4"/>
          <p:cNvSpPr>
            <a:spLocks noGrp="1"/>
          </p:cNvSpPr>
          <p:nvPr>
            <p:ph type="ftr" sz="quarter" idx="11"/>
          </p:nvPr>
        </p:nvSpPr>
        <p:spPr>
          <a:xfrm>
            <a:off x="1451579" y="329307"/>
            <a:ext cx="5626774" cy="309201"/>
          </a:xfrm>
        </p:spPr>
        <p:txBody>
          <a:bodyPr/>
          <a:lstStyle/>
          <a:p>
            <a:endParaRPr lang="en-PH"/>
          </a:p>
        </p:txBody>
      </p:sp>
      <p:sp>
        <p:nvSpPr>
          <p:cNvPr id="6" name="Slide Number Placeholder 5"/>
          <p:cNvSpPr>
            <a:spLocks noGrp="1"/>
          </p:cNvSpPr>
          <p:nvPr>
            <p:ph type="sldNum" sz="quarter" idx="12"/>
          </p:nvPr>
        </p:nvSpPr>
        <p:spPr>
          <a:xfrm>
            <a:off x="476834" y="798973"/>
            <a:ext cx="811019" cy="503578"/>
          </a:xfrm>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294931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8/11/2026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1927653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710144-C51D-4F13-8FAF-CC827A160CBB}" type="datetimeFigureOut">
              <a:rPr lang="en-PH" smtClean="0"/>
              <a:t>8/11/2026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3929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710144-C51D-4F13-8FAF-CC827A160CBB}" type="datetimeFigureOut">
              <a:rPr lang="en-PH" smtClean="0"/>
              <a:t>8/11/2026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612697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710144-C51D-4F13-8FAF-CC827A160CBB}" type="datetimeFigureOut">
              <a:rPr lang="en-PH" smtClean="0"/>
              <a:t>8/11/2026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4264141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710144-C51D-4F13-8FAF-CC827A160CBB}" type="datetimeFigureOut">
              <a:rPr lang="en-PH" smtClean="0"/>
              <a:t>8/11/2026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89413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10144-C51D-4F13-8FAF-CC827A160CBB}" type="datetimeFigureOut">
              <a:rPr lang="en-PH" smtClean="0"/>
              <a:t>8/11/2026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77736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710144-C51D-4F13-8FAF-CC827A160CBB}" type="datetimeFigureOut">
              <a:rPr lang="en-PH" smtClean="0"/>
              <a:t>8/11/2026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415536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PH"/>
            </a:p>
          </p:txBody>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0710144-C51D-4F13-8FAF-CC827A160CBB}" type="datetimeFigureOut">
              <a:rPr lang="en-PH" smtClean="0"/>
              <a:t>8/11/2026</a:t>
            </a:fld>
            <a:endParaRPr lang="en-PH"/>
          </a:p>
        </p:txBody>
      </p:sp>
      <p:sp>
        <p:nvSpPr>
          <p:cNvPr id="6" name="Footer Placeholder 5"/>
          <p:cNvSpPr>
            <a:spLocks noGrp="1"/>
          </p:cNvSpPr>
          <p:nvPr>
            <p:ph type="ftr" sz="quarter" idx="11"/>
          </p:nvPr>
        </p:nvSpPr>
        <p:spPr>
          <a:xfrm>
            <a:off x="1447382" y="318640"/>
            <a:ext cx="5541004" cy="320931"/>
          </a:xfrm>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236044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8/11/2026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664889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8/11/2026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559723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0710144-C51D-4F13-8FAF-CC827A160CBB}" type="datetimeFigureOut">
              <a:rPr lang="en-PH" smtClean="0"/>
              <a:t>8/11/2026</a:t>
            </a:fld>
            <a:endParaRPr lang="en-PH"/>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DD131BB-748F-41AA-A188-03FFE40F9EE7}" type="slidenum">
              <a:rPr lang="en-PH" smtClean="0"/>
              <a:t>‹#›</a:t>
            </a:fld>
            <a:endParaRPr lang="en-PH"/>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1527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CFF50-8CD8-2A55-F5E3-38E524DAEEFB}"/>
              </a:ext>
            </a:extLst>
          </p:cNvPr>
          <p:cNvSpPr>
            <a:spLocks noGrp="1"/>
          </p:cNvSpPr>
          <p:nvPr>
            <p:ph type="ctrTitle"/>
          </p:nvPr>
        </p:nvSpPr>
        <p:spPr>
          <a:xfrm>
            <a:off x="1327423" y="2791966"/>
            <a:ext cx="9774221" cy="2541431"/>
          </a:xfrm>
        </p:spPr>
        <p:txBody>
          <a:bodyPr>
            <a:noAutofit/>
          </a:bodyPr>
          <a:lstStyle/>
          <a:p>
            <a:pPr algn="ctr"/>
            <a:r>
              <a:rPr lang="en-PH" sz="11200" dirty="0">
                <a:latin typeface="Arial Narrow" panose="020B0606020202030204" pitchFamily="34" charset="0"/>
              </a:rPr>
              <a:t>WELCOME back Pablo!</a:t>
            </a:r>
            <a:br>
              <a:rPr lang="en-PH" sz="11200" dirty="0">
                <a:latin typeface="Arial Narrow" panose="020B0606020202030204" pitchFamily="34" charset="0"/>
              </a:rPr>
            </a:br>
            <a:endParaRPr lang="en-PH" sz="11200" dirty="0">
              <a:latin typeface="Arial Narrow" panose="020B0606020202030204" pitchFamily="34" charset="0"/>
            </a:endParaRPr>
          </a:p>
        </p:txBody>
      </p:sp>
    </p:spTree>
    <p:extLst>
      <p:ext uri="{BB962C8B-B14F-4D97-AF65-F5344CB8AC3E}">
        <p14:creationId xmlns:p14="http://schemas.microsoft.com/office/powerpoint/2010/main" val="4101661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24FC-36EF-BF32-1929-243486991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4469B-D37F-D990-E189-D913B41EB93D}"/>
              </a:ext>
            </a:extLst>
          </p:cNvPr>
          <p:cNvSpPr>
            <a:spLocks noGrp="1"/>
          </p:cNvSpPr>
          <p:nvPr>
            <p:ph type="ctrTitle"/>
          </p:nvPr>
        </p:nvSpPr>
        <p:spPr>
          <a:xfrm>
            <a:off x="1718733" y="3708400"/>
            <a:ext cx="9264377" cy="1380068"/>
          </a:xfrm>
        </p:spPr>
        <p:txBody>
          <a:bodyPr>
            <a:normAutofit fontScale="90000"/>
          </a:bodyPr>
          <a:lstStyle/>
          <a:p>
            <a:pPr algn="ctr"/>
            <a:r>
              <a:rPr lang="en-PH" sz="14900" dirty="0">
                <a:latin typeface="Arial Narrow" panose="020B0606020202030204" pitchFamily="34" charset="0"/>
              </a:rPr>
              <a:t>Lesson 06</a:t>
            </a:r>
            <a:br>
              <a:rPr lang="en-PH" dirty="0">
                <a:latin typeface="Arial Narrow" panose="020B0606020202030204" pitchFamily="34" charset="0"/>
              </a:rPr>
            </a:br>
            <a:endParaRPr lang="en-PH" sz="14900" dirty="0">
              <a:latin typeface="Arial Narrow" panose="020B0606020202030204" pitchFamily="34" charset="0"/>
            </a:endParaRPr>
          </a:p>
        </p:txBody>
      </p:sp>
    </p:spTree>
    <p:extLst>
      <p:ext uri="{BB962C8B-B14F-4D97-AF65-F5344CB8AC3E}">
        <p14:creationId xmlns:p14="http://schemas.microsoft.com/office/powerpoint/2010/main" val="368522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35D8-B879-0DE4-A35C-444C61DBA3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B223B6-F5FA-EC54-98A9-E70D02BD73F2}"/>
              </a:ext>
            </a:extLst>
          </p:cNvPr>
          <p:cNvSpPr>
            <a:spLocks noGrp="1"/>
          </p:cNvSpPr>
          <p:nvPr>
            <p:ph idx="1"/>
          </p:nvPr>
        </p:nvSpPr>
        <p:spPr>
          <a:xfrm>
            <a:off x="177801" y="1831736"/>
            <a:ext cx="10877054" cy="4052597"/>
          </a:xfrm>
        </p:spPr>
        <p:txBody>
          <a:bodyPr>
            <a:normAutofit/>
          </a:bodyPr>
          <a:lstStyle/>
          <a:p>
            <a:pPr marL="0" indent="0">
              <a:buNone/>
            </a:pPr>
            <a:endParaRPr lang="en-PH" dirty="0"/>
          </a:p>
          <a:p>
            <a:pPr marL="0" indent="0">
              <a:buNone/>
            </a:pPr>
            <a:endParaRPr lang="en-PH" dirty="0"/>
          </a:p>
        </p:txBody>
      </p:sp>
      <p:sp>
        <p:nvSpPr>
          <p:cNvPr id="5" name="Title 4">
            <a:extLst>
              <a:ext uri="{FF2B5EF4-FFF2-40B4-BE49-F238E27FC236}">
                <a16:creationId xmlns:a16="http://schemas.microsoft.com/office/drawing/2014/main" id="{4886789D-506B-8D06-2C40-76610B6E4EEF}"/>
              </a:ext>
            </a:extLst>
          </p:cNvPr>
          <p:cNvSpPr>
            <a:spLocks noGrp="1"/>
          </p:cNvSpPr>
          <p:nvPr>
            <p:ph type="title"/>
          </p:nvPr>
        </p:nvSpPr>
        <p:spPr>
          <a:xfrm>
            <a:off x="0" y="1270001"/>
            <a:ext cx="12192000" cy="1294954"/>
          </a:xfrm>
        </p:spPr>
        <p:txBody>
          <a:bodyPr>
            <a:noAutofit/>
          </a:bodyPr>
          <a:lstStyle/>
          <a:p>
            <a:br>
              <a:rPr lang="en-US" sz="9600" dirty="0">
                <a:latin typeface="Arial Narrow" panose="020B0606020202030204" pitchFamily="34" charset="0"/>
              </a:rPr>
            </a:br>
            <a:r>
              <a:rPr lang="en-US" sz="9600" dirty="0">
                <a:latin typeface="Arial Narrow" panose="020B0606020202030204" pitchFamily="34" charset="0"/>
              </a:rPr>
              <a:t>Asking Questions</a:t>
            </a:r>
            <a:br>
              <a:rPr lang="en-PH" sz="9600" dirty="0">
                <a:latin typeface="Arial Narrow" panose="020B0606020202030204" pitchFamily="34" charset="0"/>
              </a:rPr>
            </a:br>
            <a:endParaRPr lang="en-PH" sz="9600" dirty="0">
              <a:latin typeface="Arial Narrow" panose="020B0606020202030204" pitchFamily="34" charset="0"/>
            </a:endParaRPr>
          </a:p>
        </p:txBody>
      </p:sp>
    </p:spTree>
    <p:extLst>
      <p:ext uri="{BB962C8B-B14F-4D97-AF65-F5344CB8AC3E}">
        <p14:creationId xmlns:p14="http://schemas.microsoft.com/office/powerpoint/2010/main" val="173702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760D4-A038-F675-7C35-6F5B6B3ED6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9D91A1-1B0E-86BC-0348-FA4262644A3D}"/>
              </a:ext>
            </a:extLst>
          </p:cNvPr>
          <p:cNvSpPr>
            <a:spLocks noGrp="1"/>
          </p:cNvSpPr>
          <p:nvPr>
            <p:ph type="title"/>
          </p:nvPr>
        </p:nvSpPr>
        <p:spPr>
          <a:xfrm>
            <a:off x="169334" y="296333"/>
            <a:ext cx="10378728" cy="3132667"/>
          </a:xfrm>
        </p:spPr>
        <p:txBody>
          <a:bodyPr>
            <a:normAutofit/>
          </a:bodyPr>
          <a:lstStyle/>
          <a:p>
            <a:pPr algn="l"/>
            <a:r>
              <a:rPr lang="en-US" b="1" dirty="0">
                <a:solidFill>
                  <a:schemeClr val="tx1"/>
                </a:solidFill>
                <a:latin typeface="Arial Nova Cond Light" panose="020B0306020202020204" pitchFamily="34" charset="0"/>
              </a:rPr>
              <a:t>I. QUESTION WORDS IN TAGALOG</a:t>
            </a:r>
            <a:br>
              <a:rPr lang="en-PH" dirty="0">
                <a:solidFill>
                  <a:schemeClr val="tx1"/>
                </a:solidFill>
                <a:latin typeface="Arial Nova Cond Light" panose="020B0306020202020204" pitchFamily="34" charset="0"/>
              </a:rPr>
            </a:br>
            <a:r>
              <a:rPr lang="en-US" dirty="0">
                <a:solidFill>
                  <a:schemeClr val="tx1"/>
                </a:solidFill>
                <a:latin typeface="Arial Nova Cond Light" panose="020B0306020202020204" pitchFamily="34" charset="0"/>
              </a:rPr>
              <a:t> </a:t>
            </a:r>
            <a:br>
              <a:rPr lang="en-PH" dirty="0">
                <a:solidFill>
                  <a:schemeClr val="tx1"/>
                </a:solidFill>
                <a:latin typeface="Arial Nova Cond Light" panose="020B0306020202020204" pitchFamily="34" charset="0"/>
              </a:rPr>
            </a:br>
            <a:r>
              <a:rPr lang="en-US" cap="none" dirty="0">
                <a:solidFill>
                  <a:schemeClr val="tx1"/>
                </a:solidFill>
                <a:latin typeface="Arial Nova Cond Light" panose="020B0306020202020204" pitchFamily="34" charset="0"/>
              </a:rPr>
              <a:t>There are 14 different question words in the </a:t>
            </a:r>
            <a:r>
              <a:rPr lang="en-US" cap="none" dirty="0" err="1">
                <a:solidFill>
                  <a:schemeClr val="tx1"/>
                </a:solidFill>
                <a:latin typeface="Arial Nova Cond Light" panose="020B0306020202020204" pitchFamily="34" charset="0"/>
              </a:rPr>
              <a:t>tagalog</a:t>
            </a:r>
            <a:r>
              <a:rPr lang="en-US" cap="none" dirty="0">
                <a:solidFill>
                  <a:schemeClr val="tx1"/>
                </a:solidFill>
                <a:latin typeface="Arial Nova Cond Light" panose="020B0306020202020204" pitchFamily="34" charset="0"/>
              </a:rPr>
              <a:t> language that correspond to the English question words </a:t>
            </a:r>
            <a:r>
              <a:rPr lang="en-US" i="1" cap="none" dirty="0">
                <a:solidFill>
                  <a:srgbClr val="FFFF00"/>
                </a:solidFill>
                <a:latin typeface="Arial Nova Cond Light" panose="020B0306020202020204" pitchFamily="34" charset="0"/>
              </a:rPr>
              <a:t>who, what, which, how, why, when, where </a:t>
            </a:r>
            <a:r>
              <a:rPr lang="en-US" cap="none" dirty="0">
                <a:solidFill>
                  <a:srgbClr val="FFFF00"/>
                </a:solidFill>
                <a:latin typeface="Arial Nova Cond Light" panose="020B0306020202020204" pitchFamily="34" charset="0"/>
              </a:rPr>
              <a:t>and </a:t>
            </a:r>
            <a:r>
              <a:rPr lang="en-US" i="1" cap="none" dirty="0">
                <a:solidFill>
                  <a:srgbClr val="FFFF00"/>
                </a:solidFill>
                <a:latin typeface="Arial Nova Cond Light" panose="020B0306020202020204" pitchFamily="34" charset="0"/>
              </a:rPr>
              <a:t>whose. </a:t>
            </a:r>
            <a:r>
              <a:rPr lang="en-US" cap="none" dirty="0">
                <a:solidFill>
                  <a:schemeClr val="tx1"/>
                </a:solidFill>
                <a:latin typeface="Arial Nova Cond Light" panose="020B0306020202020204" pitchFamily="34" charset="0"/>
              </a:rPr>
              <a:t>These are:</a:t>
            </a:r>
            <a:br>
              <a:rPr lang="en-PH" cap="none" dirty="0">
                <a:solidFill>
                  <a:schemeClr val="tx1"/>
                </a:solidFill>
                <a:latin typeface="Arial Narrow" panose="020B0606020202030204" pitchFamily="34" charset="0"/>
              </a:rPr>
            </a:br>
            <a:endParaRPr lang="en-PH" dirty="0">
              <a:solidFill>
                <a:schemeClr val="tx1"/>
              </a:solidFill>
              <a:latin typeface="Arial Narrow" panose="020B0606020202030204" pitchFamily="34" charset="0"/>
            </a:endParaRPr>
          </a:p>
        </p:txBody>
      </p:sp>
    </p:spTree>
    <p:extLst>
      <p:ext uri="{BB962C8B-B14F-4D97-AF65-F5344CB8AC3E}">
        <p14:creationId xmlns:p14="http://schemas.microsoft.com/office/powerpoint/2010/main" val="3616196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81EF-E29B-1A62-5DC1-189FFDEBC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0C50C-5A7F-40B7-5F1E-FD16E199D6A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E6D717E8-A3F2-81ED-716D-98378E027D4C}"/>
              </a:ext>
            </a:extLst>
          </p:cNvPr>
          <p:cNvSpPr txBox="1"/>
          <p:nvPr/>
        </p:nvSpPr>
        <p:spPr>
          <a:xfrm>
            <a:off x="63500" y="-281131"/>
            <a:ext cx="12065000" cy="4524315"/>
          </a:xfrm>
          <a:prstGeom prst="rect">
            <a:avLst/>
          </a:prstGeom>
          <a:noFill/>
        </p:spPr>
        <p:txBody>
          <a:bodyPr wrap="square">
            <a:spAutoFit/>
          </a:bodyPr>
          <a:lstStyle/>
          <a:p>
            <a:endParaRPr lang="en-US" sz="3200" b="1" dirty="0">
              <a:latin typeface="Arial Nova Cond Light" panose="020B0306020202020204" pitchFamily="34" charset="0"/>
            </a:endParaRPr>
          </a:p>
          <a:p>
            <a:r>
              <a:rPr lang="en-US" sz="3200" dirty="0">
                <a:latin typeface="Arial Nova Cond Light" panose="020B0306020202020204" pitchFamily="34" charset="0"/>
              </a:rPr>
              <a:t>The word </a:t>
            </a:r>
            <a:r>
              <a:rPr lang="en-US" sz="3200" b="1" dirty="0">
                <a:solidFill>
                  <a:srgbClr val="FFFF00"/>
                </a:solidFill>
                <a:latin typeface="Arial Nova Cond Light" panose="020B0306020202020204" pitchFamily="34" charset="0"/>
              </a:rPr>
              <a:t>"Sino" </a:t>
            </a:r>
            <a:r>
              <a:rPr lang="en-US" sz="3200" dirty="0">
                <a:latin typeface="Arial Nova Cond Light" panose="020B0306020202020204" pitchFamily="34" charset="0"/>
              </a:rPr>
              <a:t>in </a:t>
            </a:r>
            <a:r>
              <a:rPr lang="en-US" sz="3200" b="1" dirty="0">
                <a:latin typeface="Arial Nova Cond Light" panose="020B0306020202020204" pitchFamily="34" charset="0"/>
              </a:rPr>
              <a:t>Tagalog </a:t>
            </a:r>
            <a:r>
              <a:rPr lang="en-US" sz="3200" dirty="0">
                <a:latin typeface="Arial Nova Cond Light" panose="020B0306020202020204" pitchFamily="34" charset="0"/>
              </a:rPr>
              <a:t>is an </a:t>
            </a:r>
            <a:r>
              <a:rPr lang="en-US" sz="3200" b="1" dirty="0">
                <a:latin typeface="Arial Nova Cond Light" panose="020B0306020202020204" pitchFamily="34" charset="0"/>
              </a:rPr>
              <a:t>interrogative pronoun</a:t>
            </a:r>
            <a:r>
              <a:rPr lang="en-US" sz="3200" dirty="0">
                <a:latin typeface="Arial Nova Cond Light" panose="020B0306020202020204" pitchFamily="34" charset="0"/>
              </a:rPr>
              <a:t> used to ask </a:t>
            </a:r>
            <a:r>
              <a:rPr lang="en-US" sz="3200" b="1" dirty="0">
                <a:solidFill>
                  <a:srgbClr val="FFFF00"/>
                </a:solidFill>
                <a:latin typeface="Arial Nova Cond Light" panose="020B0306020202020204" pitchFamily="34" charset="0"/>
              </a:rPr>
              <a:t>"Who?“</a:t>
            </a:r>
          </a:p>
          <a:p>
            <a:endParaRPr lang="en-US" sz="3200" b="1" dirty="0">
              <a:latin typeface="Arial Nova Cond Light" panose="020B0306020202020204" pitchFamily="34" charset="0"/>
            </a:endParaRPr>
          </a:p>
          <a:p>
            <a:endParaRPr lang="en-US" sz="3200" b="1" dirty="0">
              <a:latin typeface="Arial Nova Cond Light" panose="020B0306020202020204" pitchFamily="34" charset="0"/>
            </a:endParaRPr>
          </a:p>
          <a:p>
            <a:r>
              <a:rPr lang="en-US" sz="3200" b="1" dirty="0">
                <a:solidFill>
                  <a:srgbClr val="FFFF00"/>
                </a:solidFill>
                <a:latin typeface="Arial Nova Cond Light" panose="020B0306020202020204" pitchFamily="34" charset="0"/>
              </a:rPr>
              <a:t>SINO								WHO	</a:t>
            </a:r>
            <a:r>
              <a:rPr lang="en-US" sz="3200" dirty="0">
                <a:latin typeface="Arial Nova Cond Light" panose="020B0306020202020204" pitchFamily="34" charset="0"/>
              </a:rPr>
              <a:t>	</a:t>
            </a:r>
          </a:p>
          <a:p>
            <a:br>
              <a:rPr lang="en-US" sz="3200" dirty="0">
                <a:latin typeface="Arial Nova Cond Light" panose="020B0306020202020204" pitchFamily="34" charset="0"/>
              </a:rPr>
            </a:br>
            <a:r>
              <a:rPr lang="en-US" sz="3200" dirty="0">
                <a:latin typeface="Arial Nova Cond Light" panose="020B0306020202020204" pitchFamily="34" charset="0"/>
              </a:rPr>
              <a:t>Example:		</a:t>
            </a:r>
          </a:p>
          <a:p>
            <a:r>
              <a:rPr lang="en-US" sz="3200" dirty="0">
                <a:latin typeface="Arial Nova Cond Light" panose="020B0306020202020204" pitchFamily="34" charset="0"/>
              </a:rPr>
              <a:t>Sino </a:t>
            </a:r>
            <a:r>
              <a:rPr lang="en-US" sz="3200" dirty="0" err="1">
                <a:latin typeface="Arial Nova Cond Light" panose="020B0306020202020204" pitchFamily="34" charset="0"/>
              </a:rPr>
              <a:t>ba</a:t>
            </a:r>
            <a:r>
              <a:rPr lang="en-US" sz="3200" dirty="0">
                <a:latin typeface="Arial Nova Cond Light" panose="020B0306020202020204" pitchFamily="34" charset="0"/>
              </a:rPr>
              <a:t> </a:t>
            </a:r>
            <a:r>
              <a:rPr lang="en-US" sz="3200" dirty="0">
                <a:solidFill>
                  <a:srgbClr val="FFFF00"/>
                </a:solidFill>
                <a:latin typeface="Arial Nova Cond Light" panose="020B0306020202020204" pitchFamily="34" charset="0"/>
              </a:rPr>
              <a:t>kayo</a:t>
            </a:r>
            <a:r>
              <a:rPr lang="en-US" sz="3200" dirty="0">
                <a:latin typeface="Arial Nova Cond Light" panose="020B0306020202020204" pitchFamily="34" charset="0"/>
              </a:rPr>
              <a:t>?</a:t>
            </a:r>
            <a:r>
              <a:rPr lang="en-PH" sz="3200" dirty="0">
                <a:latin typeface="Arial Nova Cond Light" panose="020B0306020202020204" pitchFamily="34" charset="0"/>
              </a:rPr>
              <a:t>		</a:t>
            </a:r>
            <a:r>
              <a:rPr lang="en-PH" sz="3200" b="1" dirty="0">
                <a:latin typeface="Arial Nova Cond Light" panose="020B0306020202020204" pitchFamily="34" charset="0"/>
              </a:rPr>
              <a:t>					</a:t>
            </a:r>
            <a:r>
              <a:rPr lang="en-US" sz="3200" dirty="0">
                <a:latin typeface="Arial Nova Cond Light" panose="020B0306020202020204" pitchFamily="34" charset="0"/>
              </a:rPr>
              <a:t>Who are you?</a:t>
            </a:r>
            <a:endParaRPr lang="en-PH" sz="3200" dirty="0">
              <a:latin typeface="Arial Nova Cond Light" panose="020B0306020202020204" pitchFamily="34" charset="0"/>
            </a:endParaRPr>
          </a:p>
          <a:p>
            <a:r>
              <a:rPr lang="en-US" sz="3200" dirty="0">
                <a:latin typeface="Arial Nova Cond Light" panose="020B0306020202020204" pitchFamily="34" charset="0"/>
              </a:rPr>
              <a:t>Sino ang </a:t>
            </a:r>
            <a:r>
              <a:rPr lang="en-US" sz="3200" dirty="0" err="1">
                <a:latin typeface="Arial Nova Cond Light" panose="020B0306020202020204" pitchFamily="34" charset="0"/>
              </a:rPr>
              <a:t>kumain</a:t>
            </a:r>
            <a:r>
              <a:rPr lang="en-US" sz="3200" dirty="0">
                <a:latin typeface="Arial Nova Cond Light" panose="020B0306020202020204" pitchFamily="34" charset="0"/>
              </a:rPr>
              <a:t> ng </a:t>
            </a:r>
            <a:r>
              <a:rPr lang="en-US" sz="3200" dirty="0" err="1">
                <a:latin typeface="Arial Nova Cond Light" panose="020B0306020202020204" pitchFamily="34" charset="0"/>
              </a:rPr>
              <a:t>tinapay</a:t>
            </a:r>
            <a:r>
              <a:rPr lang="en-US" sz="3200" dirty="0">
                <a:latin typeface="Arial Nova Cond Light" panose="020B0306020202020204" pitchFamily="34" charset="0"/>
              </a:rPr>
              <a:t>? 		Who ate the bread?</a:t>
            </a:r>
            <a:endParaRPr lang="en-PH" sz="3200" dirty="0">
              <a:latin typeface="Arial Nova Cond Light" panose="020B0306020202020204" pitchFamily="34" charset="0"/>
            </a:endParaRPr>
          </a:p>
        </p:txBody>
      </p:sp>
    </p:spTree>
    <p:extLst>
      <p:ext uri="{BB962C8B-B14F-4D97-AF65-F5344CB8AC3E}">
        <p14:creationId xmlns:p14="http://schemas.microsoft.com/office/powerpoint/2010/main" val="2979525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FF80A715-483B-B972-D344-E285A188B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E67FD-54C7-BE04-2561-101CA7DEE2E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3E52C602-EFFD-CADD-EE9C-A0B190077E8E}"/>
              </a:ext>
            </a:extLst>
          </p:cNvPr>
          <p:cNvSpPr txBox="1"/>
          <p:nvPr/>
        </p:nvSpPr>
        <p:spPr>
          <a:xfrm>
            <a:off x="0" y="-42855"/>
            <a:ext cx="12192000" cy="5509200"/>
          </a:xfrm>
          <a:prstGeom prst="rect">
            <a:avLst/>
          </a:prstGeom>
          <a:noFill/>
        </p:spPr>
        <p:txBody>
          <a:bodyPr wrap="square">
            <a:spAutoFit/>
          </a:bodyPr>
          <a:lstStyle/>
          <a:p>
            <a:pPr marL="90805">
              <a:tabLst>
                <a:tab pos="883920" algn="l"/>
                <a:tab pos="2097405" algn="l"/>
              </a:tabLst>
            </a:pPr>
            <a:endParaRPr lang="en-US" sz="3200" b="1" dirty="0">
              <a:solidFill>
                <a:srgbClr val="FFFF00"/>
              </a:solidFill>
              <a:latin typeface="Arial Nova Cond Light" panose="020B0306020202020204" pitchFamily="34" charset="0"/>
            </a:endParaRPr>
          </a:p>
          <a:p>
            <a:pPr marL="90805">
              <a:tabLst>
                <a:tab pos="883920" algn="l"/>
                <a:tab pos="2097405" algn="l"/>
              </a:tabLst>
            </a:pPr>
            <a:endParaRPr lang="en-US" sz="3200" b="1" dirty="0">
              <a:solidFill>
                <a:srgbClr val="FFFF00"/>
              </a:solidFill>
              <a:latin typeface="Arial Nova Cond Light" panose="020B0306020202020204" pitchFamily="34" charset="0"/>
            </a:endParaRPr>
          </a:p>
          <a:p>
            <a:pPr marL="90805">
              <a:tabLst>
                <a:tab pos="883920" algn="l"/>
                <a:tab pos="2097405" algn="l"/>
              </a:tabLst>
            </a:pPr>
            <a:r>
              <a:rPr lang="en-US" sz="3200" b="1" dirty="0">
                <a:solidFill>
                  <a:srgbClr val="FFFF00"/>
                </a:solidFill>
                <a:latin typeface="Arial Nova Cond Light" panose="020B0306020202020204" pitchFamily="34" charset="0"/>
              </a:rPr>
              <a:t>‘Ano</a:t>
            </a:r>
            <a:r>
              <a:rPr lang="en-US" sz="3200" dirty="0">
                <a:solidFill>
                  <a:srgbClr val="FFFF00"/>
                </a:solidFill>
                <a:latin typeface="Arial Nova Cond Light" panose="020B0306020202020204" pitchFamily="34" charset="0"/>
              </a:rPr>
              <a:t>" is </a:t>
            </a:r>
            <a:r>
              <a:rPr lang="en-US" sz="3200" dirty="0">
                <a:latin typeface="Arial Nova Cond Light" panose="020B0306020202020204" pitchFamily="34" charset="0"/>
              </a:rPr>
              <a:t>an interrogative pronoun in Tagalog that means </a:t>
            </a:r>
            <a:r>
              <a:rPr lang="en-US" sz="3200" dirty="0">
                <a:solidFill>
                  <a:srgbClr val="FFFF00"/>
                </a:solidFill>
                <a:latin typeface="Arial Nova Cond Light" panose="020B0306020202020204" pitchFamily="34" charset="0"/>
              </a:rPr>
              <a:t>"What</a:t>
            </a:r>
            <a:r>
              <a:rPr lang="en-US" sz="3200" dirty="0">
                <a:latin typeface="Arial Nova Cond Light" panose="020B0306020202020204" pitchFamily="34" charset="0"/>
              </a:rPr>
              <a:t>" in English. It is used to ask about things, ideas, events, or situations — essentially anything that is not a person.</a:t>
            </a:r>
          </a:p>
          <a:p>
            <a:pPr marL="90805">
              <a:buNone/>
              <a:tabLst>
                <a:tab pos="883920" algn="l"/>
                <a:tab pos="2097405" algn="l"/>
              </a:tabLst>
            </a:pPr>
            <a:r>
              <a:rPr lang="en-US" sz="3200" b="1" spc="-25" dirty="0">
                <a:solidFill>
                  <a:srgbClr val="FFFF00"/>
                </a:solidFill>
                <a:effectLst/>
                <a:latin typeface="Arial Nova Cond Light" panose="020B0306020202020204" pitchFamily="34" charset="0"/>
                <a:ea typeface="Times New Roman" panose="02020603050405020304" pitchFamily="18" charset="0"/>
                <a:cs typeface="Times New Roman" panose="02020603050405020304" pitchFamily="18" charset="0"/>
              </a:rPr>
              <a:t>ANO</a:t>
            </a:r>
            <a:r>
              <a:rPr lang="en-US" sz="3200" b="1" dirty="0">
                <a:solidFill>
                  <a:srgbClr val="FFFF00"/>
                </a:solidFill>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3200" spc="-20" dirty="0">
                <a:solidFill>
                  <a:srgbClr val="FFFF00"/>
                </a:solidFill>
                <a:effectLst/>
                <a:latin typeface="Arial Nova Cond Light" panose="020B0306020202020204" pitchFamily="34" charset="0"/>
                <a:ea typeface="Times New Roman" panose="02020603050405020304" pitchFamily="18" charset="0"/>
              </a:rPr>
              <a:t>WHAT</a:t>
            </a:r>
            <a:br>
              <a:rPr lang="en-US" sz="3200" spc="-20" dirty="0">
                <a:effectLst/>
                <a:latin typeface="Arial Nova Cond Light" panose="020B0306020202020204" pitchFamily="34" charset="0"/>
                <a:ea typeface="Times New Roman" panose="02020603050405020304" pitchFamily="18" charset="0"/>
              </a:rPr>
            </a:br>
            <a:r>
              <a:rPr lang="en-US" sz="3200" spc="-20" dirty="0">
                <a:effectLst/>
                <a:latin typeface="Arial Nova Cond Light" panose="020B0306020202020204" pitchFamily="34" charset="0"/>
                <a:ea typeface="Times New Roman" panose="02020603050405020304" pitchFamily="18" charset="0"/>
              </a:rPr>
              <a:t>example:</a:t>
            </a:r>
            <a:r>
              <a:rPr lang="en-US" sz="3200" dirty="0">
                <a:effectLst/>
                <a:latin typeface="Arial Nova Cond Light" panose="020B0306020202020204" pitchFamily="34" charset="0"/>
                <a:ea typeface="Times New Roman" panose="02020603050405020304" pitchFamily="18" charset="0"/>
              </a:rPr>
              <a:t>	</a:t>
            </a:r>
          </a:p>
          <a:p>
            <a:pPr marL="90805">
              <a:buNone/>
              <a:tabLst>
                <a:tab pos="883920" algn="l"/>
                <a:tab pos="2097405" algn="l"/>
              </a:tabLst>
            </a:pPr>
            <a:r>
              <a:rPr lang="en-US" sz="3200" dirty="0">
                <a:latin typeface="Arial Nova Cond Light" panose="020B0306020202020204" pitchFamily="34" charset="0"/>
              </a:rPr>
              <a:t>Ano </a:t>
            </a:r>
            <a:r>
              <a:rPr lang="en-US" sz="3200" dirty="0" err="1">
                <a:latin typeface="Arial Nova Cond Light" panose="020B0306020202020204" pitchFamily="34" charset="0"/>
              </a:rPr>
              <a:t>ba</a:t>
            </a:r>
            <a:r>
              <a:rPr lang="en-US" sz="3200" dirty="0">
                <a:latin typeface="Arial Nova Cond Light" panose="020B0306020202020204" pitchFamily="34" charset="0"/>
              </a:rPr>
              <a:t> ang </a:t>
            </a:r>
            <a:r>
              <a:rPr lang="en-US" sz="3200" dirty="0" err="1">
                <a:latin typeface="Arial Nova Cond Light" panose="020B0306020202020204" pitchFamily="34" charset="0"/>
              </a:rPr>
              <a:t>pangalan</a:t>
            </a:r>
            <a:r>
              <a:rPr lang="en-US" sz="3200" dirty="0">
                <a:latin typeface="Arial Nova Cond Light" panose="020B0306020202020204" pitchFamily="34" charset="0"/>
              </a:rPr>
              <a:t> </a:t>
            </a:r>
            <a:r>
              <a:rPr lang="en-US" sz="3200" dirty="0" err="1">
                <a:latin typeface="Arial Nova Cond Light" panose="020B0306020202020204" pitchFamily="34" charset="0"/>
              </a:rPr>
              <a:t>ninyo</a:t>
            </a:r>
            <a:r>
              <a:rPr lang="en-US" sz="3200" dirty="0">
                <a:latin typeface="Arial Nova Cond Light" panose="020B0306020202020204" pitchFamily="34" charset="0"/>
              </a:rPr>
              <a:t>?</a:t>
            </a:r>
            <a:r>
              <a:rPr lang="en-PH" sz="3200" dirty="0">
                <a:latin typeface="Arial Nova Cond Light" panose="020B0306020202020204" pitchFamily="34" charset="0"/>
              </a:rPr>
              <a:t>	</a:t>
            </a:r>
            <a:r>
              <a:rPr lang="en-PH" sz="3200" b="1" spc="-10" dirty="0">
                <a:latin typeface="Arial Nova Cond Light" panose="020B0306020202020204" pitchFamily="34" charset="0"/>
                <a:ea typeface="Times New Roman" panose="02020603050405020304" pitchFamily="18" charset="0"/>
                <a:cs typeface="Times New Roman" panose="02020603050405020304" pitchFamily="18" charset="0"/>
              </a:rPr>
              <a:t>					</a:t>
            </a:r>
            <a:r>
              <a:rPr lang="en-US" sz="3200" dirty="0">
                <a:effectLst/>
                <a:latin typeface="Arial Nova Cond Light" panose="020B0306020202020204" pitchFamily="34" charset="0"/>
                <a:ea typeface="Times New Roman" panose="02020603050405020304" pitchFamily="18" charset="0"/>
              </a:rPr>
              <a:t>What</a:t>
            </a:r>
            <a:r>
              <a:rPr lang="en-US" sz="3200" spc="-15" dirty="0">
                <a:effectLst/>
                <a:latin typeface="Arial Nova Cond Light" panose="020B0306020202020204" pitchFamily="34" charset="0"/>
                <a:ea typeface="Times New Roman" panose="02020603050405020304" pitchFamily="18" charset="0"/>
              </a:rPr>
              <a:t> </a:t>
            </a:r>
            <a:r>
              <a:rPr lang="en-US" sz="3200" dirty="0">
                <a:effectLst/>
                <a:latin typeface="Arial Nova Cond Light" panose="020B0306020202020204" pitchFamily="34" charset="0"/>
                <a:ea typeface="Times New Roman" panose="02020603050405020304" pitchFamily="18" charset="0"/>
              </a:rPr>
              <a:t>is</a:t>
            </a:r>
            <a:r>
              <a:rPr lang="en-US" sz="3200" spc="-125" dirty="0">
                <a:effectLst/>
                <a:latin typeface="Arial Nova Cond Light" panose="020B0306020202020204" pitchFamily="34" charset="0"/>
                <a:ea typeface="Times New Roman" panose="02020603050405020304" pitchFamily="18" charset="0"/>
              </a:rPr>
              <a:t> </a:t>
            </a:r>
            <a:r>
              <a:rPr lang="en-US" sz="3200" dirty="0">
                <a:effectLst/>
                <a:latin typeface="Arial Nova Cond Light" panose="020B0306020202020204" pitchFamily="34" charset="0"/>
                <a:ea typeface="Times New Roman" panose="02020603050405020304" pitchFamily="18" charset="0"/>
              </a:rPr>
              <a:t>your</a:t>
            </a:r>
            <a:r>
              <a:rPr lang="en-US" sz="3200" spc="65" dirty="0">
                <a:effectLst/>
                <a:latin typeface="Arial Nova Cond Light" panose="020B0306020202020204" pitchFamily="34" charset="0"/>
                <a:ea typeface="Times New Roman" panose="02020603050405020304" pitchFamily="18" charset="0"/>
              </a:rPr>
              <a:t> </a:t>
            </a:r>
            <a:r>
              <a:rPr lang="en-US" sz="3200" spc="-20" dirty="0">
                <a:effectLst/>
                <a:latin typeface="Arial Nova Cond Light" panose="020B0306020202020204" pitchFamily="34" charset="0"/>
                <a:ea typeface="Times New Roman" panose="02020603050405020304" pitchFamily="18" charset="0"/>
              </a:rPr>
              <a:t>name?</a:t>
            </a:r>
          </a:p>
          <a:p>
            <a:pPr marL="90805">
              <a:buNone/>
              <a:tabLst>
                <a:tab pos="883920" algn="l"/>
                <a:tab pos="2097405" algn="l"/>
              </a:tabLst>
            </a:pPr>
            <a:r>
              <a:rPr lang="en-US" sz="3200" dirty="0">
                <a:effectLst/>
                <a:latin typeface="Arial Nova Cond Light" panose="020B0306020202020204" pitchFamily="34" charset="0"/>
                <a:ea typeface="Times New Roman" panose="02020603050405020304" pitchFamily="18" charset="0"/>
              </a:rPr>
              <a:t>Ano </a:t>
            </a:r>
            <a:r>
              <a:rPr lang="en-US" sz="3200" dirty="0" err="1">
                <a:effectLst/>
                <a:latin typeface="Arial Nova Cond Light" panose="020B0306020202020204" pitchFamily="34" charset="0"/>
                <a:ea typeface="Times New Roman" panose="02020603050405020304" pitchFamily="18" charset="0"/>
              </a:rPr>
              <a:t>ito</a:t>
            </a:r>
            <a:r>
              <a:rPr lang="en-US" sz="3200" dirty="0">
                <a:effectLst/>
                <a:latin typeface="Arial Nova Cond Light" panose="020B0306020202020204" pitchFamily="34" charset="0"/>
                <a:ea typeface="Times New Roman" panose="02020603050405020304" pitchFamily="18" charset="0"/>
              </a:rPr>
              <a:t>? 												What is this?</a:t>
            </a:r>
          </a:p>
          <a:p>
            <a:pPr marL="90805">
              <a:buNone/>
              <a:tabLst>
                <a:tab pos="883920" algn="l"/>
                <a:tab pos="2097405" algn="l"/>
              </a:tabLst>
            </a:pPr>
            <a:r>
              <a:rPr lang="en-US" sz="3200" dirty="0">
                <a:effectLst/>
                <a:latin typeface="Arial Nova Cond Light" panose="020B0306020202020204" pitchFamily="34" charset="0"/>
                <a:ea typeface="Times New Roman" panose="02020603050405020304" pitchFamily="18" charset="0"/>
              </a:rPr>
              <a:t>Ano ang </a:t>
            </a:r>
            <a:r>
              <a:rPr lang="en-US" sz="3200" dirty="0" err="1">
                <a:effectLst/>
                <a:latin typeface="Arial Nova Cond Light" panose="020B0306020202020204" pitchFamily="34" charset="0"/>
                <a:ea typeface="Times New Roman" panose="02020603050405020304" pitchFamily="18" charset="0"/>
              </a:rPr>
              <a:t>pangalan</a:t>
            </a:r>
            <a:r>
              <a:rPr lang="en-US" sz="3200" dirty="0">
                <a:effectLst/>
                <a:latin typeface="Arial Nova Cond Light" panose="020B0306020202020204" pitchFamily="34" charset="0"/>
                <a:ea typeface="Times New Roman" panose="02020603050405020304" pitchFamily="18" charset="0"/>
              </a:rPr>
              <a:t> </a:t>
            </a:r>
            <a:r>
              <a:rPr lang="en-US" sz="3200" dirty="0" err="1">
                <a:effectLst/>
                <a:latin typeface="Arial Nova Cond Light" panose="020B0306020202020204" pitchFamily="34" charset="0"/>
                <a:ea typeface="Times New Roman" panose="02020603050405020304" pitchFamily="18" charset="0"/>
              </a:rPr>
              <a:t>mo</a:t>
            </a:r>
            <a:r>
              <a:rPr lang="en-US" sz="3200" dirty="0">
                <a:effectLst/>
                <a:latin typeface="Arial Nova Cond Light" panose="020B0306020202020204" pitchFamily="34" charset="0"/>
                <a:ea typeface="Times New Roman" panose="02020603050405020304" pitchFamily="18" charset="0"/>
              </a:rPr>
              <a:t>?								What is your name?</a:t>
            </a:r>
          </a:p>
          <a:p>
            <a:pPr marL="90805">
              <a:buNone/>
              <a:tabLst>
                <a:tab pos="883920" algn="l"/>
                <a:tab pos="2097405" algn="l"/>
              </a:tabLst>
            </a:pPr>
            <a:r>
              <a:rPr lang="en-US" sz="3200" dirty="0">
                <a:effectLst/>
                <a:latin typeface="Arial Nova Cond Light" panose="020B0306020202020204" pitchFamily="34" charset="0"/>
                <a:ea typeface="Times New Roman" panose="02020603050405020304" pitchFamily="18" charset="0"/>
              </a:rPr>
              <a:t>Ano ang </a:t>
            </a:r>
            <a:r>
              <a:rPr lang="en-US" sz="3200" dirty="0" err="1">
                <a:effectLst/>
                <a:latin typeface="Arial Nova Cond Light" panose="020B0306020202020204" pitchFamily="34" charset="0"/>
                <a:ea typeface="Times New Roman" panose="02020603050405020304" pitchFamily="18" charset="0"/>
              </a:rPr>
              <a:t>ginagawa</a:t>
            </a:r>
            <a:r>
              <a:rPr lang="en-US" sz="3200" dirty="0">
                <a:effectLst/>
                <a:latin typeface="Arial Nova Cond Light" panose="020B0306020202020204" pitchFamily="34" charset="0"/>
                <a:ea typeface="Times New Roman" panose="02020603050405020304" pitchFamily="18" charset="0"/>
              </a:rPr>
              <a:t> </a:t>
            </a:r>
            <a:r>
              <a:rPr lang="en-US" sz="3200" dirty="0" err="1">
                <a:effectLst/>
                <a:latin typeface="Arial Nova Cond Light" panose="020B0306020202020204" pitchFamily="34" charset="0"/>
                <a:ea typeface="Times New Roman" panose="02020603050405020304" pitchFamily="18" charset="0"/>
              </a:rPr>
              <a:t>mo</a:t>
            </a:r>
            <a:r>
              <a:rPr lang="en-US" sz="3200" dirty="0">
                <a:effectLst/>
                <a:latin typeface="Arial Nova Cond Light" panose="020B0306020202020204" pitchFamily="34" charset="0"/>
                <a:ea typeface="Times New Roman" panose="02020603050405020304" pitchFamily="18" charset="0"/>
              </a:rPr>
              <a:t>?								What are you doing?</a:t>
            </a:r>
            <a:endParaRPr lang="en-PH" sz="3200" dirty="0">
              <a:effectLst/>
              <a:latin typeface="Arial Nova Cond Light" panose="020B0306020202020204" pitchFamily="34" charset="0"/>
              <a:ea typeface="Times New Roman" panose="02020603050405020304" pitchFamily="18" charset="0"/>
            </a:endParaRPr>
          </a:p>
        </p:txBody>
      </p:sp>
    </p:spTree>
    <p:extLst>
      <p:ext uri="{BB962C8B-B14F-4D97-AF65-F5344CB8AC3E}">
        <p14:creationId xmlns:p14="http://schemas.microsoft.com/office/powerpoint/2010/main" val="289782443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CFCDF18F-AEC5-F677-D42F-DECEF7A81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BC027-7451-C1D1-C983-E621D5F334AE}"/>
              </a:ext>
            </a:extLst>
          </p:cNvPr>
          <p:cNvSpPr>
            <a:spLocks noGrp="1"/>
          </p:cNvSpPr>
          <p:nvPr>
            <p:ph type="title"/>
          </p:nvPr>
        </p:nvSpPr>
        <p:spPr>
          <a:xfrm>
            <a:off x="131233" y="1176866"/>
            <a:ext cx="11929534" cy="2856204"/>
          </a:xfrm>
        </p:spPr>
        <p:txBody>
          <a:bodyPr>
            <a:noAutofit/>
          </a:bodyPr>
          <a:lstStyle/>
          <a:p>
            <a:pPr algn="l"/>
            <a:r>
              <a:rPr lang="en-US" b="1" dirty="0">
                <a:solidFill>
                  <a:srgbClr val="FFFF00"/>
                </a:solidFill>
                <a:latin typeface="Arial Nova Cond Light" panose="020B0306020202020204" pitchFamily="34" charset="0"/>
                <a:ea typeface="+mn-ea"/>
                <a:cs typeface="+mn-cs"/>
              </a:rPr>
              <a:t>Alin</a:t>
            </a:r>
            <a:r>
              <a:rPr lang="en-US" dirty="0">
                <a:solidFill>
                  <a:schemeClr val="tx1"/>
                </a:solidFill>
                <a:latin typeface="Arial Nova Cond Light" panose="020B0306020202020204" pitchFamily="34" charset="0"/>
                <a:ea typeface="+mn-ea"/>
                <a:cs typeface="+mn-cs"/>
              </a:rPr>
              <a:t>" </a:t>
            </a:r>
            <a:r>
              <a:rPr lang="en-US" cap="none" dirty="0">
                <a:solidFill>
                  <a:schemeClr val="tx1"/>
                </a:solidFill>
                <a:latin typeface="Arial Nova Cond Light" panose="020B0306020202020204" pitchFamily="34" charset="0"/>
                <a:ea typeface="+mn-ea"/>
                <a:cs typeface="+mn-cs"/>
              </a:rPr>
              <a:t>is another interrogative pronoun, and in English, it means </a:t>
            </a:r>
            <a:r>
              <a:rPr lang="en-US" cap="none" dirty="0">
                <a:solidFill>
                  <a:srgbClr val="FFFF00"/>
                </a:solidFill>
                <a:latin typeface="Arial Nova Cond Light" panose="020B0306020202020204" pitchFamily="34" charset="0"/>
                <a:ea typeface="+mn-ea"/>
                <a:cs typeface="+mn-cs"/>
              </a:rPr>
              <a:t>"which". </a:t>
            </a:r>
            <a:r>
              <a:rPr lang="en-US" cap="none" dirty="0">
                <a:solidFill>
                  <a:schemeClr val="tx1"/>
                </a:solidFill>
                <a:latin typeface="Arial Nova Cond Light" panose="020B0306020202020204" pitchFamily="34" charset="0"/>
                <a:ea typeface="+mn-ea"/>
                <a:cs typeface="+mn-cs"/>
              </a:rPr>
              <a:t>Is used when choosing one or more items from a known group or set. It asks for specific identification within that group.</a:t>
            </a:r>
            <a:br>
              <a:rPr lang="en-US" cap="none" dirty="0">
                <a:solidFill>
                  <a:schemeClr val="tx1"/>
                </a:solidFill>
                <a:latin typeface="Arial Nova Cond Light" panose="020B0306020202020204" pitchFamily="34" charset="0"/>
                <a:ea typeface="+mn-ea"/>
                <a:cs typeface="+mn-cs"/>
              </a:rPr>
            </a:br>
            <a:br>
              <a:rPr lang="en-US" dirty="0">
                <a:solidFill>
                  <a:srgbClr val="FFFF00"/>
                </a:solidFill>
                <a:latin typeface="Arial Nova Cond Light" panose="020B0306020202020204" pitchFamily="34" charset="0"/>
                <a:ea typeface="+mn-ea"/>
                <a:cs typeface="+mn-cs"/>
              </a:rPr>
            </a:br>
            <a:r>
              <a:rPr lang="en-US" cap="none" dirty="0">
                <a:solidFill>
                  <a:srgbClr val="FFFF00"/>
                </a:solidFill>
                <a:latin typeface="Arial Nova Cond Light" panose="020B0306020202020204" pitchFamily="34" charset="0"/>
                <a:ea typeface="+mn-ea"/>
                <a:cs typeface="+mn-cs"/>
              </a:rPr>
              <a:t>ALIN							WHICH</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example: </a:t>
            </a:r>
            <a:r>
              <a:rPr lang="en-US" cap="none" dirty="0" err="1">
                <a:solidFill>
                  <a:schemeClr val="tx1"/>
                </a:solidFill>
                <a:latin typeface="Arial Nova Cond Light" panose="020B0306020202020204" pitchFamily="34" charset="0"/>
                <a:ea typeface="+mn-ea"/>
                <a:cs typeface="+mn-cs"/>
              </a:rPr>
              <a:t>halimbawa</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Alin </a:t>
            </a:r>
            <a:r>
              <a:rPr lang="en-US" cap="none" dirty="0" err="1">
                <a:solidFill>
                  <a:schemeClr val="tx1"/>
                </a:solidFill>
                <a:latin typeface="Arial Nova Cond Light" panose="020B0306020202020204" pitchFamily="34" charset="0"/>
                <a:ea typeface="+mn-ea"/>
                <a:cs typeface="+mn-cs"/>
              </a:rPr>
              <a:t>ba</a:t>
            </a:r>
            <a:r>
              <a:rPr lang="en-US" cap="none" dirty="0">
                <a:solidFill>
                  <a:schemeClr val="tx1"/>
                </a:solidFill>
                <a:latin typeface="Arial Nova Cond Light" panose="020B0306020202020204" pitchFamily="34" charset="0"/>
                <a:ea typeface="+mn-ea"/>
                <a:cs typeface="+mn-cs"/>
              </a:rPr>
              <a:t> ang </a:t>
            </a:r>
            <a:r>
              <a:rPr lang="en-US" cap="none" dirty="0" err="1">
                <a:solidFill>
                  <a:schemeClr val="tx1"/>
                </a:solidFill>
                <a:latin typeface="Arial Nova Cond Light" panose="020B0306020202020204" pitchFamily="34" charset="0"/>
                <a:ea typeface="+mn-ea"/>
                <a:cs typeface="+mn-cs"/>
              </a:rPr>
              <a:t>iyong</a:t>
            </a:r>
            <a:r>
              <a:rPr lang="en-US" cap="none" dirty="0">
                <a:solidFill>
                  <a:schemeClr val="tx1"/>
                </a:solidFill>
                <a:latin typeface="Arial Nova Cond Light" panose="020B0306020202020204" pitchFamily="34" charset="0"/>
                <a:ea typeface="+mn-ea"/>
                <a:cs typeface="+mn-cs"/>
              </a:rPr>
              <a:t> gusto?				Which do you like?</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Alin </a:t>
            </a:r>
            <a:r>
              <a:rPr lang="en-US" cap="none" dirty="0" err="1">
                <a:solidFill>
                  <a:schemeClr val="tx1"/>
                </a:solidFill>
                <a:latin typeface="Arial Nova Cond Light" panose="020B0306020202020204" pitchFamily="34" charset="0"/>
                <a:ea typeface="+mn-ea"/>
                <a:cs typeface="+mn-cs"/>
              </a:rPr>
              <a:t>sa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mga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ito</a:t>
            </a:r>
            <a:r>
              <a:rPr lang="en-US" cap="none" dirty="0">
                <a:solidFill>
                  <a:schemeClr val="tx1"/>
                </a:solidFill>
                <a:latin typeface="Arial Nova Cond Light" panose="020B0306020202020204" pitchFamily="34" charset="0"/>
                <a:ea typeface="+mn-ea"/>
                <a:cs typeface="+mn-cs"/>
              </a:rPr>
              <a:t> ang </a:t>
            </a:r>
            <a:r>
              <a:rPr lang="en-US" cap="none" dirty="0" err="1">
                <a:solidFill>
                  <a:schemeClr val="tx1"/>
                </a:solidFill>
                <a:latin typeface="Arial Nova Cond Light" panose="020B0306020202020204" pitchFamily="34" charset="0"/>
                <a:ea typeface="+mn-ea"/>
                <a:cs typeface="+mn-cs"/>
              </a:rPr>
              <a:t>sa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iyo</a:t>
            </a:r>
            <a:r>
              <a:rPr lang="en-US" cap="none" dirty="0">
                <a:solidFill>
                  <a:schemeClr val="tx1"/>
                </a:solidFill>
                <a:latin typeface="Arial Nova Cond Light" panose="020B0306020202020204" pitchFamily="34" charset="0"/>
                <a:ea typeface="+mn-ea"/>
                <a:cs typeface="+mn-cs"/>
              </a:rPr>
              <a:t>?			Which of these is yours?</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Alin ang mas </a:t>
            </a:r>
            <a:r>
              <a:rPr lang="en-US" cap="none" dirty="0" err="1">
                <a:solidFill>
                  <a:schemeClr val="tx1"/>
                </a:solidFill>
                <a:latin typeface="Arial Nova Cond Light" panose="020B0306020202020204" pitchFamily="34" charset="0"/>
                <a:ea typeface="+mn-ea"/>
                <a:cs typeface="+mn-cs"/>
              </a:rPr>
              <a:t>mabigat</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bakal</a:t>
            </a:r>
            <a:r>
              <a:rPr lang="en-US" cap="none" dirty="0">
                <a:solidFill>
                  <a:schemeClr val="tx1"/>
                </a:solidFill>
                <a:latin typeface="Arial Nova Cond Light" panose="020B0306020202020204" pitchFamily="34" charset="0"/>
                <a:ea typeface="+mn-ea"/>
                <a:cs typeface="+mn-cs"/>
              </a:rPr>
              <a:t> o </a:t>
            </a:r>
            <a:r>
              <a:rPr lang="en-US" cap="none" dirty="0" err="1">
                <a:solidFill>
                  <a:schemeClr val="tx1"/>
                </a:solidFill>
                <a:latin typeface="Arial Nova Cond Light" panose="020B0306020202020204" pitchFamily="34" charset="0"/>
                <a:ea typeface="+mn-ea"/>
                <a:cs typeface="+mn-cs"/>
              </a:rPr>
              <a:t>tingga</a:t>
            </a:r>
            <a:r>
              <a:rPr lang="en-US" cap="none" dirty="0">
                <a:solidFill>
                  <a:schemeClr val="tx1"/>
                </a:solidFill>
                <a:latin typeface="Arial Nova Cond Light" panose="020B0306020202020204" pitchFamily="34" charset="0"/>
                <a:ea typeface="+mn-ea"/>
                <a:cs typeface="+mn-cs"/>
              </a:rPr>
              <a:t>?		Which is heavier: iron or lead?</a:t>
            </a:r>
            <a:br>
              <a:rPr lang="en-US" cap="none" dirty="0">
                <a:solidFill>
                  <a:schemeClr val="tx1"/>
                </a:solidFill>
                <a:latin typeface="Arial Nova Cond Light" panose="020B0306020202020204" pitchFamily="34" charset="0"/>
                <a:ea typeface="+mn-ea"/>
                <a:cs typeface="+mn-cs"/>
              </a:rPr>
            </a:br>
            <a:endParaRPr lang="en-US" cap="none" dirty="0">
              <a:solidFill>
                <a:schemeClr val="tx1"/>
              </a:solidFill>
              <a:latin typeface="Arial Nova Cond Light" panose="020B0306020202020204" pitchFamily="34" charset="0"/>
              <a:ea typeface="+mn-ea"/>
              <a:cs typeface="+mn-cs"/>
            </a:endParaRPr>
          </a:p>
        </p:txBody>
      </p:sp>
    </p:spTree>
    <p:extLst>
      <p:ext uri="{BB962C8B-B14F-4D97-AF65-F5344CB8AC3E}">
        <p14:creationId xmlns:p14="http://schemas.microsoft.com/office/powerpoint/2010/main" val="91670683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5380-63AB-5022-0777-7F860885B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232C5-3052-C8AA-5D16-1A4719F5F6D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48C2F637-09B2-540E-29E6-FC162F40AFA6}"/>
              </a:ext>
            </a:extLst>
          </p:cNvPr>
          <p:cNvSpPr txBox="1"/>
          <p:nvPr/>
        </p:nvSpPr>
        <p:spPr>
          <a:xfrm>
            <a:off x="1" y="0"/>
            <a:ext cx="12191999" cy="5878532"/>
          </a:xfrm>
          <a:prstGeom prst="rect">
            <a:avLst/>
          </a:prstGeom>
          <a:noFill/>
        </p:spPr>
        <p:txBody>
          <a:bodyPr wrap="square">
            <a:spAutoFit/>
          </a:bodyPr>
          <a:lstStyle/>
          <a:p>
            <a:r>
              <a:rPr lang="en-US" sz="3200" b="1" dirty="0">
                <a:solidFill>
                  <a:srgbClr val="FFFF00"/>
                </a:solidFill>
                <a:latin typeface="Arial Nova Cond Light" panose="020B0306020202020204" pitchFamily="34" charset="0"/>
              </a:rPr>
              <a:t>GAANO</a:t>
            </a:r>
            <a:r>
              <a:rPr lang="en-US" sz="3200" dirty="0">
                <a:latin typeface="Arial Nova Cond Light" panose="020B0306020202020204" pitchFamily="34" charset="0"/>
              </a:rPr>
              <a:t> is a </a:t>
            </a:r>
            <a:r>
              <a:rPr lang="en-US" sz="3200" b="1" dirty="0" err="1">
                <a:latin typeface="Arial Nova Cond Light" panose="020B0306020202020204" pitchFamily="34" charset="0"/>
              </a:rPr>
              <a:t>tagalog</a:t>
            </a:r>
            <a:r>
              <a:rPr lang="en-US" sz="3200" b="1" dirty="0">
                <a:latin typeface="Arial Nova Cond Light" panose="020B0306020202020204" pitchFamily="34" charset="0"/>
              </a:rPr>
              <a:t> interrogative word</a:t>
            </a:r>
            <a:r>
              <a:rPr lang="en-US" sz="3200" dirty="0">
                <a:latin typeface="Arial Nova Cond Light" panose="020B0306020202020204" pitchFamily="34" charset="0"/>
              </a:rPr>
              <a:t> used to ask about </a:t>
            </a:r>
            <a:r>
              <a:rPr lang="en-US" sz="3200" b="1" dirty="0">
                <a:solidFill>
                  <a:srgbClr val="FFFF00"/>
                </a:solidFill>
                <a:latin typeface="Arial Nova Cond Light" panose="020B0306020202020204" pitchFamily="34" charset="0"/>
              </a:rPr>
              <a:t>extent</a:t>
            </a:r>
            <a:r>
              <a:rPr lang="en-US" sz="3200" dirty="0">
                <a:solidFill>
                  <a:srgbClr val="FFFF00"/>
                </a:solidFill>
                <a:latin typeface="Arial Nova Cond Light" panose="020B0306020202020204" pitchFamily="34" charset="0"/>
              </a:rPr>
              <a:t>, </a:t>
            </a:r>
            <a:r>
              <a:rPr lang="en-US" sz="3200" b="1" dirty="0">
                <a:solidFill>
                  <a:srgbClr val="FFFF00"/>
                </a:solidFill>
                <a:latin typeface="Arial Nova Cond Light" panose="020B0306020202020204" pitchFamily="34" charset="0"/>
              </a:rPr>
              <a:t>degree</a:t>
            </a:r>
            <a:r>
              <a:rPr lang="en-US" sz="3200" dirty="0">
                <a:solidFill>
                  <a:srgbClr val="FFFF00"/>
                </a:solidFill>
                <a:latin typeface="Arial Nova Cond Light" panose="020B0306020202020204" pitchFamily="34" charset="0"/>
              </a:rPr>
              <a:t>, or </a:t>
            </a:r>
            <a:r>
              <a:rPr lang="en-US" sz="3200" b="1" dirty="0">
                <a:solidFill>
                  <a:srgbClr val="FFFF00"/>
                </a:solidFill>
                <a:latin typeface="Arial Nova Cond Light" panose="020B0306020202020204" pitchFamily="34" charset="0"/>
              </a:rPr>
              <a:t>measurement</a:t>
            </a:r>
            <a:r>
              <a:rPr lang="en-US" sz="3200" dirty="0">
                <a:solidFill>
                  <a:srgbClr val="FFFF00"/>
                </a:solidFill>
                <a:latin typeface="Arial Nova Cond Light" panose="020B0306020202020204" pitchFamily="34" charset="0"/>
              </a:rPr>
              <a:t> </a:t>
            </a:r>
            <a:r>
              <a:rPr lang="en-US" sz="3200" dirty="0">
                <a:latin typeface="Arial Nova Cond Light" panose="020B0306020202020204" pitchFamily="34" charset="0"/>
              </a:rPr>
              <a:t>— </a:t>
            </a:r>
          </a:p>
          <a:p>
            <a:endParaRPr lang="en-US" sz="3200" dirty="0">
              <a:latin typeface="Arial Nova Cond Light" panose="020B0306020202020204" pitchFamily="34" charset="0"/>
            </a:endParaRPr>
          </a:p>
          <a:p>
            <a:r>
              <a:rPr lang="en-US" sz="2800" dirty="0">
                <a:latin typeface="Arial Nova Cond Light" panose="020B0306020202020204" pitchFamily="34" charset="0"/>
              </a:rPr>
              <a:t>GAANO								HOW	</a:t>
            </a:r>
          </a:p>
          <a:p>
            <a:r>
              <a:rPr lang="en-US" sz="2800" dirty="0">
                <a:latin typeface="Arial Nova Cond Light" panose="020B0306020202020204" pitchFamily="34" charset="0"/>
              </a:rPr>
              <a:t>example: </a:t>
            </a:r>
            <a:r>
              <a:rPr lang="en-US" sz="2800" dirty="0" err="1">
                <a:latin typeface="Arial Nova Cond Light" panose="020B0306020202020204" pitchFamily="34" charset="0"/>
              </a:rPr>
              <a:t>halimbawa</a:t>
            </a:r>
            <a:endParaRPr lang="en-US" sz="2800" dirty="0">
              <a:latin typeface="Arial Nova Cond Light" panose="020B0306020202020204" pitchFamily="34" charset="0"/>
            </a:endParaRPr>
          </a:p>
          <a:p>
            <a:r>
              <a:rPr lang="en-US" sz="2800" dirty="0" err="1">
                <a:latin typeface="Arial Nova Cond Light" panose="020B0306020202020204" pitchFamily="34" charset="0"/>
              </a:rPr>
              <a:t>Gaano</a:t>
            </a:r>
            <a:r>
              <a:rPr lang="en-US" sz="2800" dirty="0">
                <a:latin typeface="Arial Nova Cond Light" panose="020B0306020202020204" pitchFamily="34" charset="0"/>
              </a:rPr>
              <a:t> </a:t>
            </a:r>
            <a:r>
              <a:rPr lang="en-US" sz="2800" dirty="0" err="1">
                <a:solidFill>
                  <a:srgbClr val="FFFF00"/>
                </a:solidFill>
                <a:latin typeface="Arial Nova Cond Light" panose="020B0306020202020204" pitchFamily="34" charset="0"/>
              </a:rPr>
              <a:t>ka</a:t>
            </a:r>
            <a:r>
              <a:rPr lang="en-US" sz="2800" dirty="0" err="1">
                <a:latin typeface="Arial Nova Cond Light" panose="020B0306020202020204" pitchFamily="34" charset="0"/>
              </a:rPr>
              <a:t>laki</a:t>
            </a:r>
            <a:r>
              <a:rPr lang="en-US" sz="2800" dirty="0">
                <a:latin typeface="Arial Nova Cond Light" panose="020B0306020202020204" pitchFamily="34" charset="0"/>
              </a:rPr>
              <a:t> ang Pilipinas?			How large is the Philippines? (</a:t>
            </a:r>
            <a:r>
              <a:rPr lang="en-US" sz="2000" dirty="0">
                <a:latin typeface="Arial Nova Cond Light" panose="020B0306020202020204" pitchFamily="34" charset="0"/>
              </a:rPr>
              <a:t>requires a response expressing degree or quality</a:t>
            </a:r>
            <a:r>
              <a:rPr lang="en-US" sz="2800" dirty="0">
                <a:latin typeface="Arial Nova Cond Light" panose="020B0306020202020204" pitchFamily="34" charset="0"/>
              </a:rPr>
              <a:t>) </a:t>
            </a:r>
          </a:p>
          <a:p>
            <a:r>
              <a:rPr lang="en-PH" sz="2800" dirty="0" err="1">
                <a:latin typeface="Arial Nova Cond Light" panose="020B0306020202020204" pitchFamily="34" charset="0"/>
              </a:rPr>
              <a:t>Gaano</a:t>
            </a:r>
            <a:r>
              <a:rPr lang="en-PH" sz="2800" dirty="0">
                <a:latin typeface="Arial Nova Cond Light" panose="020B0306020202020204" pitchFamily="34" charset="0"/>
              </a:rPr>
              <a:t> </a:t>
            </a:r>
            <a:r>
              <a:rPr lang="en-PH" sz="2800" dirty="0" err="1">
                <a:solidFill>
                  <a:srgbClr val="FFFF00"/>
                </a:solidFill>
                <a:latin typeface="Arial Nova Cond Light" panose="020B0306020202020204" pitchFamily="34" charset="0"/>
              </a:rPr>
              <a:t>ka</a:t>
            </a:r>
            <a:r>
              <a:rPr lang="en-PH" sz="2800" dirty="0" err="1">
                <a:latin typeface="Arial Nova Cond Light" panose="020B0306020202020204" pitchFamily="34" charset="0"/>
              </a:rPr>
              <a:t>tagal</a:t>
            </a:r>
            <a:r>
              <a:rPr lang="en-PH" sz="2800" dirty="0">
                <a:latin typeface="Arial Nova Cond Light" panose="020B0306020202020204" pitchFamily="34" charset="0"/>
              </a:rPr>
              <a:t>?						How long?</a:t>
            </a:r>
          </a:p>
          <a:p>
            <a:r>
              <a:rPr lang="en-US" sz="2800" dirty="0" err="1">
                <a:latin typeface="Arial Nova Cond Light" panose="020B0306020202020204" pitchFamily="34" charset="0"/>
              </a:rPr>
              <a:t>Gaano</a:t>
            </a:r>
            <a:r>
              <a:rPr lang="en-US" sz="2800" dirty="0">
                <a:latin typeface="Arial Nova Cond Light" panose="020B0306020202020204" pitchFamily="34" charset="0"/>
              </a:rPr>
              <a:t> </a:t>
            </a:r>
            <a:r>
              <a:rPr lang="en-US" sz="2800" dirty="0" err="1">
                <a:solidFill>
                  <a:srgbClr val="FFFF00"/>
                </a:solidFill>
                <a:latin typeface="Arial Nova Cond Light" panose="020B0306020202020204" pitchFamily="34" charset="0"/>
              </a:rPr>
              <a:t>ka</a:t>
            </a:r>
            <a:r>
              <a:rPr lang="en-US" sz="2800" dirty="0" err="1">
                <a:latin typeface="Arial Nova Cond Light" panose="020B0306020202020204" pitchFamily="34" charset="0"/>
              </a:rPr>
              <a:t>laki</a:t>
            </a:r>
            <a:r>
              <a:rPr lang="en-US" sz="2800" dirty="0">
                <a:latin typeface="Arial Nova Cond Light" panose="020B0306020202020204" pitchFamily="34" charset="0"/>
              </a:rPr>
              <a:t> ang </a:t>
            </a:r>
            <a:r>
              <a:rPr lang="en-US" sz="2800" dirty="0" err="1">
                <a:latin typeface="Arial Nova Cond Light" panose="020B0306020202020204" pitchFamily="34" charset="0"/>
              </a:rPr>
              <a:t>bahay</a:t>
            </a:r>
            <a:r>
              <a:rPr lang="en-US" sz="2800" dirty="0">
                <a:latin typeface="Arial Nova Cond Light" panose="020B0306020202020204" pitchFamily="34" charset="0"/>
              </a:rPr>
              <a:t> </a:t>
            </a:r>
            <a:r>
              <a:rPr lang="en-US" sz="2800" dirty="0" err="1">
                <a:latin typeface="Arial Nova Cond Light" panose="020B0306020202020204" pitchFamily="34" charset="0"/>
              </a:rPr>
              <a:t>mo</a:t>
            </a:r>
            <a:r>
              <a:rPr lang="en-US" sz="2800" dirty="0">
                <a:latin typeface="Arial Nova Cond Light" panose="020B0306020202020204" pitchFamily="34" charset="0"/>
              </a:rPr>
              <a:t>?			How big is your house?</a:t>
            </a:r>
          </a:p>
          <a:p>
            <a:endParaRPr lang="en-US" sz="1600" b="1" dirty="0">
              <a:latin typeface="Arial Nova Cond Light" panose="020B0306020202020204" pitchFamily="34" charset="0"/>
            </a:endParaRPr>
          </a:p>
          <a:p>
            <a:endParaRPr lang="en-US" sz="1600" b="1" dirty="0">
              <a:latin typeface="Arial Nova Cond Light" panose="020B0306020202020204" pitchFamily="34" charset="0"/>
            </a:endParaRPr>
          </a:p>
          <a:p>
            <a:r>
              <a:rPr lang="en-US" sz="2000" b="1" dirty="0" err="1">
                <a:latin typeface="Arial Nova Cond Light" panose="020B0306020202020204" pitchFamily="34" charset="0"/>
              </a:rPr>
              <a:t>Gaano</a:t>
            </a:r>
            <a:r>
              <a:rPr lang="en-US" sz="2000" b="1" dirty="0">
                <a:latin typeface="Arial Nova Cond Light" panose="020B0306020202020204" pitchFamily="34" charset="0"/>
              </a:rPr>
              <a:t> + [ka- + adjective/adverb]					"</a:t>
            </a:r>
            <a:r>
              <a:rPr lang="en-US" sz="2000" b="1" dirty="0" err="1">
                <a:latin typeface="Arial Nova Cond Light" panose="020B0306020202020204" pitchFamily="34" charset="0"/>
              </a:rPr>
              <a:t>Gaano</a:t>
            </a:r>
            <a:r>
              <a:rPr lang="en-US" sz="2000" b="1" dirty="0">
                <a:latin typeface="Arial Nova Cond Light" panose="020B0306020202020204" pitchFamily="34" charset="0"/>
              </a:rPr>
              <a:t>"</a:t>
            </a:r>
            <a:r>
              <a:rPr lang="en-US" sz="2000" dirty="0">
                <a:latin typeface="Arial Nova Cond Light" panose="020B0306020202020204" pitchFamily="34" charset="0"/>
              </a:rPr>
              <a:t> – asks about </a:t>
            </a:r>
            <a:r>
              <a:rPr lang="en-US" sz="2000" b="1" dirty="0">
                <a:latin typeface="Arial Nova Cond Light" panose="020B0306020202020204" pitchFamily="34" charset="0"/>
              </a:rPr>
              <a:t>degree/</a:t>
            </a:r>
            <a:r>
              <a:rPr lang="en-US" sz="2000" b="1" dirty="0" err="1">
                <a:latin typeface="Arial Nova Cond Light" panose="020B0306020202020204" pitchFamily="34" charset="0"/>
              </a:rPr>
              <a:t>exten</a:t>
            </a:r>
            <a:r>
              <a:rPr lang="en-US" sz="2000" b="1" dirty="0">
                <a:latin typeface="Arial Nova Cond Light" panose="020B0306020202020204" pitchFamily="34" charset="0"/>
              </a:rPr>
              <a:t>  	"Ilan"</a:t>
            </a:r>
            <a:r>
              <a:rPr lang="en-US" sz="2000" dirty="0">
                <a:latin typeface="Arial Nova Cond Light" panose="020B0306020202020204" pitchFamily="34" charset="0"/>
              </a:rPr>
              <a:t> – asks </a:t>
            </a:r>
            <a:r>
              <a:rPr lang="en-US" sz="2000" b="1" dirty="0">
                <a:latin typeface="Arial Nova Cond Light" panose="020B0306020202020204" pitchFamily="34" charset="0"/>
              </a:rPr>
              <a:t>how many</a:t>
            </a:r>
            <a:r>
              <a:rPr lang="en-US" sz="2000" dirty="0">
                <a:latin typeface="Arial Nova Cond Light" panose="020B0306020202020204" pitchFamily="34" charset="0"/>
              </a:rPr>
              <a:t> (quantity)</a:t>
            </a:r>
          </a:p>
          <a:p>
            <a:r>
              <a:rPr lang="en-US" sz="2000" i="1" dirty="0">
                <a:solidFill>
                  <a:srgbClr val="FFFF00"/>
                </a:solidFill>
                <a:latin typeface="Arial Nova Cond Light" panose="020B0306020202020204" pitchFamily="34" charset="0"/>
              </a:rPr>
              <a:t>ka-</a:t>
            </a:r>
            <a:r>
              <a:rPr lang="en-US" sz="2000" dirty="0">
                <a:solidFill>
                  <a:srgbClr val="FFFF00"/>
                </a:solidFill>
                <a:latin typeface="Arial Nova Cond Light" panose="020B0306020202020204" pitchFamily="34" charset="0"/>
              </a:rPr>
              <a:t> is a prefix that links </a:t>
            </a:r>
            <a:r>
              <a:rPr lang="en-US" sz="2000" b="1" dirty="0">
                <a:solidFill>
                  <a:srgbClr val="FFFF00"/>
                </a:solidFill>
                <a:latin typeface="Arial Nova Cond Light" panose="020B0306020202020204" pitchFamily="34" charset="0"/>
              </a:rPr>
              <a:t>"</a:t>
            </a:r>
            <a:r>
              <a:rPr lang="en-US" sz="2000" b="1" dirty="0" err="1">
                <a:solidFill>
                  <a:srgbClr val="FFFF00"/>
                </a:solidFill>
                <a:latin typeface="Arial Nova Cond Light" panose="020B0306020202020204" pitchFamily="34" charset="0"/>
              </a:rPr>
              <a:t>Gaano</a:t>
            </a:r>
            <a:r>
              <a:rPr lang="en-US" sz="2000" b="1" dirty="0">
                <a:solidFill>
                  <a:srgbClr val="FFFF00"/>
                </a:solidFill>
                <a:latin typeface="Arial Nova Cond Light" panose="020B0306020202020204" pitchFamily="34" charset="0"/>
              </a:rPr>
              <a:t>"</a:t>
            </a:r>
            <a:r>
              <a:rPr lang="en-US" sz="2000" dirty="0">
                <a:solidFill>
                  <a:srgbClr val="FFFF00"/>
                </a:solidFill>
                <a:latin typeface="Arial Nova Cond Light" panose="020B0306020202020204" pitchFamily="34" charset="0"/>
              </a:rPr>
              <a:t> to a </a:t>
            </a:r>
            <a:r>
              <a:rPr lang="en-US" sz="2000" b="1" dirty="0">
                <a:solidFill>
                  <a:srgbClr val="FFFF00"/>
                </a:solidFill>
                <a:latin typeface="Arial Nova Cond Light" panose="020B0306020202020204" pitchFamily="34" charset="0"/>
              </a:rPr>
              <a:t>descriptive word		</a:t>
            </a:r>
            <a:r>
              <a:rPr lang="en-US" sz="2000" b="1" dirty="0">
                <a:latin typeface="Arial Nova Cond Light" panose="020B0306020202020204" pitchFamily="34" charset="0"/>
              </a:rPr>
              <a:t>		</a:t>
            </a:r>
          </a:p>
          <a:p>
            <a:r>
              <a:rPr lang="en-US" sz="2000" b="1" dirty="0">
                <a:latin typeface="Arial Nova Cond Light" panose="020B0306020202020204" pitchFamily="34" charset="0"/>
              </a:rPr>
              <a:t>Long-</a:t>
            </a:r>
            <a:r>
              <a:rPr lang="en-US" sz="2000" b="1" dirty="0" err="1">
                <a:latin typeface="Arial Nova Cond Light" panose="020B0306020202020204" pitchFamily="34" charset="0"/>
              </a:rPr>
              <a:t>Mahaba</a:t>
            </a:r>
            <a:endParaRPr lang="en-US" sz="2000" b="1" dirty="0">
              <a:latin typeface="Arial Nova Cond Light" panose="020B0306020202020204" pitchFamily="34" charset="0"/>
            </a:endParaRPr>
          </a:p>
          <a:p>
            <a:r>
              <a:rPr lang="en-US" sz="2000" b="1" dirty="0">
                <a:latin typeface="Arial Nova Cond Light" panose="020B0306020202020204" pitchFamily="34" charset="0"/>
              </a:rPr>
              <a:t>Long- time frame ------</a:t>
            </a:r>
            <a:r>
              <a:rPr lang="en-US" sz="2000" b="1" dirty="0" err="1">
                <a:latin typeface="Arial Nova Cond Light" panose="020B0306020202020204" pitchFamily="34" charset="0"/>
              </a:rPr>
              <a:t>Matagal</a:t>
            </a:r>
            <a:endParaRPr lang="en-US" sz="4000" dirty="0">
              <a:latin typeface="Arial Nova Cond Light" panose="020B0306020202020204" pitchFamily="34" charset="0"/>
            </a:endParaRPr>
          </a:p>
        </p:txBody>
      </p:sp>
    </p:spTree>
    <p:extLst>
      <p:ext uri="{BB962C8B-B14F-4D97-AF65-F5344CB8AC3E}">
        <p14:creationId xmlns:p14="http://schemas.microsoft.com/office/powerpoint/2010/main" val="460937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F9874-F104-AB45-B871-48F527805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AAE8B-0A28-8736-5C07-98C0D000014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27C7F417-607D-A2B2-2A48-A613959ADFF8}"/>
              </a:ext>
            </a:extLst>
          </p:cNvPr>
          <p:cNvSpPr txBox="1"/>
          <p:nvPr/>
        </p:nvSpPr>
        <p:spPr>
          <a:xfrm>
            <a:off x="0" y="321733"/>
            <a:ext cx="12191999" cy="5816600"/>
          </a:xfrm>
          <a:prstGeom prst="rect">
            <a:avLst/>
          </a:prstGeom>
          <a:noFill/>
        </p:spPr>
        <p:txBody>
          <a:bodyPr wrap="square">
            <a:spAutoFit/>
          </a:bodyPr>
          <a:lstStyle/>
          <a:p>
            <a:r>
              <a:rPr lang="en-US" sz="3200" b="1" dirty="0">
                <a:solidFill>
                  <a:srgbClr val="FFFF00"/>
                </a:solidFill>
                <a:latin typeface="Arial Nova Cond Light" panose="020B0306020202020204" pitchFamily="34" charset="0"/>
              </a:rPr>
              <a:t>PAANO</a:t>
            </a:r>
            <a:r>
              <a:rPr lang="en-US" sz="3200" dirty="0">
                <a:latin typeface="Arial Nova Cond Light" panose="020B0306020202020204" pitchFamily="34" charset="0"/>
              </a:rPr>
              <a:t> is a </a:t>
            </a:r>
            <a:r>
              <a:rPr lang="en-US" sz="3200" b="1" dirty="0">
                <a:latin typeface="Arial Nova Cond Light" panose="020B0306020202020204" pitchFamily="34" charset="0"/>
              </a:rPr>
              <a:t>Tagalog interrogative word</a:t>
            </a:r>
            <a:r>
              <a:rPr lang="en-US" sz="3200" dirty="0">
                <a:latin typeface="Arial Nova Cond Light" panose="020B0306020202020204" pitchFamily="34" charset="0"/>
              </a:rPr>
              <a:t> that means </a:t>
            </a:r>
            <a:r>
              <a:rPr lang="en-US" sz="3200" b="1" dirty="0">
                <a:solidFill>
                  <a:srgbClr val="FFFF00"/>
                </a:solidFill>
                <a:latin typeface="Arial Nova Cond Light" panose="020B0306020202020204" pitchFamily="34" charset="0"/>
              </a:rPr>
              <a:t>"How"</a:t>
            </a:r>
            <a:r>
              <a:rPr lang="en-US" sz="3200" dirty="0">
                <a:solidFill>
                  <a:srgbClr val="FFFF00"/>
                </a:solidFill>
                <a:latin typeface="Arial Nova Cond Light" panose="020B0306020202020204" pitchFamily="34" charset="0"/>
              </a:rPr>
              <a:t> </a:t>
            </a:r>
            <a:r>
              <a:rPr lang="en-US" sz="3200" dirty="0">
                <a:latin typeface="Arial Nova Cond Light" panose="020B0306020202020204" pitchFamily="34" charset="0"/>
              </a:rPr>
              <a:t>— specifically used to ask </a:t>
            </a:r>
            <a:r>
              <a:rPr lang="en-US" sz="3200" b="1" dirty="0">
                <a:latin typeface="Arial Nova Cond Light" panose="020B0306020202020204" pitchFamily="34" charset="0"/>
              </a:rPr>
              <a:t>about the </a:t>
            </a:r>
            <a:r>
              <a:rPr lang="en-US" sz="3200" b="1" dirty="0">
                <a:solidFill>
                  <a:srgbClr val="FFFF00"/>
                </a:solidFill>
                <a:latin typeface="Arial Nova Cond Light" panose="020B0306020202020204" pitchFamily="34" charset="0"/>
              </a:rPr>
              <a:t>manner, method, or process</a:t>
            </a:r>
            <a:r>
              <a:rPr lang="en-US" sz="3200" dirty="0">
                <a:solidFill>
                  <a:srgbClr val="FFFF00"/>
                </a:solidFill>
                <a:latin typeface="Arial Nova Cond Light" panose="020B0306020202020204" pitchFamily="34" charset="0"/>
              </a:rPr>
              <a:t> </a:t>
            </a:r>
            <a:r>
              <a:rPr lang="en-US" sz="3200" dirty="0">
                <a:latin typeface="Arial Nova Cond Light" panose="020B0306020202020204" pitchFamily="34" charset="0"/>
              </a:rPr>
              <a:t>by which something is done.</a:t>
            </a:r>
          </a:p>
          <a:p>
            <a:endParaRPr lang="en-US" sz="3200" dirty="0">
              <a:solidFill>
                <a:srgbClr val="FFFF00"/>
              </a:solidFill>
              <a:latin typeface="Arial Nova Cond Light" panose="020B0306020202020204" pitchFamily="34" charset="0"/>
            </a:endParaRPr>
          </a:p>
          <a:p>
            <a:r>
              <a:rPr lang="en-US" sz="3200" b="1" dirty="0">
                <a:solidFill>
                  <a:srgbClr val="FFFF00"/>
                </a:solidFill>
                <a:latin typeface="Arial Nova Cond Light" panose="020B0306020202020204" pitchFamily="34" charset="0"/>
              </a:rPr>
              <a:t>PAANO 									HOW	</a:t>
            </a:r>
          </a:p>
          <a:p>
            <a:r>
              <a:rPr lang="en-US" sz="3200" dirty="0">
                <a:latin typeface="Arial Nova Cond Light" panose="020B0306020202020204" pitchFamily="34" charset="0"/>
              </a:rPr>
              <a:t>Example: </a:t>
            </a:r>
            <a:r>
              <a:rPr lang="en-US" sz="3200" dirty="0" err="1">
                <a:latin typeface="Arial Nova Cond Light" panose="020B0306020202020204" pitchFamily="34" charset="0"/>
              </a:rPr>
              <a:t>halimbawa</a:t>
            </a:r>
            <a:br>
              <a:rPr lang="en-US" sz="3200" dirty="0">
                <a:latin typeface="Arial Nova Cond Light" panose="020B0306020202020204" pitchFamily="34" charset="0"/>
              </a:rPr>
            </a:br>
            <a:r>
              <a:rPr lang="en-US" sz="3200" dirty="0">
                <a:latin typeface="Arial Nova Cond Light" panose="020B0306020202020204" pitchFamily="34" charset="0"/>
              </a:rPr>
              <a:t>Paano </a:t>
            </a:r>
            <a:r>
              <a:rPr lang="en-US" sz="3200" dirty="0" err="1">
                <a:latin typeface="Arial Nova Cond Light" panose="020B0306020202020204" pitchFamily="34" charset="0"/>
              </a:rPr>
              <a:t>mo</a:t>
            </a:r>
            <a:r>
              <a:rPr lang="en-US" sz="3200" dirty="0">
                <a:latin typeface="Arial Nova Cond Light" panose="020B0306020202020204" pitchFamily="34" charset="0"/>
              </a:rPr>
              <a:t> </a:t>
            </a:r>
            <a:r>
              <a:rPr lang="en-US" sz="3200" dirty="0" err="1">
                <a:latin typeface="Arial Nova Cond Light" panose="020B0306020202020204" pitchFamily="34" charset="0"/>
              </a:rPr>
              <a:t>malalaman</a:t>
            </a:r>
            <a:r>
              <a:rPr lang="en-US" sz="3200" dirty="0">
                <a:latin typeface="Arial Nova Cond Light" panose="020B0306020202020204" pitchFamily="34" charset="0"/>
              </a:rPr>
              <a:t>?				How will you know</a:t>
            </a:r>
            <a:r>
              <a:rPr lang="en-US" sz="2000" dirty="0">
                <a:latin typeface="Arial Nova Cond Light" panose="020B0306020202020204" pitchFamily="34" charset="0"/>
              </a:rPr>
              <a:t>? (requires a response detailing a process)</a:t>
            </a:r>
            <a:endParaRPr lang="en-US" sz="3200" dirty="0">
              <a:latin typeface="Arial Nova Cond Light" panose="020B0306020202020204" pitchFamily="34" charset="0"/>
            </a:endParaRPr>
          </a:p>
          <a:p>
            <a:r>
              <a:rPr lang="en-US" sz="3200" dirty="0">
                <a:latin typeface="Arial Nova Cond Light" panose="020B0306020202020204" pitchFamily="34" charset="0"/>
              </a:rPr>
              <a:t>Paano ka </a:t>
            </a:r>
            <a:r>
              <a:rPr lang="en-US" sz="3200" dirty="0" err="1">
                <a:latin typeface="Arial Nova Cond Light" panose="020B0306020202020204" pitchFamily="34" charset="0"/>
              </a:rPr>
              <a:t>natutong</a:t>
            </a:r>
            <a:r>
              <a:rPr lang="en-US" sz="3200" dirty="0">
                <a:latin typeface="Arial Nova Cond Light" panose="020B0306020202020204" pitchFamily="34" charset="0"/>
              </a:rPr>
              <a:t> </a:t>
            </a:r>
            <a:r>
              <a:rPr lang="en-US" sz="3200" dirty="0" err="1">
                <a:latin typeface="Arial Nova Cond Light" panose="020B0306020202020204" pitchFamily="34" charset="0"/>
              </a:rPr>
              <a:t>magluto</a:t>
            </a:r>
            <a:r>
              <a:rPr lang="en-US" sz="3200" dirty="0">
                <a:latin typeface="Arial Nova Cond Light" panose="020B0306020202020204" pitchFamily="34" charset="0"/>
              </a:rPr>
              <a:t>?			How did you learn to cook?</a:t>
            </a:r>
          </a:p>
          <a:p>
            <a:r>
              <a:rPr lang="en-US" sz="3200" dirty="0">
                <a:latin typeface="Arial Nova Cond Light" panose="020B0306020202020204" pitchFamily="34" charset="0"/>
              </a:rPr>
              <a:t>Paano </a:t>
            </a:r>
            <a:r>
              <a:rPr lang="en-US" sz="3200" dirty="0" err="1">
                <a:latin typeface="Arial Nova Cond Light" panose="020B0306020202020204" pitchFamily="34" charset="0"/>
              </a:rPr>
              <a:t>mo</a:t>
            </a:r>
            <a:r>
              <a:rPr lang="en-US" sz="3200" dirty="0">
                <a:latin typeface="Arial Nova Cond Light" panose="020B0306020202020204" pitchFamily="34" charset="0"/>
              </a:rPr>
              <a:t> </a:t>
            </a:r>
            <a:r>
              <a:rPr lang="en-US" sz="3200" dirty="0" err="1">
                <a:latin typeface="Arial Nova Cond Light" panose="020B0306020202020204" pitchFamily="34" charset="0"/>
              </a:rPr>
              <a:t>nalaman</a:t>
            </a:r>
            <a:r>
              <a:rPr lang="en-US" sz="3200" dirty="0">
                <a:latin typeface="Arial Nova Cond Light" panose="020B0306020202020204" pitchFamily="34" charset="0"/>
              </a:rPr>
              <a:t>?					How did you know?</a:t>
            </a:r>
          </a:p>
          <a:p>
            <a:endParaRPr lang="en-US" sz="3200" dirty="0">
              <a:latin typeface="Arial Nova Cond Light" panose="020B0306020202020204" pitchFamily="34" charset="0"/>
            </a:endParaRPr>
          </a:p>
          <a:p>
            <a:r>
              <a:rPr lang="en-US" sz="2000" dirty="0">
                <a:latin typeface="Arial Nova Cond Light" panose="020B0306020202020204" pitchFamily="34" charset="0"/>
              </a:rPr>
              <a:t>Tip: Usually followed by a verb or verb phrase</a:t>
            </a:r>
          </a:p>
          <a:p>
            <a:r>
              <a:rPr lang="en-US" sz="2000" dirty="0">
                <a:latin typeface="Arial Nova Cond Light" panose="020B0306020202020204" pitchFamily="34" charset="0"/>
              </a:rPr>
              <a:t>Can be used in questions about instructions, explanations, or procedures</a:t>
            </a:r>
          </a:p>
          <a:p>
            <a:endParaRPr lang="en-US" sz="3200" dirty="0">
              <a:latin typeface="Arial Nova Cond Light" panose="020B0306020202020204" pitchFamily="34" charset="0"/>
            </a:endParaRPr>
          </a:p>
        </p:txBody>
      </p:sp>
    </p:spTree>
    <p:extLst>
      <p:ext uri="{BB962C8B-B14F-4D97-AF65-F5344CB8AC3E}">
        <p14:creationId xmlns:p14="http://schemas.microsoft.com/office/powerpoint/2010/main" val="153072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AD00-F7FF-79A9-6CFE-C31644D1D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1E53A-09E4-705A-67F4-662A9E3AE77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6AB44FAC-8EC2-711B-D71A-AEAC7E787DB8}"/>
              </a:ext>
            </a:extLst>
          </p:cNvPr>
          <p:cNvSpPr txBox="1"/>
          <p:nvPr/>
        </p:nvSpPr>
        <p:spPr>
          <a:xfrm>
            <a:off x="-1" y="101600"/>
            <a:ext cx="12192001" cy="6063198"/>
          </a:xfrm>
          <a:prstGeom prst="rect">
            <a:avLst/>
          </a:prstGeom>
          <a:noFill/>
        </p:spPr>
        <p:txBody>
          <a:bodyPr wrap="square">
            <a:spAutoFit/>
          </a:bodyPr>
          <a:lstStyle/>
          <a:p>
            <a:r>
              <a:rPr lang="en-US" sz="3200" b="1" dirty="0">
                <a:solidFill>
                  <a:srgbClr val="FFFF00"/>
                </a:solidFill>
                <a:latin typeface="Arial Nova Cond Light" panose="020B0306020202020204" pitchFamily="34" charset="0"/>
              </a:rPr>
              <a:t>Bakit"</a:t>
            </a:r>
            <a:r>
              <a:rPr lang="en-US" sz="3200" dirty="0">
                <a:solidFill>
                  <a:srgbClr val="FFFF00"/>
                </a:solidFill>
                <a:latin typeface="Arial Nova Cond Light" panose="020B0306020202020204" pitchFamily="34" charset="0"/>
              </a:rPr>
              <a:t> </a:t>
            </a:r>
            <a:r>
              <a:rPr lang="en-US" sz="3200" dirty="0">
                <a:latin typeface="Arial Nova Cond Light" panose="020B0306020202020204" pitchFamily="34" charset="0"/>
              </a:rPr>
              <a:t>is an interrogative word in Tagalog that means </a:t>
            </a:r>
            <a:r>
              <a:rPr lang="en-US" sz="3200" b="1" dirty="0">
                <a:latin typeface="Arial Nova Cond Light" panose="020B0306020202020204" pitchFamily="34" charset="0"/>
              </a:rPr>
              <a:t>"Why"</a:t>
            </a:r>
            <a:r>
              <a:rPr lang="en-US" sz="3200" dirty="0">
                <a:latin typeface="Arial Nova Cond Light" panose="020B0306020202020204" pitchFamily="34" charset="0"/>
              </a:rPr>
              <a:t> in English. It is used to ask for </a:t>
            </a:r>
            <a:r>
              <a:rPr lang="en-US" sz="3200" b="1" dirty="0">
                <a:solidFill>
                  <a:srgbClr val="FFFF00"/>
                </a:solidFill>
                <a:latin typeface="Arial Nova Cond Light" panose="020B0306020202020204" pitchFamily="34" charset="0"/>
              </a:rPr>
              <a:t>reasons</a:t>
            </a:r>
            <a:r>
              <a:rPr lang="en-US" sz="3200" dirty="0">
                <a:solidFill>
                  <a:srgbClr val="FFFF00"/>
                </a:solidFill>
                <a:latin typeface="Arial Nova Cond Light" panose="020B0306020202020204" pitchFamily="34" charset="0"/>
              </a:rPr>
              <a:t>, </a:t>
            </a:r>
            <a:r>
              <a:rPr lang="en-US" sz="3200" b="1" dirty="0">
                <a:solidFill>
                  <a:srgbClr val="FFFF00"/>
                </a:solidFill>
                <a:latin typeface="Arial Nova Cond Light" panose="020B0306020202020204" pitchFamily="34" charset="0"/>
              </a:rPr>
              <a:t>causes</a:t>
            </a:r>
            <a:r>
              <a:rPr lang="en-US" sz="3200" dirty="0">
                <a:solidFill>
                  <a:srgbClr val="FFFF00"/>
                </a:solidFill>
                <a:latin typeface="Arial Nova Cond Light" panose="020B0306020202020204" pitchFamily="34" charset="0"/>
              </a:rPr>
              <a:t>, or </a:t>
            </a:r>
            <a:r>
              <a:rPr lang="en-US" sz="3200" b="1" dirty="0">
                <a:solidFill>
                  <a:srgbClr val="FFFF00"/>
                </a:solidFill>
                <a:latin typeface="Arial Nova Cond Light" panose="020B0306020202020204" pitchFamily="34" charset="0"/>
              </a:rPr>
              <a:t>explanations</a:t>
            </a:r>
            <a:r>
              <a:rPr lang="en-US" sz="3200" dirty="0">
                <a:solidFill>
                  <a:srgbClr val="FFFF00"/>
                </a:solidFill>
                <a:latin typeface="Arial Nova Cond Light" panose="020B0306020202020204" pitchFamily="34" charset="0"/>
              </a:rPr>
              <a:t> behind an action, situation, or event</a:t>
            </a:r>
            <a:r>
              <a:rPr lang="en-US" sz="3200" dirty="0">
                <a:latin typeface="Arial Nova Cond Light" panose="020B0306020202020204" pitchFamily="34" charset="0"/>
              </a:rPr>
              <a:t>.</a:t>
            </a:r>
          </a:p>
          <a:p>
            <a:endParaRPr lang="en-US" sz="3200" dirty="0">
              <a:latin typeface="Arial Nova Cond Light" panose="020B0306020202020204" pitchFamily="34" charset="0"/>
            </a:endParaRPr>
          </a:p>
          <a:p>
            <a:r>
              <a:rPr lang="en-US" sz="3200" dirty="0">
                <a:solidFill>
                  <a:srgbClr val="FFFF00"/>
                </a:solidFill>
                <a:latin typeface="Arial Nova Cond Light" panose="020B0306020202020204" pitchFamily="34" charset="0"/>
              </a:rPr>
              <a:t>BAKIT											WHY	</a:t>
            </a:r>
          </a:p>
          <a:p>
            <a:r>
              <a:rPr lang="en-US" sz="3200" dirty="0">
                <a:latin typeface="Arial Nova Cond Light" panose="020B0306020202020204" pitchFamily="34" charset="0"/>
              </a:rPr>
              <a:t>example: </a:t>
            </a:r>
            <a:r>
              <a:rPr lang="en-US" sz="3200" dirty="0" err="1">
                <a:latin typeface="Arial Nova Cond Light" panose="020B0306020202020204" pitchFamily="34" charset="0"/>
              </a:rPr>
              <a:t>halimbawa</a:t>
            </a:r>
            <a:endParaRPr lang="en-US" sz="3200" dirty="0">
              <a:latin typeface="Arial Nova Cond Light" panose="020B0306020202020204" pitchFamily="34" charset="0"/>
            </a:endParaRPr>
          </a:p>
          <a:p>
            <a:r>
              <a:rPr lang="en-US" sz="3200" dirty="0">
                <a:latin typeface="Arial Nova Cond Light" panose="020B0306020202020204" pitchFamily="34" charset="0"/>
              </a:rPr>
              <a:t>Bakit </a:t>
            </a:r>
            <a:r>
              <a:rPr lang="en-US" sz="3200" dirty="0" err="1">
                <a:latin typeface="Arial Nova Cond Light" panose="020B0306020202020204" pitchFamily="34" charset="0"/>
              </a:rPr>
              <a:t>siya</a:t>
            </a:r>
            <a:r>
              <a:rPr lang="en-US" sz="3200" dirty="0">
                <a:latin typeface="Arial Nova Cond Light" panose="020B0306020202020204" pitchFamily="34" charset="0"/>
              </a:rPr>
              <a:t> </a:t>
            </a:r>
            <a:r>
              <a:rPr lang="en-US" sz="3200" dirty="0" err="1">
                <a:latin typeface="Arial Nova Cond Light" panose="020B0306020202020204" pitchFamily="34" charset="0"/>
              </a:rPr>
              <a:t>galit</a:t>
            </a:r>
            <a:r>
              <a:rPr lang="en-US" sz="3200" dirty="0">
                <a:latin typeface="Arial Nova Cond Light" panose="020B0306020202020204" pitchFamily="34" charset="0"/>
              </a:rPr>
              <a:t>?								Why is he/she angry?</a:t>
            </a:r>
          </a:p>
          <a:p>
            <a:r>
              <a:rPr lang="en-US" sz="3200" b="1" dirty="0">
                <a:latin typeface="Arial Nova Cond Light" panose="020B0306020202020204" pitchFamily="34" charset="0"/>
              </a:rPr>
              <a:t>Bakit</a:t>
            </a:r>
            <a:r>
              <a:rPr lang="en-US" sz="3200" dirty="0">
                <a:latin typeface="Arial Nova Cond Light" panose="020B0306020202020204" pitchFamily="34" charset="0"/>
              </a:rPr>
              <a:t> ka </a:t>
            </a:r>
            <a:r>
              <a:rPr lang="en-US" sz="3200" dirty="0" err="1">
                <a:latin typeface="Arial Nova Cond Light" panose="020B0306020202020204" pitchFamily="34" charset="0"/>
              </a:rPr>
              <a:t>umalis</a:t>
            </a:r>
            <a:r>
              <a:rPr lang="en-US" sz="3200" dirty="0">
                <a:latin typeface="Arial Nova Cond Light" panose="020B0306020202020204" pitchFamily="34" charset="0"/>
              </a:rPr>
              <a:t>?							Why did you leave?</a:t>
            </a:r>
          </a:p>
          <a:p>
            <a:r>
              <a:rPr lang="en-US" sz="3200" dirty="0">
                <a:latin typeface="Arial Nova Cond Light" panose="020B0306020202020204" pitchFamily="34" charset="0"/>
              </a:rPr>
              <a:t>Bakit </a:t>
            </a:r>
            <a:r>
              <a:rPr lang="en-US" sz="3200" dirty="0" err="1">
                <a:latin typeface="Arial Nova Cond Light" panose="020B0306020202020204" pitchFamily="34" charset="0"/>
              </a:rPr>
              <a:t>hindi</a:t>
            </a:r>
            <a:r>
              <a:rPr lang="en-US" sz="3200" dirty="0">
                <a:latin typeface="Arial Nova Cond Light" panose="020B0306020202020204" pitchFamily="34" charset="0"/>
              </a:rPr>
              <a:t> </a:t>
            </a:r>
            <a:r>
              <a:rPr lang="en-US" sz="3200" dirty="0" err="1">
                <a:latin typeface="Arial Nova Cond Light" panose="020B0306020202020204" pitchFamily="34" charset="0"/>
              </a:rPr>
              <a:t>siya</a:t>
            </a:r>
            <a:r>
              <a:rPr lang="en-US" sz="3200" dirty="0">
                <a:latin typeface="Arial Nova Cond Light" panose="020B0306020202020204" pitchFamily="34" charset="0"/>
              </a:rPr>
              <a:t> </a:t>
            </a:r>
            <a:r>
              <a:rPr lang="en-US" sz="3200" dirty="0" err="1">
                <a:latin typeface="Arial Nova Cond Light" panose="020B0306020202020204" pitchFamily="34" charset="0"/>
              </a:rPr>
              <a:t>dumating</a:t>
            </a:r>
            <a:r>
              <a:rPr lang="en-US" sz="3200" dirty="0">
                <a:latin typeface="Arial Nova Cond Light" panose="020B0306020202020204" pitchFamily="34" charset="0"/>
              </a:rPr>
              <a:t>?				Why didn’t he/she come?</a:t>
            </a:r>
          </a:p>
          <a:p>
            <a:endParaRPr lang="en-US" sz="2000" dirty="0">
              <a:latin typeface="Arial Nova Cond Light" panose="020B0306020202020204" pitchFamily="34" charset="0"/>
            </a:endParaRPr>
          </a:p>
          <a:p>
            <a:endParaRPr lang="en-US" sz="2000" dirty="0">
              <a:latin typeface="Arial Nova Cond Light" panose="020B0306020202020204" pitchFamily="34" charset="0"/>
            </a:endParaRPr>
          </a:p>
          <a:p>
            <a:endParaRPr lang="en-US" sz="2000" dirty="0">
              <a:latin typeface="Arial Nova Cond Light" panose="020B0306020202020204" pitchFamily="34" charset="0"/>
            </a:endParaRPr>
          </a:p>
          <a:p>
            <a:r>
              <a:rPr lang="en-US" sz="2000" dirty="0">
                <a:latin typeface="Arial Nova Cond Light" panose="020B0306020202020204" pitchFamily="34" charset="0"/>
              </a:rPr>
              <a:t>Tip: Usually followed by a subject + verb or a verb + subject construction.</a:t>
            </a:r>
          </a:p>
          <a:p>
            <a:r>
              <a:rPr lang="en-US" sz="2000" dirty="0">
                <a:latin typeface="Arial Nova Cond Light" panose="020B0306020202020204" pitchFamily="34" charset="0"/>
              </a:rPr>
              <a:t>Can appear at the beginning of the sentence or before the reason clause.</a:t>
            </a:r>
          </a:p>
          <a:p>
            <a:endParaRPr lang="en-US" sz="3200" dirty="0">
              <a:latin typeface="Arial Nova Cond Light" panose="020B0306020202020204" pitchFamily="34" charset="0"/>
            </a:endParaRPr>
          </a:p>
        </p:txBody>
      </p:sp>
    </p:spTree>
    <p:extLst>
      <p:ext uri="{BB962C8B-B14F-4D97-AF65-F5344CB8AC3E}">
        <p14:creationId xmlns:p14="http://schemas.microsoft.com/office/powerpoint/2010/main" val="254400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ED91D-7245-1B3A-2343-8529355E9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69443-EC1B-5B83-AC26-173E4343388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EA14265-F872-0987-9AB9-888DE8F88FFB}"/>
              </a:ext>
            </a:extLst>
          </p:cNvPr>
          <p:cNvSpPr>
            <a:spLocks noGrp="1"/>
          </p:cNvSpPr>
          <p:nvPr>
            <p:ph idx="1"/>
          </p:nvPr>
        </p:nvSpPr>
        <p:spPr>
          <a:xfrm>
            <a:off x="177801" y="1831736"/>
            <a:ext cx="10877054" cy="4052597"/>
          </a:xfrm>
        </p:spPr>
        <p:txBody>
          <a:bodyPr>
            <a:noAutofit/>
          </a:bodyPr>
          <a:lstStyle/>
          <a:p>
            <a:pPr marL="0" indent="0">
              <a:buNone/>
            </a:pPr>
            <a:endParaRPr lang="en-US" sz="2400" dirty="0"/>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6" name="TextBox 5">
            <a:extLst>
              <a:ext uri="{FF2B5EF4-FFF2-40B4-BE49-F238E27FC236}">
                <a16:creationId xmlns:a16="http://schemas.microsoft.com/office/drawing/2014/main" id="{CDD0C1CE-C19C-3B95-045D-5B3A4B6042E7}"/>
              </a:ext>
            </a:extLst>
          </p:cNvPr>
          <p:cNvSpPr txBox="1"/>
          <p:nvPr/>
        </p:nvSpPr>
        <p:spPr>
          <a:xfrm>
            <a:off x="0" y="194733"/>
            <a:ext cx="12191999" cy="4031873"/>
          </a:xfrm>
          <a:prstGeom prst="rect">
            <a:avLst/>
          </a:prstGeom>
          <a:noFill/>
        </p:spPr>
        <p:txBody>
          <a:bodyPr wrap="square">
            <a:spAutoFit/>
          </a:bodyPr>
          <a:lstStyle/>
          <a:p>
            <a:r>
              <a:rPr lang="en-US" sz="3200" b="1" dirty="0">
                <a:latin typeface="Arial Nova Cond Light" panose="020B0306020202020204" pitchFamily="34" charset="0"/>
              </a:rPr>
              <a:t>"Kailan"</a:t>
            </a:r>
            <a:r>
              <a:rPr lang="en-US" sz="3200" dirty="0">
                <a:latin typeface="Arial Nova Cond Light" panose="020B0306020202020204" pitchFamily="34" charset="0"/>
              </a:rPr>
              <a:t> is a </a:t>
            </a:r>
            <a:r>
              <a:rPr lang="en-US" sz="3200" b="1" dirty="0">
                <a:latin typeface="Arial Nova Cond Light" panose="020B0306020202020204" pitchFamily="34" charset="0"/>
              </a:rPr>
              <a:t>Tagalog interrogative word</a:t>
            </a:r>
            <a:r>
              <a:rPr lang="en-US" sz="3200" dirty="0">
                <a:latin typeface="Arial Nova Cond Light" panose="020B0306020202020204" pitchFamily="34" charset="0"/>
              </a:rPr>
              <a:t> that means </a:t>
            </a:r>
            <a:r>
              <a:rPr lang="en-US" sz="3200" b="1" dirty="0">
                <a:solidFill>
                  <a:srgbClr val="FFFF00"/>
                </a:solidFill>
                <a:latin typeface="Arial Nova Cond Light" panose="020B0306020202020204" pitchFamily="34" charset="0"/>
              </a:rPr>
              <a:t>"When</a:t>
            </a:r>
            <a:r>
              <a:rPr lang="en-US" sz="3200" b="1" dirty="0">
                <a:latin typeface="Arial Nova Cond Light" panose="020B0306020202020204" pitchFamily="34" charset="0"/>
              </a:rPr>
              <a:t>"</a:t>
            </a:r>
            <a:r>
              <a:rPr lang="en-US" sz="3200" dirty="0">
                <a:latin typeface="Arial Nova Cond Light" panose="020B0306020202020204" pitchFamily="34" charset="0"/>
              </a:rPr>
              <a:t> in English. It is used to ask </a:t>
            </a:r>
            <a:r>
              <a:rPr lang="en-US" sz="3200" b="1" dirty="0">
                <a:solidFill>
                  <a:srgbClr val="FFFF00"/>
                </a:solidFill>
                <a:latin typeface="Arial Nova Cond Light" panose="020B0306020202020204" pitchFamily="34" charset="0"/>
              </a:rPr>
              <a:t>about time</a:t>
            </a:r>
            <a:r>
              <a:rPr lang="en-US" sz="3200" dirty="0">
                <a:solidFill>
                  <a:srgbClr val="FFFF00"/>
                </a:solidFill>
                <a:latin typeface="Arial Nova Cond Light" panose="020B0306020202020204" pitchFamily="34" charset="0"/>
              </a:rPr>
              <a:t> — whether past, present, or future</a:t>
            </a:r>
            <a:r>
              <a:rPr lang="en-US" sz="3200" dirty="0">
                <a:latin typeface="Arial Nova Cond Light" panose="020B0306020202020204" pitchFamily="34" charset="0"/>
              </a:rPr>
              <a:t>.</a:t>
            </a:r>
          </a:p>
          <a:p>
            <a:endParaRPr lang="en-US" sz="3200" dirty="0">
              <a:latin typeface="Arial Nova Cond Light" panose="020B0306020202020204" pitchFamily="34" charset="0"/>
            </a:endParaRPr>
          </a:p>
          <a:p>
            <a:r>
              <a:rPr lang="en-US" sz="3200" dirty="0">
                <a:latin typeface="Arial Nova Cond Light" panose="020B0306020202020204" pitchFamily="34" charset="0"/>
              </a:rPr>
              <a:t>KAILAN											WHEN</a:t>
            </a:r>
          </a:p>
          <a:p>
            <a:r>
              <a:rPr lang="en-US" sz="3200" dirty="0">
                <a:latin typeface="Arial Nova Cond Light" panose="020B0306020202020204" pitchFamily="34" charset="0"/>
              </a:rPr>
              <a:t>Example: </a:t>
            </a:r>
            <a:r>
              <a:rPr lang="en-US" sz="3200" dirty="0" err="1">
                <a:latin typeface="Arial Nova Cond Light" panose="020B0306020202020204" pitchFamily="34" charset="0"/>
              </a:rPr>
              <a:t>halimbawa</a:t>
            </a:r>
            <a:endParaRPr lang="en-US" sz="3200" dirty="0">
              <a:latin typeface="Arial Nova Cond Light" panose="020B0306020202020204" pitchFamily="34" charset="0"/>
            </a:endParaRPr>
          </a:p>
          <a:p>
            <a:r>
              <a:rPr lang="en-US" sz="3200" dirty="0">
                <a:latin typeface="Arial Nova Cond Light" panose="020B0306020202020204" pitchFamily="34" charset="0"/>
              </a:rPr>
              <a:t>Kailan kayo </a:t>
            </a:r>
            <a:r>
              <a:rPr lang="en-US" sz="3200" dirty="0" err="1">
                <a:latin typeface="Arial Nova Cond Light" panose="020B0306020202020204" pitchFamily="34" charset="0"/>
              </a:rPr>
              <a:t>dumating</a:t>
            </a:r>
            <a:r>
              <a:rPr lang="en-US" sz="3200" dirty="0">
                <a:latin typeface="Arial Nova Cond Light" panose="020B0306020202020204" pitchFamily="34" charset="0"/>
              </a:rPr>
              <a:t> </a:t>
            </a:r>
            <a:r>
              <a:rPr lang="en-US" sz="3200" dirty="0" err="1">
                <a:latin typeface="Arial Nova Cond Light" panose="020B0306020202020204" pitchFamily="34" charset="0"/>
              </a:rPr>
              <a:t>sa</a:t>
            </a:r>
            <a:r>
              <a:rPr lang="en-US" sz="3200" dirty="0">
                <a:latin typeface="Arial Nova Cond Light" panose="020B0306020202020204" pitchFamily="34" charset="0"/>
              </a:rPr>
              <a:t> Pilipinas?			When did you arrive in the Philippines?</a:t>
            </a:r>
          </a:p>
          <a:p>
            <a:r>
              <a:rPr lang="en-US" sz="3200" dirty="0">
                <a:latin typeface="Arial Nova Cond Light" panose="020B0306020202020204" pitchFamily="34" charset="0"/>
              </a:rPr>
              <a:t>Kailan tayo </a:t>
            </a:r>
            <a:r>
              <a:rPr lang="en-US" sz="3200" dirty="0" err="1">
                <a:latin typeface="Arial Nova Cond Light" panose="020B0306020202020204" pitchFamily="34" charset="0"/>
              </a:rPr>
              <a:t>aalis</a:t>
            </a:r>
            <a:r>
              <a:rPr lang="en-US" sz="3200" dirty="0">
                <a:latin typeface="Arial Nova Cond Light" panose="020B0306020202020204" pitchFamily="34" charset="0"/>
              </a:rPr>
              <a:t>?								When are we leaving?</a:t>
            </a:r>
          </a:p>
          <a:p>
            <a:r>
              <a:rPr lang="en-US" sz="3200" dirty="0">
                <a:latin typeface="Arial Nova Cond Light" panose="020B0306020202020204" pitchFamily="34" charset="0"/>
              </a:rPr>
              <a:t>Kailan </a:t>
            </a:r>
            <a:r>
              <a:rPr lang="en-US" sz="3200" dirty="0" err="1">
                <a:latin typeface="Arial Nova Cond Light" panose="020B0306020202020204" pitchFamily="34" charset="0"/>
              </a:rPr>
              <a:t>mo</a:t>
            </a:r>
            <a:r>
              <a:rPr lang="en-US" sz="3200" dirty="0">
                <a:latin typeface="Arial Nova Cond Light" panose="020B0306020202020204" pitchFamily="34" charset="0"/>
              </a:rPr>
              <a:t> </a:t>
            </a:r>
            <a:r>
              <a:rPr lang="en-US" sz="3200" dirty="0" err="1">
                <a:latin typeface="Arial Nova Cond Light" panose="020B0306020202020204" pitchFamily="34" charset="0"/>
              </a:rPr>
              <a:t>siya</a:t>
            </a:r>
            <a:r>
              <a:rPr lang="en-US" sz="3200" dirty="0">
                <a:latin typeface="Arial Nova Cond Light" panose="020B0306020202020204" pitchFamily="34" charset="0"/>
              </a:rPr>
              <a:t> </a:t>
            </a:r>
            <a:r>
              <a:rPr lang="en-US" sz="3200" dirty="0" err="1">
                <a:latin typeface="Arial Nova Cond Light" panose="020B0306020202020204" pitchFamily="34" charset="0"/>
              </a:rPr>
              <a:t>nakilala</a:t>
            </a:r>
            <a:r>
              <a:rPr lang="en-US" sz="3200" dirty="0">
                <a:latin typeface="Arial Nova Cond Light" panose="020B0306020202020204" pitchFamily="34" charset="0"/>
              </a:rPr>
              <a:t>?	</a:t>
            </a:r>
            <a:r>
              <a:rPr lang="en-US" sz="3200" b="1" dirty="0">
                <a:latin typeface="Arial Nova Cond Light" panose="020B0306020202020204" pitchFamily="34" charset="0"/>
              </a:rPr>
              <a:t>					</a:t>
            </a:r>
            <a:r>
              <a:rPr lang="en-US" sz="3200" dirty="0">
                <a:latin typeface="Arial Nova Cond Light" panose="020B0306020202020204" pitchFamily="34" charset="0"/>
              </a:rPr>
              <a:t>When did you meet him/her?</a:t>
            </a:r>
          </a:p>
        </p:txBody>
      </p:sp>
      <p:sp>
        <p:nvSpPr>
          <p:cNvPr id="9" name="TextBox 8">
            <a:extLst>
              <a:ext uri="{FF2B5EF4-FFF2-40B4-BE49-F238E27FC236}">
                <a16:creationId xmlns:a16="http://schemas.microsoft.com/office/drawing/2014/main" id="{610195BE-7937-C2A2-5D47-E50185A374BE}"/>
              </a:ext>
            </a:extLst>
          </p:cNvPr>
          <p:cNvSpPr txBox="1"/>
          <p:nvPr/>
        </p:nvSpPr>
        <p:spPr>
          <a:xfrm>
            <a:off x="264584" y="5143179"/>
            <a:ext cx="6134100" cy="646331"/>
          </a:xfrm>
          <a:prstGeom prst="rect">
            <a:avLst/>
          </a:prstGeom>
          <a:noFill/>
        </p:spPr>
        <p:txBody>
          <a:bodyPr wrap="square">
            <a:spAutoFit/>
          </a:bodyPr>
          <a:lstStyle/>
          <a:p>
            <a:r>
              <a:rPr lang="en-US" dirty="0">
                <a:latin typeface="Arial Narrow" panose="020B0606020202030204" pitchFamily="34" charset="0"/>
              </a:rPr>
              <a:t>Usually placed at the beginning of the sentence </a:t>
            </a:r>
          </a:p>
          <a:p>
            <a:r>
              <a:rPr lang="en-US" dirty="0">
                <a:latin typeface="Arial Narrow" panose="020B0606020202030204" pitchFamily="34" charset="0"/>
              </a:rPr>
              <a:t>Often followed by a verb or subject + verb</a:t>
            </a:r>
            <a:endParaRPr lang="en-PH" dirty="0">
              <a:latin typeface="Arial Narrow" panose="020B0606020202030204" pitchFamily="34" charset="0"/>
            </a:endParaRPr>
          </a:p>
        </p:txBody>
      </p:sp>
    </p:spTree>
    <p:extLst>
      <p:ext uri="{BB962C8B-B14F-4D97-AF65-F5344CB8AC3E}">
        <p14:creationId xmlns:p14="http://schemas.microsoft.com/office/powerpoint/2010/main" val="1433527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48C1-9F43-42E4-F8E9-A82539DC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A313F-6CC6-FD32-4501-8C676DE211DD}"/>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3AD538B-2385-D9A7-AA47-DCF6B1A59F94}"/>
              </a:ext>
            </a:extLst>
          </p:cNvPr>
          <p:cNvSpPr>
            <a:spLocks noGrp="1"/>
          </p:cNvSpPr>
          <p:nvPr>
            <p:ph idx="1"/>
          </p:nvPr>
        </p:nvSpPr>
        <p:spPr>
          <a:xfrm>
            <a:off x="0" y="1831736"/>
            <a:ext cx="12064999" cy="4052597"/>
          </a:xfrm>
        </p:spPr>
        <p:txBody>
          <a:bodyPr>
            <a:noAutofit/>
          </a:bodyPr>
          <a:lstStyle/>
          <a:p>
            <a:pPr marL="0" indent="0">
              <a:buNone/>
            </a:pPr>
            <a:endParaRPr lang="en-US" dirty="0">
              <a:latin typeface="Arial Narrow" panose="020B0606020202030204" pitchFamily="34" charset="0"/>
            </a:endParaRPr>
          </a:p>
          <a:p>
            <a:pPr marL="0" indent="0">
              <a:buNone/>
            </a:pPr>
            <a:r>
              <a:rPr lang="en-US" dirty="0">
                <a:latin typeface="Arial Narrow" panose="020B0606020202030204" pitchFamily="34" charset="0"/>
              </a:rPr>
              <a:t> </a:t>
            </a:r>
          </a:p>
          <a:p>
            <a:pPr marL="0" indent="0">
              <a:buNone/>
            </a:pPr>
            <a:endParaRPr lang="en-US" dirty="0">
              <a:latin typeface="Arial Narrow" panose="020B0606020202030204" pitchFamily="34" charset="0"/>
            </a:endParaRPr>
          </a:p>
          <a:p>
            <a:pPr marL="0" indent="0">
              <a:buNone/>
            </a:pPr>
            <a:r>
              <a:rPr lang="en-US" dirty="0">
                <a:latin typeface="Arial Narrow" panose="020B0606020202030204" pitchFamily="34" charset="0"/>
              </a:rPr>
              <a:t> </a:t>
            </a:r>
          </a:p>
          <a:p>
            <a:pPr marL="0" indent="0">
              <a:buNone/>
            </a:pPr>
            <a:endParaRPr lang="en-US" dirty="0">
              <a:latin typeface="Arial Narrow" panose="020B0606020202030204" pitchFamily="34" charset="0"/>
            </a:endParaRPr>
          </a:p>
          <a:p>
            <a:pPr marL="0" indent="0">
              <a:buNone/>
            </a:pPr>
            <a:endParaRPr lang="en-PH" dirty="0">
              <a:latin typeface="Arial Narrow" panose="020B0606020202030204" pitchFamily="34" charset="0"/>
            </a:endParaRPr>
          </a:p>
          <a:p>
            <a:pPr marL="0" indent="0">
              <a:buNone/>
            </a:pPr>
            <a:endParaRPr lang="en-US" dirty="0">
              <a:solidFill>
                <a:srgbClr val="FFFF00"/>
              </a:solidFill>
              <a:latin typeface="Arial Nova Cond Light" panose="020B0306020202020204" pitchFamily="34" charset="0"/>
            </a:endParaRPr>
          </a:p>
          <a:p>
            <a:pPr marL="0" indent="0">
              <a:buNone/>
            </a:pPr>
            <a:r>
              <a:rPr lang="en-US" dirty="0">
                <a:solidFill>
                  <a:srgbClr val="FFFF00"/>
                </a:solidFill>
                <a:latin typeface="Arial Nova Cond Light" panose="020B0306020202020204" pitchFamily="34" charset="0"/>
              </a:rPr>
              <a:t>"</a:t>
            </a:r>
            <a:r>
              <a:rPr lang="en-US" dirty="0" err="1">
                <a:solidFill>
                  <a:srgbClr val="FFFF00"/>
                </a:solidFill>
                <a:latin typeface="Arial Nova Cond Light" panose="020B0306020202020204" pitchFamily="34" charset="0"/>
              </a:rPr>
              <a:t>Nasaan</a:t>
            </a:r>
            <a:r>
              <a:rPr lang="en-US" dirty="0">
                <a:solidFill>
                  <a:srgbClr val="FFFF00"/>
                </a:solidFill>
                <a:latin typeface="Arial Nova Cond Light" panose="020B0306020202020204" pitchFamily="34" charset="0"/>
              </a:rPr>
              <a:t>" is used when the subject is specific or known (often a proper noun or identified item).It is usually followed by a proper noun or a definite noun (e.g., </a:t>
            </a:r>
            <a:r>
              <a:rPr lang="en-US" dirty="0" err="1">
                <a:solidFill>
                  <a:srgbClr val="FFFF00"/>
                </a:solidFill>
                <a:latin typeface="Arial Nova Cond Light" panose="020B0306020202020204" pitchFamily="34" charset="0"/>
              </a:rPr>
              <a:t>si</a:t>
            </a:r>
            <a:r>
              <a:rPr lang="en-US" dirty="0">
                <a:solidFill>
                  <a:srgbClr val="FFFF00"/>
                </a:solidFill>
                <a:latin typeface="Arial Nova Cond Light" panose="020B0306020202020204" pitchFamily="34" charset="0"/>
              </a:rPr>
              <a:t> Nanay, ang </a:t>
            </a:r>
            <a:r>
              <a:rPr lang="en-US" dirty="0" err="1">
                <a:solidFill>
                  <a:srgbClr val="FFFF00"/>
                </a:solidFill>
                <a:latin typeface="Arial Nova Cond Light" panose="020B0306020202020204" pitchFamily="34" charset="0"/>
              </a:rPr>
              <a:t>libro</a:t>
            </a:r>
            <a:r>
              <a:rPr lang="en-US" dirty="0">
                <a:solidFill>
                  <a:srgbClr val="FFFF00"/>
                </a:solidFill>
                <a:latin typeface="Arial Nova Cond Light" panose="020B0306020202020204" pitchFamily="34" charset="0"/>
              </a:rPr>
              <a:t>, ang </a:t>
            </a:r>
            <a:r>
              <a:rPr lang="en-US" dirty="0" err="1">
                <a:solidFill>
                  <a:srgbClr val="FFFF00"/>
                </a:solidFill>
                <a:latin typeface="Arial Nova Cond Light" panose="020B0306020202020204" pitchFamily="34" charset="0"/>
              </a:rPr>
              <a:t>aso</a:t>
            </a:r>
            <a:r>
              <a:rPr lang="en-US" dirty="0">
                <a:solidFill>
                  <a:srgbClr val="FFFF00"/>
                </a:solidFill>
                <a:latin typeface="Arial Nova Cond Light" panose="020B0306020202020204" pitchFamily="34" charset="0"/>
              </a:rPr>
              <a:t>).</a:t>
            </a:r>
            <a:endParaRPr lang="en-PH" dirty="0">
              <a:solidFill>
                <a:srgbClr val="FFFF00"/>
              </a:solidFill>
              <a:latin typeface="Arial Nova Cond Light" panose="020B0306020202020204" pitchFamily="34" charset="0"/>
            </a:endParaRPr>
          </a:p>
        </p:txBody>
      </p:sp>
      <p:sp>
        <p:nvSpPr>
          <p:cNvPr id="7" name="TextBox 6">
            <a:extLst>
              <a:ext uri="{FF2B5EF4-FFF2-40B4-BE49-F238E27FC236}">
                <a16:creationId xmlns:a16="http://schemas.microsoft.com/office/drawing/2014/main" id="{D31AAE19-7058-5DBE-D91D-D3D29BFBFDAF}"/>
              </a:ext>
            </a:extLst>
          </p:cNvPr>
          <p:cNvSpPr txBox="1"/>
          <p:nvPr/>
        </p:nvSpPr>
        <p:spPr>
          <a:xfrm>
            <a:off x="1" y="191326"/>
            <a:ext cx="12192000" cy="4708981"/>
          </a:xfrm>
          <a:prstGeom prst="rect">
            <a:avLst/>
          </a:prstGeom>
          <a:noFill/>
        </p:spPr>
        <p:txBody>
          <a:bodyPr wrap="square">
            <a:spAutoFit/>
          </a:bodyPr>
          <a:lstStyle/>
          <a:p>
            <a:r>
              <a:rPr lang="en-US" sz="3200" b="1" dirty="0">
                <a:latin typeface="Arial Nova Cond Light" panose="020B0306020202020204" pitchFamily="34" charset="0"/>
              </a:rPr>
              <a:t>“NASAAN</a:t>
            </a:r>
            <a:r>
              <a:rPr lang="en-US" sz="4400" dirty="0">
                <a:latin typeface="Arial Nova Cond Light" panose="020B0306020202020204" pitchFamily="34" charset="0"/>
              </a:rPr>
              <a:t>" </a:t>
            </a:r>
            <a:r>
              <a:rPr lang="en-US" sz="3200" dirty="0">
                <a:latin typeface="Arial Nova Cond Light" panose="020B0306020202020204" pitchFamily="34" charset="0"/>
              </a:rPr>
              <a:t>is an interrogative word in Tagalog used to ask about the location or </a:t>
            </a:r>
            <a:r>
              <a:rPr lang="en-US" sz="3200" dirty="0">
                <a:solidFill>
                  <a:srgbClr val="FFFF00"/>
                </a:solidFill>
                <a:latin typeface="Arial Nova Cond Light" panose="020B0306020202020204" pitchFamily="34" charset="0"/>
              </a:rPr>
              <a:t>position of a person, thing, or place</a:t>
            </a:r>
            <a:r>
              <a:rPr lang="en-US" sz="3200" dirty="0">
                <a:latin typeface="Arial Nova Cond Light" panose="020B0306020202020204" pitchFamily="34" charset="0"/>
              </a:rPr>
              <a:t>. In English, it means "Where is..." or simply "Where?“</a:t>
            </a:r>
          </a:p>
          <a:p>
            <a:r>
              <a:rPr lang="en-US" sz="3200" dirty="0">
                <a:solidFill>
                  <a:srgbClr val="FFFF00"/>
                </a:solidFill>
                <a:latin typeface="Arial Nova Cond Light" panose="020B0306020202020204" pitchFamily="34" charset="0"/>
              </a:rPr>
              <a:t>NASAAN						WHERE	</a:t>
            </a:r>
          </a:p>
          <a:p>
            <a:r>
              <a:rPr lang="en-US" sz="3200" dirty="0" err="1">
                <a:latin typeface="Arial Nova Cond Light" panose="020B0306020202020204" pitchFamily="34" charset="0"/>
              </a:rPr>
              <a:t>Nasaan</a:t>
            </a:r>
            <a:r>
              <a:rPr lang="en-US" sz="3200" dirty="0">
                <a:latin typeface="Arial Nova Cond Light" panose="020B0306020202020204" pitchFamily="34" charset="0"/>
              </a:rPr>
              <a:t> </a:t>
            </a:r>
            <a:r>
              <a:rPr lang="en-US" sz="3200" dirty="0" err="1">
                <a:latin typeface="Arial Nova Cond Light" panose="020B0306020202020204" pitchFamily="34" charset="0"/>
              </a:rPr>
              <a:t>siya</a:t>
            </a:r>
            <a:r>
              <a:rPr lang="en-US" sz="3200" dirty="0">
                <a:latin typeface="Arial Nova Cond Light" panose="020B0306020202020204" pitchFamily="34" charset="0"/>
              </a:rPr>
              <a:t>?				Where is he/she?(when asking for the location of a 										person or thing)</a:t>
            </a:r>
          </a:p>
          <a:p>
            <a:r>
              <a:rPr lang="en-US" sz="3200" dirty="0" err="1">
                <a:latin typeface="Arial Nova Cond Light" panose="020B0306020202020204" pitchFamily="34" charset="0"/>
              </a:rPr>
              <a:t>Nasaan</a:t>
            </a:r>
            <a:r>
              <a:rPr lang="en-US" sz="3200" dirty="0">
                <a:latin typeface="Arial Nova Cond Light" panose="020B0306020202020204" pitchFamily="34" charset="0"/>
              </a:rPr>
              <a:t> ang bag </a:t>
            </a:r>
            <a:r>
              <a:rPr lang="en-US" sz="3200" dirty="0" err="1">
                <a:latin typeface="Arial Nova Cond Light" panose="020B0306020202020204" pitchFamily="34" charset="0"/>
              </a:rPr>
              <a:t>mo</a:t>
            </a:r>
            <a:r>
              <a:rPr lang="en-US" sz="3200" dirty="0">
                <a:latin typeface="Arial Nova Cond Light" panose="020B0306020202020204" pitchFamily="34" charset="0"/>
              </a:rPr>
              <a:t>?</a:t>
            </a:r>
            <a:r>
              <a:rPr lang="en-US" sz="3200" b="1" dirty="0">
                <a:latin typeface="Arial Nova Cond Light" panose="020B0306020202020204" pitchFamily="34" charset="0"/>
              </a:rPr>
              <a:t>		</a:t>
            </a:r>
            <a:r>
              <a:rPr lang="en-US" sz="3200" dirty="0">
                <a:latin typeface="Arial Nova Cond Light" panose="020B0306020202020204" pitchFamily="34" charset="0"/>
              </a:rPr>
              <a:t>Where is your bag?</a:t>
            </a:r>
          </a:p>
          <a:p>
            <a:r>
              <a:rPr lang="en-US" sz="3200" dirty="0" err="1">
                <a:latin typeface="Arial Nova Cond Light" panose="020B0306020202020204" pitchFamily="34" charset="0"/>
              </a:rPr>
              <a:t>Nasaan</a:t>
            </a:r>
            <a:r>
              <a:rPr lang="en-US" sz="3200" dirty="0">
                <a:latin typeface="Arial Nova Cond Light" panose="020B0306020202020204" pitchFamily="34" charset="0"/>
              </a:rPr>
              <a:t> </a:t>
            </a:r>
            <a:r>
              <a:rPr lang="en-US" sz="3200" dirty="0" err="1">
                <a:latin typeface="Arial Nova Cond Light" panose="020B0306020202020204" pitchFamily="34" charset="0"/>
              </a:rPr>
              <a:t>na</a:t>
            </a:r>
            <a:r>
              <a:rPr lang="en-US" sz="3200" dirty="0">
                <a:latin typeface="Arial Nova Cond Light" panose="020B0306020202020204" pitchFamily="34" charset="0"/>
              </a:rPr>
              <a:t> tayo?	 		Where are we now?</a:t>
            </a:r>
          </a:p>
          <a:p>
            <a:r>
              <a:rPr lang="en-US" sz="3200" dirty="0" err="1">
                <a:latin typeface="Arial Nova Cond Light" panose="020B0306020202020204" pitchFamily="34" charset="0"/>
              </a:rPr>
              <a:t>Nasaan</a:t>
            </a:r>
            <a:r>
              <a:rPr lang="en-US" sz="3200" dirty="0">
                <a:latin typeface="Arial Nova Cond Light" panose="020B0306020202020204" pitchFamily="34" charset="0"/>
              </a:rPr>
              <a:t> ang </a:t>
            </a:r>
            <a:r>
              <a:rPr lang="en-US" sz="3200" dirty="0" err="1">
                <a:latin typeface="Arial Nova Cond Light" panose="020B0306020202020204" pitchFamily="34" charset="0"/>
              </a:rPr>
              <a:t>susi</a:t>
            </a:r>
            <a:r>
              <a:rPr lang="en-US" sz="3200" dirty="0">
                <a:latin typeface="Arial Nova Cond Light" panose="020B0306020202020204" pitchFamily="34" charset="0"/>
              </a:rPr>
              <a:t>?			Where is the key?</a:t>
            </a:r>
          </a:p>
        </p:txBody>
      </p:sp>
    </p:spTree>
    <p:extLst>
      <p:ext uri="{BB962C8B-B14F-4D97-AF65-F5344CB8AC3E}">
        <p14:creationId xmlns:p14="http://schemas.microsoft.com/office/powerpoint/2010/main" val="2739966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406DC-FCAE-2F71-F811-9FFA7D859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F4B50-1F36-EE34-F81B-BC0E70314169}"/>
              </a:ext>
            </a:extLst>
          </p:cNvPr>
          <p:cNvSpPr>
            <a:spLocks noGrp="1"/>
          </p:cNvSpPr>
          <p:nvPr>
            <p:ph type="title"/>
          </p:nvPr>
        </p:nvSpPr>
        <p:spPr>
          <a:xfrm>
            <a:off x="270934" y="1346201"/>
            <a:ext cx="11650132" cy="1264469"/>
          </a:xfrm>
        </p:spPr>
        <p:txBody>
          <a:bodyPr>
            <a:noAutofit/>
          </a:bodyPr>
          <a:lstStyle/>
          <a:p>
            <a:pPr algn="l"/>
            <a:r>
              <a:rPr lang="en-US" b="1" cap="none" dirty="0">
                <a:solidFill>
                  <a:schemeClr val="tx1"/>
                </a:solidFill>
                <a:latin typeface="Arial Nova Cond Light" panose="020B0306020202020204" pitchFamily="34" charset="0"/>
                <a:ea typeface="+mn-ea"/>
                <a:cs typeface="+mn-cs"/>
              </a:rPr>
              <a:t>"Saan" </a:t>
            </a:r>
            <a:r>
              <a:rPr lang="en-US" cap="none" dirty="0">
                <a:solidFill>
                  <a:schemeClr val="tx1"/>
                </a:solidFill>
                <a:latin typeface="Arial Nova Cond Light" panose="020B0306020202020204" pitchFamily="34" charset="0"/>
                <a:ea typeface="+mn-ea"/>
                <a:cs typeface="+mn-cs"/>
              </a:rPr>
              <a:t>functions as an interrogative adverb — it's used to ask </a:t>
            </a:r>
            <a:r>
              <a:rPr lang="en-US" cap="none" dirty="0">
                <a:solidFill>
                  <a:srgbClr val="FFFF00"/>
                </a:solidFill>
                <a:latin typeface="Arial Nova Cond Light" panose="020B0306020202020204" pitchFamily="34" charset="0"/>
                <a:ea typeface="+mn-ea"/>
                <a:cs typeface="+mn-cs"/>
              </a:rPr>
              <a:t>about location or </a:t>
            </a:r>
            <a:r>
              <a:rPr lang="en-US" b="1" cap="none" dirty="0">
                <a:solidFill>
                  <a:srgbClr val="FFFF00"/>
                </a:solidFill>
                <a:latin typeface="Arial Nova Cond Light" panose="020B0306020202020204" pitchFamily="34" charset="0"/>
                <a:ea typeface="+mn-ea"/>
                <a:cs typeface="+mn-cs"/>
              </a:rPr>
              <a:t>direction</a:t>
            </a:r>
            <a:r>
              <a:rPr lang="en-US" cap="none" dirty="0">
                <a:solidFill>
                  <a:schemeClr val="tx1"/>
                </a:solidFill>
                <a:latin typeface="Arial Nova Cond Light" panose="020B0306020202020204" pitchFamily="34" charset="0"/>
                <a:ea typeface="+mn-ea"/>
                <a:cs typeface="+mn-cs"/>
              </a:rPr>
              <a:t>, and it typically translates to "where" in </a:t>
            </a:r>
            <a:r>
              <a:rPr lang="en-US" cap="none" dirty="0" err="1">
                <a:solidFill>
                  <a:schemeClr val="tx1"/>
                </a:solidFill>
                <a:latin typeface="Arial Nova Cond Light" panose="020B0306020202020204" pitchFamily="34" charset="0"/>
                <a:ea typeface="+mn-ea"/>
                <a:cs typeface="+mn-cs"/>
              </a:rPr>
              <a:t>english</a:t>
            </a:r>
            <a:r>
              <a:rPr lang="en-US" cap="none" dirty="0">
                <a:solidFill>
                  <a:schemeClr val="tx1"/>
                </a:solidFill>
                <a:latin typeface="Arial Nova Cond Light" panose="020B0306020202020204" pitchFamily="34" charset="0"/>
                <a:ea typeface="+mn-ea"/>
                <a:cs typeface="+mn-cs"/>
              </a:rPr>
              <a:t>.’</a:t>
            </a:r>
            <a:br>
              <a:rPr lang="en-US" cap="none" dirty="0">
                <a:solidFill>
                  <a:schemeClr val="tx1"/>
                </a:solidFill>
                <a:latin typeface="Arial Nova Cond Light" panose="020B0306020202020204" pitchFamily="34" charset="0"/>
                <a:ea typeface="+mn-ea"/>
                <a:cs typeface="+mn-cs"/>
              </a:rPr>
            </a:br>
            <a:br>
              <a:rPr lang="en-US" b="1" cap="none" dirty="0">
                <a:solidFill>
                  <a:srgbClr val="FFFF00"/>
                </a:solidFill>
                <a:latin typeface="Arial Nova Cond Light" panose="020B0306020202020204" pitchFamily="34" charset="0"/>
                <a:ea typeface="+mn-ea"/>
                <a:cs typeface="+mn-cs"/>
              </a:rPr>
            </a:br>
            <a:r>
              <a:rPr lang="en-US" b="1" cap="none" dirty="0">
                <a:solidFill>
                  <a:srgbClr val="FFFF00"/>
                </a:solidFill>
                <a:latin typeface="Arial Nova Cond Light" panose="020B0306020202020204" pitchFamily="34" charset="0"/>
                <a:ea typeface="+mn-ea"/>
                <a:cs typeface="+mn-cs"/>
              </a:rPr>
              <a:t>SAAN					WHERE</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example: </a:t>
            </a:r>
            <a:r>
              <a:rPr lang="en-US" cap="none" dirty="0" err="1">
                <a:solidFill>
                  <a:schemeClr val="tx1"/>
                </a:solidFill>
                <a:latin typeface="Arial Nova Cond Light" panose="020B0306020202020204" pitchFamily="34" charset="0"/>
                <a:ea typeface="+mn-ea"/>
                <a:cs typeface="+mn-cs"/>
              </a:rPr>
              <a:t>halimbawa</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Saan kayo </a:t>
            </a:r>
            <a:r>
              <a:rPr lang="en-US" cap="none" dirty="0" err="1">
                <a:solidFill>
                  <a:schemeClr val="tx1"/>
                </a:solidFill>
                <a:latin typeface="Arial Nova Cond Light" panose="020B0306020202020204" pitchFamily="34" charset="0"/>
                <a:ea typeface="+mn-ea"/>
                <a:cs typeface="+mn-cs"/>
              </a:rPr>
              <a:t>nakatira</a:t>
            </a:r>
            <a:r>
              <a:rPr lang="en-US" cap="none" dirty="0">
                <a:solidFill>
                  <a:schemeClr val="tx1"/>
                </a:solidFill>
                <a:latin typeface="Arial Nova Cond Light" panose="020B0306020202020204" pitchFamily="34" charset="0"/>
                <a:ea typeface="+mn-ea"/>
                <a:cs typeface="+mn-cs"/>
              </a:rPr>
              <a:t>?		Where do you live?</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Saan ang </a:t>
            </a:r>
            <a:r>
              <a:rPr lang="en-US" cap="none" dirty="0" err="1">
                <a:solidFill>
                  <a:schemeClr val="tx1"/>
                </a:solidFill>
                <a:latin typeface="Arial Nova Cond Light" panose="020B0306020202020204" pitchFamily="34" charset="0"/>
                <a:ea typeface="+mn-ea"/>
                <a:cs typeface="+mn-cs"/>
              </a:rPr>
              <a:t>ospital</a:t>
            </a:r>
            <a:r>
              <a:rPr lang="en-US" cap="none" dirty="0">
                <a:solidFill>
                  <a:schemeClr val="tx1"/>
                </a:solidFill>
                <a:latin typeface="Arial Nova Cond Light" panose="020B0306020202020204" pitchFamily="34" charset="0"/>
                <a:ea typeface="+mn-ea"/>
                <a:cs typeface="+mn-cs"/>
              </a:rPr>
              <a:t>? 			Where is the hospital?</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Saan </a:t>
            </a:r>
            <a:r>
              <a:rPr lang="en-US" cap="none" dirty="0" err="1">
                <a:solidFill>
                  <a:schemeClr val="tx1"/>
                </a:solidFill>
                <a:latin typeface="Arial Nova Cond Light" panose="020B0306020202020204" pitchFamily="34" charset="0"/>
                <a:ea typeface="+mn-ea"/>
                <a:cs typeface="+mn-cs"/>
              </a:rPr>
              <a:t>siya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galing</a:t>
            </a:r>
            <a:r>
              <a:rPr lang="en-US" cap="none" dirty="0">
                <a:solidFill>
                  <a:schemeClr val="tx1"/>
                </a:solidFill>
                <a:latin typeface="Arial Nova Cond Light" panose="020B0306020202020204" pitchFamily="34" charset="0"/>
                <a:ea typeface="+mn-ea"/>
                <a:cs typeface="+mn-cs"/>
              </a:rPr>
              <a:t>?			Where did he/she come from?</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Saan tayo </a:t>
            </a:r>
            <a:r>
              <a:rPr lang="en-US" cap="none" dirty="0" err="1">
                <a:solidFill>
                  <a:schemeClr val="tx1"/>
                </a:solidFill>
                <a:latin typeface="Arial Nova Cond Light" panose="020B0306020202020204" pitchFamily="34" charset="0"/>
                <a:ea typeface="+mn-ea"/>
                <a:cs typeface="+mn-cs"/>
              </a:rPr>
              <a:t>kakain</a:t>
            </a:r>
            <a:r>
              <a:rPr lang="en-US" cap="none" dirty="0">
                <a:solidFill>
                  <a:schemeClr val="tx1"/>
                </a:solidFill>
                <a:latin typeface="Arial Nova Cond Light" panose="020B0306020202020204" pitchFamily="34" charset="0"/>
                <a:ea typeface="+mn-ea"/>
                <a:cs typeface="+mn-cs"/>
              </a:rPr>
              <a:t>?			Where we eat?</a:t>
            </a:r>
          </a:p>
        </p:txBody>
      </p:sp>
    </p:spTree>
    <p:extLst>
      <p:ext uri="{BB962C8B-B14F-4D97-AF65-F5344CB8AC3E}">
        <p14:creationId xmlns:p14="http://schemas.microsoft.com/office/powerpoint/2010/main" val="2799871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C3C77-79D6-394A-26AA-844E73B8C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C7590-B152-F4FF-101F-33C212A64D8A}"/>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5" name="TextBox 4">
            <a:extLst>
              <a:ext uri="{FF2B5EF4-FFF2-40B4-BE49-F238E27FC236}">
                <a16:creationId xmlns:a16="http://schemas.microsoft.com/office/drawing/2014/main" id="{0E093027-FFFF-30FC-978E-6780BF7488E6}"/>
              </a:ext>
            </a:extLst>
          </p:cNvPr>
          <p:cNvSpPr txBox="1"/>
          <p:nvPr/>
        </p:nvSpPr>
        <p:spPr>
          <a:xfrm>
            <a:off x="177800" y="262075"/>
            <a:ext cx="11935903" cy="3662541"/>
          </a:xfrm>
          <a:prstGeom prst="rect">
            <a:avLst/>
          </a:prstGeom>
          <a:noFill/>
        </p:spPr>
        <p:txBody>
          <a:bodyPr wrap="square">
            <a:spAutoFit/>
          </a:bodyPr>
          <a:lstStyle/>
          <a:p>
            <a:endParaRPr lang="en-PH" dirty="0">
              <a:latin typeface="Arial Nova Cond Light" panose="020B0306020202020204" pitchFamily="34" charset="0"/>
            </a:endParaRPr>
          </a:p>
          <a:p>
            <a:pPr algn="ctr"/>
            <a:r>
              <a:rPr lang="en-PH" sz="3600" b="1" dirty="0">
                <a:solidFill>
                  <a:srgbClr val="FFFF00"/>
                </a:solidFill>
                <a:latin typeface="Arial Nova Cond Light" panose="020B0306020202020204" pitchFamily="34" charset="0"/>
              </a:rPr>
              <a:t>Vocabulary List</a:t>
            </a:r>
          </a:p>
          <a:p>
            <a:endParaRPr lang="en-PH" sz="3200" dirty="0">
              <a:latin typeface="Arial Nova Cond Light" panose="020B0306020202020204" pitchFamily="34" charset="0"/>
            </a:endParaRPr>
          </a:p>
          <a:p>
            <a:r>
              <a:rPr lang="en-PH" sz="3200" dirty="0" err="1">
                <a:latin typeface="Arial Nova Cond Light" panose="020B0306020202020204" pitchFamily="34" charset="0"/>
              </a:rPr>
              <a:t>malaman</a:t>
            </a:r>
            <a:r>
              <a:rPr lang="en-PH" sz="3200" dirty="0">
                <a:latin typeface="Arial Nova Cond Light" panose="020B0306020202020204" pitchFamily="34" charset="0"/>
              </a:rPr>
              <a:t> = to know					gusto = to like </a:t>
            </a:r>
          </a:p>
          <a:p>
            <a:r>
              <a:rPr lang="en-PH" sz="3200" dirty="0" err="1">
                <a:latin typeface="Arial Nova Cond Light" panose="020B0306020202020204" pitchFamily="34" charset="0"/>
              </a:rPr>
              <a:t>nakatira</a:t>
            </a:r>
            <a:r>
              <a:rPr lang="en-PH" sz="3200" dirty="0">
                <a:latin typeface="Arial Nova Cond Light" panose="020B0306020202020204" pitchFamily="34" charset="0"/>
              </a:rPr>
              <a:t> = live/reside					</a:t>
            </a:r>
            <a:r>
              <a:rPr lang="en-PH" sz="3200" dirty="0" err="1">
                <a:latin typeface="Arial Nova Cond Light" panose="020B0306020202020204" pitchFamily="34" charset="0"/>
              </a:rPr>
              <a:t>simbahan</a:t>
            </a:r>
            <a:r>
              <a:rPr lang="en-PH" sz="3200" dirty="0">
                <a:latin typeface="Arial Nova Cond Light" panose="020B0306020202020204" pitchFamily="34" charset="0"/>
              </a:rPr>
              <a:t> = church </a:t>
            </a:r>
          </a:p>
          <a:p>
            <a:r>
              <a:rPr lang="en-PH" sz="3200" dirty="0" err="1">
                <a:latin typeface="Arial Nova Cond Light" panose="020B0306020202020204" pitchFamily="34" charset="0"/>
              </a:rPr>
              <a:t>galit</a:t>
            </a:r>
            <a:r>
              <a:rPr lang="en-PH" sz="3200" dirty="0">
                <a:latin typeface="Arial Nova Cond Light" panose="020B0306020202020204" pitchFamily="34" charset="0"/>
              </a:rPr>
              <a:t> = angry 							</a:t>
            </a:r>
            <a:r>
              <a:rPr lang="en-PH" sz="3200" dirty="0" err="1">
                <a:latin typeface="Arial Nova Cond Light" panose="020B0306020202020204" pitchFamily="34" charset="0"/>
              </a:rPr>
              <a:t>dumating</a:t>
            </a:r>
            <a:r>
              <a:rPr lang="en-PH" sz="3200" dirty="0">
                <a:latin typeface="Arial Nova Cond Light" panose="020B0306020202020204" pitchFamily="34" charset="0"/>
              </a:rPr>
              <a:t> = arrived</a:t>
            </a:r>
          </a:p>
          <a:p>
            <a:r>
              <a:rPr lang="en-PH" sz="3200" dirty="0" err="1">
                <a:latin typeface="Arial Nova Cond Light" panose="020B0306020202020204" pitchFamily="34" charset="0"/>
              </a:rPr>
              <a:t>tao</a:t>
            </a:r>
            <a:r>
              <a:rPr lang="en-PH" sz="3200" dirty="0">
                <a:latin typeface="Arial Nova Cond Light" panose="020B0306020202020204" pitchFamily="34" charset="0"/>
              </a:rPr>
              <a:t>= person								</a:t>
            </a:r>
            <a:r>
              <a:rPr lang="en-PH" sz="3200" dirty="0" err="1">
                <a:latin typeface="Arial Nova Cond Light" panose="020B0306020202020204" pitchFamily="34" charset="0"/>
              </a:rPr>
              <a:t>pelikula</a:t>
            </a:r>
            <a:r>
              <a:rPr lang="en-PH" sz="3200" dirty="0">
                <a:latin typeface="Arial Nova Cond Light" panose="020B0306020202020204" pitchFamily="34" charset="0"/>
              </a:rPr>
              <a:t> = movie</a:t>
            </a:r>
          </a:p>
          <a:p>
            <a:endParaRPr lang="en-PH" dirty="0">
              <a:latin typeface="Arial Nova Cond Light" panose="020B0306020202020204" pitchFamily="34" charset="0"/>
            </a:endParaRPr>
          </a:p>
        </p:txBody>
      </p:sp>
    </p:spTree>
    <p:extLst>
      <p:ext uri="{BB962C8B-B14F-4D97-AF65-F5344CB8AC3E}">
        <p14:creationId xmlns:p14="http://schemas.microsoft.com/office/powerpoint/2010/main" val="1049737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8C2A9934-A21E-DE5A-0048-D784664EC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21333-97D5-1F39-A4D9-5F17344752A2}"/>
              </a:ext>
            </a:extLst>
          </p:cNvPr>
          <p:cNvSpPr>
            <a:spLocks noGrp="1"/>
          </p:cNvSpPr>
          <p:nvPr>
            <p:ph type="title"/>
          </p:nvPr>
        </p:nvSpPr>
        <p:spPr>
          <a:xfrm>
            <a:off x="194733" y="1563398"/>
            <a:ext cx="11125199" cy="1264469"/>
          </a:xfrm>
        </p:spPr>
        <p:txBody>
          <a:bodyPr>
            <a:noAutofit/>
          </a:bodyPr>
          <a:lstStyle/>
          <a:p>
            <a:pPr algn="l"/>
            <a:r>
              <a:rPr lang="en-US" b="1" cap="none" dirty="0">
                <a:solidFill>
                  <a:schemeClr val="tx1"/>
                </a:solidFill>
                <a:latin typeface="Arial Nova Cond Light" panose="020B0306020202020204" pitchFamily="34" charset="0"/>
                <a:ea typeface="+mn-ea"/>
                <a:cs typeface="+mn-cs"/>
              </a:rPr>
              <a:t>"ILAN</a:t>
            </a:r>
            <a:r>
              <a:rPr lang="en-US" cap="none" dirty="0">
                <a:solidFill>
                  <a:schemeClr val="tx1"/>
                </a:solidFill>
                <a:latin typeface="Arial Nova Cond Light" panose="020B0306020202020204" pitchFamily="34" charset="0"/>
                <a:ea typeface="+mn-ea"/>
                <a:cs typeface="+mn-cs"/>
              </a:rPr>
              <a:t>" is an interrogative pronoun/adjective that means "</a:t>
            </a:r>
            <a:r>
              <a:rPr lang="en-US" cap="none" dirty="0">
                <a:solidFill>
                  <a:srgbClr val="FFFF00"/>
                </a:solidFill>
                <a:latin typeface="Arial Nova Cond Light" panose="020B0306020202020204" pitchFamily="34" charset="0"/>
                <a:ea typeface="+mn-ea"/>
                <a:cs typeface="+mn-cs"/>
              </a:rPr>
              <a:t>how many”</a:t>
            </a:r>
            <a:br>
              <a:rPr lang="en-US" cap="none" dirty="0">
                <a:solidFill>
                  <a:schemeClr val="tx1"/>
                </a:solidFill>
                <a:latin typeface="Arial Nova Cond Light" panose="020B0306020202020204" pitchFamily="34" charset="0"/>
                <a:ea typeface="+mn-ea"/>
                <a:cs typeface="+mn-cs"/>
              </a:rPr>
            </a:br>
            <a:br>
              <a:rPr lang="en-US" cap="none" dirty="0">
                <a:solidFill>
                  <a:schemeClr val="tx1"/>
                </a:solidFill>
                <a:latin typeface="Arial Nova Cond Light" panose="020B0306020202020204" pitchFamily="34" charset="0"/>
                <a:ea typeface="+mn-ea"/>
                <a:cs typeface="+mn-cs"/>
              </a:rPr>
            </a:br>
            <a:r>
              <a:rPr lang="en-US" cap="none" dirty="0">
                <a:solidFill>
                  <a:srgbClr val="FFFF00"/>
                </a:solidFill>
                <a:latin typeface="Arial Nova Cond Light" panose="020B0306020202020204" pitchFamily="34" charset="0"/>
                <a:ea typeface="+mn-ea"/>
                <a:cs typeface="+mn-cs"/>
              </a:rPr>
              <a:t>ILAN 					HOW MANY</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example: </a:t>
            </a:r>
            <a:r>
              <a:rPr lang="en-US" cap="none" dirty="0" err="1">
                <a:solidFill>
                  <a:schemeClr val="tx1"/>
                </a:solidFill>
                <a:latin typeface="Arial Nova Cond Light" panose="020B0306020202020204" pitchFamily="34" charset="0"/>
                <a:ea typeface="+mn-ea"/>
                <a:cs typeface="+mn-cs"/>
              </a:rPr>
              <a:t>halimbawa</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Ilan ang </a:t>
            </a:r>
            <a:r>
              <a:rPr lang="en-US" cap="none" dirty="0" err="1">
                <a:solidFill>
                  <a:schemeClr val="tx1"/>
                </a:solidFill>
                <a:latin typeface="Arial Nova Cond Light" panose="020B0306020202020204" pitchFamily="34" charset="0"/>
                <a:ea typeface="+mn-ea"/>
                <a:cs typeface="+mn-cs"/>
              </a:rPr>
              <a:t>anak</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ninyo</a:t>
            </a:r>
            <a:r>
              <a:rPr lang="en-US" cap="none" dirty="0">
                <a:solidFill>
                  <a:schemeClr val="tx1"/>
                </a:solidFill>
                <a:latin typeface="Arial Nova Cond Light" panose="020B0306020202020204" pitchFamily="34" charset="0"/>
                <a:ea typeface="+mn-ea"/>
                <a:cs typeface="+mn-cs"/>
              </a:rPr>
              <a:t>/</a:t>
            </a:r>
            <a:r>
              <a:rPr lang="en-US" cap="none" dirty="0" err="1">
                <a:solidFill>
                  <a:schemeClr val="tx1"/>
                </a:solidFill>
                <a:latin typeface="Arial Nova Cond Light" panose="020B0306020202020204" pitchFamily="34" charset="0"/>
                <a:ea typeface="+mn-ea"/>
                <a:cs typeface="+mn-cs"/>
              </a:rPr>
              <a:t>mo</a:t>
            </a:r>
            <a:r>
              <a:rPr lang="en-US" cap="none" dirty="0">
                <a:solidFill>
                  <a:schemeClr val="tx1"/>
                </a:solidFill>
                <a:latin typeface="Arial Nova Cond Light" panose="020B0306020202020204" pitchFamily="34" charset="0"/>
                <a:ea typeface="+mn-ea"/>
                <a:cs typeface="+mn-cs"/>
              </a:rPr>
              <a:t>? 		How many children do you have?</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Ilan </a:t>
            </a:r>
            <a:r>
              <a:rPr lang="en-US" cap="none" dirty="0" err="1">
                <a:solidFill>
                  <a:schemeClr val="tx1"/>
                </a:solidFill>
                <a:latin typeface="Arial Nova Cond Light" panose="020B0306020202020204" pitchFamily="34" charset="0"/>
                <a:ea typeface="+mn-ea"/>
                <a:cs typeface="+mn-cs"/>
              </a:rPr>
              <a:t>sila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sa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klase</a:t>
            </a:r>
            <a:r>
              <a:rPr lang="en-US" cap="none" dirty="0">
                <a:solidFill>
                  <a:schemeClr val="tx1"/>
                </a:solidFill>
                <a:latin typeface="Arial Nova Cond Light" panose="020B0306020202020204" pitchFamily="34" charset="0"/>
                <a:ea typeface="+mn-ea"/>
                <a:cs typeface="+mn-cs"/>
              </a:rPr>
              <a:t>?			How many are they in the class?</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Ilan kayo </a:t>
            </a:r>
            <a:r>
              <a:rPr lang="en-US" cap="none" dirty="0" err="1">
                <a:solidFill>
                  <a:schemeClr val="tx1"/>
                </a:solidFill>
                <a:latin typeface="Arial Nova Cond Light" panose="020B0306020202020204" pitchFamily="34" charset="0"/>
                <a:ea typeface="+mn-ea"/>
                <a:cs typeface="+mn-cs"/>
              </a:rPr>
              <a:t>sa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pamilya</a:t>
            </a:r>
            <a:r>
              <a:rPr lang="en-US" cap="none" dirty="0">
                <a:solidFill>
                  <a:schemeClr val="tx1"/>
                </a:solidFill>
                <a:latin typeface="Arial Nova Cond Light" panose="020B0306020202020204" pitchFamily="34" charset="0"/>
                <a:ea typeface="+mn-ea"/>
                <a:cs typeface="+mn-cs"/>
              </a:rPr>
              <a:t>?		How many are you in the family?</a:t>
            </a:r>
            <a:br>
              <a:rPr lang="en-PH" cap="none" dirty="0">
                <a:solidFill>
                  <a:schemeClr val="tx1"/>
                </a:solidFill>
                <a:latin typeface="Arial Nova Cond Light" panose="020B0306020202020204" pitchFamily="34" charset="0"/>
                <a:ea typeface="+mn-ea"/>
                <a:cs typeface="+mn-cs"/>
              </a:rPr>
            </a:br>
            <a:endParaRPr lang="en-US" cap="none" dirty="0">
              <a:solidFill>
                <a:schemeClr val="tx1"/>
              </a:solidFill>
              <a:latin typeface="Arial Nova Cond Light" panose="020B0306020202020204" pitchFamily="34" charset="0"/>
              <a:ea typeface="+mn-ea"/>
              <a:cs typeface="+mn-cs"/>
            </a:endParaRPr>
          </a:p>
        </p:txBody>
      </p:sp>
    </p:spTree>
    <p:extLst>
      <p:ext uri="{BB962C8B-B14F-4D97-AF65-F5344CB8AC3E}">
        <p14:creationId xmlns:p14="http://schemas.microsoft.com/office/powerpoint/2010/main" val="138792159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9FE6F-2E92-32B7-ED9A-E2F7F2F5F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7E2CE-3021-702C-F69D-5D949EDED7DE}"/>
              </a:ext>
            </a:extLst>
          </p:cNvPr>
          <p:cNvSpPr>
            <a:spLocks noGrp="1"/>
          </p:cNvSpPr>
          <p:nvPr>
            <p:ph type="title"/>
          </p:nvPr>
        </p:nvSpPr>
        <p:spPr>
          <a:xfrm>
            <a:off x="8468" y="1100667"/>
            <a:ext cx="12191999" cy="2827867"/>
          </a:xfrm>
        </p:spPr>
        <p:txBody>
          <a:bodyPr>
            <a:noAutofit/>
          </a:bodyPr>
          <a:lstStyle/>
          <a:p>
            <a:pPr algn="l"/>
            <a:r>
              <a:rPr lang="en-US" cap="none" dirty="0">
                <a:solidFill>
                  <a:schemeClr val="tx1"/>
                </a:solidFill>
                <a:latin typeface="Arial Nova Cond Light" panose="020B0306020202020204" pitchFamily="34" charset="0"/>
                <a:ea typeface="+mn-ea"/>
                <a:cs typeface="+mn-cs"/>
              </a:rPr>
              <a:t>“MAGKANO" is an interrogative word that means "how much" — usually used when asking about price or cost.</a:t>
            </a:r>
            <a:br>
              <a:rPr lang="en-US" cap="none" dirty="0">
                <a:solidFill>
                  <a:schemeClr val="tx1"/>
                </a:solidFill>
                <a:latin typeface="Arial Nova Cond Light" panose="020B0306020202020204" pitchFamily="34" charset="0"/>
                <a:ea typeface="+mn-ea"/>
                <a:cs typeface="+mn-cs"/>
              </a:rPr>
            </a:br>
            <a:br>
              <a:rPr lang="en-US" cap="none" dirty="0">
                <a:solidFill>
                  <a:schemeClr val="tx1"/>
                </a:solidFill>
                <a:latin typeface="Arial Nova Cond Light" panose="020B0306020202020204" pitchFamily="34" charset="0"/>
                <a:ea typeface="+mn-ea"/>
                <a:cs typeface="+mn-cs"/>
              </a:rPr>
            </a:br>
            <a:r>
              <a:rPr lang="en-US" b="1" cap="none" dirty="0" err="1">
                <a:solidFill>
                  <a:srgbClr val="FFFF00"/>
                </a:solidFill>
                <a:latin typeface="Arial Nova Cond Light" panose="020B0306020202020204" pitchFamily="34" charset="0"/>
                <a:ea typeface="+mn-ea"/>
                <a:cs typeface="+mn-cs"/>
              </a:rPr>
              <a:t>Magkano</a:t>
            </a:r>
            <a:r>
              <a:rPr lang="en-US" b="1" cap="none" dirty="0">
                <a:solidFill>
                  <a:srgbClr val="FFFF00"/>
                </a:solidFill>
                <a:latin typeface="Arial Nova Cond Light" panose="020B0306020202020204" pitchFamily="34" charset="0"/>
                <a:ea typeface="+mn-ea"/>
                <a:cs typeface="+mn-cs"/>
              </a:rPr>
              <a:t>				How much</a:t>
            </a:r>
            <a:br>
              <a:rPr lang="en-US" cap="none" dirty="0">
                <a:solidFill>
                  <a:schemeClr val="tx1"/>
                </a:solidFill>
                <a:latin typeface="Arial Nova Cond Light" panose="020B0306020202020204" pitchFamily="34" charset="0"/>
                <a:ea typeface="+mn-ea"/>
                <a:cs typeface="+mn-cs"/>
              </a:rPr>
            </a:br>
            <a:r>
              <a:rPr lang="en-US" cap="none" dirty="0">
                <a:solidFill>
                  <a:schemeClr val="tx1"/>
                </a:solidFill>
                <a:latin typeface="Arial Nova Cond Light" panose="020B0306020202020204" pitchFamily="34" charset="0"/>
                <a:ea typeface="+mn-ea"/>
                <a:cs typeface="+mn-cs"/>
              </a:rPr>
              <a:t>Example : </a:t>
            </a:r>
            <a:r>
              <a:rPr lang="en-US" cap="none" dirty="0" err="1">
                <a:solidFill>
                  <a:schemeClr val="tx1"/>
                </a:solidFill>
                <a:latin typeface="Arial Nova Cond Light" panose="020B0306020202020204" pitchFamily="34" charset="0"/>
                <a:ea typeface="+mn-ea"/>
                <a:cs typeface="+mn-cs"/>
              </a:rPr>
              <a:t>halimbawa</a:t>
            </a:r>
            <a:br>
              <a:rPr lang="en-US" cap="none" dirty="0">
                <a:solidFill>
                  <a:schemeClr val="tx1"/>
                </a:solidFill>
                <a:latin typeface="Arial Nova Cond Light" panose="020B0306020202020204" pitchFamily="34" charset="0"/>
                <a:ea typeface="+mn-ea"/>
                <a:cs typeface="+mn-cs"/>
              </a:rPr>
            </a:br>
            <a:r>
              <a:rPr lang="en-US" cap="none" dirty="0" err="1">
                <a:solidFill>
                  <a:schemeClr val="tx1"/>
                </a:solidFill>
                <a:latin typeface="Arial Nova Cond Light" panose="020B0306020202020204" pitchFamily="34" charset="0"/>
                <a:ea typeface="+mn-ea"/>
                <a:cs typeface="+mn-cs"/>
              </a:rPr>
              <a:t>Magkano</a:t>
            </a:r>
            <a:r>
              <a:rPr lang="en-US" cap="none" dirty="0">
                <a:solidFill>
                  <a:schemeClr val="tx1"/>
                </a:solidFill>
                <a:latin typeface="Arial Nova Cond Light" panose="020B0306020202020204" pitchFamily="34" charset="0"/>
                <a:ea typeface="+mn-ea"/>
                <a:cs typeface="+mn-cs"/>
              </a:rPr>
              <a:t> ang </a:t>
            </a:r>
            <a:r>
              <a:rPr lang="en-US" cap="none" dirty="0" err="1">
                <a:solidFill>
                  <a:schemeClr val="tx1"/>
                </a:solidFill>
                <a:latin typeface="Arial Nova Cond Light" panose="020B0306020202020204" pitchFamily="34" charset="0"/>
                <a:ea typeface="+mn-ea"/>
                <a:cs typeface="+mn-cs"/>
              </a:rPr>
              <a:t>aklat</a:t>
            </a:r>
            <a:r>
              <a:rPr lang="en-US" cap="none" dirty="0">
                <a:solidFill>
                  <a:schemeClr val="tx1"/>
                </a:solidFill>
                <a:latin typeface="Arial Nova Cond Light" panose="020B0306020202020204" pitchFamily="34" charset="0"/>
                <a:ea typeface="+mn-ea"/>
                <a:cs typeface="+mn-cs"/>
              </a:rPr>
              <a:t>? 		How much is the book?</a:t>
            </a:r>
            <a:br>
              <a:rPr lang="en-PH" cap="none" dirty="0">
                <a:solidFill>
                  <a:schemeClr val="tx1"/>
                </a:solidFill>
                <a:latin typeface="Arial Nova Cond Light" panose="020B0306020202020204" pitchFamily="34" charset="0"/>
                <a:ea typeface="+mn-ea"/>
                <a:cs typeface="+mn-cs"/>
              </a:rPr>
            </a:br>
            <a:r>
              <a:rPr lang="en-US" cap="none" dirty="0" err="1">
                <a:solidFill>
                  <a:schemeClr val="tx1"/>
                </a:solidFill>
                <a:latin typeface="Arial Nova Cond Light" panose="020B0306020202020204" pitchFamily="34" charset="0"/>
                <a:ea typeface="+mn-ea"/>
                <a:cs typeface="+mn-cs"/>
              </a:rPr>
              <a:t>Magkano</a:t>
            </a:r>
            <a:r>
              <a:rPr lang="en-US" cap="none" dirty="0">
                <a:solidFill>
                  <a:schemeClr val="tx1"/>
                </a:solidFill>
                <a:latin typeface="Arial Nova Cond Light" panose="020B0306020202020204" pitchFamily="34" charset="0"/>
                <a:ea typeface="+mn-ea"/>
                <a:cs typeface="+mn-cs"/>
              </a:rPr>
              <a:t> ang </a:t>
            </a:r>
            <a:r>
              <a:rPr lang="en-US" cap="none" dirty="0" err="1">
                <a:solidFill>
                  <a:schemeClr val="tx1"/>
                </a:solidFill>
                <a:latin typeface="Arial Nova Cond Light" panose="020B0306020202020204" pitchFamily="34" charset="0"/>
                <a:ea typeface="+mn-ea"/>
                <a:cs typeface="+mn-cs"/>
              </a:rPr>
              <a:t>sapatos</a:t>
            </a:r>
            <a:r>
              <a:rPr lang="en-US" cap="none" dirty="0">
                <a:solidFill>
                  <a:schemeClr val="tx1"/>
                </a:solidFill>
                <a:latin typeface="Arial Nova Cond Light" panose="020B0306020202020204" pitchFamily="34" charset="0"/>
                <a:ea typeface="+mn-ea"/>
                <a:cs typeface="+mn-cs"/>
              </a:rPr>
              <a:t>?		How much are the shoes?</a:t>
            </a:r>
            <a:br>
              <a:rPr lang="en-US" cap="none" dirty="0">
                <a:solidFill>
                  <a:schemeClr val="tx1"/>
                </a:solidFill>
                <a:latin typeface="Arial Nova Cond Light" panose="020B0306020202020204" pitchFamily="34" charset="0"/>
                <a:ea typeface="+mn-ea"/>
                <a:cs typeface="+mn-cs"/>
              </a:rPr>
            </a:br>
            <a:r>
              <a:rPr lang="en-US" cap="none" dirty="0" err="1">
                <a:solidFill>
                  <a:schemeClr val="tx1"/>
                </a:solidFill>
                <a:latin typeface="Arial Nova Cond Light" panose="020B0306020202020204" pitchFamily="34" charset="0"/>
                <a:ea typeface="+mn-ea"/>
                <a:cs typeface="+mn-cs"/>
              </a:rPr>
              <a:t>Magkano</a:t>
            </a:r>
            <a:r>
              <a:rPr lang="en-US" cap="none" dirty="0">
                <a:solidFill>
                  <a:schemeClr val="tx1"/>
                </a:solidFill>
                <a:latin typeface="Arial Nova Cond Light" panose="020B0306020202020204" pitchFamily="34" charset="0"/>
                <a:ea typeface="+mn-ea"/>
                <a:cs typeface="+mn-cs"/>
              </a:rPr>
              <a:t> ang </a:t>
            </a:r>
            <a:r>
              <a:rPr lang="en-US" cap="none" dirty="0" err="1">
                <a:solidFill>
                  <a:schemeClr val="tx1"/>
                </a:solidFill>
                <a:latin typeface="Arial Nova Cond Light" panose="020B0306020202020204" pitchFamily="34" charset="0"/>
                <a:ea typeface="+mn-ea"/>
                <a:cs typeface="+mn-cs"/>
              </a:rPr>
              <a:t>kinita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mo</a:t>
            </a:r>
            <a:r>
              <a:rPr lang="en-US" cap="none" dirty="0">
                <a:solidFill>
                  <a:schemeClr val="tx1"/>
                </a:solidFill>
                <a:latin typeface="Arial Nova Cond Light" panose="020B0306020202020204" pitchFamily="34" charset="0"/>
                <a:ea typeface="+mn-ea"/>
                <a:cs typeface="+mn-cs"/>
              </a:rPr>
              <a:t>?		How much did you earn?</a:t>
            </a:r>
            <a:br>
              <a:rPr lang="en-US" cap="none" dirty="0">
                <a:solidFill>
                  <a:schemeClr val="tx1"/>
                </a:solidFill>
                <a:latin typeface="Arial Nova Cond Light" panose="020B0306020202020204" pitchFamily="34" charset="0"/>
                <a:ea typeface="+mn-ea"/>
                <a:cs typeface="+mn-cs"/>
              </a:rPr>
            </a:br>
            <a:r>
              <a:rPr lang="en-US" cap="none" dirty="0" err="1">
                <a:solidFill>
                  <a:schemeClr val="tx1"/>
                </a:solidFill>
                <a:latin typeface="Arial Nova Cond Light" panose="020B0306020202020204" pitchFamily="34" charset="0"/>
                <a:ea typeface="+mn-ea"/>
                <a:cs typeface="+mn-cs"/>
              </a:rPr>
              <a:t>Magkano</a:t>
            </a:r>
            <a:r>
              <a:rPr lang="en-US" cap="none" dirty="0">
                <a:solidFill>
                  <a:schemeClr val="tx1"/>
                </a:solidFill>
                <a:latin typeface="Arial Nova Cond Light" panose="020B0306020202020204" pitchFamily="34" charset="0"/>
                <a:ea typeface="+mn-ea"/>
                <a:cs typeface="+mn-cs"/>
              </a:rPr>
              <a:t> ang </a:t>
            </a:r>
            <a:r>
              <a:rPr lang="en-US" cap="none" dirty="0" err="1">
                <a:solidFill>
                  <a:schemeClr val="tx1"/>
                </a:solidFill>
                <a:latin typeface="Arial Nova Cond Light" panose="020B0306020202020204" pitchFamily="34" charset="0"/>
                <a:ea typeface="+mn-ea"/>
                <a:cs typeface="+mn-cs"/>
              </a:rPr>
              <a:t>pamasahe</a:t>
            </a:r>
            <a:r>
              <a:rPr lang="en-US" cap="none" dirty="0">
                <a:solidFill>
                  <a:schemeClr val="tx1"/>
                </a:solidFill>
                <a:latin typeface="Arial Nova Cond Light" panose="020B0306020202020204" pitchFamily="34" charset="0"/>
                <a:ea typeface="+mn-ea"/>
                <a:cs typeface="+mn-cs"/>
              </a:rPr>
              <a:t>?	 	How much is the fare</a:t>
            </a:r>
          </a:p>
        </p:txBody>
      </p:sp>
    </p:spTree>
    <p:extLst>
      <p:ext uri="{BB962C8B-B14F-4D97-AF65-F5344CB8AC3E}">
        <p14:creationId xmlns:p14="http://schemas.microsoft.com/office/powerpoint/2010/main" val="3587796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60496-B5C5-589B-BDFD-958158372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6FDC7-4F1B-B1CC-A119-E733679DE856}"/>
              </a:ext>
            </a:extLst>
          </p:cNvPr>
          <p:cNvSpPr>
            <a:spLocks noGrp="1"/>
          </p:cNvSpPr>
          <p:nvPr>
            <p:ph type="title"/>
          </p:nvPr>
        </p:nvSpPr>
        <p:spPr>
          <a:xfrm>
            <a:off x="-8467" y="2607732"/>
            <a:ext cx="12014199" cy="2827867"/>
          </a:xfrm>
        </p:spPr>
        <p:txBody>
          <a:bodyPr>
            <a:noAutofit/>
          </a:bodyPr>
          <a:lstStyle/>
          <a:p>
            <a:pPr algn="l"/>
            <a:r>
              <a:rPr lang="en-US" b="1" cap="none" dirty="0">
                <a:solidFill>
                  <a:schemeClr val="tx1"/>
                </a:solidFill>
                <a:latin typeface="Arial Nova Cond Light" panose="020B0306020202020204" pitchFamily="34" charset="0"/>
                <a:ea typeface="+mn-ea"/>
                <a:cs typeface="+mn-cs"/>
              </a:rPr>
              <a:t>"KANINO</a:t>
            </a:r>
            <a:r>
              <a:rPr lang="en-US" cap="none" dirty="0">
                <a:solidFill>
                  <a:schemeClr val="tx1"/>
                </a:solidFill>
                <a:latin typeface="Arial Nova Cond Light" panose="020B0306020202020204" pitchFamily="34" charset="0"/>
                <a:ea typeface="+mn-ea"/>
                <a:cs typeface="+mn-cs"/>
              </a:rPr>
              <a:t>" Is an interrogative pronoun that means "</a:t>
            </a:r>
            <a:r>
              <a:rPr lang="en-US" cap="none" dirty="0">
                <a:solidFill>
                  <a:srgbClr val="FFFF00"/>
                </a:solidFill>
                <a:latin typeface="Arial Nova Cond Light" panose="020B0306020202020204" pitchFamily="34" charset="0"/>
                <a:ea typeface="+mn-ea"/>
                <a:cs typeface="+mn-cs"/>
              </a:rPr>
              <a:t>to whom" or "whose</a:t>
            </a:r>
            <a:r>
              <a:rPr lang="en-US" cap="none" dirty="0">
                <a:solidFill>
                  <a:schemeClr val="tx1"/>
                </a:solidFill>
                <a:latin typeface="Arial Nova Cond Light" panose="020B0306020202020204" pitchFamily="34" charset="0"/>
                <a:ea typeface="+mn-ea"/>
                <a:cs typeface="+mn-cs"/>
              </a:rPr>
              <a:t>", depending on the context.</a:t>
            </a:r>
            <a:br>
              <a:rPr lang="en-US" cap="none" dirty="0">
                <a:solidFill>
                  <a:schemeClr val="tx1"/>
                </a:solidFill>
                <a:latin typeface="Arial Nova Cond Light" panose="020B0306020202020204" pitchFamily="34" charset="0"/>
                <a:ea typeface="+mn-ea"/>
                <a:cs typeface="+mn-cs"/>
              </a:rPr>
            </a:br>
            <a:br>
              <a:rPr lang="en-US" b="1" cap="none" dirty="0">
                <a:solidFill>
                  <a:schemeClr val="tx1"/>
                </a:solidFill>
                <a:latin typeface="Arial Nova Cond Light" panose="020B0306020202020204" pitchFamily="34" charset="0"/>
                <a:ea typeface="+mn-ea"/>
                <a:cs typeface="+mn-cs"/>
              </a:rPr>
            </a:br>
            <a:r>
              <a:rPr lang="en-US" b="1" cap="none" dirty="0">
                <a:solidFill>
                  <a:schemeClr val="tx1"/>
                </a:solidFill>
                <a:latin typeface="Arial Nova Cond Light" panose="020B0306020202020204" pitchFamily="34" charset="0"/>
                <a:ea typeface="+mn-ea"/>
                <a:cs typeface="+mn-cs"/>
              </a:rPr>
              <a:t>KANINO						WHOSE</a:t>
            </a:r>
            <a:br>
              <a:rPr lang="en-US" cap="none" dirty="0">
                <a:solidFill>
                  <a:schemeClr val="tx1"/>
                </a:solidFill>
                <a:latin typeface="Arial Nova Cond Light" panose="020B0306020202020204" pitchFamily="34" charset="0"/>
                <a:ea typeface="+mn-ea"/>
                <a:cs typeface="+mn-cs"/>
              </a:rPr>
            </a:br>
            <a:r>
              <a:rPr lang="en-US" cap="none" dirty="0" err="1">
                <a:solidFill>
                  <a:schemeClr val="tx1"/>
                </a:solidFill>
                <a:latin typeface="Arial Nova Cond Light" panose="020B0306020202020204" pitchFamily="34" charset="0"/>
                <a:ea typeface="+mn-ea"/>
                <a:cs typeface="+mn-cs"/>
              </a:rPr>
              <a:t>Kanino</a:t>
            </a:r>
            <a:r>
              <a:rPr lang="en-US" cap="none" dirty="0">
                <a:solidFill>
                  <a:schemeClr val="tx1"/>
                </a:solidFill>
                <a:latin typeface="Arial Nova Cond Light" panose="020B0306020202020204" pitchFamily="34" charset="0"/>
                <a:ea typeface="+mn-ea"/>
                <a:cs typeface="+mn-cs"/>
              </a:rPr>
              <a:t> ang </a:t>
            </a:r>
            <a:r>
              <a:rPr lang="en-US" cap="none" dirty="0" err="1">
                <a:solidFill>
                  <a:schemeClr val="tx1"/>
                </a:solidFill>
                <a:latin typeface="Arial Nova Cond Light" panose="020B0306020202020204" pitchFamily="34" charset="0"/>
                <a:ea typeface="+mn-ea"/>
                <a:cs typeface="+mn-cs"/>
              </a:rPr>
              <a:t>bahay</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na</a:t>
            </a:r>
            <a:r>
              <a:rPr lang="en-US" cap="none" dirty="0">
                <a:solidFill>
                  <a:schemeClr val="tx1"/>
                </a:solidFill>
                <a:latin typeface="Arial Nova Cond Light" panose="020B0306020202020204" pitchFamily="34" charset="0"/>
                <a:ea typeface="+mn-ea"/>
                <a:cs typeface="+mn-cs"/>
              </a:rPr>
              <a:t> </a:t>
            </a:r>
            <a:r>
              <a:rPr lang="en-US" cap="none" dirty="0" err="1">
                <a:solidFill>
                  <a:schemeClr val="tx1"/>
                </a:solidFill>
                <a:latin typeface="Arial Nova Cond Light" panose="020B0306020202020204" pitchFamily="34" charset="0"/>
                <a:ea typeface="+mn-ea"/>
                <a:cs typeface="+mn-cs"/>
              </a:rPr>
              <a:t>iyan</a:t>
            </a:r>
            <a:r>
              <a:rPr lang="en-US" cap="none" dirty="0">
                <a:solidFill>
                  <a:schemeClr val="tx1"/>
                </a:solidFill>
                <a:latin typeface="Arial Nova Cond Light" panose="020B0306020202020204" pitchFamily="34" charset="0"/>
                <a:ea typeface="+mn-ea"/>
                <a:cs typeface="+mn-cs"/>
              </a:rPr>
              <a:t>? 			Whose house is that?</a:t>
            </a:r>
            <a:br>
              <a:rPr lang="en-US" cap="none" dirty="0">
                <a:solidFill>
                  <a:schemeClr val="tx1"/>
                </a:solidFill>
                <a:latin typeface="Arial Nova Cond Light" panose="020B0306020202020204" pitchFamily="34" charset="0"/>
                <a:ea typeface="+mn-ea"/>
                <a:cs typeface="+mn-cs"/>
              </a:rPr>
            </a:br>
            <a:r>
              <a:rPr lang="en-US" cap="none" dirty="0" err="1">
                <a:solidFill>
                  <a:schemeClr val="tx1"/>
                </a:solidFill>
                <a:latin typeface="Arial Nova Cond Light" panose="020B0306020202020204" pitchFamily="34" charset="0"/>
                <a:ea typeface="+mn-ea"/>
                <a:cs typeface="+mn-cs"/>
              </a:rPr>
              <a:t>Kanino</a:t>
            </a:r>
            <a:r>
              <a:rPr lang="en-US" cap="none" dirty="0">
                <a:solidFill>
                  <a:schemeClr val="tx1"/>
                </a:solidFill>
                <a:latin typeface="Arial Nova Cond Light" panose="020B0306020202020204" pitchFamily="34" charset="0"/>
                <a:ea typeface="+mn-ea"/>
                <a:cs typeface="+mn-cs"/>
              </a:rPr>
              <a:t> ang cellphone?				Whose cellphone is it?</a:t>
            </a:r>
            <a:br>
              <a:rPr lang="en-US" cap="none" dirty="0">
                <a:solidFill>
                  <a:schemeClr val="tx1"/>
                </a:solidFill>
                <a:latin typeface="Arial Nova Cond Light" panose="020B0306020202020204" pitchFamily="34" charset="0"/>
                <a:ea typeface="+mn-ea"/>
                <a:cs typeface="+mn-cs"/>
              </a:rPr>
            </a:br>
            <a:r>
              <a:rPr lang="en-US" cap="none" dirty="0" err="1">
                <a:solidFill>
                  <a:schemeClr val="tx1"/>
                </a:solidFill>
                <a:latin typeface="Arial Nova Cond Light" panose="020B0306020202020204" pitchFamily="34" charset="0"/>
                <a:ea typeface="+mn-ea"/>
                <a:cs typeface="+mn-cs"/>
              </a:rPr>
              <a:t>Kanino</a:t>
            </a:r>
            <a:r>
              <a:rPr lang="en-US" cap="none" dirty="0">
                <a:solidFill>
                  <a:schemeClr val="tx1"/>
                </a:solidFill>
                <a:latin typeface="Arial Nova Cond Light" panose="020B0306020202020204" pitchFamily="34" charset="0"/>
                <a:ea typeface="+mn-ea"/>
                <a:cs typeface="+mn-cs"/>
              </a:rPr>
              <a:t> ka </a:t>
            </a:r>
            <a:r>
              <a:rPr lang="en-US" cap="none" dirty="0" err="1">
                <a:solidFill>
                  <a:schemeClr val="tx1"/>
                </a:solidFill>
                <a:latin typeface="Arial Nova Cond Light" panose="020B0306020202020204" pitchFamily="34" charset="0"/>
                <a:ea typeface="+mn-ea"/>
                <a:cs typeface="+mn-cs"/>
              </a:rPr>
              <a:t>nagsabi</a:t>
            </a:r>
            <a:r>
              <a:rPr lang="en-US" cap="none" dirty="0">
                <a:solidFill>
                  <a:schemeClr val="tx1"/>
                </a:solidFill>
                <a:latin typeface="Arial Nova Cond Light" panose="020B0306020202020204" pitchFamily="34" charset="0"/>
                <a:ea typeface="+mn-ea"/>
                <a:cs typeface="+mn-cs"/>
              </a:rPr>
              <a:t>?				To whom did you say it?</a:t>
            </a:r>
            <a:br>
              <a:rPr lang="en-US" cap="none" dirty="0">
                <a:solidFill>
                  <a:schemeClr val="tx1"/>
                </a:solidFill>
                <a:latin typeface="Arial Nova Cond Light" panose="020B0306020202020204" pitchFamily="34" charset="0"/>
                <a:ea typeface="+mn-ea"/>
                <a:cs typeface="+mn-cs"/>
              </a:rPr>
            </a:br>
            <a:br>
              <a:rPr lang="en-US" cap="none" dirty="0">
                <a:solidFill>
                  <a:schemeClr val="tx1"/>
                </a:solidFill>
                <a:latin typeface="Arial Nova Cond Light" panose="020B0306020202020204" pitchFamily="34" charset="0"/>
                <a:ea typeface="+mn-ea"/>
                <a:cs typeface="+mn-cs"/>
              </a:rPr>
            </a:br>
            <a:br>
              <a:rPr lang="en-US" cap="none" dirty="0">
                <a:solidFill>
                  <a:schemeClr val="tx1"/>
                </a:solidFill>
                <a:latin typeface="Arial Nova Cond Light" panose="020B0306020202020204" pitchFamily="34" charset="0"/>
                <a:ea typeface="+mn-ea"/>
                <a:cs typeface="+mn-cs"/>
              </a:rPr>
            </a:br>
            <a:br>
              <a:rPr lang="en-US" cap="none" dirty="0">
                <a:solidFill>
                  <a:schemeClr val="tx1"/>
                </a:solidFill>
                <a:latin typeface="Arial Nova Cond Light" panose="020B0306020202020204" pitchFamily="34" charset="0"/>
                <a:ea typeface="+mn-ea"/>
                <a:cs typeface="+mn-cs"/>
              </a:rPr>
            </a:br>
            <a:r>
              <a:rPr lang="en-US" sz="2000" cap="none" dirty="0">
                <a:solidFill>
                  <a:schemeClr val="tx1"/>
                </a:solidFill>
                <a:latin typeface="Arial Nova Cond Light" panose="020B0306020202020204" pitchFamily="34" charset="0"/>
              </a:rPr>
              <a:t>Questions beginning with </a:t>
            </a:r>
            <a:r>
              <a:rPr lang="en-US" sz="2000" cap="none" dirty="0" err="1">
                <a:solidFill>
                  <a:schemeClr val="tx1"/>
                </a:solidFill>
                <a:latin typeface="Arial Nova Cond Light" panose="020B0306020202020204" pitchFamily="34" charset="0"/>
              </a:rPr>
              <a:t>kanino</a:t>
            </a:r>
            <a:r>
              <a:rPr lang="en-US" sz="2000" cap="none" dirty="0">
                <a:solidFill>
                  <a:schemeClr val="tx1"/>
                </a:solidFill>
                <a:latin typeface="Arial Nova Cond Light" panose="020B0306020202020204" pitchFamily="34" charset="0"/>
              </a:rPr>
              <a:t> require responses that point to akin </a:t>
            </a:r>
            <a:r>
              <a:rPr lang="en-US" sz="2000" i="1" cap="none" dirty="0">
                <a:solidFill>
                  <a:schemeClr val="tx1"/>
                </a:solidFill>
                <a:latin typeface="Arial Nova Cond Light" panose="020B0306020202020204" pitchFamily="34" charset="0"/>
              </a:rPr>
              <a:t>(mine), </a:t>
            </a:r>
            <a:r>
              <a:rPr lang="en-US" sz="2000" cap="none" dirty="0" err="1">
                <a:solidFill>
                  <a:schemeClr val="tx1"/>
                </a:solidFill>
                <a:latin typeface="Arial Nova Cond Light" panose="020B0306020202020204" pitchFamily="34" charset="0"/>
              </a:rPr>
              <a:t>kaniya</a:t>
            </a:r>
            <a:r>
              <a:rPr lang="en-US" sz="2000" cap="none" dirty="0">
                <a:solidFill>
                  <a:schemeClr val="tx1"/>
                </a:solidFill>
                <a:latin typeface="Arial Nova Cond Light" panose="020B0306020202020204" pitchFamily="34" charset="0"/>
              </a:rPr>
              <a:t> </a:t>
            </a:r>
            <a:r>
              <a:rPr lang="en-US" sz="2000" i="1" cap="none" dirty="0">
                <a:solidFill>
                  <a:schemeClr val="tx1"/>
                </a:solidFill>
                <a:latin typeface="Arial Nova Cond Light" panose="020B0306020202020204" pitchFamily="34" charset="0"/>
              </a:rPr>
              <a:t>(his </a:t>
            </a:r>
            <a:r>
              <a:rPr lang="en-US" sz="2000" cap="none" dirty="0">
                <a:solidFill>
                  <a:schemeClr val="tx1"/>
                </a:solidFill>
                <a:latin typeface="Arial Nova Cond Light" panose="020B0306020202020204" pitchFamily="34" charset="0"/>
              </a:rPr>
              <a:t>or </a:t>
            </a:r>
            <a:r>
              <a:rPr lang="en-US" sz="2000" i="1" cap="none" dirty="0">
                <a:solidFill>
                  <a:schemeClr val="tx1"/>
                </a:solidFill>
                <a:latin typeface="Arial Nova Cond Light" panose="020B0306020202020204" pitchFamily="34" charset="0"/>
              </a:rPr>
              <a:t>her),</a:t>
            </a:r>
            <a:br>
              <a:rPr lang="en-PH" sz="2000" cap="none" dirty="0">
                <a:solidFill>
                  <a:schemeClr val="tx1"/>
                </a:solidFill>
                <a:latin typeface="Arial Nova Cond Light" panose="020B0306020202020204" pitchFamily="34" charset="0"/>
              </a:rPr>
            </a:br>
            <a:r>
              <a:rPr lang="en-US" sz="2000" cap="none" dirty="0" err="1">
                <a:solidFill>
                  <a:schemeClr val="tx1"/>
                </a:solidFill>
                <a:latin typeface="Arial Nova Cond Light" panose="020B0306020202020204" pitchFamily="34" charset="0"/>
              </a:rPr>
              <a:t>kanila</a:t>
            </a:r>
            <a:r>
              <a:rPr lang="en-US" sz="2000" cap="none" dirty="0">
                <a:solidFill>
                  <a:schemeClr val="tx1"/>
                </a:solidFill>
                <a:latin typeface="Arial Nova Cond Light" panose="020B0306020202020204" pitchFamily="34" charset="0"/>
              </a:rPr>
              <a:t> </a:t>
            </a:r>
            <a:r>
              <a:rPr lang="en-US" sz="2000" i="1" cap="none" dirty="0">
                <a:solidFill>
                  <a:schemeClr val="tx1"/>
                </a:solidFill>
                <a:latin typeface="Arial Nova Cond Light" panose="020B0306020202020204" pitchFamily="34" charset="0"/>
              </a:rPr>
              <a:t>(their) </a:t>
            </a:r>
            <a:r>
              <a:rPr lang="en-US" sz="2000" cap="none" dirty="0">
                <a:solidFill>
                  <a:schemeClr val="tx1"/>
                </a:solidFill>
                <a:latin typeface="Arial Nova Cond Light" panose="020B0306020202020204" pitchFamily="34" charset="0"/>
              </a:rPr>
              <a:t>or other possessive pronouns.</a:t>
            </a:r>
            <a:br>
              <a:rPr lang="en-PH" sz="2000" cap="none" dirty="0">
                <a:solidFill>
                  <a:schemeClr val="tx1"/>
                </a:solidFill>
                <a:latin typeface="Arial Nova Cond Light" panose="020B0306020202020204" pitchFamily="34" charset="0"/>
              </a:rPr>
            </a:br>
            <a:r>
              <a:rPr lang="en-US" sz="2000" cap="none" dirty="0">
                <a:solidFill>
                  <a:schemeClr val="tx1"/>
                </a:solidFill>
                <a:latin typeface="Arial Nova Cond Light" panose="020B0306020202020204" pitchFamily="34" charset="0"/>
              </a:rPr>
              <a:t>Para </a:t>
            </a:r>
            <a:r>
              <a:rPr lang="en-US" sz="2000" cap="none" dirty="0" err="1">
                <a:solidFill>
                  <a:schemeClr val="tx1"/>
                </a:solidFill>
                <a:latin typeface="Arial Nova Cond Light" panose="020B0306020202020204" pitchFamily="34" charset="0"/>
              </a:rPr>
              <a:t>sa</a:t>
            </a:r>
            <a:r>
              <a:rPr lang="en-US" sz="2000" cap="none" dirty="0">
                <a:solidFill>
                  <a:schemeClr val="tx1"/>
                </a:solidFill>
                <a:latin typeface="Arial Nova Cond Light" panose="020B0306020202020204" pitchFamily="34" charset="0"/>
              </a:rPr>
              <a:t> </a:t>
            </a:r>
            <a:r>
              <a:rPr lang="en-US" sz="2000" cap="none" dirty="0" err="1">
                <a:solidFill>
                  <a:schemeClr val="tx1"/>
                </a:solidFill>
                <a:latin typeface="Arial Nova Cond Light" panose="020B0306020202020204" pitchFamily="34" charset="0"/>
              </a:rPr>
              <a:t>kanino</a:t>
            </a:r>
            <a:r>
              <a:rPr lang="en-US" sz="2000" cap="none" dirty="0">
                <a:solidFill>
                  <a:schemeClr val="tx1"/>
                </a:solidFill>
                <a:latin typeface="Arial Nova Cond Light" panose="020B0306020202020204" pitchFamily="34" charset="0"/>
              </a:rPr>
              <a:t>				For whom	</a:t>
            </a:r>
            <a:br>
              <a:rPr lang="en-US" sz="2000" cap="none" dirty="0">
                <a:solidFill>
                  <a:schemeClr val="tx1"/>
                </a:solidFill>
                <a:latin typeface="Arial Nova Cond Light" panose="020B0306020202020204" pitchFamily="34" charset="0"/>
              </a:rPr>
            </a:br>
            <a:r>
              <a:rPr lang="en-US" sz="2000" cap="none" dirty="0">
                <a:solidFill>
                  <a:schemeClr val="tx1"/>
                </a:solidFill>
                <a:latin typeface="Arial Nova Cond Light" panose="020B0306020202020204" pitchFamily="34" charset="0"/>
              </a:rPr>
              <a:t>para </a:t>
            </a:r>
            <a:r>
              <a:rPr lang="en-US" sz="2000" cap="none" dirty="0" err="1">
                <a:solidFill>
                  <a:schemeClr val="tx1"/>
                </a:solidFill>
                <a:latin typeface="Arial Nova Cond Light" panose="020B0306020202020204" pitchFamily="34" charset="0"/>
              </a:rPr>
              <a:t>sa</a:t>
            </a:r>
            <a:r>
              <a:rPr lang="en-US" sz="2000" cap="none" dirty="0">
                <a:solidFill>
                  <a:schemeClr val="tx1"/>
                </a:solidFill>
                <a:latin typeface="Arial Nova Cond Light" panose="020B0306020202020204" pitchFamily="34" charset="0"/>
              </a:rPr>
              <a:t> </a:t>
            </a:r>
            <a:r>
              <a:rPr lang="en-US" sz="2000" cap="none" dirty="0" err="1">
                <a:solidFill>
                  <a:schemeClr val="tx1"/>
                </a:solidFill>
                <a:latin typeface="Arial Nova Cond Light" panose="020B0306020202020204" pitchFamily="34" charset="0"/>
              </a:rPr>
              <a:t>kanino</a:t>
            </a:r>
            <a:r>
              <a:rPr lang="en-US" sz="2000" cap="none" dirty="0">
                <a:solidFill>
                  <a:schemeClr val="tx1"/>
                </a:solidFill>
                <a:latin typeface="Arial Nova Cond Light" panose="020B0306020202020204" pitchFamily="34" charset="0"/>
              </a:rPr>
              <a:t> </a:t>
            </a:r>
            <a:r>
              <a:rPr lang="en-US" sz="2000" cap="none" dirty="0" err="1">
                <a:solidFill>
                  <a:schemeClr val="tx1"/>
                </a:solidFill>
                <a:latin typeface="Arial Nova Cond Light" panose="020B0306020202020204" pitchFamily="34" charset="0"/>
              </a:rPr>
              <a:t>iyan</a:t>
            </a:r>
            <a:r>
              <a:rPr lang="en-US" sz="2000" cap="none" dirty="0">
                <a:solidFill>
                  <a:schemeClr val="tx1"/>
                </a:solidFill>
                <a:latin typeface="Arial Nova Cond Light" panose="020B0306020202020204" pitchFamily="34" charset="0"/>
              </a:rPr>
              <a:t>?</a:t>
            </a:r>
            <a:r>
              <a:rPr lang="en-PH" sz="2000" cap="none" dirty="0">
                <a:solidFill>
                  <a:schemeClr val="tx1"/>
                </a:solidFill>
                <a:latin typeface="Arial Nova Cond Light" panose="020B0306020202020204" pitchFamily="34" charset="0"/>
              </a:rPr>
              <a:t>				</a:t>
            </a:r>
            <a:r>
              <a:rPr lang="en-US" sz="2000" cap="none" dirty="0">
                <a:solidFill>
                  <a:schemeClr val="tx1"/>
                </a:solidFill>
                <a:latin typeface="Arial Nova Cond Light" panose="020B0306020202020204" pitchFamily="34" charset="0"/>
              </a:rPr>
              <a:t>For whom is that?</a:t>
            </a:r>
            <a:br>
              <a:rPr lang="en-PH" sz="2000" cap="none" dirty="0">
                <a:solidFill>
                  <a:schemeClr val="tx1"/>
                </a:solidFill>
                <a:latin typeface="Arial Nova Cond Light" panose="020B0306020202020204" pitchFamily="34" charset="0"/>
              </a:rPr>
            </a:br>
            <a:r>
              <a:rPr lang="en-US" sz="2000" cap="none" dirty="0">
                <a:solidFill>
                  <a:schemeClr val="tx1"/>
                </a:solidFill>
                <a:latin typeface="Arial Nova Cond Light" panose="020B0306020202020204" pitchFamily="34" charset="0"/>
              </a:rPr>
              <a:t>Sa </a:t>
            </a:r>
            <a:r>
              <a:rPr lang="en-US" sz="2000" cap="none" dirty="0" err="1">
                <a:solidFill>
                  <a:schemeClr val="tx1"/>
                </a:solidFill>
                <a:latin typeface="Arial Nova Cond Light" panose="020B0306020202020204" pitchFamily="34" charset="0"/>
              </a:rPr>
              <a:t>kanino</a:t>
            </a:r>
            <a:r>
              <a:rPr lang="en-US" sz="2000" cap="none" dirty="0">
                <a:solidFill>
                  <a:schemeClr val="tx1"/>
                </a:solidFill>
                <a:latin typeface="Arial Nova Cond Light" panose="020B0306020202020204" pitchFamily="34" charset="0"/>
              </a:rPr>
              <a:t>					with/to whom	</a:t>
            </a:r>
            <a:br>
              <a:rPr lang="en-US" sz="2000" cap="none" dirty="0">
                <a:solidFill>
                  <a:schemeClr val="tx1"/>
                </a:solidFill>
                <a:latin typeface="Arial Nova Cond Light" panose="020B0306020202020204" pitchFamily="34" charset="0"/>
              </a:rPr>
            </a:br>
            <a:r>
              <a:rPr lang="en-US" sz="2000" cap="none" dirty="0" err="1">
                <a:solidFill>
                  <a:schemeClr val="tx1"/>
                </a:solidFill>
                <a:latin typeface="Arial Nova Cond Light" panose="020B0306020202020204" pitchFamily="34" charset="0"/>
              </a:rPr>
              <a:t>sa</a:t>
            </a:r>
            <a:r>
              <a:rPr lang="en-US" sz="2000" cap="none" dirty="0">
                <a:solidFill>
                  <a:schemeClr val="tx1"/>
                </a:solidFill>
                <a:latin typeface="Arial Nova Cond Light" panose="020B0306020202020204" pitchFamily="34" charset="0"/>
              </a:rPr>
              <a:t> </a:t>
            </a:r>
            <a:r>
              <a:rPr lang="en-US" sz="2000" cap="none" dirty="0" err="1">
                <a:solidFill>
                  <a:schemeClr val="tx1"/>
                </a:solidFill>
                <a:latin typeface="Arial Nova Cond Light" panose="020B0306020202020204" pitchFamily="34" charset="0"/>
              </a:rPr>
              <a:t>kanino</a:t>
            </a:r>
            <a:r>
              <a:rPr lang="en-US" sz="2000" cap="none" dirty="0">
                <a:solidFill>
                  <a:schemeClr val="tx1"/>
                </a:solidFill>
                <a:latin typeface="Arial Nova Cond Light" panose="020B0306020202020204" pitchFamily="34" charset="0"/>
              </a:rPr>
              <a:t> </a:t>
            </a:r>
            <a:r>
              <a:rPr lang="en-US" sz="2000" cap="none" dirty="0" err="1">
                <a:solidFill>
                  <a:schemeClr val="tx1"/>
                </a:solidFill>
                <a:latin typeface="Arial Nova Cond Light" panose="020B0306020202020204" pitchFamily="34" charset="0"/>
              </a:rPr>
              <a:t>iyan</a:t>
            </a:r>
            <a:r>
              <a:rPr lang="en-US" sz="2000" cap="none" dirty="0">
                <a:solidFill>
                  <a:schemeClr val="tx1"/>
                </a:solidFill>
                <a:latin typeface="Arial Nova Cond Light" panose="020B0306020202020204" pitchFamily="34" charset="0"/>
              </a:rPr>
              <a:t>?</a:t>
            </a:r>
            <a:br>
              <a:rPr lang="en-PH" sz="2000" cap="none" dirty="0">
                <a:solidFill>
                  <a:schemeClr val="tx1"/>
                </a:solidFill>
                <a:latin typeface="Arial Nova Cond Light" panose="020B0306020202020204" pitchFamily="34" charset="0"/>
              </a:rPr>
            </a:br>
            <a:r>
              <a:rPr lang="en-PH" sz="2000" cap="none" dirty="0">
                <a:solidFill>
                  <a:schemeClr val="tx1"/>
                </a:solidFill>
                <a:latin typeface="Arial Nova Cond Light" panose="020B0306020202020204" pitchFamily="34" charset="0"/>
              </a:rPr>
              <a:t>					</a:t>
            </a:r>
            <a:r>
              <a:rPr lang="en-US" sz="2000" cap="none" dirty="0">
                <a:solidFill>
                  <a:schemeClr val="tx1"/>
                </a:solidFill>
                <a:latin typeface="Arial Nova Cond Light" panose="020B0306020202020204" pitchFamily="34" charset="0"/>
              </a:rPr>
              <a:t>To whom does that belong?</a:t>
            </a:r>
            <a:br>
              <a:rPr lang="en-PH" sz="2000" cap="none" dirty="0">
                <a:solidFill>
                  <a:schemeClr val="tx1"/>
                </a:solidFill>
                <a:latin typeface="Arial Nova Cond Light" panose="020B0306020202020204" pitchFamily="34" charset="0"/>
              </a:rPr>
            </a:br>
            <a:br>
              <a:rPr lang="en-US" cap="none" dirty="0">
                <a:solidFill>
                  <a:schemeClr val="tx1"/>
                </a:solidFill>
                <a:latin typeface="Arial Nova Cond Light" panose="020B0306020202020204" pitchFamily="34" charset="0"/>
                <a:ea typeface="+mn-ea"/>
                <a:cs typeface="+mn-cs"/>
              </a:rPr>
            </a:br>
            <a:br>
              <a:rPr lang="en-US" cap="none" dirty="0">
                <a:solidFill>
                  <a:schemeClr val="tx1"/>
                </a:solidFill>
                <a:latin typeface="Arial Nova Cond Light" panose="020B0306020202020204" pitchFamily="34" charset="0"/>
                <a:ea typeface="+mn-ea"/>
                <a:cs typeface="+mn-cs"/>
              </a:rPr>
            </a:br>
            <a:endParaRPr lang="en-US" cap="none" dirty="0">
              <a:solidFill>
                <a:schemeClr val="tx1"/>
              </a:solidFill>
              <a:latin typeface="Arial Nova Cond Light" panose="020B0306020202020204" pitchFamily="34" charset="0"/>
              <a:ea typeface="+mn-ea"/>
              <a:cs typeface="+mn-cs"/>
            </a:endParaRPr>
          </a:p>
        </p:txBody>
      </p:sp>
    </p:spTree>
    <p:extLst>
      <p:ext uri="{BB962C8B-B14F-4D97-AF65-F5344CB8AC3E}">
        <p14:creationId xmlns:p14="http://schemas.microsoft.com/office/powerpoint/2010/main" val="360156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F3249-D649-68DC-43EE-22CCDF5FC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D04FD-0485-EF56-114A-9D773A8480C2}"/>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AB501AC1-E121-CCBE-4702-D662A9E45B26}"/>
              </a:ext>
            </a:extLst>
          </p:cNvPr>
          <p:cNvSpPr>
            <a:spLocks noGrp="1"/>
          </p:cNvSpPr>
          <p:nvPr>
            <p:ph idx="1"/>
          </p:nvPr>
        </p:nvSpPr>
        <p:spPr>
          <a:xfrm>
            <a:off x="389467" y="477069"/>
            <a:ext cx="10877054"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0" name="TextBox 9">
            <a:extLst>
              <a:ext uri="{FF2B5EF4-FFF2-40B4-BE49-F238E27FC236}">
                <a16:creationId xmlns:a16="http://schemas.microsoft.com/office/drawing/2014/main" id="{5F639670-F441-F22D-0DD1-78B6D5288D76}"/>
              </a:ext>
            </a:extLst>
          </p:cNvPr>
          <p:cNvSpPr txBox="1"/>
          <p:nvPr/>
        </p:nvSpPr>
        <p:spPr>
          <a:xfrm>
            <a:off x="84667" y="107737"/>
            <a:ext cx="12048066" cy="4308872"/>
          </a:xfrm>
          <a:prstGeom prst="rect">
            <a:avLst/>
          </a:prstGeom>
          <a:noFill/>
        </p:spPr>
        <p:txBody>
          <a:bodyPr wrap="square">
            <a:spAutoFit/>
          </a:bodyPr>
          <a:lstStyle/>
          <a:p>
            <a:r>
              <a:rPr lang="en-US" sz="3200" b="1" dirty="0">
                <a:latin typeface="Arial Nova Cond Light" panose="020B0306020202020204" pitchFamily="34" charset="0"/>
              </a:rPr>
              <a:t>II. THE PLURAL FORMS OF QUESTION WORDS</a:t>
            </a:r>
          </a:p>
          <a:p>
            <a:r>
              <a:rPr lang="en-US" sz="3200" dirty="0">
                <a:latin typeface="Arial Nova Cond Light" panose="020B0306020202020204" pitchFamily="34" charset="0"/>
              </a:rPr>
              <a:t>In Prev.lesson, the pluralization of either or both the predicate and subject of a sentence has been pointed out. Plural markers such as </a:t>
            </a:r>
            <a:r>
              <a:rPr lang="en-US" sz="3200" b="1" dirty="0" err="1">
                <a:solidFill>
                  <a:srgbClr val="FFFF00"/>
                </a:solidFill>
                <a:latin typeface="Arial Nova Cond Light" panose="020B0306020202020204" pitchFamily="34" charset="0"/>
              </a:rPr>
              <a:t>sina</a:t>
            </a:r>
            <a:r>
              <a:rPr lang="en-US" sz="3200" b="1" dirty="0">
                <a:solidFill>
                  <a:srgbClr val="FFFF00"/>
                </a:solidFill>
                <a:latin typeface="Arial Nova Cond Light" panose="020B0306020202020204" pitchFamily="34" charset="0"/>
              </a:rPr>
              <a:t>, </a:t>
            </a:r>
            <a:r>
              <a:rPr lang="en-US" sz="3200" b="1" dirty="0" err="1">
                <a:solidFill>
                  <a:srgbClr val="FFFF00"/>
                </a:solidFill>
                <a:latin typeface="Arial Nova Cond Light" panose="020B0306020202020204" pitchFamily="34" charset="0"/>
              </a:rPr>
              <a:t>nina</a:t>
            </a:r>
            <a:r>
              <a:rPr lang="en-US" sz="3200" b="1" dirty="0">
                <a:solidFill>
                  <a:srgbClr val="FFFF00"/>
                </a:solidFill>
                <a:latin typeface="Arial Nova Cond Light" panose="020B0306020202020204" pitchFamily="34" charset="0"/>
              </a:rPr>
              <a:t>, ng </a:t>
            </a:r>
            <a:r>
              <a:rPr lang="en-US" sz="3200" b="1" dirty="0" err="1">
                <a:solidFill>
                  <a:srgbClr val="FFFF00"/>
                </a:solidFill>
                <a:latin typeface="Arial Nova Cond Light" panose="020B0306020202020204" pitchFamily="34" charset="0"/>
              </a:rPr>
              <a:t>mga</a:t>
            </a:r>
            <a:r>
              <a:rPr lang="en-US" sz="3200" b="1" dirty="0">
                <a:solidFill>
                  <a:srgbClr val="FFFF00"/>
                </a:solidFill>
                <a:latin typeface="Arial Nova Cond Light" panose="020B0306020202020204" pitchFamily="34" charset="0"/>
              </a:rPr>
              <a:t> </a:t>
            </a:r>
            <a:r>
              <a:rPr lang="en-US" sz="3200" dirty="0">
                <a:latin typeface="Arial Nova Cond Light" panose="020B0306020202020204" pitchFamily="34" charset="0"/>
              </a:rPr>
              <a:t>and </a:t>
            </a:r>
            <a:r>
              <a:rPr lang="en-US" sz="3200" b="1" dirty="0">
                <a:latin typeface="Arial Nova Cond Light" panose="020B0306020202020204" pitchFamily="34" charset="0"/>
              </a:rPr>
              <a:t>ang </a:t>
            </a:r>
            <a:r>
              <a:rPr lang="en-US" sz="3200" b="1" dirty="0" err="1">
                <a:solidFill>
                  <a:srgbClr val="FFFF00"/>
                </a:solidFill>
                <a:latin typeface="Arial Nova Cond Light" panose="020B0306020202020204" pitchFamily="34" charset="0"/>
              </a:rPr>
              <a:t>mga</a:t>
            </a:r>
            <a:r>
              <a:rPr lang="en-US" sz="3200" b="1" dirty="0">
                <a:latin typeface="Arial Nova Cond Light" panose="020B0306020202020204" pitchFamily="34" charset="0"/>
              </a:rPr>
              <a:t> </a:t>
            </a:r>
            <a:r>
              <a:rPr lang="en-US" sz="3200" dirty="0">
                <a:latin typeface="Arial Nova Cond Light" panose="020B0306020202020204" pitchFamily="34" charset="0"/>
              </a:rPr>
              <a:t>have also been introduced. </a:t>
            </a:r>
          </a:p>
          <a:p>
            <a:r>
              <a:rPr lang="en-US" sz="3200" dirty="0">
                <a:latin typeface="Arial Nova Cond Light" panose="020B0306020202020204" pitchFamily="34" charset="0"/>
              </a:rPr>
              <a:t>Question words are not exempt from the plurality rule either.</a:t>
            </a:r>
            <a:endParaRPr lang="en-PH" sz="3200" dirty="0">
              <a:latin typeface="Arial Nova Cond Light" panose="020B0306020202020204" pitchFamily="34" charset="0"/>
            </a:endParaRPr>
          </a:p>
          <a:p>
            <a:r>
              <a:rPr lang="en-US" sz="3200" dirty="0">
                <a:latin typeface="Arial Nova Cond Light" panose="020B0306020202020204" pitchFamily="34" charset="0"/>
              </a:rPr>
              <a:t>The plural forms of these </a:t>
            </a:r>
            <a:r>
              <a:rPr lang="en-US" sz="3200" dirty="0">
                <a:solidFill>
                  <a:srgbClr val="FFFF00"/>
                </a:solidFill>
                <a:latin typeface="Arial Nova Cond Light" panose="020B0306020202020204" pitchFamily="34" charset="0"/>
              </a:rPr>
              <a:t>interrogatives</a:t>
            </a:r>
            <a:r>
              <a:rPr lang="en-US" sz="3200" dirty="0">
                <a:latin typeface="Arial Nova Cond Light" panose="020B0306020202020204" pitchFamily="34" charset="0"/>
              </a:rPr>
              <a:t> are formed by </a:t>
            </a:r>
            <a:r>
              <a:rPr lang="en-US" sz="3200" dirty="0">
                <a:solidFill>
                  <a:srgbClr val="FFFF00"/>
                </a:solidFill>
                <a:latin typeface="Arial Nova Cond Light" panose="020B0306020202020204" pitchFamily="34" charset="0"/>
              </a:rPr>
              <a:t>duplicating the question words or certain syllables of the question words </a:t>
            </a:r>
            <a:r>
              <a:rPr lang="en-US" sz="3200" dirty="0">
                <a:latin typeface="Arial Nova Cond Light" panose="020B0306020202020204" pitchFamily="34" charset="0"/>
              </a:rPr>
              <a:t>based on the following rules:</a:t>
            </a:r>
            <a:endParaRPr lang="en-PH" sz="3200" dirty="0">
              <a:latin typeface="Arial Nova Cond Light" panose="020B0306020202020204" pitchFamily="34" charset="0"/>
            </a:endParaRPr>
          </a:p>
          <a:p>
            <a:r>
              <a:rPr lang="en-US" dirty="0">
                <a:latin typeface="Arial Nova Cond Light" panose="020B0306020202020204" pitchFamily="34" charset="0"/>
              </a:rPr>
              <a:t> </a:t>
            </a:r>
            <a:endParaRPr lang="en-PH" dirty="0">
              <a:latin typeface="Arial Nova Cond Light" panose="020B0306020202020204" pitchFamily="34" charset="0"/>
            </a:endParaRPr>
          </a:p>
          <a:p>
            <a:endParaRPr lang="en-PH" sz="3200" dirty="0">
              <a:latin typeface="Arial Nova Cond Light" panose="020B0306020202020204" pitchFamily="34" charset="0"/>
            </a:endParaRPr>
          </a:p>
        </p:txBody>
      </p:sp>
    </p:spTree>
    <p:extLst>
      <p:ext uri="{BB962C8B-B14F-4D97-AF65-F5344CB8AC3E}">
        <p14:creationId xmlns:p14="http://schemas.microsoft.com/office/powerpoint/2010/main" val="2938806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663A-FC5A-76C4-F3E7-33D9C82EF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A4083-5BD9-0D66-4C83-106FCD4FA470}"/>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B6AF28D0-344D-3E7D-EC04-977351EACA10}"/>
              </a:ext>
            </a:extLst>
          </p:cNvPr>
          <p:cNvSpPr>
            <a:spLocks noGrp="1"/>
          </p:cNvSpPr>
          <p:nvPr>
            <p:ph idx="1"/>
          </p:nvPr>
        </p:nvSpPr>
        <p:spPr>
          <a:xfrm>
            <a:off x="177801" y="1831736"/>
            <a:ext cx="10877054"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6" name="TextBox 5">
            <a:extLst>
              <a:ext uri="{FF2B5EF4-FFF2-40B4-BE49-F238E27FC236}">
                <a16:creationId xmlns:a16="http://schemas.microsoft.com/office/drawing/2014/main" id="{4CDDB820-1E20-CC44-585A-4817DD443EA6}"/>
              </a:ext>
            </a:extLst>
          </p:cNvPr>
          <p:cNvSpPr txBox="1"/>
          <p:nvPr/>
        </p:nvSpPr>
        <p:spPr>
          <a:xfrm>
            <a:off x="101600" y="143933"/>
            <a:ext cx="12090400" cy="6155531"/>
          </a:xfrm>
          <a:prstGeom prst="rect">
            <a:avLst/>
          </a:prstGeom>
          <a:noFill/>
        </p:spPr>
        <p:txBody>
          <a:bodyPr wrap="square">
            <a:spAutoFit/>
          </a:bodyPr>
          <a:lstStyle/>
          <a:p>
            <a:r>
              <a:rPr lang="en-US" sz="3200" dirty="0">
                <a:latin typeface="Arial Nova Cond Light" panose="020B0306020202020204" pitchFamily="34" charset="0"/>
              </a:rPr>
              <a:t>I.	When a word is composed of </a:t>
            </a:r>
            <a:r>
              <a:rPr lang="en-US" sz="3200" dirty="0">
                <a:solidFill>
                  <a:srgbClr val="FFFF00"/>
                </a:solidFill>
                <a:latin typeface="Arial Nova Cond Light" panose="020B0306020202020204" pitchFamily="34" charset="0"/>
              </a:rPr>
              <a:t>two syllables</a:t>
            </a:r>
            <a:r>
              <a:rPr lang="en-US" sz="3200" dirty="0">
                <a:latin typeface="Arial Nova Cond Light" panose="020B0306020202020204" pitchFamily="34" charset="0"/>
              </a:rPr>
              <a:t>, the </a:t>
            </a:r>
            <a:r>
              <a:rPr lang="en-US" sz="3200" dirty="0">
                <a:solidFill>
                  <a:srgbClr val="FFFF00"/>
                </a:solidFill>
                <a:latin typeface="Arial Nova Cond Light" panose="020B0306020202020204" pitchFamily="34" charset="0"/>
              </a:rPr>
              <a:t>whole word is duplicated</a:t>
            </a:r>
            <a:r>
              <a:rPr lang="en-US" sz="3200" dirty="0">
                <a:latin typeface="Arial Nova Cond Light" panose="020B0306020202020204" pitchFamily="34" charset="0"/>
              </a:rPr>
              <a:t>:</a:t>
            </a:r>
          </a:p>
          <a:p>
            <a:r>
              <a:rPr lang="en-US" sz="3200" dirty="0" err="1">
                <a:latin typeface="Arial Nova Cond Light" panose="020B0306020202020204" pitchFamily="34" charset="0"/>
              </a:rPr>
              <a:t>alin</a:t>
            </a:r>
            <a:r>
              <a:rPr lang="en-US" sz="3200" dirty="0">
                <a:latin typeface="Arial Nova Cond Light" panose="020B0306020202020204" pitchFamily="34" charset="0"/>
              </a:rPr>
              <a:t> becomes </a:t>
            </a:r>
            <a:r>
              <a:rPr lang="en-US" sz="3200" dirty="0" err="1">
                <a:latin typeface="Arial Nova Cond Light" panose="020B0306020202020204" pitchFamily="34" charset="0"/>
              </a:rPr>
              <a:t>alin-alin</a:t>
            </a:r>
            <a:r>
              <a:rPr lang="en-US" sz="3200" dirty="0">
                <a:latin typeface="Arial Nova Cond Light" panose="020B0306020202020204" pitchFamily="34" charset="0"/>
              </a:rPr>
              <a:t>	</a:t>
            </a:r>
          </a:p>
          <a:p>
            <a:r>
              <a:rPr lang="en-US" sz="3200" dirty="0" err="1">
                <a:latin typeface="Arial Nova Cond Light" panose="020B0306020202020204" pitchFamily="34" charset="0"/>
              </a:rPr>
              <a:t>sino</a:t>
            </a:r>
            <a:r>
              <a:rPr lang="en-US" sz="3200" dirty="0">
                <a:latin typeface="Arial Nova Cond Light" panose="020B0306020202020204" pitchFamily="34" charset="0"/>
              </a:rPr>
              <a:t> becomes </a:t>
            </a:r>
            <a:r>
              <a:rPr lang="en-US" sz="3200" dirty="0" err="1">
                <a:latin typeface="Arial Nova Cond Light" panose="020B0306020202020204" pitchFamily="34" charset="0"/>
              </a:rPr>
              <a:t>sinu-sino</a:t>
            </a:r>
            <a:endParaRPr lang="en-US" sz="3200" dirty="0">
              <a:latin typeface="Arial Nova Cond Light" panose="020B0306020202020204" pitchFamily="34" charset="0"/>
            </a:endParaRPr>
          </a:p>
          <a:p>
            <a:pPr lvl="0"/>
            <a:endParaRPr lang="en-US" sz="3200" dirty="0">
              <a:latin typeface="Arial Nova Cond Light" panose="020B0306020202020204" pitchFamily="34" charset="0"/>
            </a:endParaRPr>
          </a:p>
          <a:p>
            <a:pPr lvl="0"/>
            <a:r>
              <a:rPr lang="en-US" sz="3200" dirty="0">
                <a:latin typeface="Arial Nova Cond Light" panose="020B0306020202020204" pitchFamily="34" charset="0"/>
              </a:rPr>
              <a:t>II. When a word has </a:t>
            </a:r>
            <a:r>
              <a:rPr lang="en-US" sz="3200" dirty="0">
                <a:solidFill>
                  <a:srgbClr val="FFFF00"/>
                </a:solidFill>
                <a:latin typeface="Arial Nova Cond Light" panose="020B0306020202020204" pitchFamily="34" charset="0"/>
              </a:rPr>
              <a:t>three or more syllables</a:t>
            </a:r>
            <a:r>
              <a:rPr lang="en-US" sz="3200" dirty="0">
                <a:latin typeface="Arial Nova Cond Light" panose="020B0306020202020204" pitchFamily="34" charset="0"/>
              </a:rPr>
              <a:t>, only the </a:t>
            </a:r>
            <a:r>
              <a:rPr lang="en-US" sz="3200" dirty="0">
                <a:solidFill>
                  <a:srgbClr val="FFFF00"/>
                </a:solidFill>
                <a:latin typeface="Arial Nova Cond Light" panose="020B0306020202020204" pitchFamily="34" charset="0"/>
              </a:rPr>
              <a:t>first two syllables are duplicated:</a:t>
            </a:r>
            <a:endParaRPr lang="en-PH" sz="3200" dirty="0">
              <a:solidFill>
                <a:srgbClr val="FFFF00"/>
              </a:solidFill>
              <a:latin typeface="Arial Nova Cond Light" panose="020B0306020202020204" pitchFamily="34" charset="0"/>
            </a:endParaRPr>
          </a:p>
          <a:p>
            <a:r>
              <a:rPr lang="en-US" sz="3200" b="1" dirty="0" err="1">
                <a:latin typeface="Arial Nova Cond Light" panose="020B0306020202020204" pitchFamily="34" charset="0"/>
              </a:rPr>
              <a:t>kanino</a:t>
            </a:r>
            <a:r>
              <a:rPr lang="en-US" sz="3200" b="1" dirty="0">
                <a:latin typeface="Arial Nova Cond Light" panose="020B0306020202020204" pitchFamily="34" charset="0"/>
              </a:rPr>
              <a:t> </a:t>
            </a:r>
            <a:r>
              <a:rPr lang="en-US" sz="3200" dirty="0">
                <a:latin typeface="Arial Nova Cond Light" panose="020B0306020202020204" pitchFamily="34" charset="0"/>
              </a:rPr>
              <a:t>becomes </a:t>
            </a:r>
            <a:r>
              <a:rPr lang="en-US" sz="3200" b="1" dirty="0" err="1">
                <a:latin typeface="Arial Nova Cond Light" panose="020B0306020202020204" pitchFamily="34" charset="0"/>
              </a:rPr>
              <a:t>kani-kanino</a:t>
            </a:r>
            <a:r>
              <a:rPr lang="en-US" sz="3200" b="1" dirty="0">
                <a:latin typeface="Arial Nova Cond Light" panose="020B0306020202020204" pitchFamily="34" charset="0"/>
              </a:rPr>
              <a:t>	</a:t>
            </a:r>
          </a:p>
          <a:p>
            <a:r>
              <a:rPr lang="en-US" sz="3200" b="1" dirty="0" err="1">
                <a:latin typeface="Arial Nova Cond Light" panose="020B0306020202020204" pitchFamily="34" charset="0"/>
              </a:rPr>
              <a:t>magkano</a:t>
            </a:r>
            <a:r>
              <a:rPr lang="en-US" sz="3200" b="1" dirty="0">
                <a:latin typeface="Arial Nova Cond Light" panose="020B0306020202020204" pitchFamily="34" charset="0"/>
              </a:rPr>
              <a:t> </a:t>
            </a:r>
            <a:r>
              <a:rPr lang="en-US" sz="3200" dirty="0">
                <a:latin typeface="Arial Nova Cond Light" panose="020B0306020202020204" pitchFamily="34" charset="0"/>
              </a:rPr>
              <a:t>becomes </a:t>
            </a:r>
            <a:r>
              <a:rPr lang="en-US" sz="3200" b="1" dirty="0" err="1">
                <a:latin typeface="Arial Nova Cond Light" panose="020B0306020202020204" pitchFamily="34" charset="0"/>
              </a:rPr>
              <a:t>magka-magkano</a:t>
            </a:r>
            <a:endParaRPr lang="en-US" sz="3200" b="1" dirty="0">
              <a:latin typeface="Arial Nova Cond Light" panose="020B0306020202020204" pitchFamily="34" charset="0"/>
            </a:endParaRPr>
          </a:p>
          <a:p>
            <a:endParaRPr lang="en-US" sz="3200" b="1" dirty="0">
              <a:latin typeface="Arial Nova Cond Light" panose="020B0306020202020204" pitchFamily="34" charset="0"/>
            </a:endParaRPr>
          </a:p>
          <a:p>
            <a:pPr lvl="0"/>
            <a:r>
              <a:rPr lang="en-US" sz="3200" dirty="0" err="1">
                <a:latin typeface="Arial Nova Cond Light" panose="020B0306020202020204" pitchFamily="34" charset="0"/>
              </a:rPr>
              <a:t>III.The</a:t>
            </a:r>
            <a:r>
              <a:rPr lang="en-US" sz="3200" dirty="0">
                <a:latin typeface="Arial Nova Cond Light" panose="020B0306020202020204" pitchFamily="34" charset="0"/>
              </a:rPr>
              <a:t> o in the last syllable becomes </a:t>
            </a:r>
            <a:r>
              <a:rPr lang="en-US" sz="3200" b="1" dirty="0">
                <a:latin typeface="Arial Nova Cond Light" panose="020B0306020202020204" pitchFamily="34" charset="0"/>
              </a:rPr>
              <a:t>u </a:t>
            </a:r>
            <a:r>
              <a:rPr lang="en-US" sz="3200" dirty="0">
                <a:latin typeface="Arial Nova Cond Light" panose="020B0306020202020204" pitchFamily="34" charset="0"/>
              </a:rPr>
              <a:t>in the first half of the new duplicated word.</a:t>
            </a:r>
            <a:endParaRPr lang="en-PH" sz="3200" dirty="0">
              <a:latin typeface="Arial Nova Cond Light" panose="020B0306020202020204" pitchFamily="34" charset="0"/>
            </a:endParaRPr>
          </a:p>
          <a:p>
            <a:r>
              <a:rPr lang="en-US" sz="3200" b="1" dirty="0" err="1">
                <a:latin typeface="Arial Nova Cond Light" panose="020B0306020202020204" pitchFamily="34" charset="0"/>
              </a:rPr>
              <a:t>ano</a:t>
            </a:r>
            <a:r>
              <a:rPr lang="en-US" sz="3200" b="1" dirty="0">
                <a:latin typeface="Arial Nova Cond Light" panose="020B0306020202020204" pitchFamily="34" charset="0"/>
              </a:rPr>
              <a:t> </a:t>
            </a:r>
            <a:r>
              <a:rPr lang="en-US" sz="3200" dirty="0">
                <a:latin typeface="Arial Nova Cond Light" panose="020B0306020202020204" pitchFamily="34" charset="0"/>
              </a:rPr>
              <a:t>becomes </a:t>
            </a:r>
            <a:r>
              <a:rPr lang="en-US" sz="3200" b="1" dirty="0">
                <a:latin typeface="Arial Nova Cond Light" panose="020B0306020202020204" pitchFamily="34" charset="0"/>
              </a:rPr>
              <a:t>anu-</a:t>
            </a:r>
            <a:r>
              <a:rPr lang="en-US" sz="3200" b="1" dirty="0" err="1">
                <a:latin typeface="Arial Nova Cond Light" panose="020B0306020202020204" pitchFamily="34" charset="0"/>
              </a:rPr>
              <a:t>ano</a:t>
            </a:r>
            <a:r>
              <a:rPr lang="en-US" sz="3200" b="1" dirty="0">
                <a:latin typeface="Arial Nova Cond Light" panose="020B0306020202020204" pitchFamily="34" charset="0"/>
              </a:rPr>
              <a:t>	</a:t>
            </a:r>
            <a:r>
              <a:rPr lang="en-US" sz="3200" b="1" dirty="0" err="1">
                <a:latin typeface="Arial Nova Cond Light" panose="020B0306020202020204" pitchFamily="34" charset="0"/>
              </a:rPr>
              <a:t>sino</a:t>
            </a:r>
            <a:r>
              <a:rPr lang="en-US" sz="3200" b="1" dirty="0">
                <a:latin typeface="Arial Nova Cond Light" panose="020B0306020202020204" pitchFamily="34" charset="0"/>
              </a:rPr>
              <a:t> </a:t>
            </a:r>
            <a:r>
              <a:rPr lang="en-US" sz="3200" dirty="0">
                <a:latin typeface="Arial Nova Cond Light" panose="020B0306020202020204" pitchFamily="34" charset="0"/>
              </a:rPr>
              <a:t>becomes </a:t>
            </a:r>
            <a:r>
              <a:rPr lang="en-US" sz="3200" b="1" dirty="0" err="1">
                <a:latin typeface="Arial Nova Cond Light" panose="020B0306020202020204" pitchFamily="34" charset="0"/>
              </a:rPr>
              <a:t>sinu-sino</a:t>
            </a:r>
            <a:endParaRPr lang="en-PH" sz="3200" dirty="0">
              <a:latin typeface="Arial Nova Cond Light" panose="020B0306020202020204" pitchFamily="34" charset="0"/>
            </a:endParaRPr>
          </a:p>
          <a:p>
            <a:endParaRPr lang="en-PH" dirty="0">
              <a:latin typeface="Arial Nova Cond Light" panose="020B0306020202020204" pitchFamily="34" charset="0"/>
            </a:endParaRPr>
          </a:p>
          <a:p>
            <a:endParaRPr lang="en-US" sz="2400" dirty="0">
              <a:latin typeface="Arial Nova Cond Light" panose="020B0306020202020204" pitchFamily="34" charset="0"/>
            </a:endParaRPr>
          </a:p>
        </p:txBody>
      </p:sp>
    </p:spTree>
    <p:extLst>
      <p:ext uri="{BB962C8B-B14F-4D97-AF65-F5344CB8AC3E}">
        <p14:creationId xmlns:p14="http://schemas.microsoft.com/office/powerpoint/2010/main" val="3202397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684F2-66DD-1AC7-47A9-0C0FC9797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DA192-4C01-7689-9203-C66EF250F222}"/>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518E6B1B-7815-1511-9BC3-87FA78FAC817}"/>
              </a:ext>
            </a:extLst>
          </p:cNvPr>
          <p:cNvSpPr>
            <a:spLocks noGrp="1"/>
          </p:cNvSpPr>
          <p:nvPr>
            <p:ph idx="1"/>
          </p:nvPr>
        </p:nvSpPr>
        <p:spPr>
          <a:xfrm>
            <a:off x="0" y="1827139"/>
            <a:ext cx="12191999"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6" name="TextBox 5">
            <a:extLst>
              <a:ext uri="{FF2B5EF4-FFF2-40B4-BE49-F238E27FC236}">
                <a16:creationId xmlns:a16="http://schemas.microsoft.com/office/drawing/2014/main" id="{7F3AC389-8944-486B-F31E-224F55EA466D}"/>
              </a:ext>
            </a:extLst>
          </p:cNvPr>
          <p:cNvSpPr txBox="1"/>
          <p:nvPr/>
        </p:nvSpPr>
        <p:spPr>
          <a:xfrm>
            <a:off x="169334" y="177801"/>
            <a:ext cx="11937999" cy="3970318"/>
          </a:xfrm>
          <a:prstGeom prst="rect">
            <a:avLst/>
          </a:prstGeom>
          <a:noFill/>
        </p:spPr>
        <p:txBody>
          <a:bodyPr wrap="square">
            <a:spAutoFit/>
          </a:bodyPr>
          <a:lstStyle/>
          <a:p>
            <a:r>
              <a:rPr lang="en-US" sz="3600" dirty="0">
                <a:latin typeface="Arial Nova Cond Light" panose="020B0306020202020204" pitchFamily="34" charset="0"/>
              </a:rPr>
              <a:t>The plural forms of these interrogative words are used when more than one thing is being referred to and when an answer in the plural form is expected.</a:t>
            </a:r>
          </a:p>
          <a:p>
            <a:r>
              <a:rPr lang="en-US" sz="3600" dirty="0">
                <a:latin typeface="Arial Nova Cond Light" panose="020B0306020202020204" pitchFamily="34" charset="0"/>
              </a:rPr>
              <a:t> The interrogatives </a:t>
            </a:r>
            <a:r>
              <a:rPr lang="en-US" sz="3600" b="1" i="1" dirty="0" err="1">
                <a:solidFill>
                  <a:srgbClr val="FFFF00"/>
                </a:solidFill>
                <a:latin typeface="Arial Nova Cond Light" panose="020B0306020202020204" pitchFamily="34" charset="0"/>
              </a:rPr>
              <a:t>nasaan</a:t>
            </a:r>
            <a:r>
              <a:rPr lang="en-US" sz="3600" b="1" dirty="0">
                <a:solidFill>
                  <a:srgbClr val="FFFF00"/>
                </a:solidFill>
                <a:latin typeface="Arial Nova Cond Light" panose="020B0306020202020204" pitchFamily="34" charset="0"/>
              </a:rPr>
              <a:t> and </a:t>
            </a:r>
            <a:r>
              <a:rPr lang="en-US" sz="3600" b="1" i="1" dirty="0" err="1">
                <a:solidFill>
                  <a:srgbClr val="FFFF00"/>
                </a:solidFill>
                <a:latin typeface="Arial Nova Cond Light" panose="020B0306020202020204" pitchFamily="34" charset="0"/>
              </a:rPr>
              <a:t>bakit</a:t>
            </a:r>
            <a:r>
              <a:rPr lang="en-US" sz="3600" b="1" dirty="0">
                <a:solidFill>
                  <a:srgbClr val="FFFF00"/>
                </a:solidFill>
                <a:latin typeface="Arial Nova Cond Light" panose="020B0306020202020204" pitchFamily="34" charset="0"/>
              </a:rPr>
              <a:t> </a:t>
            </a:r>
            <a:r>
              <a:rPr lang="en-US" sz="3600" dirty="0">
                <a:latin typeface="Arial Nova Cond Light" panose="020B0306020202020204" pitchFamily="34" charset="0"/>
              </a:rPr>
              <a:t>are never duplicated for the simple reason that nothing or no one can be in more than one place at the same time nor can there be more than one explanation for an event or action.</a:t>
            </a:r>
            <a:endParaRPr lang="en-PH" sz="3600" dirty="0">
              <a:latin typeface="Arial Nova Cond Light" panose="020B0306020202020204" pitchFamily="34" charset="0"/>
            </a:endParaRPr>
          </a:p>
        </p:txBody>
      </p:sp>
    </p:spTree>
    <p:extLst>
      <p:ext uri="{BB962C8B-B14F-4D97-AF65-F5344CB8AC3E}">
        <p14:creationId xmlns:p14="http://schemas.microsoft.com/office/powerpoint/2010/main" val="2615811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D7E3-876C-53CB-3A0B-9791D18BB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3FF7D-6CBB-0064-3A9A-412AB0A49948}"/>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74813824-65CF-2AFB-80E0-44D9F3CD1135}"/>
              </a:ext>
            </a:extLst>
          </p:cNvPr>
          <p:cNvSpPr>
            <a:spLocks noGrp="1"/>
          </p:cNvSpPr>
          <p:nvPr>
            <p:ph idx="1"/>
          </p:nvPr>
        </p:nvSpPr>
        <p:spPr>
          <a:xfrm>
            <a:off x="232379" y="1827139"/>
            <a:ext cx="10877054"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6" name="TextBox 5">
            <a:extLst>
              <a:ext uri="{FF2B5EF4-FFF2-40B4-BE49-F238E27FC236}">
                <a16:creationId xmlns:a16="http://schemas.microsoft.com/office/drawing/2014/main" id="{D4337516-7B83-7002-6171-00EAD370ADC4}"/>
              </a:ext>
            </a:extLst>
          </p:cNvPr>
          <p:cNvSpPr txBox="1"/>
          <p:nvPr/>
        </p:nvSpPr>
        <p:spPr>
          <a:xfrm>
            <a:off x="118533" y="1"/>
            <a:ext cx="12009736" cy="5762544"/>
          </a:xfrm>
          <a:prstGeom prst="rect">
            <a:avLst/>
          </a:prstGeom>
          <a:noFill/>
        </p:spPr>
        <p:txBody>
          <a:bodyPr wrap="square">
            <a:spAutoFit/>
          </a:bodyPr>
          <a:lstStyle/>
          <a:p>
            <a:pPr marL="295910">
              <a:buNone/>
            </a:pPr>
            <a:r>
              <a:rPr lang="en-US" sz="2800" dirty="0">
                <a:solidFill>
                  <a:srgbClr val="FFFF00"/>
                </a:solidFill>
                <a:effectLst/>
                <a:latin typeface="Arial Nova Cond Light" panose="020B0306020202020204" pitchFamily="34" charset="0"/>
                <a:ea typeface="Times New Roman" panose="02020603050405020304" pitchFamily="18" charset="0"/>
              </a:rPr>
              <a:t>The</a:t>
            </a:r>
            <a:r>
              <a:rPr lang="en-US" sz="2800" spc="140" dirty="0">
                <a:solidFill>
                  <a:srgbClr val="FFFF00"/>
                </a:solidFill>
                <a:effectLst/>
                <a:latin typeface="Arial Nova Cond Light" panose="020B0306020202020204" pitchFamily="34" charset="0"/>
                <a:ea typeface="Times New Roman" panose="02020603050405020304" pitchFamily="18" charset="0"/>
              </a:rPr>
              <a:t> </a:t>
            </a:r>
            <a:r>
              <a:rPr lang="en-US" sz="2800" dirty="0">
                <a:solidFill>
                  <a:srgbClr val="FFFF00"/>
                </a:solidFill>
                <a:effectLst/>
                <a:latin typeface="Arial Nova Cond Light" panose="020B0306020202020204" pitchFamily="34" charset="0"/>
                <a:ea typeface="Times New Roman" panose="02020603050405020304" pitchFamily="18" charset="0"/>
              </a:rPr>
              <a:t>following</a:t>
            </a:r>
            <a:r>
              <a:rPr lang="en-US" sz="2800" spc="-15" dirty="0">
                <a:solidFill>
                  <a:srgbClr val="FFFF00"/>
                </a:solidFill>
                <a:effectLst/>
                <a:latin typeface="Arial Nova Cond Light" panose="020B0306020202020204" pitchFamily="34" charset="0"/>
                <a:ea typeface="Times New Roman" panose="02020603050405020304" pitchFamily="18" charset="0"/>
              </a:rPr>
              <a:t> </a:t>
            </a:r>
            <a:r>
              <a:rPr lang="en-US" sz="2800" dirty="0">
                <a:solidFill>
                  <a:srgbClr val="FFFF00"/>
                </a:solidFill>
                <a:effectLst/>
                <a:latin typeface="Arial Nova Cond Light" panose="020B0306020202020204" pitchFamily="34" charset="0"/>
                <a:ea typeface="Times New Roman" panose="02020603050405020304" pitchFamily="18" charset="0"/>
              </a:rPr>
              <a:t>are</a:t>
            </a:r>
            <a:r>
              <a:rPr lang="en-US" sz="2800" spc="-65" dirty="0">
                <a:solidFill>
                  <a:srgbClr val="FFFF00"/>
                </a:solidFill>
                <a:effectLst/>
                <a:latin typeface="Arial Nova Cond Light" panose="020B0306020202020204" pitchFamily="34" charset="0"/>
                <a:ea typeface="Times New Roman" panose="02020603050405020304" pitchFamily="18" charset="0"/>
              </a:rPr>
              <a:t> </a:t>
            </a:r>
            <a:r>
              <a:rPr lang="en-US" sz="2800" dirty="0">
                <a:solidFill>
                  <a:srgbClr val="FFFF00"/>
                </a:solidFill>
                <a:effectLst/>
                <a:latin typeface="Arial Nova Cond Light" panose="020B0306020202020204" pitchFamily="34" charset="0"/>
                <a:ea typeface="Times New Roman" panose="02020603050405020304" pitchFamily="18" charset="0"/>
              </a:rPr>
              <a:t>examples</a:t>
            </a:r>
            <a:r>
              <a:rPr lang="en-US" sz="2800" spc="-10" dirty="0">
                <a:solidFill>
                  <a:srgbClr val="FFFF00"/>
                </a:solidFill>
                <a:effectLst/>
                <a:latin typeface="Arial Nova Cond Light" panose="020B0306020202020204" pitchFamily="34" charset="0"/>
                <a:ea typeface="Times New Roman" panose="02020603050405020304" pitchFamily="18" charset="0"/>
              </a:rPr>
              <a:t> </a:t>
            </a:r>
            <a:r>
              <a:rPr lang="en-US" sz="2800" dirty="0">
                <a:solidFill>
                  <a:srgbClr val="FFFF00"/>
                </a:solidFill>
                <a:effectLst/>
                <a:latin typeface="Arial Nova Cond Light" panose="020B0306020202020204" pitchFamily="34" charset="0"/>
                <a:ea typeface="Times New Roman" panose="02020603050405020304" pitchFamily="18" charset="0"/>
              </a:rPr>
              <a:t>of</a:t>
            </a:r>
            <a:r>
              <a:rPr lang="en-US" sz="2800" spc="-15" dirty="0">
                <a:solidFill>
                  <a:srgbClr val="FFFF00"/>
                </a:solidFill>
                <a:effectLst/>
                <a:latin typeface="Arial Nova Cond Light" panose="020B0306020202020204" pitchFamily="34" charset="0"/>
                <a:ea typeface="Times New Roman" panose="02020603050405020304" pitchFamily="18" charset="0"/>
              </a:rPr>
              <a:t> </a:t>
            </a:r>
            <a:r>
              <a:rPr lang="en-US" sz="2800" dirty="0">
                <a:solidFill>
                  <a:srgbClr val="FFFF00"/>
                </a:solidFill>
                <a:effectLst/>
                <a:latin typeface="Arial Nova Cond Light" panose="020B0306020202020204" pitchFamily="34" charset="0"/>
                <a:ea typeface="Times New Roman" panose="02020603050405020304" pitchFamily="18" charset="0"/>
              </a:rPr>
              <a:t>questions</a:t>
            </a:r>
            <a:r>
              <a:rPr lang="en-US" sz="2800" spc="10" dirty="0">
                <a:solidFill>
                  <a:srgbClr val="FFFF00"/>
                </a:solidFill>
                <a:effectLst/>
                <a:latin typeface="Arial Nova Cond Light" panose="020B0306020202020204" pitchFamily="34" charset="0"/>
                <a:ea typeface="Times New Roman" panose="02020603050405020304" pitchFamily="18" charset="0"/>
              </a:rPr>
              <a:t> </a:t>
            </a:r>
            <a:r>
              <a:rPr lang="en-US" sz="2800" dirty="0">
                <a:solidFill>
                  <a:srgbClr val="FFFF00"/>
                </a:solidFill>
                <a:effectLst/>
                <a:latin typeface="Arial Nova Cond Light" panose="020B0306020202020204" pitchFamily="34" charset="0"/>
                <a:ea typeface="Times New Roman" panose="02020603050405020304" pitchFamily="18" charset="0"/>
              </a:rPr>
              <a:t>using</a:t>
            </a:r>
            <a:r>
              <a:rPr lang="en-US" sz="2800" spc="-85" dirty="0">
                <a:solidFill>
                  <a:srgbClr val="FFFF00"/>
                </a:solidFill>
                <a:effectLst/>
                <a:latin typeface="Arial Nova Cond Light" panose="020B0306020202020204" pitchFamily="34" charset="0"/>
                <a:ea typeface="Times New Roman" panose="02020603050405020304" pitchFamily="18" charset="0"/>
              </a:rPr>
              <a:t> </a:t>
            </a:r>
            <a:r>
              <a:rPr lang="en-US" sz="2800" dirty="0">
                <a:solidFill>
                  <a:srgbClr val="FFFF00"/>
                </a:solidFill>
                <a:effectLst/>
                <a:latin typeface="Arial Nova Cond Light" panose="020B0306020202020204" pitchFamily="34" charset="0"/>
                <a:ea typeface="Times New Roman" panose="02020603050405020304" pitchFamily="18" charset="0"/>
              </a:rPr>
              <a:t>duplicated</a:t>
            </a:r>
            <a:r>
              <a:rPr lang="en-US" sz="2800" spc="10" dirty="0">
                <a:solidFill>
                  <a:srgbClr val="FFFF00"/>
                </a:solidFill>
                <a:effectLst/>
                <a:latin typeface="Arial Nova Cond Light" panose="020B0306020202020204" pitchFamily="34" charset="0"/>
                <a:ea typeface="Times New Roman" panose="02020603050405020304" pitchFamily="18" charset="0"/>
              </a:rPr>
              <a:t> </a:t>
            </a:r>
            <a:r>
              <a:rPr lang="en-US" sz="2800" spc="-10" dirty="0">
                <a:solidFill>
                  <a:srgbClr val="FFFF00"/>
                </a:solidFill>
                <a:effectLst/>
                <a:latin typeface="Arial Nova Cond Light" panose="020B0306020202020204" pitchFamily="34" charset="0"/>
                <a:ea typeface="Times New Roman" panose="02020603050405020304" pitchFamily="18" charset="0"/>
              </a:rPr>
              <a:t>interrogatives.</a:t>
            </a:r>
          </a:p>
          <a:p>
            <a:pPr marL="295910">
              <a:buNone/>
            </a:pP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Sinu-</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sino</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ang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inyong</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mga</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anak</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Which</a:t>
            </a:r>
            <a:r>
              <a:rPr lang="en-US" sz="2800" spc="-5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of</a:t>
            </a:r>
            <a:r>
              <a:rPr lang="en-US" sz="2800" spc="-1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the</a:t>
            </a:r>
            <a:r>
              <a:rPr lang="en-US" sz="2800" spc="-5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children</a:t>
            </a:r>
            <a:r>
              <a:rPr lang="en-US" sz="2800" spc="65"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are</a:t>
            </a:r>
            <a:r>
              <a:rPr lang="en-US" sz="2800" spc="-3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yours? </a:t>
            </a:r>
            <a:endPar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endParaRPr>
          </a:p>
          <a:p>
            <a:pPr>
              <a:spcBef>
                <a:spcPts val="10"/>
              </a:spcBef>
            </a:pP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Anu-</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ano</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ang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mga</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pangalan</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ninyo</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What are your names?</a:t>
            </a:r>
            <a:endPar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endParaRPr>
          </a:p>
          <a:p>
            <a:pPr>
              <a:spcBef>
                <a:spcPts val="10"/>
              </a:spcBef>
              <a:buNone/>
            </a:pP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Kani-</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kanino</a:t>
            </a:r>
            <a:r>
              <a:rPr lang="en-US" sz="2800" b="1" spc="-15"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ang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mga</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bahay</a:t>
            </a:r>
            <a:r>
              <a:rPr lang="en-US" sz="2800" b="1" spc="-40"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na</a:t>
            </a:r>
            <a:r>
              <a:rPr lang="en-US" sz="2800" b="1" spc="-40"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iyan</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Whose houses are those? </a:t>
            </a:r>
            <a:endPar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endParaRPr>
          </a:p>
          <a:p>
            <a:pPr>
              <a:spcBef>
                <a:spcPts val="10"/>
              </a:spcBef>
            </a:pP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Saan-</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saan</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kayo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nakatira</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Where</a:t>
            </a:r>
            <a:r>
              <a:rPr lang="en-US" sz="2800" spc="-7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do</a:t>
            </a:r>
            <a:r>
              <a:rPr lang="en-US" sz="2800" spc="-55"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you</a:t>
            </a:r>
            <a:r>
              <a:rPr lang="en-US" sz="2800" spc="-3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(plural)</a:t>
            </a:r>
            <a:r>
              <a:rPr lang="en-US" sz="2800" spc="-45"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live?</a:t>
            </a:r>
            <a:endParaRPr lang="en-PH" sz="2800" dirty="0">
              <a:latin typeface="Arial Nova Cond Light" panose="020B0306020202020204" pitchFamily="34" charset="0"/>
              <a:ea typeface="Times New Roman" panose="02020603050405020304" pitchFamily="18" charset="0"/>
            </a:endParaRPr>
          </a:p>
          <a:p>
            <a:pPr>
              <a:spcBef>
                <a:spcPts val="10"/>
              </a:spcBef>
              <a:buNone/>
            </a:pP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Magka-magkano</a:t>
            </a:r>
            <a:r>
              <a:rPr lang="en-US" sz="2800" b="1" spc="30"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ang</a:t>
            </a:r>
            <a:r>
              <a:rPr lang="en-US" sz="2800" b="1" spc="-70"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mga</a:t>
            </a:r>
            <a:r>
              <a:rPr lang="en-US" sz="2800" b="1" spc="-50"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aklat</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 How</a:t>
            </a:r>
            <a:r>
              <a:rPr lang="en-US" sz="2800" spc="-15"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much are</a:t>
            </a:r>
            <a:r>
              <a:rPr lang="en-US" sz="2800" spc="-8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each of the books? </a:t>
            </a:r>
            <a:endPar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endParaRPr>
          </a:p>
          <a:p>
            <a:pPr>
              <a:spcBef>
                <a:spcPts val="10"/>
              </a:spcBef>
            </a:pP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llan-llan</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ang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mga</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anak</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b="1" dirty="0" err="1">
                <a:effectLst/>
                <a:latin typeface="Arial Nova Cond Light" panose="020B0306020202020204" pitchFamily="34" charset="0"/>
                <a:ea typeface="Times New Roman" panose="02020603050405020304" pitchFamily="18" charset="0"/>
                <a:cs typeface="Times New Roman" panose="02020603050405020304" pitchFamily="18" charset="0"/>
              </a:rPr>
              <a:t>nila</a:t>
            </a:r>
            <a:r>
              <a:rPr lang="en-US" sz="2800" b="1" dirty="0">
                <a:effectLst/>
                <a:latin typeface="Arial Nova Cond Light" panose="020B0306020202020204" pitchFamily="34" charset="0"/>
                <a:ea typeface="Times New Roman" panose="02020603050405020304" pitchFamily="18" charset="0"/>
                <a:cs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How</a:t>
            </a:r>
            <a:r>
              <a:rPr lang="en-US" sz="2800" spc="5"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many</a:t>
            </a:r>
            <a:r>
              <a:rPr lang="en-US" sz="2800" spc="-2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children</a:t>
            </a:r>
            <a:r>
              <a:rPr lang="en-US" sz="2800" spc="70"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do</a:t>
            </a:r>
            <a:r>
              <a:rPr lang="en-US" sz="2800" spc="155" dirty="0">
                <a:latin typeface="Arial Nova Cond Light" panose="020B0306020202020204" pitchFamily="34" charset="0"/>
                <a:ea typeface="Times New Roman" panose="02020603050405020304" pitchFamily="18" charset="0"/>
              </a:rPr>
              <a:t> </a:t>
            </a:r>
            <a:r>
              <a:rPr lang="en-US" sz="2800" dirty="0">
                <a:latin typeface="Arial Nova Cond Light" panose="020B0306020202020204" pitchFamily="34" charset="0"/>
                <a:ea typeface="Times New Roman" panose="02020603050405020304" pitchFamily="18" charset="0"/>
              </a:rPr>
              <a:t>they</a:t>
            </a:r>
            <a:r>
              <a:rPr lang="en-US" sz="2800" spc="-35" dirty="0">
                <a:latin typeface="Arial Nova Cond Light" panose="020B0306020202020204" pitchFamily="34" charset="0"/>
                <a:ea typeface="Times New Roman" panose="02020603050405020304" pitchFamily="18" charset="0"/>
              </a:rPr>
              <a:t> </a:t>
            </a:r>
            <a:r>
              <a:rPr lang="en-US" sz="2800" spc="-10" dirty="0">
                <a:latin typeface="Arial Nova Cond Light" panose="020B0306020202020204" pitchFamily="34" charset="0"/>
                <a:ea typeface="Times New Roman" panose="02020603050405020304" pitchFamily="18" charset="0"/>
              </a:rPr>
              <a:t>have?</a:t>
            </a:r>
            <a:endParaRPr lang="en-PH" sz="2800" dirty="0">
              <a:latin typeface="Arial Nova Cond Light" panose="020B0306020202020204" pitchFamily="34" charset="0"/>
              <a:ea typeface="Times New Roman" panose="02020603050405020304" pitchFamily="18" charset="0"/>
            </a:endParaRPr>
          </a:p>
          <a:p>
            <a:pPr>
              <a:spcBef>
                <a:spcPts val="10"/>
              </a:spcBef>
              <a:buNone/>
            </a:pPr>
            <a:endParaRPr lang="en-PH" sz="2400" dirty="0">
              <a:effectLst/>
              <a:latin typeface="Arial Nova Cond Light" panose="020B0306020202020204" pitchFamily="34" charset="0"/>
              <a:ea typeface="Times New Roman" panose="02020603050405020304" pitchFamily="18" charset="0"/>
            </a:endParaRPr>
          </a:p>
          <a:p>
            <a:pPr>
              <a:spcBef>
                <a:spcPts val="10"/>
              </a:spcBef>
              <a:buNone/>
            </a:pPr>
            <a:endParaRPr lang="en-PH" sz="2400" dirty="0">
              <a:latin typeface="Arial Nova Cond Light" panose="020B0306020202020204" pitchFamily="34" charset="0"/>
              <a:ea typeface="Times New Roman" panose="02020603050405020304" pitchFamily="18" charset="0"/>
            </a:endParaRPr>
          </a:p>
          <a:p>
            <a:r>
              <a:rPr lang="en-US" dirty="0">
                <a:latin typeface="Arial Nova Cond Light" panose="020B0306020202020204" pitchFamily="34" charset="0"/>
              </a:rPr>
              <a:t>In the </a:t>
            </a:r>
            <a:r>
              <a:rPr lang="en-US" b="1" dirty="0" err="1">
                <a:latin typeface="Arial Nova Cond Light" panose="020B0306020202020204" pitchFamily="34" charset="0"/>
              </a:rPr>
              <a:t>ilan-ilan</a:t>
            </a:r>
            <a:r>
              <a:rPr lang="en-US" b="1" dirty="0">
                <a:latin typeface="Arial Nova Cond Light" panose="020B0306020202020204" pitchFamily="34" charset="0"/>
              </a:rPr>
              <a:t> </a:t>
            </a:r>
            <a:r>
              <a:rPr lang="en-US" dirty="0">
                <a:latin typeface="Arial Nova Cond Light" panose="020B0306020202020204" pitchFamily="34" charset="0"/>
              </a:rPr>
              <a:t>question above, the speaker is referring to the total number of children of more than one couple or parent. The question may be translated to </a:t>
            </a:r>
            <a:r>
              <a:rPr lang="en-US" i="1" dirty="0">
                <a:latin typeface="Arial Nova Cond Light" panose="020B0306020202020204" pitchFamily="34" charset="0"/>
              </a:rPr>
              <a:t>Between those two (or three) couples (or parents), how many children do they have in all?</a:t>
            </a:r>
            <a:endParaRPr lang="en-PH" dirty="0">
              <a:latin typeface="Arial Nova Cond Light" panose="020B0306020202020204" pitchFamily="34" charset="0"/>
            </a:endParaRPr>
          </a:p>
          <a:p>
            <a:r>
              <a:rPr lang="en-US" b="1" dirty="0">
                <a:latin typeface="Arial Nova Cond Light" panose="020B0306020202020204" pitchFamily="34" charset="0"/>
              </a:rPr>
              <a:t>Kai-kailan kayo </a:t>
            </a:r>
            <a:r>
              <a:rPr lang="en-US" b="1" dirty="0" err="1">
                <a:latin typeface="Arial Nova Cond Light" panose="020B0306020202020204" pitchFamily="34" charset="0"/>
              </a:rPr>
              <a:t>dumating</a:t>
            </a:r>
            <a:r>
              <a:rPr lang="en-US" b="1" dirty="0">
                <a:latin typeface="Arial Nova Cond Light" panose="020B0306020202020204" pitchFamily="34" charset="0"/>
              </a:rPr>
              <a:t> </a:t>
            </a:r>
            <a:r>
              <a:rPr lang="en-US" b="1" dirty="0" err="1">
                <a:latin typeface="Arial Nova Cond Light" panose="020B0306020202020204" pitchFamily="34" charset="0"/>
              </a:rPr>
              <a:t>sa</a:t>
            </a:r>
            <a:r>
              <a:rPr lang="en-US" b="1" dirty="0">
                <a:latin typeface="Arial Nova Cond Light" panose="020B0306020202020204" pitchFamily="34" charset="0"/>
              </a:rPr>
              <a:t> </a:t>
            </a:r>
            <a:r>
              <a:rPr lang="en-US" b="1" dirty="0" err="1">
                <a:latin typeface="Arial Nova Cond Light" panose="020B0306020202020204" pitchFamily="34" charset="0"/>
              </a:rPr>
              <a:t>Pilipinas</a:t>
            </a:r>
            <a:r>
              <a:rPr lang="en-US" b="1" dirty="0">
                <a:latin typeface="Arial Nova Cond Light" panose="020B0306020202020204" pitchFamily="34" charset="0"/>
              </a:rPr>
              <a:t>?</a:t>
            </a:r>
            <a:endParaRPr lang="en-PH" dirty="0">
              <a:latin typeface="Arial Nova Cond Light" panose="020B0306020202020204" pitchFamily="34" charset="0"/>
            </a:endParaRPr>
          </a:p>
          <a:p>
            <a:r>
              <a:rPr lang="en-US" dirty="0">
                <a:latin typeface="Arial Nova Cond Light" panose="020B0306020202020204" pitchFamily="34" charset="0"/>
              </a:rPr>
              <a:t>When (plural, referring to several dates) did you (plural) arrive in the Philippines?</a:t>
            </a:r>
            <a:endParaRPr lang="en-PH" dirty="0">
              <a:latin typeface="Arial Nova Cond Light" panose="020B0306020202020204" pitchFamily="34" charset="0"/>
            </a:endParaRPr>
          </a:p>
          <a:p>
            <a:pPr>
              <a:spcBef>
                <a:spcPts val="10"/>
              </a:spcBef>
            </a:pPr>
            <a:r>
              <a:rPr lang="en-US" dirty="0">
                <a:latin typeface="Arial Nova Cond Light" panose="020B0306020202020204" pitchFamily="34" charset="0"/>
              </a:rPr>
              <a:t>Note that kai-kailan is very infrequently used nowadays and is mostly confined in rural Tagalog areas or regions.</a:t>
            </a:r>
            <a:endParaRPr lang="en-PH" dirty="0">
              <a:latin typeface="Arial Nova Cond Light" panose="020B0306020202020204" pitchFamily="34" charset="0"/>
            </a:endParaRPr>
          </a:p>
          <a:p>
            <a:pPr>
              <a:spcBef>
                <a:spcPts val="10"/>
              </a:spcBef>
              <a:buNone/>
            </a:pPr>
            <a:endParaRPr lang="en-PH" sz="2400" dirty="0">
              <a:effectLst/>
              <a:latin typeface="Arial Nova Cond Light" panose="020B0306020202020204" pitchFamily="34" charset="0"/>
              <a:ea typeface="Times New Roman" panose="02020603050405020304" pitchFamily="18" charset="0"/>
            </a:endParaRPr>
          </a:p>
        </p:txBody>
      </p:sp>
    </p:spTree>
    <p:extLst>
      <p:ext uri="{BB962C8B-B14F-4D97-AF65-F5344CB8AC3E}">
        <p14:creationId xmlns:p14="http://schemas.microsoft.com/office/powerpoint/2010/main" val="3864953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06374-82CB-AC60-6A5E-413E14D3F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5462A-07C9-771E-CF79-0DE222476B18}"/>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D381427B-62DD-ABC4-2A5F-E2347E691305}"/>
              </a:ext>
            </a:extLst>
          </p:cNvPr>
          <p:cNvSpPr>
            <a:spLocks noGrp="1"/>
          </p:cNvSpPr>
          <p:nvPr>
            <p:ph idx="1"/>
          </p:nvPr>
        </p:nvSpPr>
        <p:spPr>
          <a:xfrm>
            <a:off x="88445" y="74540"/>
            <a:ext cx="12018887" cy="4052597"/>
          </a:xfrm>
        </p:spPr>
        <p:txBody>
          <a:bodyPr>
            <a:noAutofit/>
          </a:bodyPr>
          <a:lstStyle/>
          <a:p>
            <a:pPr marL="0" indent="0">
              <a:buNone/>
            </a:pPr>
            <a:r>
              <a:rPr lang="en-US" sz="3200" dirty="0">
                <a:latin typeface="Arial Nova Cond Light" panose="020B0306020202020204" pitchFamily="34" charset="0"/>
              </a:rPr>
              <a:t>Ill. </a:t>
            </a:r>
            <a:r>
              <a:rPr lang="en-US" sz="3200" b="1" dirty="0">
                <a:latin typeface="Arial Nova Cond Light" panose="020B0306020202020204" pitchFamily="34" charset="0"/>
              </a:rPr>
              <a:t>CONTRACTED FORMS OF QUESTIONS</a:t>
            </a:r>
            <a:endParaRPr lang="en-PH" sz="3200" b="1" dirty="0">
              <a:latin typeface="Arial Nova Cond Light" panose="020B0306020202020204" pitchFamily="34" charset="0"/>
            </a:endParaRPr>
          </a:p>
          <a:p>
            <a:pPr marL="0" indent="0">
              <a:buNone/>
            </a:pPr>
            <a:r>
              <a:rPr lang="en-US" sz="2800" dirty="0">
                <a:latin typeface="Arial Nova Cond Light" panose="020B0306020202020204" pitchFamily="34" charset="0"/>
              </a:rPr>
              <a:t>Contracted and shortened forms of a word or two words together are very common in spoken Tagalog, as in English. In the case of interrogatives, ligatures may produce another version of a question. Both </a:t>
            </a:r>
            <a:r>
              <a:rPr lang="en-US" sz="2800" b="1" dirty="0" err="1">
                <a:solidFill>
                  <a:srgbClr val="FFFF00"/>
                </a:solidFill>
                <a:latin typeface="Arial Nova Cond Light" panose="020B0306020202020204" pitchFamily="34" charset="0"/>
              </a:rPr>
              <a:t>iyan</a:t>
            </a:r>
            <a:r>
              <a:rPr lang="en-US" sz="2800" b="1" dirty="0">
                <a:solidFill>
                  <a:srgbClr val="FFFF00"/>
                </a:solidFill>
                <a:latin typeface="Arial Nova Cond Light" panose="020B0306020202020204" pitchFamily="34" charset="0"/>
              </a:rPr>
              <a:t> and </a:t>
            </a:r>
            <a:r>
              <a:rPr lang="en-US" sz="2800" b="1" dirty="0" err="1">
                <a:solidFill>
                  <a:srgbClr val="FFFF00"/>
                </a:solidFill>
                <a:latin typeface="Arial Nova Cond Light" panose="020B0306020202020204" pitchFamily="34" charset="0"/>
              </a:rPr>
              <a:t>ito</a:t>
            </a:r>
            <a:r>
              <a:rPr lang="en-US" sz="2800" b="1" dirty="0">
                <a:solidFill>
                  <a:srgbClr val="FFFF00"/>
                </a:solidFill>
                <a:latin typeface="Arial Nova Cond Light" panose="020B0306020202020204" pitchFamily="34" charset="0"/>
              </a:rPr>
              <a:t> </a:t>
            </a:r>
            <a:r>
              <a:rPr lang="en-US" sz="2800" dirty="0">
                <a:latin typeface="Arial Nova Cond Light" panose="020B0306020202020204" pitchFamily="34" charset="0"/>
              </a:rPr>
              <a:t>may also be shortened to </a:t>
            </a:r>
            <a:r>
              <a:rPr lang="en-US" sz="2800" b="1" dirty="0">
                <a:latin typeface="Arial Nova Cond Light" panose="020B0306020202020204" pitchFamily="34" charset="0"/>
              </a:rPr>
              <a:t>'</a:t>
            </a:r>
            <a:r>
              <a:rPr lang="en-US" sz="2800" b="1" dirty="0" err="1">
                <a:solidFill>
                  <a:srgbClr val="FFFF00"/>
                </a:solidFill>
                <a:latin typeface="Arial Nova Cond Light" panose="020B0306020202020204" pitchFamily="34" charset="0"/>
              </a:rPr>
              <a:t>yan</a:t>
            </a:r>
            <a:r>
              <a:rPr lang="en-US" sz="2800" b="1" dirty="0">
                <a:latin typeface="Arial Nova Cond Light" panose="020B0306020202020204" pitchFamily="34" charset="0"/>
              </a:rPr>
              <a:t> and </a:t>
            </a:r>
            <a:r>
              <a:rPr lang="en-US" sz="2800" b="1" dirty="0">
                <a:solidFill>
                  <a:srgbClr val="FFFF00"/>
                </a:solidFill>
                <a:latin typeface="Arial Nova Cond Light" panose="020B0306020202020204" pitchFamily="34" charset="0"/>
              </a:rPr>
              <a:t>'to</a:t>
            </a:r>
            <a:r>
              <a:rPr lang="en-US" sz="2800" b="1" dirty="0">
                <a:latin typeface="Arial Nova Cond Light" panose="020B0306020202020204" pitchFamily="34" charset="0"/>
              </a:rPr>
              <a:t>. </a:t>
            </a:r>
            <a:r>
              <a:rPr lang="en-US" sz="2800" dirty="0">
                <a:latin typeface="Arial Nova Cond Light" panose="020B0306020202020204" pitchFamily="34" charset="0"/>
              </a:rPr>
              <a:t>They lose the stresses on the second syllable as both become monosyllabic modifiers. Note the differences in the following Tagalog questions.</a:t>
            </a:r>
            <a:endParaRPr lang="en-PH" sz="2800" dirty="0">
              <a:latin typeface="Arial Nova Cond Light" panose="020B0306020202020204" pitchFamily="34" charset="0"/>
            </a:endParaRPr>
          </a:p>
          <a:p>
            <a:pPr marL="0" indent="0">
              <a:buNone/>
            </a:pPr>
            <a:r>
              <a:rPr lang="en-US" sz="2400" dirty="0">
                <a:latin typeface="Arial Nova Cond Light" panose="020B0306020202020204" pitchFamily="34" charset="0"/>
              </a:rPr>
              <a:t>Sino ang </a:t>
            </a:r>
            <a:r>
              <a:rPr lang="en-US" sz="2400" dirty="0" err="1">
                <a:latin typeface="Arial Nova Cond Light" panose="020B0306020202020204" pitchFamily="34" charset="0"/>
              </a:rPr>
              <a:t>taong</a:t>
            </a:r>
            <a:r>
              <a:rPr lang="en-US" sz="2400" dirty="0">
                <a:latin typeface="Arial Nova Cond Light" panose="020B0306020202020204" pitchFamily="34" charset="0"/>
              </a:rPr>
              <a:t> </a:t>
            </a:r>
            <a:r>
              <a:rPr lang="en-US" sz="2400" dirty="0" err="1">
                <a:latin typeface="Arial Nova Cond Light" panose="020B0306020202020204" pitchFamily="34" charset="0"/>
              </a:rPr>
              <a:t>iyan</a:t>
            </a:r>
            <a:r>
              <a:rPr lang="en-US" sz="2400" dirty="0">
                <a:latin typeface="Arial Nova Cond Light" panose="020B0306020202020204" pitchFamily="34" charset="0"/>
              </a:rPr>
              <a:t>?		 	Who is that person? </a:t>
            </a:r>
          </a:p>
          <a:p>
            <a:pPr marL="0" indent="0">
              <a:buNone/>
            </a:pPr>
            <a:r>
              <a:rPr lang="en-US" sz="2400" dirty="0" err="1">
                <a:latin typeface="Arial Nova Cond Light" panose="020B0306020202020204" pitchFamily="34" charset="0"/>
              </a:rPr>
              <a:t>Sinong</a:t>
            </a:r>
            <a:r>
              <a:rPr lang="en-US" sz="2400" dirty="0">
                <a:latin typeface="Arial Nova Cond Light" panose="020B0306020202020204" pitchFamily="34" charset="0"/>
              </a:rPr>
              <a:t> </a:t>
            </a:r>
            <a:r>
              <a:rPr lang="en-US" sz="2400" dirty="0" err="1">
                <a:latin typeface="Arial Nova Cond Light" panose="020B0306020202020204" pitchFamily="34" charset="0"/>
              </a:rPr>
              <a:t>tao</a:t>
            </a:r>
            <a:r>
              <a:rPr lang="en-US" sz="2400" dirty="0">
                <a:latin typeface="Arial Nova Cond Light" panose="020B0306020202020204" pitchFamily="34" charset="0"/>
              </a:rPr>
              <a:t> </a:t>
            </a:r>
            <a:r>
              <a:rPr lang="en-US" sz="2400" dirty="0" err="1">
                <a:latin typeface="Arial Nova Cond Light" panose="020B0306020202020204" pitchFamily="34" charset="0"/>
              </a:rPr>
              <a:t>iyan</a:t>
            </a:r>
            <a:r>
              <a:rPr lang="en-US" sz="2400" dirty="0">
                <a:latin typeface="Arial Nova Cond Light" panose="020B0306020202020204" pitchFamily="34" charset="0"/>
              </a:rPr>
              <a:t>?				Who is that (person</a:t>
            </a:r>
            <a:endParaRPr lang="en-PH" sz="2400" dirty="0">
              <a:latin typeface="Arial Nova Cond Light" panose="020B0306020202020204" pitchFamily="34" charset="0"/>
            </a:endParaRPr>
          </a:p>
          <a:p>
            <a:pPr marL="0" indent="0">
              <a:buNone/>
            </a:pPr>
            <a:r>
              <a:rPr lang="en-US" sz="2400" dirty="0">
                <a:latin typeface="Arial Nova Cond Light" panose="020B0306020202020204" pitchFamily="34" charset="0"/>
              </a:rPr>
              <a:t>Sino '</a:t>
            </a:r>
            <a:r>
              <a:rPr lang="en-US" sz="2400" dirty="0" err="1">
                <a:latin typeface="Arial Nova Cond Light" panose="020B0306020202020204" pitchFamily="34" charset="0"/>
              </a:rPr>
              <a:t>yan</a:t>
            </a:r>
            <a:r>
              <a:rPr lang="en-US" sz="2400" dirty="0">
                <a:latin typeface="Arial Nova Cond Light" panose="020B0306020202020204" pitchFamily="34" charset="0"/>
              </a:rPr>
              <a:t>?				(Speaker is pointing to someone)</a:t>
            </a:r>
            <a:endParaRPr lang="en-PH" sz="2400" dirty="0">
              <a:latin typeface="Arial Nova Cond Light" panose="020B0306020202020204" pitchFamily="34" charset="0"/>
            </a:endParaRPr>
          </a:p>
          <a:p>
            <a:pPr marL="0" indent="0">
              <a:buNone/>
            </a:pPr>
            <a:endParaRPr lang="en-PH" sz="1800" b="1" dirty="0">
              <a:latin typeface="Arial Nova Cond Light" panose="020B0306020202020204" pitchFamily="34" charset="0"/>
            </a:endParaRPr>
          </a:p>
          <a:p>
            <a:pPr marL="0" indent="0">
              <a:buNone/>
            </a:pPr>
            <a:endParaRPr lang="en-PH" dirty="0">
              <a:latin typeface="Arial Nova Cond Light" panose="020B0306020202020204" pitchFamily="34" charset="0"/>
            </a:endParaRPr>
          </a:p>
        </p:txBody>
      </p:sp>
    </p:spTree>
    <p:extLst>
      <p:ext uri="{BB962C8B-B14F-4D97-AF65-F5344CB8AC3E}">
        <p14:creationId xmlns:p14="http://schemas.microsoft.com/office/powerpoint/2010/main" val="329968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D2ED6-2DA3-6421-67CE-8E3C3CCC3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F1FF4-1ECA-C664-8002-98F58AF8FD14}"/>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7CD4A698-375F-DEC9-BEFC-E3CB1B6E76DA}"/>
              </a:ext>
            </a:extLst>
          </p:cNvPr>
          <p:cNvSpPr>
            <a:spLocks noGrp="1"/>
          </p:cNvSpPr>
          <p:nvPr>
            <p:ph idx="1"/>
          </p:nvPr>
        </p:nvSpPr>
        <p:spPr>
          <a:xfrm>
            <a:off x="88445" y="74540"/>
            <a:ext cx="12018887" cy="4052597"/>
          </a:xfrm>
        </p:spPr>
        <p:txBody>
          <a:bodyPr>
            <a:noAutofit/>
          </a:bodyPr>
          <a:lstStyle/>
          <a:p>
            <a:pPr marL="0" indent="0">
              <a:buNone/>
            </a:pPr>
            <a:r>
              <a:rPr lang="en-US" sz="2800" dirty="0" err="1">
                <a:latin typeface="Arial Nova Cond Light" panose="020B0306020202020204" pitchFamily="34" charset="0"/>
              </a:rPr>
              <a:t>Kanino</a:t>
            </a:r>
            <a:r>
              <a:rPr lang="en-US" sz="2800" dirty="0">
                <a:latin typeface="Arial Nova Cond Light" panose="020B0306020202020204" pitchFamily="34" charset="0"/>
              </a:rPr>
              <a:t> ang </a:t>
            </a:r>
            <a:r>
              <a:rPr lang="en-US" sz="2800" dirty="0" err="1">
                <a:latin typeface="Arial Nova Cond Light" panose="020B0306020202020204" pitchFamily="34" charset="0"/>
              </a:rPr>
              <a:t>aklat</a:t>
            </a:r>
            <a:r>
              <a:rPr lang="en-US" sz="2800" dirty="0">
                <a:latin typeface="Arial Nova Cond Light" panose="020B0306020202020204" pitchFamily="34" charset="0"/>
              </a:rPr>
              <a:t> </a:t>
            </a:r>
            <a:r>
              <a:rPr lang="en-US" sz="2800" dirty="0" err="1">
                <a:solidFill>
                  <a:srgbClr val="FF0000"/>
                </a:solidFill>
                <a:latin typeface="Arial Nova Cond Light" panose="020B0306020202020204" pitchFamily="34" charset="0"/>
              </a:rPr>
              <a:t>na</a:t>
            </a:r>
            <a:r>
              <a:rPr lang="en-US" sz="2800" dirty="0">
                <a:latin typeface="Arial Nova Cond Light" panose="020B0306020202020204" pitchFamily="34" charset="0"/>
              </a:rPr>
              <a:t> </a:t>
            </a:r>
            <a:r>
              <a:rPr lang="en-US" sz="2800" dirty="0" err="1">
                <a:latin typeface="Arial Nova Cond Light" panose="020B0306020202020204" pitchFamily="34" charset="0"/>
              </a:rPr>
              <a:t>ito</a:t>
            </a:r>
            <a:r>
              <a:rPr lang="en-US" sz="2800" dirty="0">
                <a:latin typeface="Arial Nova Cond Light" panose="020B0306020202020204" pitchFamily="34" charset="0"/>
              </a:rPr>
              <a:t>? 			Whose book is this? </a:t>
            </a:r>
          </a:p>
          <a:p>
            <a:pPr marL="0" indent="0">
              <a:buNone/>
            </a:pPr>
            <a:r>
              <a:rPr lang="en-US" sz="2800" dirty="0" err="1">
                <a:latin typeface="Arial Nova Cond Light" panose="020B0306020202020204" pitchFamily="34" charset="0"/>
              </a:rPr>
              <a:t>Kanino</a:t>
            </a:r>
            <a:r>
              <a:rPr lang="en-US" sz="2800" dirty="0" err="1">
                <a:solidFill>
                  <a:srgbClr val="FF0000"/>
                </a:solidFill>
                <a:latin typeface="Arial Nova Cond Light" panose="020B0306020202020204" pitchFamily="34" charset="0"/>
              </a:rPr>
              <a:t>ng</a:t>
            </a:r>
            <a:r>
              <a:rPr lang="en-US" sz="2800" dirty="0">
                <a:solidFill>
                  <a:srgbClr val="FF0000"/>
                </a:solidFill>
                <a:latin typeface="Arial Nova Cond Light" panose="020B0306020202020204" pitchFamily="34" charset="0"/>
              </a:rPr>
              <a:t> </a:t>
            </a:r>
            <a:r>
              <a:rPr lang="en-US" sz="2800" dirty="0" err="1">
                <a:latin typeface="Arial Nova Cond Light" panose="020B0306020202020204" pitchFamily="34" charset="0"/>
              </a:rPr>
              <a:t>aklat</a:t>
            </a:r>
            <a:r>
              <a:rPr lang="en-US" sz="2800" dirty="0">
                <a:latin typeface="Arial Nova Cond Light" panose="020B0306020202020204" pitchFamily="34" charset="0"/>
              </a:rPr>
              <a:t> Ito?				Whose (book) is this?</a:t>
            </a:r>
            <a:endParaRPr lang="en-PH" sz="2800" dirty="0">
              <a:latin typeface="Arial Nova Cond Light" panose="020B0306020202020204" pitchFamily="34" charset="0"/>
            </a:endParaRPr>
          </a:p>
          <a:p>
            <a:pPr marL="0" indent="0">
              <a:buNone/>
            </a:pPr>
            <a:r>
              <a:rPr lang="en-US" sz="2800" dirty="0" err="1">
                <a:latin typeface="Arial Nova Cond Light" panose="020B0306020202020204" pitchFamily="34" charset="0"/>
              </a:rPr>
              <a:t>Kanino</a:t>
            </a:r>
            <a:r>
              <a:rPr lang="en-US" sz="2800" dirty="0">
                <a:latin typeface="Arial Nova Cond Light" panose="020B0306020202020204" pitchFamily="34" charset="0"/>
              </a:rPr>
              <a:t> ‘to?</a:t>
            </a:r>
            <a:r>
              <a:rPr lang="en-PH" sz="2800" dirty="0">
                <a:latin typeface="Arial Nova Cond Light" panose="020B0306020202020204" pitchFamily="34" charset="0"/>
              </a:rPr>
              <a:t> 		</a:t>
            </a:r>
            <a:r>
              <a:rPr lang="en-PH" sz="2800" b="1" dirty="0">
                <a:latin typeface="Arial Nova Cond Light" panose="020B0306020202020204" pitchFamily="34" charset="0"/>
              </a:rPr>
              <a:t>			 </a:t>
            </a:r>
            <a:r>
              <a:rPr lang="en-US" sz="2800" dirty="0">
                <a:latin typeface="Arial Nova Cond Light" panose="020B0306020202020204" pitchFamily="34" charset="0"/>
              </a:rPr>
              <a:t>(Speaker is pointing to or holding a book)</a:t>
            </a:r>
            <a:br>
              <a:rPr lang="en-US" sz="2800" dirty="0">
                <a:latin typeface="Arial Nova Cond Light" panose="020B0306020202020204" pitchFamily="34" charset="0"/>
              </a:rPr>
            </a:br>
            <a:endParaRPr lang="en-US" sz="3200" dirty="0">
              <a:latin typeface="Arial Nova Cond Light" panose="020B0306020202020204" pitchFamily="34" charset="0"/>
            </a:endParaRPr>
          </a:p>
          <a:p>
            <a:pPr marL="0" indent="0">
              <a:buNone/>
            </a:pPr>
            <a:r>
              <a:rPr lang="en-US" sz="2800" dirty="0">
                <a:latin typeface="Arial Nova Cond Light" panose="020B0306020202020204" pitchFamily="34" charset="0"/>
              </a:rPr>
              <a:t>Ano ang </a:t>
            </a:r>
            <a:r>
              <a:rPr lang="en-US" sz="2800" dirty="0" err="1">
                <a:latin typeface="Arial Nova Cond Light" panose="020B0306020202020204" pitchFamily="34" charset="0"/>
              </a:rPr>
              <a:t>simbahang</a:t>
            </a:r>
            <a:r>
              <a:rPr lang="en-US" sz="2800" dirty="0">
                <a:latin typeface="Arial Nova Cond Light" panose="020B0306020202020204" pitchFamily="34" charset="0"/>
              </a:rPr>
              <a:t> </a:t>
            </a:r>
            <a:r>
              <a:rPr lang="en-US" sz="2800" dirty="0" err="1">
                <a:latin typeface="Arial Nova Cond Light" panose="020B0306020202020204" pitchFamily="34" charset="0"/>
              </a:rPr>
              <a:t>iyan</a:t>
            </a:r>
            <a:r>
              <a:rPr lang="en-US" sz="2800" dirty="0">
                <a:latin typeface="Arial Nova Cond Light" panose="020B0306020202020204" pitchFamily="34" charset="0"/>
              </a:rPr>
              <a:t>? 			What church is that? </a:t>
            </a:r>
          </a:p>
          <a:p>
            <a:pPr marL="0" indent="0">
              <a:buNone/>
            </a:pPr>
            <a:r>
              <a:rPr lang="en-US" sz="2800" dirty="0">
                <a:latin typeface="Arial Nova Cond Light" panose="020B0306020202020204" pitchFamily="34" charset="0"/>
              </a:rPr>
              <a:t>Anong </a:t>
            </a:r>
            <a:r>
              <a:rPr lang="en-US" sz="2800" dirty="0" err="1">
                <a:latin typeface="Arial Nova Cond Light" panose="020B0306020202020204" pitchFamily="34" charset="0"/>
              </a:rPr>
              <a:t>simbahan</a:t>
            </a:r>
            <a:r>
              <a:rPr lang="en-US" sz="2800" dirty="0">
                <a:latin typeface="Arial Nova Cond Light" panose="020B0306020202020204" pitchFamily="34" charset="0"/>
              </a:rPr>
              <a:t> </a:t>
            </a:r>
            <a:r>
              <a:rPr lang="en-US" sz="2800" dirty="0" err="1">
                <a:latin typeface="Arial Nova Cond Light" panose="020B0306020202020204" pitchFamily="34" charset="0"/>
              </a:rPr>
              <a:t>iyan</a:t>
            </a:r>
            <a:r>
              <a:rPr lang="en-US" sz="2800" dirty="0">
                <a:latin typeface="Arial Nova Cond Light" panose="020B0306020202020204" pitchFamily="34" charset="0"/>
              </a:rPr>
              <a:t>?			What (church) is that?</a:t>
            </a:r>
            <a:endParaRPr lang="en-PH" sz="2800" dirty="0">
              <a:latin typeface="Arial Nova Cond Light" panose="020B0306020202020204" pitchFamily="34" charset="0"/>
            </a:endParaRPr>
          </a:p>
          <a:p>
            <a:pPr marL="0" indent="0">
              <a:buNone/>
            </a:pPr>
            <a:r>
              <a:rPr lang="en-US" sz="2800" dirty="0">
                <a:latin typeface="Arial Nova Cond Light" panose="020B0306020202020204" pitchFamily="34" charset="0"/>
              </a:rPr>
              <a:t>Ano '</a:t>
            </a:r>
            <a:r>
              <a:rPr lang="en-US" sz="2800" dirty="0" err="1">
                <a:latin typeface="Arial Nova Cond Light" panose="020B0306020202020204" pitchFamily="34" charset="0"/>
              </a:rPr>
              <a:t>yan</a:t>
            </a:r>
            <a:r>
              <a:rPr lang="en-US" sz="2800" dirty="0">
                <a:latin typeface="Arial Nova Cond Light" panose="020B0306020202020204" pitchFamily="34" charset="0"/>
              </a:rPr>
              <a:t>?</a:t>
            </a:r>
            <a:r>
              <a:rPr lang="en-PH" sz="2800" dirty="0">
                <a:latin typeface="Arial Nova Cond Light" panose="020B0306020202020204" pitchFamily="34" charset="0"/>
              </a:rPr>
              <a:t>					</a:t>
            </a:r>
            <a:r>
              <a:rPr lang="en-US" sz="2800" dirty="0">
                <a:latin typeface="Arial Nova Cond Light" panose="020B0306020202020204" pitchFamily="34" charset="0"/>
              </a:rPr>
              <a:t>(Speaker is pointing to a church)</a:t>
            </a:r>
            <a:endParaRPr lang="en-PH" sz="2800" dirty="0">
              <a:latin typeface="Arial Nova Cond Light" panose="020B0306020202020204" pitchFamily="34" charset="0"/>
            </a:endParaRPr>
          </a:p>
          <a:p>
            <a:pPr marL="0" indent="0">
              <a:buNone/>
            </a:pPr>
            <a:endParaRPr lang="en-PH" sz="2800" dirty="0">
              <a:latin typeface="Arial Nova Cond Light" panose="020B0306020202020204" pitchFamily="34" charset="0"/>
            </a:endParaRPr>
          </a:p>
          <a:p>
            <a:pPr marL="0" indent="0">
              <a:buNone/>
            </a:pPr>
            <a:endParaRPr lang="en-PH" dirty="0">
              <a:latin typeface="Arial Nova Cond Light" panose="020B0306020202020204" pitchFamily="34" charset="0"/>
            </a:endParaRPr>
          </a:p>
        </p:txBody>
      </p:sp>
    </p:spTree>
    <p:extLst>
      <p:ext uri="{BB962C8B-B14F-4D97-AF65-F5344CB8AC3E}">
        <p14:creationId xmlns:p14="http://schemas.microsoft.com/office/powerpoint/2010/main" val="660076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B35D5-B2D8-29BE-8240-12258F445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04CE2-6F22-7A1B-B153-445B31CD307E}"/>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4490052E-96BD-7D26-7496-B5F3CBC5EB3B}"/>
              </a:ext>
            </a:extLst>
          </p:cNvPr>
          <p:cNvSpPr txBox="1"/>
          <p:nvPr/>
        </p:nvSpPr>
        <p:spPr>
          <a:xfrm>
            <a:off x="-1" y="58846"/>
            <a:ext cx="12192001" cy="6740307"/>
          </a:xfrm>
          <a:prstGeom prst="rect">
            <a:avLst/>
          </a:prstGeom>
          <a:noFill/>
        </p:spPr>
        <p:txBody>
          <a:bodyPr wrap="square">
            <a:spAutoFit/>
          </a:bodyPr>
          <a:lstStyle/>
          <a:p>
            <a:r>
              <a:rPr lang="en-US" sz="2400" b="1" dirty="0">
                <a:latin typeface="Arial Nova Cond Light" panose="020B0306020202020204" pitchFamily="34" charset="0"/>
              </a:rPr>
              <a:t>IV. COMMON EVERYDAY QUESTIONS</a:t>
            </a:r>
          </a:p>
          <a:p>
            <a:r>
              <a:rPr lang="en-US" sz="2400" dirty="0">
                <a:latin typeface="Arial Nova Cond Light" panose="020B0306020202020204" pitchFamily="34" charset="0"/>
              </a:rPr>
              <a:t>Other common questions aside from the ones mentioned above that need to be committed to mem­ory are the following. Note the presence of </a:t>
            </a:r>
            <a:r>
              <a:rPr lang="en-US" sz="2400" b="1" i="1" dirty="0" err="1">
                <a:solidFill>
                  <a:srgbClr val="FFFF00"/>
                </a:solidFill>
                <a:latin typeface="Arial Nova Cond Light" panose="020B0306020202020204" pitchFamily="34" charset="0"/>
              </a:rPr>
              <a:t>ba</a:t>
            </a:r>
            <a:r>
              <a:rPr lang="en-US" sz="2400" dirty="0">
                <a:latin typeface="Arial Nova Cond Light" panose="020B0306020202020204" pitchFamily="34" charset="0"/>
              </a:rPr>
              <a:t> (the use of </a:t>
            </a:r>
            <a:r>
              <a:rPr lang="en-US" sz="2400" dirty="0" err="1">
                <a:latin typeface="Arial Nova Cond Light" panose="020B0306020202020204" pitchFamily="34" charset="0"/>
              </a:rPr>
              <a:t>ba</a:t>
            </a:r>
            <a:r>
              <a:rPr lang="en-US" sz="2400" dirty="0">
                <a:latin typeface="Arial Nova Cond Light" panose="020B0306020202020204" pitchFamily="34" charset="0"/>
              </a:rPr>
              <a:t> is discussed in the next lesson) in these questions.</a:t>
            </a:r>
          </a:p>
          <a:p>
            <a:r>
              <a:rPr lang="en-US" sz="2400" dirty="0">
                <a:latin typeface="Arial Nova Cond Light" panose="020B0306020202020204" pitchFamily="34" charset="0"/>
              </a:rPr>
              <a:t> </a:t>
            </a:r>
          </a:p>
          <a:p>
            <a:r>
              <a:rPr lang="en-US" sz="2400" dirty="0">
                <a:latin typeface="Arial Nova Cond Light" panose="020B0306020202020204" pitchFamily="34" charset="0"/>
              </a:rPr>
              <a:t>Kilala </a:t>
            </a:r>
            <a:r>
              <a:rPr lang="en-US" sz="2400" dirty="0" err="1">
                <a:latin typeface="Arial Nova Cond Light" panose="020B0306020202020204" pitchFamily="34" charset="0"/>
              </a:rPr>
              <a:t>mo</a:t>
            </a:r>
            <a:r>
              <a:rPr lang="en-US" sz="2400" dirty="0">
                <a:latin typeface="Arial Nova Cond Light" panose="020B0306020202020204" pitchFamily="34" charset="0"/>
              </a:rPr>
              <a:t> </a:t>
            </a:r>
            <a:r>
              <a:rPr lang="en-US" sz="2400" dirty="0" err="1">
                <a:latin typeface="Arial Nova Cond Light" panose="020B0306020202020204" pitchFamily="34" charset="0"/>
              </a:rPr>
              <a:t>ba</a:t>
            </a:r>
            <a:r>
              <a:rPr lang="en-US" sz="2400" dirty="0">
                <a:latin typeface="Arial Nova Cond Light" panose="020B0306020202020204" pitchFamily="34" charset="0"/>
              </a:rPr>
              <a:t> </a:t>
            </a:r>
            <a:r>
              <a:rPr lang="en-US" sz="2400" dirty="0" err="1">
                <a:latin typeface="Arial Nova Cond Light" panose="020B0306020202020204" pitchFamily="34" charset="0"/>
              </a:rPr>
              <a:t>siya</a:t>
            </a:r>
            <a:r>
              <a:rPr lang="en-US" sz="2400" dirty="0">
                <a:latin typeface="Arial Nova Cond Light" panose="020B0306020202020204" pitchFamily="34" charset="0"/>
              </a:rPr>
              <a:t>? 				 			Do you know her/him? </a:t>
            </a:r>
          </a:p>
          <a:p>
            <a:r>
              <a:rPr lang="en-US" sz="2400" dirty="0">
                <a:latin typeface="Arial Nova Cond Light" panose="020B0306020202020204" pitchFamily="34" charset="0"/>
              </a:rPr>
              <a:t>Sasama ka </a:t>
            </a:r>
            <a:r>
              <a:rPr lang="en-US" sz="2400" dirty="0" err="1">
                <a:latin typeface="Arial Nova Cond Light" panose="020B0306020202020204" pitchFamily="34" charset="0"/>
              </a:rPr>
              <a:t>ba</a:t>
            </a:r>
            <a:r>
              <a:rPr lang="en-US" sz="2400" dirty="0">
                <a:latin typeface="Arial Nova Cond Light" panose="020B0306020202020204" pitchFamily="34" charset="0"/>
              </a:rPr>
              <a:t>?								 Are you coming along? </a:t>
            </a:r>
          </a:p>
          <a:p>
            <a:r>
              <a:rPr lang="en-US" sz="2400" dirty="0">
                <a:latin typeface="Arial Nova Cond Light" panose="020B0306020202020204" pitchFamily="34" charset="0"/>
              </a:rPr>
              <a:t>Gusto </a:t>
            </a:r>
            <a:r>
              <a:rPr lang="en-US" sz="2400" dirty="0" err="1">
                <a:latin typeface="Arial Nova Cond Light" panose="020B0306020202020204" pitchFamily="34" charset="0"/>
              </a:rPr>
              <a:t>mo</a:t>
            </a:r>
            <a:r>
              <a:rPr lang="en-US" sz="2400" dirty="0">
                <a:latin typeface="Arial Nova Cond Light" panose="020B0306020202020204" pitchFamily="34" charset="0"/>
              </a:rPr>
              <a:t> </a:t>
            </a:r>
            <a:r>
              <a:rPr lang="en-US" sz="2400" dirty="0" err="1">
                <a:latin typeface="Arial Nova Cond Light" panose="020B0306020202020204" pitchFamily="34" charset="0"/>
              </a:rPr>
              <a:t>ba</a:t>
            </a:r>
            <a:r>
              <a:rPr lang="en-US" sz="2400" dirty="0">
                <a:latin typeface="Arial Nova Cond Light" panose="020B0306020202020204" pitchFamily="34" charset="0"/>
              </a:rPr>
              <a:t> </a:t>
            </a:r>
            <a:r>
              <a:rPr lang="en-US" sz="2400" dirty="0" err="1">
                <a:latin typeface="Arial Nova Cond Light" panose="020B0306020202020204" pitchFamily="34" charset="0"/>
              </a:rPr>
              <a:t>ito</a:t>
            </a:r>
            <a:r>
              <a:rPr lang="en-US" sz="2400" dirty="0">
                <a:latin typeface="Arial Nova Cond Light" panose="020B0306020202020204" pitchFamily="34" charset="0"/>
              </a:rPr>
              <a:t>? 							Do you like this?</a:t>
            </a:r>
          </a:p>
          <a:p>
            <a:r>
              <a:rPr lang="en-US" sz="2400" dirty="0" err="1">
                <a:latin typeface="Arial Nova Cond Light" panose="020B0306020202020204" pitchFamily="34" charset="0"/>
              </a:rPr>
              <a:t>Uuwi</a:t>
            </a:r>
            <a:r>
              <a:rPr lang="en-US" sz="2400" dirty="0">
                <a:latin typeface="Arial Nova Cond Light" panose="020B0306020202020204" pitchFamily="34" charset="0"/>
              </a:rPr>
              <a:t> ka </a:t>
            </a:r>
            <a:r>
              <a:rPr lang="en-US" sz="2400" dirty="0" err="1">
                <a:latin typeface="Arial Nova Cond Light" panose="020B0306020202020204" pitchFamily="34" charset="0"/>
              </a:rPr>
              <a:t>na</a:t>
            </a:r>
            <a:r>
              <a:rPr lang="en-US" sz="2400" dirty="0">
                <a:latin typeface="Arial Nova Cond Light" panose="020B0306020202020204" pitchFamily="34" charset="0"/>
              </a:rPr>
              <a:t> </a:t>
            </a:r>
            <a:r>
              <a:rPr lang="en-US" sz="2400" dirty="0" err="1">
                <a:latin typeface="Arial Nova Cond Light" panose="020B0306020202020204" pitchFamily="34" charset="0"/>
              </a:rPr>
              <a:t>ba</a:t>
            </a:r>
            <a:r>
              <a:rPr lang="en-US" sz="2400" dirty="0">
                <a:latin typeface="Arial Nova Cond Light" panose="020B0306020202020204" pitchFamily="34" charset="0"/>
              </a:rPr>
              <a:t>?					 			Are you going home already? </a:t>
            </a:r>
          </a:p>
          <a:p>
            <a:r>
              <a:rPr lang="en-US" sz="2400" dirty="0">
                <a:latin typeface="Arial Nova Cond Light" panose="020B0306020202020204" pitchFamily="34" charset="0"/>
              </a:rPr>
              <a:t>Gusto </a:t>
            </a:r>
            <a:r>
              <a:rPr lang="en-US" sz="2400" dirty="0" err="1">
                <a:latin typeface="Arial Nova Cond Light" panose="020B0306020202020204" pitchFamily="34" charset="0"/>
              </a:rPr>
              <a:t>mo</a:t>
            </a:r>
            <a:r>
              <a:rPr lang="en-US" sz="2400" dirty="0">
                <a:latin typeface="Arial Nova Cond Light" panose="020B0306020202020204" pitchFamily="34" charset="0"/>
              </a:rPr>
              <a:t> bang </a:t>
            </a:r>
            <a:r>
              <a:rPr lang="en-US" sz="2400" dirty="0" err="1">
                <a:latin typeface="Arial Nova Cond Light" panose="020B0306020202020204" pitchFamily="34" charset="0"/>
              </a:rPr>
              <a:t>manood</a:t>
            </a:r>
            <a:r>
              <a:rPr lang="en-US" sz="2400" dirty="0">
                <a:latin typeface="Arial Nova Cond Light" panose="020B0306020202020204" pitchFamily="34" charset="0"/>
              </a:rPr>
              <a:t> ng sine?				Do you like to watch a movie? </a:t>
            </a:r>
          </a:p>
          <a:p>
            <a:r>
              <a:rPr lang="en-US" sz="2400" dirty="0">
                <a:latin typeface="Arial Nova Cond Light" panose="020B0306020202020204" pitchFamily="34" charset="0"/>
              </a:rPr>
              <a:t>Tama </a:t>
            </a:r>
            <a:r>
              <a:rPr lang="en-US" sz="2400" dirty="0" err="1">
                <a:latin typeface="Arial Nova Cond Light" panose="020B0306020202020204" pitchFamily="34" charset="0"/>
              </a:rPr>
              <a:t>ba</a:t>
            </a:r>
            <a:r>
              <a:rPr lang="en-US" sz="2400" dirty="0">
                <a:latin typeface="Arial Nova Cond Light" panose="020B0306020202020204" pitchFamily="34" charset="0"/>
              </a:rPr>
              <a:t> </a:t>
            </a:r>
            <a:r>
              <a:rPr lang="en-US" sz="2400" dirty="0" err="1">
                <a:latin typeface="Arial Nova Cond Light" panose="020B0306020202020204" pitchFamily="34" charset="0"/>
              </a:rPr>
              <a:t>ito</a:t>
            </a:r>
            <a:r>
              <a:rPr lang="en-US" sz="2400" dirty="0">
                <a:latin typeface="Arial Nova Cond Light" panose="020B0306020202020204" pitchFamily="34" charset="0"/>
              </a:rPr>
              <a:t>?									Is this correct?</a:t>
            </a:r>
          </a:p>
          <a:p>
            <a:r>
              <a:rPr lang="en-US" sz="2400" dirty="0">
                <a:latin typeface="Arial Nova Cond Light" panose="020B0306020202020204" pitchFamily="34" charset="0"/>
              </a:rPr>
              <a:t>Tama </a:t>
            </a:r>
            <a:r>
              <a:rPr lang="en-US" sz="2400" dirty="0" err="1">
                <a:latin typeface="Arial Nova Cond Light" panose="020B0306020202020204" pitchFamily="34" charset="0"/>
              </a:rPr>
              <a:t>ba</a:t>
            </a:r>
            <a:r>
              <a:rPr lang="en-US" sz="2400" dirty="0">
                <a:latin typeface="Arial Nova Cond Light" panose="020B0306020202020204" pitchFamily="34" charset="0"/>
              </a:rPr>
              <a:t> </a:t>
            </a:r>
            <a:r>
              <a:rPr lang="en-US" sz="2400" dirty="0" err="1">
                <a:latin typeface="Arial Nova Cond Light" panose="020B0306020202020204" pitchFamily="34" charset="0"/>
              </a:rPr>
              <a:t>ako</a:t>
            </a:r>
            <a:r>
              <a:rPr lang="en-US" sz="2400" dirty="0">
                <a:latin typeface="Arial Nova Cond Light" panose="020B0306020202020204" pitchFamily="34" charset="0"/>
              </a:rPr>
              <a:t>?								 Am I right? </a:t>
            </a:r>
          </a:p>
          <a:p>
            <a:r>
              <a:rPr lang="en-US" sz="2400" dirty="0">
                <a:latin typeface="Arial Nova Cond Light" panose="020B0306020202020204" pitchFamily="34" charset="0"/>
              </a:rPr>
              <a:t> Ano </a:t>
            </a:r>
            <a:r>
              <a:rPr lang="en-US" sz="2400" dirty="0" err="1">
                <a:latin typeface="Arial Nova Cond Light" panose="020B0306020202020204" pitchFamily="34" charset="0"/>
              </a:rPr>
              <a:t>ba</a:t>
            </a:r>
            <a:r>
              <a:rPr lang="en-US" sz="2400" dirty="0">
                <a:latin typeface="Arial Nova Cond Light" panose="020B0306020202020204" pitchFamily="34" charset="0"/>
              </a:rPr>
              <a:t> '</a:t>
            </a:r>
            <a:r>
              <a:rPr lang="en-US" sz="2400" dirty="0" err="1">
                <a:latin typeface="Arial Nova Cond Light" panose="020B0306020202020204" pitchFamily="34" charset="0"/>
              </a:rPr>
              <a:t>yan</a:t>
            </a:r>
            <a:r>
              <a:rPr lang="en-US" sz="2400" dirty="0">
                <a:latin typeface="Arial Nova Cond Light" panose="020B0306020202020204" pitchFamily="34" charset="0"/>
              </a:rPr>
              <a:t>?				 				What's that? </a:t>
            </a:r>
          </a:p>
          <a:p>
            <a:r>
              <a:rPr lang="en-US" sz="2400" dirty="0">
                <a:latin typeface="Arial Nova Cond Light" panose="020B0306020202020204" pitchFamily="34" charset="0"/>
              </a:rPr>
              <a:t>Anong gusto </a:t>
            </a:r>
            <a:r>
              <a:rPr lang="en-US" sz="2400" dirty="0" err="1">
                <a:latin typeface="Arial Nova Cond Light" panose="020B0306020202020204" pitchFamily="34" charset="0"/>
              </a:rPr>
              <a:t>mo</a:t>
            </a:r>
            <a:r>
              <a:rPr lang="en-US" sz="2400" dirty="0">
                <a:latin typeface="Arial Nova Cond Light" panose="020B0306020202020204" pitchFamily="34" charset="0"/>
              </a:rPr>
              <a:t>?			 				What do you like?</a:t>
            </a:r>
          </a:p>
          <a:p>
            <a:r>
              <a:rPr lang="en-US" sz="2400" dirty="0">
                <a:latin typeface="Arial Nova Cond Light" panose="020B0306020202020204" pitchFamily="34" charset="0"/>
              </a:rPr>
              <a:t>Saan ka </a:t>
            </a:r>
            <a:r>
              <a:rPr lang="en-US" sz="2400" dirty="0" err="1">
                <a:latin typeface="Arial Nova Cond Light" panose="020B0306020202020204" pitchFamily="34" charset="0"/>
              </a:rPr>
              <a:t>pupunta</a:t>
            </a:r>
            <a:r>
              <a:rPr lang="en-US" sz="2400" dirty="0">
                <a:latin typeface="Arial Nova Cond Light" panose="020B0306020202020204" pitchFamily="34" charset="0"/>
              </a:rPr>
              <a:t>?			 				Where are you going? </a:t>
            </a:r>
          </a:p>
          <a:p>
            <a:r>
              <a:rPr lang="en-US" sz="2400" dirty="0">
                <a:latin typeface="Arial Nova Cond Light" panose="020B0306020202020204" pitchFamily="34" charset="0"/>
              </a:rPr>
              <a:t>Sino </a:t>
            </a:r>
            <a:r>
              <a:rPr lang="en-US" sz="2400" dirty="0" err="1">
                <a:latin typeface="Arial Nova Cond Light" panose="020B0306020202020204" pitchFamily="34" charset="0"/>
              </a:rPr>
              <a:t>ba</a:t>
            </a:r>
            <a:r>
              <a:rPr lang="en-US" sz="2400" dirty="0">
                <a:latin typeface="Arial Nova Cond Light" panose="020B0306020202020204" pitchFamily="34" charset="0"/>
              </a:rPr>
              <a:t> </a:t>
            </a:r>
            <a:r>
              <a:rPr lang="en-US" sz="2400" dirty="0" err="1">
                <a:latin typeface="Arial Nova Cond Light" panose="020B0306020202020204" pitchFamily="34" charset="0"/>
              </a:rPr>
              <a:t>siya</a:t>
            </a:r>
            <a:r>
              <a:rPr lang="en-US" sz="2400" dirty="0">
                <a:latin typeface="Arial Nova Cond Light" panose="020B0306020202020204" pitchFamily="34" charset="0"/>
              </a:rPr>
              <a:t>? 				 				Who's she/he?</a:t>
            </a:r>
          </a:p>
          <a:p>
            <a:r>
              <a:rPr lang="en-US" sz="2400" dirty="0" err="1">
                <a:latin typeface="Arial Nova Cond Light" panose="020B0306020202020204" pitchFamily="34" charset="0"/>
              </a:rPr>
              <a:t>Nasaan</a:t>
            </a:r>
            <a:r>
              <a:rPr lang="en-US" sz="2400" dirty="0">
                <a:latin typeface="Arial Nova Cond Light" panose="020B0306020202020204" pitchFamily="34" charset="0"/>
              </a:rPr>
              <a:t> </a:t>
            </a:r>
            <a:r>
              <a:rPr lang="en-US" sz="2400" dirty="0" err="1">
                <a:latin typeface="Arial Nova Cond Light" panose="020B0306020202020204" pitchFamily="34" charset="0"/>
              </a:rPr>
              <a:t>siya</a:t>
            </a:r>
            <a:r>
              <a:rPr lang="en-US" sz="2400" dirty="0">
                <a:latin typeface="Arial Nova Cond Light" panose="020B0306020202020204" pitchFamily="34" charset="0"/>
              </a:rPr>
              <a:t>?								 Where's she/he?</a:t>
            </a:r>
          </a:p>
          <a:p>
            <a:endParaRPr lang="en-US" sz="2400" dirty="0">
              <a:latin typeface="Arial Nova Cond Light" panose="020B0306020202020204" pitchFamily="34" charset="0"/>
            </a:endParaRPr>
          </a:p>
          <a:p>
            <a:r>
              <a:rPr lang="en-US" sz="2400" dirty="0">
                <a:latin typeface="Arial Nova Cond Light" panose="020B0306020202020204" pitchFamily="34" charset="0"/>
              </a:rPr>
              <a:t> </a:t>
            </a:r>
          </a:p>
        </p:txBody>
      </p:sp>
    </p:spTree>
    <p:extLst>
      <p:ext uri="{BB962C8B-B14F-4D97-AF65-F5344CB8AC3E}">
        <p14:creationId xmlns:p14="http://schemas.microsoft.com/office/powerpoint/2010/main" val="2607479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1C7DD-00C1-8487-F457-4BD646977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FC443-5F1B-2848-C413-7F9266E18089}"/>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14C85C7A-139E-D44D-86E0-C146E1429C37}"/>
              </a:ext>
            </a:extLst>
          </p:cNvPr>
          <p:cNvSpPr txBox="1"/>
          <p:nvPr/>
        </p:nvSpPr>
        <p:spPr>
          <a:xfrm>
            <a:off x="-1" y="58846"/>
            <a:ext cx="12132734" cy="4031873"/>
          </a:xfrm>
          <a:prstGeom prst="rect">
            <a:avLst/>
          </a:prstGeom>
          <a:noFill/>
        </p:spPr>
        <p:txBody>
          <a:bodyPr wrap="square">
            <a:spAutoFit/>
          </a:bodyPr>
          <a:lstStyle/>
          <a:p>
            <a:r>
              <a:rPr lang="en-US" sz="3200" dirty="0">
                <a:latin typeface="Arial Nova Cond Light" panose="020B0306020202020204" pitchFamily="34" charset="0"/>
              </a:rPr>
              <a:t>Create fictional answers to these questions.</a:t>
            </a:r>
          </a:p>
          <a:p>
            <a:endParaRPr lang="en-PH" sz="4000" dirty="0">
              <a:latin typeface="Arial Nova Cond Light" panose="020B0306020202020204" pitchFamily="34" charset="0"/>
            </a:endParaRPr>
          </a:p>
          <a:p>
            <a:r>
              <a:rPr lang="en-US" sz="3200" dirty="0">
                <a:latin typeface="Arial Nova Cond Light" panose="020B0306020202020204" pitchFamily="34" charset="0"/>
              </a:rPr>
              <a:t>1.Ano </a:t>
            </a:r>
            <a:r>
              <a:rPr lang="en-US" sz="3200" dirty="0" err="1">
                <a:latin typeface="Arial Nova Cond Light" panose="020B0306020202020204" pitchFamily="34" charset="0"/>
              </a:rPr>
              <a:t>ba</a:t>
            </a:r>
            <a:r>
              <a:rPr lang="en-US" sz="3200" dirty="0">
                <a:latin typeface="Arial Nova Cond Light" panose="020B0306020202020204" pitchFamily="34" charset="0"/>
              </a:rPr>
              <a:t> '</a:t>
            </a:r>
            <a:r>
              <a:rPr lang="en-US" sz="3200" dirty="0" err="1">
                <a:latin typeface="Arial Nova Cond Light" panose="020B0306020202020204" pitchFamily="34" charset="0"/>
              </a:rPr>
              <a:t>yan</a:t>
            </a:r>
            <a:r>
              <a:rPr lang="en-US" sz="3200" dirty="0">
                <a:latin typeface="Arial Nova Cond Light" panose="020B0306020202020204" pitchFamily="34" charset="0"/>
              </a:rPr>
              <a:t>?			 	     What's that? 		</a:t>
            </a:r>
            <a:endParaRPr lang="en-PH" sz="3200" dirty="0">
              <a:latin typeface="Arial Nova Cond Light" panose="020B0306020202020204" pitchFamily="34" charset="0"/>
            </a:endParaRPr>
          </a:p>
          <a:p>
            <a:r>
              <a:rPr lang="en-US" sz="3200" dirty="0">
                <a:latin typeface="Arial Nova Cond Light" panose="020B0306020202020204" pitchFamily="34" charset="0"/>
              </a:rPr>
              <a:t>2.Ano'ng gusto </a:t>
            </a:r>
            <a:r>
              <a:rPr lang="en-US" sz="3200" dirty="0" err="1">
                <a:latin typeface="Arial Nova Cond Light" panose="020B0306020202020204" pitchFamily="34" charset="0"/>
              </a:rPr>
              <a:t>mo</a:t>
            </a:r>
            <a:r>
              <a:rPr lang="en-US" sz="3200" dirty="0">
                <a:latin typeface="Arial Nova Cond Light" panose="020B0306020202020204" pitchFamily="34" charset="0"/>
              </a:rPr>
              <a:t>?			 What do you like?</a:t>
            </a:r>
            <a:endParaRPr lang="en-PH" sz="3200" dirty="0">
              <a:latin typeface="Arial Nova Cond Light" panose="020B0306020202020204" pitchFamily="34" charset="0"/>
            </a:endParaRPr>
          </a:p>
          <a:p>
            <a:r>
              <a:rPr lang="en-US" sz="3200" dirty="0">
                <a:latin typeface="Arial Nova Cond Light" panose="020B0306020202020204" pitchFamily="34" charset="0"/>
              </a:rPr>
              <a:t>3.Saan ka </a:t>
            </a:r>
            <a:r>
              <a:rPr lang="en-US" sz="3200" dirty="0" err="1">
                <a:latin typeface="Arial Nova Cond Light" panose="020B0306020202020204" pitchFamily="34" charset="0"/>
              </a:rPr>
              <a:t>pupunta</a:t>
            </a:r>
            <a:r>
              <a:rPr lang="en-US" sz="3200" dirty="0">
                <a:latin typeface="Arial Nova Cond Light" panose="020B0306020202020204" pitchFamily="34" charset="0"/>
              </a:rPr>
              <a:t>?			 Where are you going?</a:t>
            </a:r>
            <a:endParaRPr lang="en-PH" sz="3200" dirty="0">
              <a:latin typeface="Arial Nova Cond Light" panose="020B0306020202020204" pitchFamily="34" charset="0"/>
            </a:endParaRPr>
          </a:p>
          <a:p>
            <a:r>
              <a:rPr lang="en-US" sz="3200" dirty="0">
                <a:latin typeface="Arial Nova Cond Light" panose="020B0306020202020204" pitchFamily="34" charset="0"/>
              </a:rPr>
              <a:t>4.Sino </a:t>
            </a:r>
            <a:r>
              <a:rPr lang="en-US" sz="3200" dirty="0" err="1">
                <a:latin typeface="Arial Nova Cond Light" panose="020B0306020202020204" pitchFamily="34" charset="0"/>
              </a:rPr>
              <a:t>ba</a:t>
            </a:r>
            <a:r>
              <a:rPr lang="en-US" sz="3200" dirty="0">
                <a:latin typeface="Arial Nova Cond Light" panose="020B0306020202020204" pitchFamily="34" charset="0"/>
              </a:rPr>
              <a:t> </a:t>
            </a:r>
            <a:r>
              <a:rPr lang="en-US" sz="3200" dirty="0" err="1">
                <a:latin typeface="Arial Nova Cond Light" panose="020B0306020202020204" pitchFamily="34" charset="0"/>
              </a:rPr>
              <a:t>siya</a:t>
            </a:r>
            <a:r>
              <a:rPr lang="en-US" sz="3200" dirty="0">
                <a:latin typeface="Arial Nova Cond Light" panose="020B0306020202020204" pitchFamily="34" charset="0"/>
              </a:rPr>
              <a:t>?				     Who's she/he?			  </a:t>
            </a:r>
          </a:p>
          <a:p>
            <a:r>
              <a:rPr lang="en-US" sz="3200" dirty="0">
                <a:latin typeface="Arial Nova Cond Light" panose="020B0306020202020204" pitchFamily="34" charset="0"/>
              </a:rPr>
              <a:t>5.Nasaan </a:t>
            </a:r>
            <a:r>
              <a:rPr lang="en-US" sz="3200" dirty="0" err="1">
                <a:latin typeface="Arial Nova Cond Light" panose="020B0306020202020204" pitchFamily="34" charset="0"/>
              </a:rPr>
              <a:t>siya</a:t>
            </a:r>
            <a:r>
              <a:rPr lang="en-US" sz="3200" dirty="0">
                <a:latin typeface="Arial Nova Cond Light" panose="020B0306020202020204" pitchFamily="34" charset="0"/>
              </a:rPr>
              <a:t>?					 Where's she/he?		</a:t>
            </a:r>
            <a:br>
              <a:rPr lang="en-US" sz="2400" dirty="0">
                <a:latin typeface="Arial Nova Cond Light" panose="020B0306020202020204" pitchFamily="34" charset="0"/>
              </a:rPr>
            </a:br>
            <a:endParaRPr lang="en-US" sz="2400" dirty="0">
              <a:latin typeface="Arial Nova Cond Light" panose="020B0306020202020204" pitchFamily="34" charset="0"/>
            </a:endParaRPr>
          </a:p>
        </p:txBody>
      </p:sp>
    </p:spTree>
    <p:extLst>
      <p:ext uri="{BB962C8B-B14F-4D97-AF65-F5344CB8AC3E}">
        <p14:creationId xmlns:p14="http://schemas.microsoft.com/office/powerpoint/2010/main" val="1460382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8B93-72EF-D205-8960-BBC1F5B2E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28393-84F5-C65C-5FA2-C513B482F2D8}"/>
              </a:ext>
            </a:extLst>
          </p:cNvPr>
          <p:cNvSpPr>
            <a:spLocks noGrp="1"/>
          </p:cNvSpPr>
          <p:nvPr>
            <p:ph type="ctrTitle"/>
          </p:nvPr>
        </p:nvSpPr>
        <p:spPr>
          <a:xfrm>
            <a:off x="0" y="1293365"/>
            <a:ext cx="12192000" cy="2541431"/>
          </a:xfrm>
        </p:spPr>
        <p:txBody>
          <a:bodyPr>
            <a:normAutofit/>
          </a:bodyPr>
          <a:lstStyle/>
          <a:p>
            <a:r>
              <a:rPr lang="en-PH" sz="14900" dirty="0">
                <a:latin typeface="Arial Narrow" panose="020B0606020202030204" pitchFamily="34" charset="0"/>
              </a:rPr>
              <a:t>Salamat</a:t>
            </a:r>
          </a:p>
        </p:txBody>
      </p:sp>
    </p:spTree>
    <p:extLst>
      <p:ext uri="{BB962C8B-B14F-4D97-AF65-F5344CB8AC3E}">
        <p14:creationId xmlns:p14="http://schemas.microsoft.com/office/powerpoint/2010/main" val="37051551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docProps/app.xml><?xml version="1.0" encoding="utf-8"?>
<Properties xmlns="http://schemas.openxmlformats.org/officeDocument/2006/extended-properties" xmlns:vt="http://schemas.openxmlformats.org/officeDocument/2006/docPropsVTypes">
  <Template/>
  <TotalTime>2542</TotalTime>
  <Words>2566</Words>
  <Application>Microsoft Office PowerPoint</Application>
  <PresentationFormat>Widescreen</PresentationFormat>
  <Paragraphs>195</Paragraphs>
  <Slides>26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Arial Narrow</vt:lpstr>
      <vt:lpstr>Arial Nova Cond Light</vt:lpstr>
      <vt:lpstr>Calibri</vt:lpstr>
      <vt:lpstr>Rockwell</vt:lpstr>
      <vt:lpstr>Gallery</vt:lpstr>
      <vt:lpstr>WELCOME back Pablo! </vt:lpstr>
      <vt:lpstr>Lesson 06 </vt:lpstr>
      <vt:lpstr> Asking Questions </vt:lpstr>
      <vt:lpstr>I. QUESTION WORDS IN TAGALOG   There are 14 different question words in the tagalog language that correspond to the English question words who, what, which, how, why, when, where and whose. These are: </vt:lpstr>
      <vt:lpstr> </vt:lpstr>
      <vt:lpstr> </vt:lpstr>
      <vt:lpstr>Alin" is another interrogative pronoun, and in English, it means "which". Is used when choosing one or more items from a known group or set. It asks for specific identification within that group.  ALIN       WHICH example: halimbawa Alin ba ang iyong gusto?    Which do you like? Alin sa mga ito ang sa iyo?   Which of these is yours? Alin ang mas mabigat: bakal o tingga?  Which is heavier: iron or lead? </vt:lpstr>
      <vt:lpstr> </vt:lpstr>
      <vt:lpstr> </vt:lpstr>
      <vt:lpstr> </vt:lpstr>
      <vt:lpstr> </vt:lpstr>
      <vt:lpstr> </vt:lpstr>
      <vt:lpstr>"Saan" functions as an interrogative adverb — it's used to ask about location or direction, and it typically translates to "where" in english.’  SAAN     WHERE example: halimbawa Saan kayo nakatira?  Where do you live? Saan ang ospital?    Where is the hospital? Saan siya galing?   Where did he/she come from? Saan tayo kakain?   Where we eat?</vt:lpstr>
      <vt:lpstr> </vt:lpstr>
      <vt:lpstr>"ILAN" is an interrogative pronoun/adjective that means "how many”  ILAN      HOW MANY example: halimbawa Ilan ang anak ninyo/mo?   How many children do you have? Ilan sila sa klase?   How many are they in the class? Ilan kayo sa pamilya?  How many are you in the family? </vt:lpstr>
      <vt:lpstr>“MAGKANO" is an interrogative word that means "how much" — usually used when asking about price or cost.  Magkano    How much Example : halimbawa Magkano ang aklat?   How much is the book? Magkano ang sapatos?  How much are the shoes? Magkano ang kinita mo?  How much did you earn? Magkano ang pamasahe?   How much is the fare</vt:lpstr>
      <vt:lpstr>"KANINO" Is an interrogative pronoun that means "to whom" or "whose", depending on the context.  KANINO      WHOSE Kanino ang bahay na iyan?    Whose house is that? Kanino ang cellphone?    Whose cellphone is it? Kanino ka nagsabi?    To whom did you say it?    Questions beginning with kanino require responses that point to akin (mine), kaniya (his or her), kanila (their) or other possessive pronouns. Para sa kanino    For whom  para sa kanino iyan?    For whom is that? Sa kanino     with/to whom  sa kanino iyan?      To whom does that belong?   </vt:lpstr>
      <vt:lpstr> </vt:lpstr>
      <vt:lpstr> </vt:lpstr>
      <vt:lpstr> </vt:lpstr>
      <vt:lpstr> </vt:lpstr>
      <vt:lpstr> </vt:lpstr>
      <vt:lpstr> </vt:lpstr>
      <vt:lpstr> </vt:lpstr>
      <vt:lpstr> </vt:lpstr>
      <vt:lpstr>Salamat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Charine Labao</dc:creator>
  <cp:lastModifiedBy>Charine Labao</cp:lastModifiedBy>
  <cp:revision>11</cp:revision>
  <dcterms:created xsi:type="dcterms:W3CDTF">2025-07-09T10:16:11Z</dcterms:created>
  <dcterms:modified xsi:type="dcterms:W3CDTF">2026-08-11T02:47:07Z</dcterms:modified>
</cp:coreProperties>
</file>