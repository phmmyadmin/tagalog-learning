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0"/>
  </p:notesMasterIdLst>
  <p:sldIdLst>
    <p:sldId id="256" r:id="rId2"/>
    <p:sldId id="275" r:id="rId3"/>
    <p:sldId id="315" r:id="rId4"/>
    <p:sldId id="316" r:id="rId5"/>
    <p:sldId id="317" r:id="rId6"/>
    <p:sldId id="319" r:id="rId7"/>
    <p:sldId id="341" r:id="rId8"/>
    <p:sldId id="322" r:id="rId9"/>
    <p:sldId id="323" r:id="rId10"/>
    <p:sldId id="324" r:id="rId11"/>
    <p:sldId id="325" r:id="rId12"/>
    <p:sldId id="326" r:id="rId13"/>
    <p:sldId id="332" r:id="rId14"/>
    <p:sldId id="327" r:id="rId15"/>
    <p:sldId id="342" r:id="rId16"/>
    <p:sldId id="343" r:id="rId17"/>
    <p:sldId id="344"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35" autoAdjust="0"/>
    <p:restoredTop sz="94660"/>
  </p:normalViewPr>
  <p:slideViewPr>
    <p:cSldViewPr snapToGrid="0">
      <p:cViewPr varScale="1">
        <p:scale>
          <a:sx n="81" d="100"/>
          <a:sy n="81" d="100"/>
        </p:scale>
        <p:origin x="101" y="4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ine Labao" userId="d49f38c7da5d9737" providerId="LiveId" clId="{74BAE539-5A96-4830-AD90-F51E8ECC701B}"/>
    <pc:docChg chg="undo custSel addSld delSld modSld sldOrd">
      <pc:chgData name="Charine Labao" userId="d49f38c7da5d9737" providerId="LiveId" clId="{74BAE539-5A96-4830-AD90-F51E8ECC701B}" dt="2026-08-18T02:32:12.796" v="2444" actId="20577"/>
      <pc:docMkLst>
        <pc:docMk/>
      </pc:docMkLst>
      <pc:sldChg chg="modSp mod">
        <pc:chgData name="Charine Labao" userId="d49f38c7da5d9737" providerId="LiveId" clId="{74BAE539-5A96-4830-AD90-F51E8ECC701B}" dt="2026-08-13T01:58:14.375" v="1571" actId="20577"/>
        <pc:sldMkLst>
          <pc:docMk/>
          <pc:sldMk cId="4101661442" sldId="256"/>
        </pc:sldMkLst>
        <pc:spChg chg="mod">
          <ac:chgData name="Charine Labao" userId="d49f38c7da5d9737" providerId="LiveId" clId="{74BAE539-5A96-4830-AD90-F51E8ECC701B}" dt="2026-08-13T01:58:14.375" v="1571" actId="20577"/>
          <ac:spMkLst>
            <pc:docMk/>
            <pc:sldMk cId="4101661442" sldId="256"/>
            <ac:spMk id="2" creationId="{00BCFF50-8CD8-2A55-F5E3-38E524DAEEFB}"/>
          </ac:spMkLst>
        </pc:spChg>
      </pc:sldChg>
      <pc:sldChg chg="modSp mod">
        <pc:chgData name="Charine Labao" userId="d49f38c7da5d9737" providerId="LiveId" clId="{74BAE539-5A96-4830-AD90-F51E8ECC701B}" dt="2026-08-11T08:18:46.128" v="596" actId="2711"/>
        <pc:sldMkLst>
          <pc:docMk/>
          <pc:sldMk cId="3616196084" sldId="316"/>
        </pc:sldMkLst>
        <pc:spChg chg="mod">
          <ac:chgData name="Charine Labao" userId="d49f38c7da5d9737" providerId="LiveId" clId="{74BAE539-5A96-4830-AD90-F51E8ECC701B}" dt="2026-08-11T08:18:46.128" v="596" actId="2711"/>
          <ac:spMkLst>
            <pc:docMk/>
            <pc:sldMk cId="3616196084" sldId="316"/>
            <ac:spMk id="4" creationId="{799D91A1-1B0E-86BC-0348-FA4262644A3D}"/>
          </ac:spMkLst>
        </pc:spChg>
      </pc:sldChg>
      <pc:sldChg chg="modSp mod">
        <pc:chgData name="Charine Labao" userId="d49f38c7da5d9737" providerId="LiveId" clId="{74BAE539-5A96-4830-AD90-F51E8ECC701B}" dt="2026-08-11T08:19:27.377" v="597" actId="2711"/>
        <pc:sldMkLst>
          <pc:docMk/>
          <pc:sldMk cId="2979525536" sldId="317"/>
        </pc:sldMkLst>
        <pc:spChg chg="mod">
          <ac:chgData name="Charine Labao" userId="d49f38c7da5d9737" providerId="LiveId" clId="{74BAE539-5A96-4830-AD90-F51E8ECC701B}" dt="2026-08-11T08:19:27.377" v="597" actId="2711"/>
          <ac:spMkLst>
            <pc:docMk/>
            <pc:sldMk cId="2979525536" sldId="317"/>
            <ac:spMk id="7" creationId="{E6D717E8-A3F2-81ED-716D-98378E027D4C}"/>
          </ac:spMkLst>
        </pc:spChg>
      </pc:sldChg>
      <pc:sldChg chg="modSp mod">
        <pc:chgData name="Charine Labao" userId="d49f38c7da5d9737" providerId="LiveId" clId="{74BAE539-5A96-4830-AD90-F51E8ECC701B}" dt="2026-08-11T08:20:22.793" v="599" actId="14100"/>
        <pc:sldMkLst>
          <pc:docMk/>
          <pc:sldMk cId="2897824435" sldId="319"/>
        </pc:sldMkLst>
        <pc:spChg chg="mod">
          <ac:chgData name="Charine Labao" userId="d49f38c7da5d9737" providerId="LiveId" clId="{74BAE539-5A96-4830-AD90-F51E8ECC701B}" dt="2026-08-11T08:20:22.793" v="599" actId="14100"/>
          <ac:spMkLst>
            <pc:docMk/>
            <pc:sldMk cId="2897824435" sldId="319"/>
            <ac:spMk id="4" creationId="{3E52C602-EFFD-CADD-EE9C-A0B190077E8E}"/>
          </ac:spMkLst>
        </pc:spChg>
      </pc:sldChg>
      <pc:sldChg chg="modSp mod">
        <pc:chgData name="Charine Labao" userId="d49f38c7da5d9737" providerId="LiveId" clId="{74BAE539-5A96-4830-AD90-F51E8ECC701B}" dt="2026-08-13T02:12:10.454" v="1591" actId="20577"/>
        <pc:sldMkLst>
          <pc:docMk/>
          <pc:sldMk cId="460937252" sldId="322"/>
        </pc:sldMkLst>
        <pc:spChg chg="mod">
          <ac:chgData name="Charine Labao" userId="d49f38c7da5d9737" providerId="LiveId" clId="{74BAE539-5A96-4830-AD90-F51E8ECC701B}" dt="2026-08-13T02:12:10.454" v="1591" actId="20577"/>
          <ac:spMkLst>
            <pc:docMk/>
            <pc:sldMk cId="460937252" sldId="322"/>
            <ac:spMk id="7" creationId="{48C2F637-09B2-540E-29E6-FC162F40AFA6}"/>
          </ac:spMkLst>
        </pc:spChg>
      </pc:sldChg>
      <pc:sldChg chg="modSp mod">
        <pc:chgData name="Charine Labao" userId="d49f38c7da5d9737" providerId="LiveId" clId="{74BAE539-5A96-4830-AD90-F51E8ECC701B}" dt="2026-08-11T08:23:25.785" v="603" actId="2711"/>
        <pc:sldMkLst>
          <pc:docMk/>
          <pc:sldMk cId="153072248" sldId="323"/>
        </pc:sldMkLst>
        <pc:spChg chg="mod">
          <ac:chgData name="Charine Labao" userId="d49f38c7da5d9737" providerId="LiveId" clId="{74BAE539-5A96-4830-AD90-F51E8ECC701B}" dt="2026-08-11T08:23:25.785" v="603" actId="2711"/>
          <ac:spMkLst>
            <pc:docMk/>
            <pc:sldMk cId="153072248" sldId="323"/>
            <ac:spMk id="4" creationId="{27C7F417-607D-A2B2-2A48-A613959ADFF8}"/>
          </ac:spMkLst>
        </pc:spChg>
      </pc:sldChg>
      <pc:sldChg chg="modSp mod">
        <pc:chgData name="Charine Labao" userId="d49f38c7da5d9737" providerId="LiveId" clId="{74BAE539-5A96-4830-AD90-F51E8ECC701B}" dt="2026-08-13T02:16:27.182" v="1593" actId="20577"/>
        <pc:sldMkLst>
          <pc:docMk/>
          <pc:sldMk cId="254400569" sldId="324"/>
        </pc:sldMkLst>
        <pc:spChg chg="mod">
          <ac:chgData name="Charine Labao" userId="d49f38c7da5d9737" providerId="LiveId" clId="{74BAE539-5A96-4830-AD90-F51E8ECC701B}" dt="2026-08-13T02:16:27.182" v="1593" actId="20577"/>
          <ac:spMkLst>
            <pc:docMk/>
            <pc:sldMk cId="254400569" sldId="324"/>
            <ac:spMk id="4" creationId="{6AB44FAC-8EC2-711B-D71A-AEAC7E787DB8}"/>
          </ac:spMkLst>
        </pc:spChg>
      </pc:sldChg>
      <pc:sldChg chg="modSp mod">
        <pc:chgData name="Charine Labao" userId="d49f38c7da5d9737" providerId="LiveId" clId="{74BAE539-5A96-4830-AD90-F51E8ECC701B}" dt="2026-08-13T02:34:33.267" v="1652"/>
        <pc:sldMkLst>
          <pc:docMk/>
          <pc:sldMk cId="1433527617" sldId="325"/>
        </pc:sldMkLst>
        <pc:spChg chg="mod">
          <ac:chgData name="Charine Labao" userId="d49f38c7da5d9737" providerId="LiveId" clId="{74BAE539-5A96-4830-AD90-F51E8ECC701B}" dt="2026-08-13T02:34:33.267" v="1652"/>
          <ac:spMkLst>
            <pc:docMk/>
            <pc:sldMk cId="1433527617" sldId="325"/>
            <ac:spMk id="6" creationId="{CDD0C1CE-C19C-3B95-045D-5B3A4B6042E7}"/>
          </ac:spMkLst>
        </pc:spChg>
      </pc:sldChg>
      <pc:sldChg chg="modSp mod">
        <pc:chgData name="Charine Labao" userId="d49f38c7da5d9737" providerId="LiveId" clId="{74BAE539-5A96-4830-AD90-F51E8ECC701B}" dt="2026-08-13T02:33:37.177" v="1650" actId="20577"/>
        <pc:sldMkLst>
          <pc:docMk/>
          <pc:sldMk cId="2739966783" sldId="326"/>
        </pc:sldMkLst>
        <pc:spChg chg="mod">
          <ac:chgData name="Charine Labao" userId="d49f38c7da5d9737" providerId="LiveId" clId="{74BAE539-5A96-4830-AD90-F51E8ECC701B}" dt="2026-08-13T02:33:37.177" v="1650" actId="20577"/>
          <ac:spMkLst>
            <pc:docMk/>
            <pc:sldMk cId="2739966783" sldId="326"/>
            <ac:spMk id="3" creationId="{83AD538B-2385-D9A7-AA47-DCF6B1A59F94}"/>
          </ac:spMkLst>
        </pc:spChg>
      </pc:sldChg>
      <pc:sldChg chg="modSp mod">
        <pc:chgData name="Charine Labao" userId="d49f38c7da5d9737" providerId="LiveId" clId="{74BAE539-5A96-4830-AD90-F51E8ECC701B}" dt="2026-08-18T02:06:24.474" v="1757" actId="20577"/>
        <pc:sldMkLst>
          <pc:docMk/>
          <pc:sldMk cId="2799871934" sldId="327"/>
        </pc:sldMkLst>
        <pc:spChg chg="mod">
          <ac:chgData name="Charine Labao" userId="d49f38c7da5d9737" providerId="LiveId" clId="{74BAE539-5A96-4830-AD90-F51E8ECC701B}" dt="2026-08-18T02:06:24.474" v="1757" actId="20577"/>
          <ac:spMkLst>
            <pc:docMk/>
            <pc:sldMk cId="2799871934" sldId="327"/>
            <ac:spMk id="2" creationId="{99CF4B50-1F36-EE34-F81B-BC0E70314169}"/>
          </ac:spMkLst>
        </pc:spChg>
      </pc:sldChg>
      <pc:sldChg chg="modSp mod">
        <pc:chgData name="Charine Labao" userId="d49f38c7da5d9737" providerId="LiveId" clId="{74BAE539-5A96-4830-AD90-F51E8ECC701B}" dt="2026-08-13T02:46:02.868" v="1753" actId="20577"/>
        <pc:sldMkLst>
          <pc:docMk/>
          <pc:sldMk cId="1049737824" sldId="332"/>
        </pc:sldMkLst>
        <pc:spChg chg="mod">
          <ac:chgData name="Charine Labao" userId="d49f38c7da5d9737" providerId="LiveId" clId="{74BAE539-5A96-4830-AD90-F51E8ECC701B}" dt="2026-08-13T02:46:02.868" v="1753" actId="20577"/>
          <ac:spMkLst>
            <pc:docMk/>
            <pc:sldMk cId="1049737824" sldId="332"/>
            <ac:spMk id="5" creationId="{0E093027-FFFF-30FC-978E-6780BF7488E6}"/>
          </ac:spMkLst>
        </pc:spChg>
      </pc:sldChg>
      <pc:sldChg chg="modSp mod">
        <pc:chgData name="Charine Labao" userId="d49f38c7da5d9737" providerId="LiveId" clId="{74BAE539-5A96-4830-AD90-F51E8ECC701B}" dt="2026-08-13T02:11:35.075" v="1588" actId="20577"/>
        <pc:sldMkLst>
          <pc:docMk/>
          <pc:sldMk cId="916706835" sldId="341"/>
        </pc:sldMkLst>
        <pc:spChg chg="mod">
          <ac:chgData name="Charine Labao" userId="d49f38c7da5d9737" providerId="LiveId" clId="{74BAE539-5A96-4830-AD90-F51E8ECC701B}" dt="2026-08-13T02:11:35.075" v="1588" actId="20577"/>
          <ac:spMkLst>
            <pc:docMk/>
            <pc:sldMk cId="916706835" sldId="341"/>
            <ac:spMk id="2" creationId="{3F5BC027-7451-C1D1-C983-E621D5F334AE}"/>
          </ac:spMkLst>
        </pc:spChg>
      </pc:sldChg>
      <pc:sldChg chg="modSp mod">
        <pc:chgData name="Charine Labao" userId="d49f38c7da5d9737" providerId="LiveId" clId="{74BAE539-5A96-4830-AD90-F51E8ECC701B}" dt="2026-08-18T02:15:26.610" v="2196" actId="20577"/>
        <pc:sldMkLst>
          <pc:docMk/>
          <pc:sldMk cId="1387921594" sldId="342"/>
        </pc:sldMkLst>
        <pc:spChg chg="mod">
          <ac:chgData name="Charine Labao" userId="d49f38c7da5d9737" providerId="LiveId" clId="{74BAE539-5A96-4830-AD90-F51E8ECC701B}" dt="2026-08-18T02:15:26.610" v="2196" actId="20577"/>
          <ac:spMkLst>
            <pc:docMk/>
            <pc:sldMk cId="1387921594" sldId="342"/>
            <ac:spMk id="2" creationId="{A3F21333-97D5-1F39-A4D9-5F17344752A2}"/>
          </ac:spMkLst>
        </pc:spChg>
      </pc:sldChg>
      <pc:sldChg chg="modSp mod">
        <pc:chgData name="Charine Labao" userId="d49f38c7da5d9737" providerId="LiveId" clId="{74BAE539-5A96-4830-AD90-F51E8ECC701B}" dt="2026-08-18T02:32:12.796" v="2444" actId="20577"/>
        <pc:sldMkLst>
          <pc:docMk/>
          <pc:sldMk cId="3587796070" sldId="343"/>
        </pc:sldMkLst>
        <pc:spChg chg="mod">
          <ac:chgData name="Charine Labao" userId="d49f38c7da5d9737" providerId="LiveId" clId="{74BAE539-5A96-4830-AD90-F51E8ECC701B}" dt="2026-08-18T02:32:12.796" v="2444" actId="20577"/>
          <ac:spMkLst>
            <pc:docMk/>
            <pc:sldMk cId="3587796070" sldId="343"/>
            <ac:spMk id="2" creationId="{1467E2CE-3021-702C-F69D-5D949EDED7DE}"/>
          </ac:spMkLst>
        </pc:spChg>
      </pc:sldChg>
      <pc:sldChg chg="new del">
        <pc:chgData name="Charine Labao" userId="d49f38c7da5d9737" providerId="LiveId" clId="{74BAE539-5A96-4830-AD90-F51E8ECC701B}" dt="2026-08-18T02:06:18.753" v="1755" actId="2696"/>
        <pc:sldMkLst>
          <pc:docMk/>
          <pc:sldMk cId="1954578771" sldId="3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9E4C6-9EB3-473B-A1C2-288F1938347A}" type="datetimeFigureOut">
              <a:rPr lang="en-PH" smtClean="0"/>
              <a:t>8/18/2026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BAE25A-5D24-4004-A82D-A9BE88A40641}" type="slidenum">
              <a:rPr lang="en-PH" smtClean="0"/>
              <a:t>‹#›</a:t>
            </a:fld>
            <a:endParaRPr lang="en-PH"/>
          </a:p>
        </p:txBody>
      </p:sp>
    </p:spTree>
    <p:extLst>
      <p:ext uri="{BB962C8B-B14F-4D97-AF65-F5344CB8AC3E}">
        <p14:creationId xmlns:p14="http://schemas.microsoft.com/office/powerpoint/2010/main" val="600600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7</a:t>
            </a:fld>
            <a:endParaRPr lang="en-PH"/>
          </a:p>
        </p:txBody>
      </p:sp>
    </p:spTree>
    <p:extLst>
      <p:ext uri="{BB962C8B-B14F-4D97-AF65-F5344CB8AC3E}">
        <p14:creationId xmlns:p14="http://schemas.microsoft.com/office/powerpoint/2010/main" val="4124889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12</a:t>
            </a:fld>
            <a:endParaRPr lang="en-PH"/>
          </a:p>
        </p:txBody>
      </p:sp>
    </p:spTree>
    <p:extLst>
      <p:ext uri="{BB962C8B-B14F-4D97-AF65-F5344CB8AC3E}">
        <p14:creationId xmlns:p14="http://schemas.microsoft.com/office/powerpoint/2010/main" val="9692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15</a:t>
            </a:fld>
            <a:endParaRPr lang="en-PH"/>
          </a:p>
        </p:txBody>
      </p:sp>
    </p:spTree>
    <p:extLst>
      <p:ext uri="{BB962C8B-B14F-4D97-AF65-F5344CB8AC3E}">
        <p14:creationId xmlns:p14="http://schemas.microsoft.com/office/powerpoint/2010/main" val="3230353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D0B9A-0072-EFC4-4DDB-3BDB35F22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A3B9C-6A5B-8BC8-18FB-86D86B29F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2D2E2-FCD9-12BB-BBC7-A22CCA188F3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8215F72-EE9B-7EC2-F407-2D13F8DC0552}"/>
              </a:ext>
            </a:extLst>
          </p:cNvPr>
          <p:cNvSpPr>
            <a:spLocks noGrp="1"/>
          </p:cNvSpPr>
          <p:nvPr>
            <p:ph type="sldNum" sz="quarter" idx="5"/>
          </p:nvPr>
        </p:nvSpPr>
        <p:spPr/>
        <p:txBody>
          <a:bodyPr/>
          <a:lstStyle/>
          <a:p>
            <a:fld id="{F7BAE25A-5D24-4004-A82D-A9BE88A40641}" type="slidenum">
              <a:rPr lang="en-PH" smtClean="0"/>
              <a:t>16</a:t>
            </a:fld>
            <a:endParaRPr lang="en-PH"/>
          </a:p>
        </p:txBody>
      </p:sp>
    </p:spTree>
    <p:extLst>
      <p:ext uri="{BB962C8B-B14F-4D97-AF65-F5344CB8AC3E}">
        <p14:creationId xmlns:p14="http://schemas.microsoft.com/office/powerpoint/2010/main" val="627591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8/18/2026</a:t>
            </a:fld>
            <a:endParaRPr lang="en-PH"/>
          </a:p>
        </p:txBody>
      </p:sp>
      <p:sp>
        <p:nvSpPr>
          <p:cNvPr id="5" name="Footer Placeholder 4"/>
          <p:cNvSpPr>
            <a:spLocks noGrp="1"/>
          </p:cNvSpPr>
          <p:nvPr>
            <p:ph type="ftr" sz="quarter" idx="11"/>
          </p:nvPr>
        </p:nvSpPr>
        <p:spPr>
          <a:xfrm>
            <a:off x="1451579" y="329307"/>
            <a:ext cx="5626774" cy="309201"/>
          </a:xfrm>
        </p:spPr>
        <p:txBody>
          <a:bodyPr/>
          <a:lstStyle/>
          <a:p>
            <a:endParaRPr lang="en-PH"/>
          </a:p>
        </p:txBody>
      </p:sp>
      <p:sp>
        <p:nvSpPr>
          <p:cNvPr id="6" name="Slide Number Placeholder 5"/>
          <p:cNvSpPr>
            <a:spLocks noGrp="1"/>
          </p:cNvSpPr>
          <p:nvPr>
            <p:ph type="sldNum" sz="quarter" idx="12"/>
          </p:nvPr>
        </p:nvSpPr>
        <p:spPr>
          <a:xfrm>
            <a:off x="476834" y="798973"/>
            <a:ext cx="811019" cy="503578"/>
          </a:xfrm>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294931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8/18/2026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1927653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710144-C51D-4F13-8FAF-CC827A160CBB}" type="datetimeFigureOut">
              <a:rPr lang="en-PH" smtClean="0"/>
              <a:t>8/18/2026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39294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710144-C51D-4F13-8FAF-CC827A160CBB}" type="datetimeFigureOut">
              <a:rPr lang="en-PH" smtClean="0"/>
              <a:t>8/18/2026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612697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710144-C51D-4F13-8FAF-CC827A160CBB}" type="datetimeFigureOut">
              <a:rPr lang="en-PH" smtClean="0"/>
              <a:t>8/18/2026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4264141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710144-C51D-4F13-8FAF-CC827A160CBB}" type="datetimeFigureOut">
              <a:rPr lang="en-PH" smtClean="0"/>
              <a:t>8/18/2026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894133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10144-C51D-4F13-8FAF-CC827A160CBB}" type="datetimeFigureOut">
              <a:rPr lang="en-PH" smtClean="0"/>
              <a:t>8/18/2026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377736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710144-C51D-4F13-8FAF-CC827A160CBB}" type="datetimeFigureOut">
              <a:rPr lang="en-PH" smtClean="0"/>
              <a:t>8/18/2026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415536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0710144-C51D-4F13-8FAF-CC827A160CBB}" type="datetimeFigureOut">
              <a:rPr lang="en-PH" smtClean="0"/>
              <a:t>8/18/2026</a:t>
            </a:fld>
            <a:endParaRPr lang="en-PH"/>
          </a:p>
        </p:txBody>
      </p:sp>
      <p:sp>
        <p:nvSpPr>
          <p:cNvPr id="6" name="Footer Placeholder 5"/>
          <p:cNvSpPr>
            <a:spLocks noGrp="1"/>
          </p:cNvSpPr>
          <p:nvPr>
            <p:ph type="ftr" sz="quarter" idx="11"/>
          </p:nvPr>
        </p:nvSpPr>
        <p:spPr>
          <a:xfrm>
            <a:off x="1447382" y="318640"/>
            <a:ext cx="5541004" cy="320931"/>
          </a:xfrm>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2360447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8/18/2026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664889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8/18/2026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559723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0710144-C51D-4F13-8FAF-CC827A160CBB}" type="datetimeFigureOut">
              <a:rPr lang="en-PH" smtClean="0"/>
              <a:t>8/18/2026</a:t>
            </a:fld>
            <a:endParaRPr lang="en-PH"/>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DD131BB-748F-41AA-A188-03FFE40F9EE7}" type="slidenum">
              <a:rPr lang="en-PH" smtClean="0"/>
              <a:t>‹#›</a:t>
            </a:fld>
            <a:endParaRPr lang="en-PH"/>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1527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CFF50-8CD8-2A55-F5E3-38E524DAEEFB}"/>
              </a:ext>
            </a:extLst>
          </p:cNvPr>
          <p:cNvSpPr>
            <a:spLocks noGrp="1"/>
          </p:cNvSpPr>
          <p:nvPr>
            <p:ph type="ctrTitle"/>
          </p:nvPr>
        </p:nvSpPr>
        <p:spPr>
          <a:xfrm>
            <a:off x="0" y="2791966"/>
            <a:ext cx="12191999" cy="2541431"/>
          </a:xfrm>
        </p:spPr>
        <p:txBody>
          <a:bodyPr>
            <a:noAutofit/>
          </a:bodyPr>
          <a:lstStyle/>
          <a:p>
            <a:pPr algn="ctr"/>
            <a:r>
              <a:rPr lang="en-PH" sz="11200" dirty="0">
                <a:latin typeface="Arial Narrow" panose="020B0606020202030204" pitchFamily="34" charset="0"/>
              </a:rPr>
              <a:t>WELCOME back Pablo!</a:t>
            </a:r>
            <a:br>
              <a:rPr lang="en-PH" sz="11200" dirty="0">
                <a:latin typeface="Arial Narrow" panose="020B0606020202030204" pitchFamily="34" charset="0"/>
              </a:rPr>
            </a:br>
            <a:endParaRPr lang="en-PH" sz="11200" dirty="0">
              <a:latin typeface="Arial Narrow" panose="020B0606020202030204" pitchFamily="34" charset="0"/>
            </a:endParaRPr>
          </a:p>
        </p:txBody>
      </p:sp>
    </p:spTree>
    <p:extLst>
      <p:ext uri="{BB962C8B-B14F-4D97-AF65-F5344CB8AC3E}">
        <p14:creationId xmlns:p14="http://schemas.microsoft.com/office/powerpoint/2010/main" val="4101661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A24FC-36EF-BF32-1929-243486991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4469B-D37F-D990-E189-D913B41EB93D}"/>
              </a:ext>
            </a:extLst>
          </p:cNvPr>
          <p:cNvSpPr>
            <a:spLocks noGrp="1"/>
          </p:cNvSpPr>
          <p:nvPr>
            <p:ph type="ctrTitle"/>
          </p:nvPr>
        </p:nvSpPr>
        <p:spPr>
          <a:xfrm>
            <a:off x="1718733" y="3708400"/>
            <a:ext cx="9264377" cy="1380068"/>
          </a:xfrm>
        </p:spPr>
        <p:txBody>
          <a:bodyPr>
            <a:normAutofit fontScale="90000"/>
          </a:bodyPr>
          <a:lstStyle/>
          <a:p>
            <a:pPr algn="ctr"/>
            <a:r>
              <a:rPr lang="en-PH" sz="14900" dirty="0">
                <a:latin typeface="Arial Narrow" panose="020B0606020202030204" pitchFamily="34" charset="0"/>
              </a:rPr>
              <a:t>Lesson 07</a:t>
            </a:r>
            <a:br>
              <a:rPr lang="en-PH" dirty="0">
                <a:latin typeface="Arial Narrow" panose="020B0606020202030204" pitchFamily="34" charset="0"/>
              </a:rPr>
            </a:br>
            <a:endParaRPr lang="en-PH" sz="14900" dirty="0">
              <a:latin typeface="Arial Narrow" panose="020B0606020202030204" pitchFamily="34" charset="0"/>
            </a:endParaRPr>
          </a:p>
        </p:txBody>
      </p:sp>
    </p:spTree>
    <p:extLst>
      <p:ext uri="{BB962C8B-B14F-4D97-AF65-F5344CB8AC3E}">
        <p14:creationId xmlns:p14="http://schemas.microsoft.com/office/powerpoint/2010/main" val="3685224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35D8-B879-0DE4-A35C-444C61DBA3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B223B6-F5FA-EC54-98A9-E70D02BD73F2}"/>
              </a:ext>
            </a:extLst>
          </p:cNvPr>
          <p:cNvSpPr>
            <a:spLocks noGrp="1"/>
          </p:cNvSpPr>
          <p:nvPr>
            <p:ph idx="1"/>
          </p:nvPr>
        </p:nvSpPr>
        <p:spPr>
          <a:xfrm>
            <a:off x="177801" y="1831736"/>
            <a:ext cx="10877054" cy="4052597"/>
          </a:xfrm>
        </p:spPr>
        <p:txBody>
          <a:bodyPr>
            <a:normAutofit/>
          </a:bodyPr>
          <a:lstStyle/>
          <a:p>
            <a:pPr marL="0" indent="0">
              <a:buNone/>
            </a:pPr>
            <a:endParaRPr lang="en-PH" dirty="0"/>
          </a:p>
          <a:p>
            <a:pPr marL="0" indent="0">
              <a:buNone/>
            </a:pPr>
            <a:endParaRPr lang="en-PH" dirty="0"/>
          </a:p>
        </p:txBody>
      </p:sp>
      <p:sp>
        <p:nvSpPr>
          <p:cNvPr id="5" name="Title 4">
            <a:extLst>
              <a:ext uri="{FF2B5EF4-FFF2-40B4-BE49-F238E27FC236}">
                <a16:creationId xmlns:a16="http://schemas.microsoft.com/office/drawing/2014/main" id="{4886789D-506B-8D06-2C40-76610B6E4EEF}"/>
              </a:ext>
            </a:extLst>
          </p:cNvPr>
          <p:cNvSpPr>
            <a:spLocks noGrp="1"/>
          </p:cNvSpPr>
          <p:nvPr>
            <p:ph type="title"/>
          </p:nvPr>
        </p:nvSpPr>
        <p:spPr>
          <a:xfrm>
            <a:off x="177801" y="1831736"/>
            <a:ext cx="12192000" cy="1294954"/>
          </a:xfrm>
        </p:spPr>
        <p:txBody>
          <a:bodyPr>
            <a:noAutofit/>
          </a:bodyPr>
          <a:lstStyle/>
          <a:p>
            <a:br>
              <a:rPr lang="en-US" sz="6600" dirty="0">
                <a:latin typeface="Arial Narrow" panose="020B0606020202030204" pitchFamily="34" charset="0"/>
              </a:rPr>
            </a:br>
            <a:r>
              <a:rPr lang="en-US" sz="6600" dirty="0">
                <a:latin typeface="Arial Narrow" panose="020B0606020202030204" pitchFamily="34" charset="0"/>
              </a:rPr>
              <a:t>The Question Word </a:t>
            </a:r>
            <a:r>
              <a:rPr lang="en-US" sz="6600" b="1" dirty="0">
                <a:latin typeface="Arial Narrow" panose="020B0606020202030204" pitchFamily="34" charset="0"/>
              </a:rPr>
              <a:t>Ba</a:t>
            </a:r>
            <a:br>
              <a:rPr lang="en-PH" sz="6600" dirty="0">
                <a:latin typeface="Arial Narrow" panose="020B0606020202030204" pitchFamily="34" charset="0"/>
              </a:rPr>
            </a:br>
            <a:br>
              <a:rPr lang="en-PH" sz="6600" dirty="0">
                <a:latin typeface="Arial Narrow" panose="020B0606020202030204" pitchFamily="34" charset="0"/>
              </a:rPr>
            </a:br>
            <a:endParaRPr lang="en-PH" sz="6600" dirty="0">
              <a:latin typeface="Arial Narrow" panose="020B0606020202030204" pitchFamily="34" charset="0"/>
            </a:endParaRPr>
          </a:p>
        </p:txBody>
      </p:sp>
    </p:spTree>
    <p:extLst>
      <p:ext uri="{BB962C8B-B14F-4D97-AF65-F5344CB8AC3E}">
        <p14:creationId xmlns:p14="http://schemas.microsoft.com/office/powerpoint/2010/main" val="173702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760D4-A038-F675-7C35-6F5B6B3ED6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9D91A1-1B0E-86BC-0348-FA4262644A3D}"/>
              </a:ext>
            </a:extLst>
          </p:cNvPr>
          <p:cNvSpPr>
            <a:spLocks noGrp="1"/>
          </p:cNvSpPr>
          <p:nvPr>
            <p:ph type="title"/>
          </p:nvPr>
        </p:nvSpPr>
        <p:spPr>
          <a:xfrm>
            <a:off x="313268" y="1684867"/>
            <a:ext cx="11751732" cy="3132667"/>
          </a:xfrm>
        </p:spPr>
        <p:txBody>
          <a:bodyPr>
            <a:noAutofit/>
          </a:bodyPr>
          <a:lstStyle/>
          <a:p>
            <a:pPr algn="l"/>
            <a:r>
              <a:rPr lang="en-US" sz="3600" cap="none" dirty="0">
                <a:solidFill>
                  <a:schemeClr val="tx1"/>
                </a:solidFill>
                <a:latin typeface="Arial Nova Cond Light" panose="020B0306020202020204" pitchFamily="34" charset="0"/>
              </a:rPr>
              <a:t>Certain words unique to the Tagalog language give a particular meaning or sentiment that a speaker may wish to convey in his/her sentences and questions. These words spice up the language. Curiosity, frustration, irritation and other emotions pepper everyday Tagalog speech and a learner of this lan­guage will do well to understand these nuances.</a:t>
            </a:r>
            <a:br>
              <a:rPr lang="en-PH" sz="3600" cap="none" dirty="0">
                <a:solidFill>
                  <a:schemeClr val="tx1"/>
                </a:solidFill>
                <a:latin typeface="Arial Nova Cond Light" panose="020B0306020202020204" pitchFamily="34" charset="0"/>
              </a:rPr>
            </a:br>
            <a:r>
              <a:rPr lang="en-US" sz="3600" cap="none" dirty="0">
                <a:solidFill>
                  <a:schemeClr val="tx1"/>
                </a:solidFill>
                <a:latin typeface="Arial Nova Cond Light" panose="020B0306020202020204" pitchFamily="34" charset="0"/>
              </a:rPr>
              <a:t>One example is the question word </a:t>
            </a:r>
            <a:r>
              <a:rPr lang="en-US" sz="3600" b="1" cap="none" dirty="0" err="1">
                <a:solidFill>
                  <a:srgbClr val="FFFF00"/>
                </a:solidFill>
                <a:latin typeface="Arial Nova Cond Light" panose="020B0306020202020204" pitchFamily="34" charset="0"/>
              </a:rPr>
              <a:t>ba</a:t>
            </a:r>
            <a:r>
              <a:rPr lang="en-US" sz="3600" b="1" cap="none" dirty="0">
                <a:solidFill>
                  <a:srgbClr val="FFFF00"/>
                </a:solidFill>
                <a:latin typeface="Arial Nova Cond Light" panose="020B0306020202020204" pitchFamily="34" charset="0"/>
              </a:rPr>
              <a:t>. </a:t>
            </a:r>
            <a:r>
              <a:rPr lang="en-US" sz="3600" cap="none" dirty="0">
                <a:solidFill>
                  <a:schemeClr val="tx1"/>
                </a:solidFill>
                <a:latin typeface="Arial Nova Cond Light" panose="020B0306020202020204" pitchFamily="34" charset="0"/>
              </a:rPr>
              <a:t>The word has no specific meaning and cannot be translated in English except that it serves as a spoken question mark to indicate clearly that the speaker is ask­ing a question.</a:t>
            </a:r>
            <a:br>
              <a:rPr lang="en-PH" sz="3600" cap="none" dirty="0">
                <a:solidFill>
                  <a:schemeClr val="tx1"/>
                </a:solidFill>
                <a:latin typeface="Arial Nova Cond Light" panose="020B0306020202020204" pitchFamily="34" charset="0"/>
              </a:rPr>
            </a:br>
            <a:endParaRPr lang="en-PH" sz="3600" cap="none" dirty="0">
              <a:solidFill>
                <a:schemeClr val="tx1"/>
              </a:solidFill>
              <a:latin typeface="Arial Nova Cond Light" panose="020B0306020202020204" pitchFamily="34" charset="0"/>
            </a:endParaRPr>
          </a:p>
        </p:txBody>
      </p:sp>
    </p:spTree>
    <p:extLst>
      <p:ext uri="{BB962C8B-B14F-4D97-AF65-F5344CB8AC3E}">
        <p14:creationId xmlns:p14="http://schemas.microsoft.com/office/powerpoint/2010/main" val="3616196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81EF-E29B-1A62-5DC1-189FFDEBC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0C50C-5A7F-40B7-5F1E-FD16E199D6A3}"/>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7" name="TextBox 6">
            <a:extLst>
              <a:ext uri="{FF2B5EF4-FFF2-40B4-BE49-F238E27FC236}">
                <a16:creationId xmlns:a16="http://schemas.microsoft.com/office/drawing/2014/main" id="{E6D717E8-A3F2-81ED-716D-98378E027D4C}"/>
              </a:ext>
            </a:extLst>
          </p:cNvPr>
          <p:cNvSpPr txBox="1"/>
          <p:nvPr/>
        </p:nvSpPr>
        <p:spPr>
          <a:xfrm>
            <a:off x="0" y="125269"/>
            <a:ext cx="12192000" cy="5509200"/>
          </a:xfrm>
          <a:prstGeom prst="rect">
            <a:avLst/>
          </a:prstGeom>
          <a:noFill/>
        </p:spPr>
        <p:txBody>
          <a:bodyPr wrap="square">
            <a:spAutoFit/>
          </a:bodyPr>
          <a:lstStyle/>
          <a:p>
            <a:r>
              <a:rPr lang="en-US" sz="3200" dirty="0">
                <a:latin typeface="Arial Nova Cond Light" panose="020B0306020202020204" pitchFamily="34" charset="0"/>
              </a:rPr>
              <a:t>Questions do not necessarily need </a:t>
            </a:r>
            <a:r>
              <a:rPr lang="en-US" sz="3200" b="1" dirty="0" err="1">
                <a:solidFill>
                  <a:srgbClr val="FFFF00"/>
                </a:solidFill>
                <a:latin typeface="Arial Nova Cond Light" panose="020B0306020202020204" pitchFamily="34" charset="0"/>
              </a:rPr>
              <a:t>ba</a:t>
            </a:r>
            <a:r>
              <a:rPr lang="en-US" sz="3200" dirty="0">
                <a:solidFill>
                  <a:srgbClr val="FFFF00"/>
                </a:solidFill>
                <a:latin typeface="Arial Nova Cond Light" panose="020B0306020202020204" pitchFamily="34" charset="0"/>
              </a:rPr>
              <a:t> </a:t>
            </a:r>
            <a:r>
              <a:rPr lang="en-US" sz="3200" dirty="0">
                <a:latin typeface="Arial Nova Cond Light" panose="020B0306020202020204" pitchFamily="34" charset="0"/>
              </a:rPr>
              <a:t>but without the </a:t>
            </a:r>
            <a:r>
              <a:rPr lang="en-US" sz="3200" b="1" dirty="0" err="1">
                <a:latin typeface="Arial Nova Cond Light" panose="020B0306020202020204" pitchFamily="34" charset="0"/>
              </a:rPr>
              <a:t>ba</a:t>
            </a:r>
            <a:r>
              <a:rPr lang="en-US" sz="3200" dirty="0">
                <a:latin typeface="Arial Nova Cond Light" panose="020B0306020202020204" pitchFamily="34" charset="0"/>
              </a:rPr>
              <a:t>, a question may be mistaken for a state­ment, especially when pronounced wrongly, as in the following examples:</a:t>
            </a:r>
          </a:p>
          <a:p>
            <a:r>
              <a:rPr lang="en-US" sz="3200" dirty="0">
                <a:latin typeface="Arial Nova Cond Light" panose="020B0306020202020204" pitchFamily="34" charset="0"/>
              </a:rPr>
              <a:t>Sila ay </a:t>
            </a:r>
            <a:r>
              <a:rPr lang="en-US" sz="3200" dirty="0" err="1">
                <a:latin typeface="Arial Nova Cond Light" panose="020B0306020202020204" pitchFamily="34" charset="0"/>
              </a:rPr>
              <a:t>aalis</a:t>
            </a:r>
            <a:r>
              <a:rPr lang="en-US" sz="3200" dirty="0">
                <a:latin typeface="Arial Nova Cond Light" panose="020B0306020202020204" pitchFamily="34" charset="0"/>
              </a:rPr>
              <a:t> </a:t>
            </a:r>
            <a:r>
              <a:rPr lang="en-US" sz="3200" dirty="0" err="1">
                <a:latin typeface="Arial Nova Cond Light" panose="020B0306020202020204" pitchFamily="34" charset="0"/>
              </a:rPr>
              <a:t>na.</a:t>
            </a:r>
            <a:r>
              <a:rPr lang="en-US" sz="3200" dirty="0">
                <a:latin typeface="Arial Nova Cond Light" panose="020B0306020202020204" pitchFamily="34" charset="0"/>
              </a:rPr>
              <a:t>				They will leave now.</a:t>
            </a:r>
          </a:p>
          <a:p>
            <a:r>
              <a:rPr lang="en-US" sz="3200" dirty="0">
                <a:latin typeface="Arial Nova Cond Light" panose="020B0306020202020204" pitchFamily="34" charset="0"/>
              </a:rPr>
              <a:t>Sila </a:t>
            </a:r>
            <a:r>
              <a:rPr lang="en-US" sz="3200" dirty="0" err="1">
                <a:latin typeface="Arial Nova Cond Light" panose="020B0306020202020204" pitchFamily="34" charset="0"/>
              </a:rPr>
              <a:t>ba</a:t>
            </a:r>
            <a:r>
              <a:rPr lang="en-US" sz="3200" dirty="0">
                <a:latin typeface="Arial Nova Cond Light" panose="020B0306020202020204" pitchFamily="34" charset="0"/>
              </a:rPr>
              <a:t> ay </a:t>
            </a:r>
            <a:r>
              <a:rPr lang="en-US" sz="3200" dirty="0" err="1">
                <a:latin typeface="Arial Nova Cond Light" panose="020B0306020202020204" pitchFamily="34" charset="0"/>
              </a:rPr>
              <a:t>aalis</a:t>
            </a:r>
            <a:r>
              <a:rPr lang="en-US" sz="3200" dirty="0">
                <a:latin typeface="Arial Nova Cond Light" panose="020B0306020202020204" pitchFamily="34" charset="0"/>
              </a:rPr>
              <a:t> </a:t>
            </a:r>
            <a:r>
              <a:rPr lang="en-US" sz="3200" dirty="0" err="1">
                <a:latin typeface="Arial Nova Cond Light" panose="020B0306020202020204" pitchFamily="34" charset="0"/>
              </a:rPr>
              <a:t>na</a:t>
            </a:r>
            <a:r>
              <a:rPr lang="en-US" sz="3200" dirty="0">
                <a:latin typeface="Arial Nova Cond Light" panose="020B0306020202020204" pitchFamily="34" charset="0"/>
              </a:rPr>
              <a:t>?			Are they leaving now?</a:t>
            </a:r>
          </a:p>
          <a:p>
            <a:r>
              <a:rPr lang="en-US" sz="3200" dirty="0">
                <a:latin typeface="Arial Nova Cond Light" panose="020B0306020202020204" pitchFamily="34" charset="0"/>
              </a:rPr>
              <a:t>									(Remember to raise the tone of voice at the end of 									a question to differentiate it from a statement.)</a:t>
            </a:r>
          </a:p>
          <a:p>
            <a:endParaRPr lang="en-US" sz="3200" dirty="0">
              <a:latin typeface="Arial Nova Cond Light" panose="020B0306020202020204" pitchFamily="34" charset="0"/>
            </a:endParaRPr>
          </a:p>
          <a:p>
            <a:r>
              <a:rPr lang="en-US" sz="3200" dirty="0">
                <a:latin typeface="Arial Nova Cond Light" panose="020B0306020202020204" pitchFamily="34" charset="0"/>
              </a:rPr>
              <a:t>The question above may be written as Aalis </a:t>
            </a:r>
            <a:r>
              <a:rPr lang="en-US" sz="3200" dirty="0" err="1">
                <a:latin typeface="Arial Nova Cond Light" panose="020B0306020202020204" pitchFamily="34" charset="0"/>
              </a:rPr>
              <a:t>na</a:t>
            </a:r>
            <a:r>
              <a:rPr lang="en-US" sz="3200" dirty="0">
                <a:latin typeface="Arial Nova Cond Light" panose="020B0306020202020204" pitchFamily="34" charset="0"/>
              </a:rPr>
              <a:t> </a:t>
            </a:r>
            <a:r>
              <a:rPr lang="en-US" sz="3200" dirty="0" err="1">
                <a:latin typeface="Arial Nova Cond Light" panose="020B0306020202020204" pitchFamily="34" charset="0"/>
              </a:rPr>
              <a:t>ba</a:t>
            </a:r>
            <a:r>
              <a:rPr lang="en-US" sz="3200" dirty="0">
                <a:latin typeface="Arial Nova Cond Light" panose="020B0306020202020204" pitchFamily="34" charset="0"/>
              </a:rPr>
              <a:t> </a:t>
            </a:r>
            <a:r>
              <a:rPr lang="en-US" sz="3200" dirty="0" err="1">
                <a:latin typeface="Arial Nova Cond Light" panose="020B0306020202020204" pitchFamily="34" charset="0"/>
              </a:rPr>
              <a:t>sila</a:t>
            </a:r>
            <a:r>
              <a:rPr lang="en-US" sz="3200" dirty="0">
                <a:latin typeface="Arial Nova Cond Light" panose="020B0306020202020204" pitchFamily="34" charset="0"/>
              </a:rPr>
              <a:t>? to emphasize that the action </a:t>
            </a:r>
            <a:r>
              <a:rPr lang="en-US" sz="3200" dirty="0" err="1">
                <a:latin typeface="Arial Nova Cond Light" panose="020B0306020202020204" pitchFamily="34" charset="0"/>
              </a:rPr>
              <a:t>aalis</a:t>
            </a:r>
            <a:r>
              <a:rPr lang="en-US" sz="3200" dirty="0">
                <a:latin typeface="Arial Nova Cond Light" panose="020B0306020202020204" pitchFamily="34" charset="0"/>
              </a:rPr>
              <a:t> as being confirmed or awaited by the speaker. In Sila </a:t>
            </a:r>
            <a:r>
              <a:rPr lang="en-US" sz="3200" dirty="0" err="1">
                <a:latin typeface="Arial Nova Cond Light" panose="020B0306020202020204" pitchFamily="34" charset="0"/>
              </a:rPr>
              <a:t>ba</a:t>
            </a:r>
            <a:r>
              <a:rPr lang="en-US" sz="3200" dirty="0">
                <a:latin typeface="Arial Nova Cond Light" panose="020B0306020202020204" pitchFamily="34" charset="0"/>
              </a:rPr>
              <a:t> ay </a:t>
            </a:r>
            <a:r>
              <a:rPr lang="en-US" sz="3200" dirty="0" err="1">
                <a:latin typeface="Arial Nova Cond Light" panose="020B0306020202020204" pitchFamily="34" charset="0"/>
              </a:rPr>
              <a:t>aalis</a:t>
            </a:r>
            <a:r>
              <a:rPr lang="en-US" sz="3200" dirty="0">
                <a:latin typeface="Arial Nova Cond Light" panose="020B0306020202020204" pitchFamily="34" charset="0"/>
              </a:rPr>
              <a:t> </a:t>
            </a:r>
            <a:r>
              <a:rPr lang="en-US" sz="3200" dirty="0" err="1">
                <a:latin typeface="Arial Nova Cond Light" panose="020B0306020202020204" pitchFamily="34" charset="0"/>
              </a:rPr>
              <a:t>na</a:t>
            </a:r>
            <a:r>
              <a:rPr lang="en-US" sz="3200" dirty="0">
                <a:latin typeface="Arial Nova Cond Light" panose="020B0306020202020204" pitchFamily="34" charset="0"/>
              </a:rPr>
              <a:t>?, the focus is on the subject, which is </a:t>
            </a:r>
            <a:r>
              <a:rPr lang="en-US" sz="3200" dirty="0" err="1">
                <a:solidFill>
                  <a:srgbClr val="FFFF00"/>
                </a:solidFill>
                <a:latin typeface="Arial Nova Cond Light" panose="020B0306020202020204" pitchFamily="34" charset="0"/>
              </a:rPr>
              <a:t>sila</a:t>
            </a:r>
            <a:r>
              <a:rPr lang="en-US" sz="3200" dirty="0">
                <a:solidFill>
                  <a:srgbClr val="FFFF00"/>
                </a:solidFill>
                <a:latin typeface="Arial Nova Cond Light" panose="020B0306020202020204" pitchFamily="34" charset="0"/>
              </a:rPr>
              <a:t>,</a:t>
            </a:r>
            <a:r>
              <a:rPr lang="en-US" sz="3200" dirty="0">
                <a:latin typeface="Arial Nova Cond Light" panose="020B0306020202020204" pitchFamily="34" charset="0"/>
              </a:rPr>
              <a:t> rather than on the action of leaving.</a:t>
            </a:r>
          </a:p>
        </p:txBody>
      </p:sp>
    </p:spTree>
    <p:extLst>
      <p:ext uri="{BB962C8B-B14F-4D97-AF65-F5344CB8AC3E}">
        <p14:creationId xmlns:p14="http://schemas.microsoft.com/office/powerpoint/2010/main" val="2979525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FF80A715-483B-B972-D344-E285A188B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E67FD-54C7-BE04-2561-101CA7DEE2E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3E52C602-EFFD-CADD-EE9C-A0B190077E8E}"/>
              </a:ext>
            </a:extLst>
          </p:cNvPr>
          <p:cNvSpPr txBox="1"/>
          <p:nvPr/>
        </p:nvSpPr>
        <p:spPr>
          <a:xfrm>
            <a:off x="0" y="1302374"/>
            <a:ext cx="12192000" cy="830997"/>
          </a:xfrm>
          <a:prstGeom prst="rect">
            <a:avLst/>
          </a:prstGeom>
          <a:noFill/>
        </p:spPr>
        <p:txBody>
          <a:bodyPr wrap="square">
            <a:spAutoFit/>
          </a:bodyPr>
          <a:lstStyle/>
          <a:p>
            <a:pPr marL="90805" algn="ctr">
              <a:tabLst>
                <a:tab pos="883920" algn="l"/>
                <a:tab pos="2097405" algn="l"/>
              </a:tabLst>
            </a:pPr>
            <a:r>
              <a:rPr lang="en-US" sz="4800" dirty="0">
                <a:effectLst/>
                <a:latin typeface="Arial Narrow" panose="020B0606020202030204" pitchFamily="34" charset="0"/>
                <a:ea typeface="Times New Roman" panose="02020603050405020304" pitchFamily="18" charset="0"/>
              </a:rPr>
              <a:t>WHAT ARE THE RULES FOR USING BA?</a:t>
            </a:r>
            <a:endParaRPr lang="en-PH" sz="4800" dirty="0">
              <a:effectLst/>
              <a:latin typeface="Arial Narrow" panose="020B0606020202030204" pitchFamily="34" charset="0"/>
              <a:ea typeface="Times New Roman" panose="02020603050405020304" pitchFamily="18" charset="0"/>
            </a:endParaRPr>
          </a:p>
        </p:txBody>
      </p:sp>
    </p:spTree>
    <p:extLst>
      <p:ext uri="{BB962C8B-B14F-4D97-AF65-F5344CB8AC3E}">
        <p14:creationId xmlns:p14="http://schemas.microsoft.com/office/powerpoint/2010/main" val="289782443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CFCDF18F-AEC5-F677-D42F-DECEF7A81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BC027-7451-C1D1-C983-E621D5F334AE}"/>
              </a:ext>
            </a:extLst>
          </p:cNvPr>
          <p:cNvSpPr>
            <a:spLocks noGrp="1"/>
          </p:cNvSpPr>
          <p:nvPr>
            <p:ph type="title"/>
          </p:nvPr>
        </p:nvSpPr>
        <p:spPr>
          <a:xfrm>
            <a:off x="0" y="2177142"/>
            <a:ext cx="12131040" cy="2856204"/>
          </a:xfrm>
        </p:spPr>
        <p:txBody>
          <a:bodyPr>
            <a:noAutofit/>
          </a:bodyPr>
          <a:lstStyle/>
          <a:p>
            <a:pPr algn="l"/>
            <a:r>
              <a:rPr lang="en-US" b="1" cap="none" dirty="0">
                <a:latin typeface="Arial Nova Cond Light" panose="020B0306020202020204" pitchFamily="34" charset="0"/>
              </a:rPr>
              <a:t> </a:t>
            </a:r>
            <a:br>
              <a:rPr lang="en-PH" cap="none" dirty="0">
                <a:latin typeface="Arial Nova Cond Light" panose="020B0306020202020204" pitchFamily="34" charset="0"/>
              </a:rPr>
            </a:br>
            <a:r>
              <a:rPr lang="en-PH" cap="none" dirty="0">
                <a:solidFill>
                  <a:schemeClr val="tx1"/>
                </a:solidFill>
                <a:latin typeface="Arial Nova Cond Light" panose="020B0306020202020204" pitchFamily="34" charset="0"/>
              </a:rPr>
              <a:t>1. </a:t>
            </a:r>
            <a:r>
              <a:rPr lang="en-US" cap="none" dirty="0">
                <a:solidFill>
                  <a:schemeClr val="tx1"/>
                </a:solidFill>
                <a:latin typeface="Arial Nova Cond Light" panose="020B0306020202020204" pitchFamily="34" charset="0"/>
              </a:rPr>
              <a:t>To change a sentence in the </a:t>
            </a:r>
            <a:r>
              <a:rPr lang="en-US" cap="none" dirty="0">
                <a:solidFill>
                  <a:srgbClr val="FFFF00"/>
                </a:solidFill>
                <a:latin typeface="Arial Nova Cond Light" panose="020B0306020202020204" pitchFamily="34" charset="0"/>
              </a:rPr>
              <a:t>subject-predicate word order </a:t>
            </a:r>
            <a:r>
              <a:rPr lang="en-US" cap="none" dirty="0">
                <a:solidFill>
                  <a:schemeClr val="tx1"/>
                </a:solidFill>
                <a:latin typeface="Arial Nova Cond Light" panose="020B0306020202020204" pitchFamily="34" charset="0"/>
              </a:rPr>
              <a:t>into a question, place </a:t>
            </a:r>
            <a:r>
              <a:rPr lang="en-US" b="1" cap="none" dirty="0" err="1">
                <a:solidFill>
                  <a:srgbClr val="FFFF00"/>
                </a:solidFill>
                <a:latin typeface="Arial Nova Cond Light" panose="020B0306020202020204" pitchFamily="34" charset="0"/>
              </a:rPr>
              <a:t>ba</a:t>
            </a:r>
            <a:r>
              <a:rPr lang="en-US" b="1" cap="none" dirty="0">
                <a:solidFill>
                  <a:srgbClr val="FFFF00"/>
                </a:solidFill>
                <a:latin typeface="Arial Nova Cond Light" panose="020B0306020202020204" pitchFamily="34" charset="0"/>
              </a:rPr>
              <a:t> </a:t>
            </a:r>
            <a:r>
              <a:rPr lang="en-US" cap="none" dirty="0">
                <a:solidFill>
                  <a:schemeClr val="tx1"/>
                </a:solidFill>
                <a:latin typeface="Arial Nova Cond Light" panose="020B0306020202020204" pitchFamily="34" charset="0"/>
              </a:rPr>
              <a:t>immediately after the </a:t>
            </a:r>
            <a:r>
              <a:rPr lang="en-US" cap="none" dirty="0">
                <a:solidFill>
                  <a:srgbClr val="FFFF00"/>
                </a:solidFill>
                <a:latin typeface="Arial Nova Cond Light" panose="020B0306020202020204" pitchFamily="34" charset="0"/>
              </a:rPr>
              <a:t>subject</a:t>
            </a:r>
            <a:r>
              <a:rPr lang="en-US" cap="none" dirty="0">
                <a:solidFill>
                  <a:schemeClr val="tx1"/>
                </a:solidFill>
                <a:latin typeface="Arial Nova Cond Light" panose="020B0306020202020204" pitchFamily="34" charset="0"/>
              </a:rPr>
              <a:t> and just before </a:t>
            </a:r>
            <a:r>
              <a:rPr lang="en-US" b="1" cap="none" dirty="0">
                <a:solidFill>
                  <a:srgbClr val="FFFF00"/>
                </a:solidFill>
                <a:latin typeface="Arial Nova Cond Light" panose="020B0306020202020204" pitchFamily="34" charset="0"/>
              </a:rPr>
              <a:t>ay</a:t>
            </a:r>
            <a:r>
              <a:rPr lang="en-US" b="1" cap="none" dirty="0">
                <a:solidFill>
                  <a:schemeClr val="tx1"/>
                </a:solidFill>
                <a:latin typeface="Arial Nova Cond Light" panose="020B0306020202020204" pitchFamily="34" charset="0"/>
              </a:rPr>
              <a:t>. T</a:t>
            </a:r>
            <a:r>
              <a:rPr lang="en-US" cap="none" dirty="0">
                <a:solidFill>
                  <a:schemeClr val="tx1"/>
                </a:solidFill>
                <a:latin typeface="Arial Nova Cond Light" panose="020B0306020202020204" pitchFamily="34" charset="0"/>
              </a:rPr>
              <a:t>he sequence </a:t>
            </a:r>
            <a:r>
              <a:rPr lang="en-US" b="1" cap="none" dirty="0" err="1">
                <a:solidFill>
                  <a:srgbClr val="FFFF00"/>
                </a:solidFill>
                <a:latin typeface="Arial Nova Cond Light" panose="020B0306020202020204" pitchFamily="34" charset="0"/>
              </a:rPr>
              <a:t>ba</a:t>
            </a:r>
            <a:r>
              <a:rPr lang="en-US" b="1" cap="none" dirty="0">
                <a:solidFill>
                  <a:srgbClr val="FFFF00"/>
                </a:solidFill>
                <a:latin typeface="Arial Nova Cond Light" panose="020B0306020202020204" pitchFamily="34" charset="0"/>
              </a:rPr>
              <a:t> </a:t>
            </a:r>
            <a:r>
              <a:rPr lang="en-US" cap="none" dirty="0">
                <a:solidFill>
                  <a:srgbClr val="FFFF00"/>
                </a:solidFill>
                <a:latin typeface="Arial Nova Cond Light" panose="020B0306020202020204" pitchFamily="34" charset="0"/>
              </a:rPr>
              <a:t>+ </a:t>
            </a:r>
            <a:r>
              <a:rPr lang="en-US" b="1" cap="none" dirty="0">
                <a:solidFill>
                  <a:srgbClr val="FFFF00"/>
                </a:solidFill>
                <a:latin typeface="Arial Nova Cond Light" panose="020B0306020202020204" pitchFamily="34" charset="0"/>
              </a:rPr>
              <a:t>ay </a:t>
            </a:r>
            <a:r>
              <a:rPr lang="en-US" cap="none" dirty="0">
                <a:solidFill>
                  <a:schemeClr val="tx1"/>
                </a:solidFill>
                <a:latin typeface="Arial Nova Cond Light" panose="020B0306020202020204" pitchFamily="34" charset="0"/>
              </a:rPr>
              <a:t>is then often shortened into </a:t>
            </a:r>
            <a:r>
              <a:rPr lang="en-US" b="1" cap="none" dirty="0" err="1">
                <a:solidFill>
                  <a:srgbClr val="FFFF00"/>
                </a:solidFill>
                <a:latin typeface="Arial Nova Cond Light" panose="020B0306020202020204" pitchFamily="34" charset="0"/>
              </a:rPr>
              <a:t>ba'y</a:t>
            </a:r>
            <a:r>
              <a:rPr lang="en-US" b="1" cap="none" dirty="0">
                <a:solidFill>
                  <a:schemeClr val="tx1"/>
                </a:solidFill>
                <a:latin typeface="Arial Nova Cond Light" panose="020B0306020202020204" pitchFamily="34" charset="0"/>
              </a:rPr>
              <a:t>.</a:t>
            </a:r>
            <a:br>
              <a:rPr lang="en-PH"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Sila ay </a:t>
            </a:r>
            <a:r>
              <a:rPr lang="en-US" b="1" cap="none" dirty="0" err="1">
                <a:solidFill>
                  <a:schemeClr val="tx1"/>
                </a:solidFill>
                <a:latin typeface="Arial Nova Cond Light" panose="020B0306020202020204" pitchFamily="34" charset="0"/>
              </a:rPr>
              <a:t>aalis</a:t>
            </a:r>
            <a:r>
              <a:rPr lang="en-US" b="1" cap="none" dirty="0">
                <a:solidFill>
                  <a:schemeClr val="tx1"/>
                </a:solidFill>
                <a:latin typeface="Arial Nova Cond Light" panose="020B0306020202020204" pitchFamily="34" charset="0"/>
              </a:rPr>
              <a:t> </a:t>
            </a:r>
            <a:r>
              <a:rPr lang="en-US" b="1" cap="none" dirty="0" err="1">
                <a:solidFill>
                  <a:schemeClr val="tx1"/>
                </a:solidFill>
                <a:latin typeface="Arial Nova Cond Light" panose="020B0306020202020204" pitchFamily="34" charset="0"/>
              </a:rPr>
              <a:t>na.</a:t>
            </a:r>
            <a:r>
              <a:rPr lang="en-US" b="1" cap="none" dirty="0">
                <a:solidFill>
                  <a:schemeClr val="tx1"/>
                </a:solidFill>
                <a:latin typeface="Arial Nova Cond Light" panose="020B0306020202020204" pitchFamily="34" charset="0"/>
              </a:rPr>
              <a:t>			</a:t>
            </a:r>
            <a:r>
              <a:rPr lang="en-US" cap="none" dirty="0">
                <a:solidFill>
                  <a:schemeClr val="tx1"/>
                </a:solidFill>
                <a:latin typeface="Arial Nova Cond Light" panose="020B0306020202020204" pitchFamily="34" charset="0"/>
              </a:rPr>
              <a:t>They will leave already.</a:t>
            </a:r>
            <a:br>
              <a:rPr lang="en-PH"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Sila</a:t>
            </a:r>
            <a:r>
              <a:rPr lang="en-US" b="1" cap="none" dirty="0">
                <a:solidFill>
                  <a:srgbClr val="FFFF00"/>
                </a:solidFill>
                <a:latin typeface="Arial Nova Cond Light" panose="020B0306020202020204" pitchFamily="34" charset="0"/>
              </a:rPr>
              <a:t> </a:t>
            </a:r>
            <a:r>
              <a:rPr lang="en-US" b="1" cap="none" dirty="0" err="1">
                <a:solidFill>
                  <a:srgbClr val="FFFF00"/>
                </a:solidFill>
                <a:latin typeface="Arial Nova Cond Light" panose="020B0306020202020204" pitchFamily="34" charset="0"/>
              </a:rPr>
              <a:t>ba</a:t>
            </a:r>
            <a:r>
              <a:rPr lang="en-US" b="1" cap="none" dirty="0">
                <a:solidFill>
                  <a:srgbClr val="FFFF00"/>
                </a:solidFill>
                <a:latin typeface="Arial Nova Cond Light" panose="020B0306020202020204" pitchFamily="34" charset="0"/>
              </a:rPr>
              <a:t> </a:t>
            </a:r>
            <a:r>
              <a:rPr lang="en-US" b="1" cap="none" dirty="0">
                <a:solidFill>
                  <a:schemeClr val="tx1"/>
                </a:solidFill>
                <a:latin typeface="Arial Nova Cond Light" panose="020B0306020202020204" pitchFamily="34" charset="0"/>
              </a:rPr>
              <a:t>ay </a:t>
            </a:r>
            <a:r>
              <a:rPr lang="en-US" b="1" cap="none" dirty="0" err="1">
                <a:solidFill>
                  <a:schemeClr val="tx1"/>
                </a:solidFill>
                <a:latin typeface="Arial Nova Cond Light" panose="020B0306020202020204" pitchFamily="34" charset="0"/>
              </a:rPr>
              <a:t>aalis</a:t>
            </a:r>
            <a:r>
              <a:rPr lang="en-US" b="1" cap="none" dirty="0">
                <a:solidFill>
                  <a:schemeClr val="tx1"/>
                </a:solidFill>
                <a:latin typeface="Arial Nova Cond Light" panose="020B0306020202020204" pitchFamily="34" charset="0"/>
              </a:rPr>
              <a:t> </a:t>
            </a:r>
            <a:r>
              <a:rPr lang="en-US" b="1" cap="none" dirty="0" err="1">
                <a:solidFill>
                  <a:schemeClr val="tx1"/>
                </a:solidFill>
                <a:latin typeface="Arial Nova Cond Light" panose="020B0306020202020204" pitchFamily="34" charset="0"/>
              </a:rPr>
              <a:t>na</a:t>
            </a:r>
            <a:r>
              <a:rPr lang="en-US" b="1" cap="none" dirty="0">
                <a:solidFill>
                  <a:schemeClr val="tx1"/>
                </a:solidFill>
                <a:latin typeface="Arial Nova Cond Light" panose="020B0306020202020204" pitchFamily="34" charset="0"/>
              </a:rPr>
              <a:t>?			</a:t>
            </a:r>
            <a:r>
              <a:rPr lang="en-US" cap="none" dirty="0">
                <a:solidFill>
                  <a:schemeClr val="tx1"/>
                </a:solidFill>
                <a:latin typeface="Arial Nova Cond Light" panose="020B0306020202020204" pitchFamily="34" charset="0"/>
              </a:rPr>
              <a:t>Are they leaving now?</a:t>
            </a:r>
            <a:br>
              <a:rPr lang="en-PH"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Sila </a:t>
            </a:r>
            <a:r>
              <a:rPr lang="en-US" b="1" cap="none" dirty="0" err="1">
                <a:solidFill>
                  <a:schemeClr val="tx1"/>
                </a:solidFill>
                <a:latin typeface="Arial Nova Cond Light" panose="020B0306020202020204" pitchFamily="34" charset="0"/>
              </a:rPr>
              <a:t>ba'y</a:t>
            </a:r>
            <a:r>
              <a:rPr lang="en-US" b="1" cap="none" dirty="0">
                <a:solidFill>
                  <a:schemeClr val="tx1"/>
                </a:solidFill>
                <a:latin typeface="Arial Nova Cond Light" panose="020B0306020202020204" pitchFamily="34" charset="0"/>
              </a:rPr>
              <a:t> </a:t>
            </a:r>
            <a:r>
              <a:rPr lang="en-US" b="1" cap="none" dirty="0" err="1">
                <a:solidFill>
                  <a:schemeClr val="tx1"/>
                </a:solidFill>
                <a:latin typeface="Arial Nova Cond Light" panose="020B0306020202020204" pitchFamily="34" charset="0"/>
              </a:rPr>
              <a:t>aalis</a:t>
            </a:r>
            <a:r>
              <a:rPr lang="en-US" b="1" cap="none" dirty="0">
                <a:solidFill>
                  <a:schemeClr val="tx1"/>
                </a:solidFill>
                <a:latin typeface="Arial Nova Cond Light" panose="020B0306020202020204" pitchFamily="34" charset="0"/>
              </a:rPr>
              <a:t> </a:t>
            </a:r>
            <a:r>
              <a:rPr lang="en-US" b="1" cap="none" dirty="0" err="1">
                <a:solidFill>
                  <a:schemeClr val="tx1"/>
                </a:solidFill>
                <a:latin typeface="Arial Nova Cond Light" panose="020B0306020202020204" pitchFamily="34" charset="0"/>
              </a:rPr>
              <a:t>na</a:t>
            </a:r>
            <a:r>
              <a:rPr lang="en-US" b="1" cap="none" dirty="0">
                <a:solidFill>
                  <a:schemeClr val="tx1"/>
                </a:solidFill>
                <a:latin typeface="Arial Nova Cond Light" panose="020B0306020202020204" pitchFamily="34" charset="0"/>
              </a:rPr>
              <a:t>?</a:t>
            </a:r>
            <a:br>
              <a:rPr lang="en-US" b="1" cap="none" dirty="0">
                <a:solidFill>
                  <a:schemeClr val="tx1"/>
                </a:solidFill>
                <a:latin typeface="Arial Nova Cond Light" panose="020B0306020202020204" pitchFamily="34" charset="0"/>
              </a:rPr>
            </a:br>
            <a:br>
              <a:rPr lang="en-US"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Ang </a:t>
            </a:r>
            <a:r>
              <a:rPr lang="en-US" b="1" cap="none" dirty="0" err="1">
                <a:solidFill>
                  <a:schemeClr val="tx1"/>
                </a:solidFill>
                <a:latin typeface="Arial Nova Cond Light" panose="020B0306020202020204" pitchFamily="34" charset="0"/>
              </a:rPr>
              <a:t>babae</a:t>
            </a:r>
            <a:r>
              <a:rPr lang="en-US" b="1" cap="none" dirty="0">
                <a:solidFill>
                  <a:schemeClr val="tx1"/>
                </a:solidFill>
                <a:latin typeface="Arial Nova Cond Light" panose="020B0306020202020204" pitchFamily="34" charset="0"/>
              </a:rPr>
              <a:t> ay </a:t>
            </a:r>
            <a:r>
              <a:rPr lang="en-US" b="1" cap="none" dirty="0" err="1">
                <a:solidFill>
                  <a:schemeClr val="tx1"/>
                </a:solidFill>
                <a:latin typeface="Arial Nova Cond Light" panose="020B0306020202020204" pitchFamily="34" charset="0"/>
              </a:rPr>
              <a:t>mabait</a:t>
            </a:r>
            <a:r>
              <a:rPr lang="en-US" b="1" cap="none" dirty="0">
                <a:solidFill>
                  <a:schemeClr val="tx1"/>
                </a:solidFill>
                <a:latin typeface="Arial Nova Cond Light" panose="020B0306020202020204" pitchFamily="34" charset="0"/>
              </a:rPr>
              <a:t>. 		T</a:t>
            </a:r>
            <a:r>
              <a:rPr lang="en-US" cap="none" dirty="0">
                <a:solidFill>
                  <a:schemeClr val="tx1"/>
                </a:solidFill>
                <a:latin typeface="Arial Nova Cond Light" panose="020B0306020202020204" pitchFamily="34" charset="0"/>
              </a:rPr>
              <a:t>he woman </a:t>
            </a:r>
            <a:r>
              <a:rPr lang="en-US" i="1" cap="none" dirty="0">
                <a:solidFill>
                  <a:schemeClr val="tx1"/>
                </a:solidFill>
                <a:latin typeface="Arial Nova Cond Light" panose="020B0306020202020204" pitchFamily="34" charset="0"/>
              </a:rPr>
              <a:t>is </a:t>
            </a:r>
            <a:r>
              <a:rPr lang="en-US" cap="none" dirty="0">
                <a:solidFill>
                  <a:schemeClr val="tx1"/>
                </a:solidFill>
                <a:latin typeface="Arial Nova Cond Light" panose="020B0306020202020204" pitchFamily="34" charset="0"/>
              </a:rPr>
              <a:t>good/kind. </a:t>
            </a:r>
            <a:br>
              <a:rPr lang="en-US"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Ang </a:t>
            </a:r>
            <a:r>
              <a:rPr lang="en-US" b="1" cap="none" dirty="0" err="1">
                <a:solidFill>
                  <a:schemeClr val="tx1"/>
                </a:solidFill>
                <a:latin typeface="Arial Nova Cond Light" panose="020B0306020202020204" pitchFamily="34" charset="0"/>
              </a:rPr>
              <a:t>babae</a:t>
            </a:r>
            <a:r>
              <a:rPr lang="en-US" b="1" cap="none" dirty="0">
                <a:solidFill>
                  <a:schemeClr val="tx1"/>
                </a:solidFill>
                <a:latin typeface="Arial Nova Cond Light" panose="020B0306020202020204" pitchFamily="34" charset="0"/>
              </a:rPr>
              <a:t> </a:t>
            </a:r>
            <a:r>
              <a:rPr lang="en-US" b="1" cap="none" dirty="0" err="1">
                <a:solidFill>
                  <a:srgbClr val="FFFF00"/>
                </a:solidFill>
                <a:latin typeface="Arial Nova Cond Light" panose="020B0306020202020204" pitchFamily="34" charset="0"/>
              </a:rPr>
              <a:t>ba</a:t>
            </a:r>
            <a:r>
              <a:rPr lang="en-US" b="1" cap="none" dirty="0">
                <a:solidFill>
                  <a:srgbClr val="FFFF00"/>
                </a:solidFill>
                <a:latin typeface="Arial Nova Cond Light" panose="020B0306020202020204" pitchFamily="34" charset="0"/>
              </a:rPr>
              <a:t> </a:t>
            </a:r>
            <a:r>
              <a:rPr lang="en-US" b="1" cap="none" dirty="0">
                <a:solidFill>
                  <a:schemeClr val="tx1"/>
                </a:solidFill>
                <a:latin typeface="Arial Nova Cond Light" panose="020B0306020202020204" pitchFamily="34" charset="0"/>
              </a:rPr>
              <a:t>ay </a:t>
            </a:r>
            <a:r>
              <a:rPr lang="en-US" b="1" cap="none" dirty="0" err="1">
                <a:solidFill>
                  <a:schemeClr val="tx1"/>
                </a:solidFill>
                <a:latin typeface="Arial Nova Cond Light" panose="020B0306020202020204" pitchFamily="34" charset="0"/>
              </a:rPr>
              <a:t>mabait</a:t>
            </a:r>
            <a:r>
              <a:rPr lang="en-US" b="1" cap="none" dirty="0">
                <a:solidFill>
                  <a:schemeClr val="tx1"/>
                </a:solidFill>
                <a:latin typeface="Arial Nova Cond Light" panose="020B0306020202020204" pitchFamily="34" charset="0"/>
              </a:rPr>
              <a:t>?		I</a:t>
            </a:r>
            <a:r>
              <a:rPr lang="en-US" cap="none" dirty="0">
                <a:solidFill>
                  <a:schemeClr val="tx1"/>
                </a:solidFill>
                <a:latin typeface="Arial Nova Cond Light" panose="020B0306020202020204" pitchFamily="34" charset="0"/>
              </a:rPr>
              <a:t>s the woman good?</a:t>
            </a:r>
            <a:br>
              <a:rPr lang="en-US" b="1"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Ang </a:t>
            </a:r>
            <a:r>
              <a:rPr lang="en-US" b="1" cap="none" dirty="0" err="1">
                <a:solidFill>
                  <a:schemeClr val="tx1"/>
                </a:solidFill>
                <a:latin typeface="Arial Nova Cond Light" panose="020B0306020202020204" pitchFamily="34" charset="0"/>
              </a:rPr>
              <a:t>babae</a:t>
            </a:r>
            <a:r>
              <a:rPr lang="en-US" b="1" cap="none" dirty="0">
                <a:solidFill>
                  <a:schemeClr val="tx1"/>
                </a:solidFill>
                <a:latin typeface="Arial Nova Cond Light" panose="020B0306020202020204" pitchFamily="34" charset="0"/>
              </a:rPr>
              <a:t> </a:t>
            </a:r>
            <a:r>
              <a:rPr lang="en-US" b="1" cap="none" dirty="0" err="1">
                <a:solidFill>
                  <a:srgbClr val="FFFF00"/>
                </a:solidFill>
                <a:latin typeface="Arial Nova Cond Light" panose="020B0306020202020204" pitchFamily="34" charset="0"/>
              </a:rPr>
              <a:t>ba'y</a:t>
            </a:r>
            <a:r>
              <a:rPr lang="en-US" b="1" cap="none" dirty="0">
                <a:solidFill>
                  <a:schemeClr val="tx1"/>
                </a:solidFill>
                <a:latin typeface="Arial Nova Cond Light" panose="020B0306020202020204" pitchFamily="34" charset="0"/>
              </a:rPr>
              <a:t> </a:t>
            </a:r>
            <a:r>
              <a:rPr lang="en-US" b="1" cap="none" dirty="0" err="1">
                <a:solidFill>
                  <a:schemeClr val="tx1"/>
                </a:solidFill>
                <a:latin typeface="Arial Nova Cond Light" panose="020B0306020202020204" pitchFamily="34" charset="0"/>
              </a:rPr>
              <a:t>mabait</a:t>
            </a:r>
            <a:r>
              <a:rPr lang="en-US" b="1" cap="none" dirty="0">
                <a:solidFill>
                  <a:schemeClr val="tx1"/>
                </a:solidFill>
                <a:latin typeface="Arial Nova Cond Light" panose="020B0306020202020204" pitchFamily="34" charset="0"/>
              </a:rPr>
              <a:t>?</a:t>
            </a:r>
            <a:br>
              <a:rPr lang="en-US" b="1" cap="none" dirty="0">
                <a:solidFill>
                  <a:schemeClr val="tx1"/>
                </a:solidFill>
                <a:latin typeface="Arial Nova Cond Light" panose="020B0306020202020204" pitchFamily="34" charset="0"/>
              </a:rPr>
            </a:br>
            <a:br>
              <a:rPr lang="en-PH"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Si Pedro ay </a:t>
            </a:r>
            <a:r>
              <a:rPr lang="en-US" b="1" cap="none" dirty="0" err="1">
                <a:solidFill>
                  <a:schemeClr val="tx1"/>
                </a:solidFill>
                <a:latin typeface="Arial Nova Cond Light" panose="020B0306020202020204" pitchFamily="34" charset="0"/>
              </a:rPr>
              <a:t>marunong</a:t>
            </a:r>
            <a:r>
              <a:rPr lang="en-US" b="1" cap="none" dirty="0">
                <a:solidFill>
                  <a:schemeClr val="tx1"/>
                </a:solidFill>
                <a:latin typeface="Arial Nova Cond Light" panose="020B0306020202020204" pitchFamily="34" charset="0"/>
              </a:rPr>
              <a:t>.		</a:t>
            </a:r>
            <a:r>
              <a:rPr lang="en-US" cap="none" dirty="0">
                <a:solidFill>
                  <a:schemeClr val="tx1"/>
                </a:solidFill>
                <a:latin typeface="Arial Nova Cond Light" panose="020B0306020202020204" pitchFamily="34" charset="0"/>
              </a:rPr>
              <a:t> Pedro is intelligent. </a:t>
            </a:r>
            <a:br>
              <a:rPr lang="en-PH"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Si Pedro </a:t>
            </a:r>
            <a:r>
              <a:rPr lang="en-US" b="1" cap="none" dirty="0" err="1">
                <a:solidFill>
                  <a:srgbClr val="FFFF00"/>
                </a:solidFill>
                <a:latin typeface="Arial Nova Cond Light" panose="020B0306020202020204" pitchFamily="34" charset="0"/>
              </a:rPr>
              <a:t>ba</a:t>
            </a:r>
            <a:r>
              <a:rPr lang="en-US" b="1" cap="none" dirty="0">
                <a:solidFill>
                  <a:schemeClr val="tx1"/>
                </a:solidFill>
                <a:latin typeface="Arial Nova Cond Light" panose="020B0306020202020204" pitchFamily="34" charset="0"/>
              </a:rPr>
              <a:t> ay </a:t>
            </a:r>
            <a:r>
              <a:rPr lang="en-US" b="1" cap="none" dirty="0" err="1">
                <a:solidFill>
                  <a:schemeClr val="tx1"/>
                </a:solidFill>
                <a:latin typeface="Arial Nova Cond Light" panose="020B0306020202020204" pitchFamily="34" charset="0"/>
              </a:rPr>
              <a:t>marunong</a:t>
            </a:r>
            <a:r>
              <a:rPr lang="en-US" b="1" cap="none" dirty="0">
                <a:solidFill>
                  <a:schemeClr val="tx1"/>
                </a:solidFill>
                <a:latin typeface="Arial Nova Cond Light" panose="020B0306020202020204" pitchFamily="34" charset="0"/>
              </a:rPr>
              <a:t>?	</a:t>
            </a:r>
            <a:r>
              <a:rPr lang="en-US" cap="none" dirty="0">
                <a:solidFill>
                  <a:schemeClr val="tx1"/>
                </a:solidFill>
                <a:latin typeface="Arial Nova Cond Light" panose="020B0306020202020204" pitchFamily="34" charset="0"/>
              </a:rPr>
              <a:t> ls Pedro intelligent?</a:t>
            </a:r>
            <a:br>
              <a:rPr lang="en-US" b="1" cap="none" dirty="0">
                <a:solidFill>
                  <a:schemeClr val="tx1"/>
                </a:solidFill>
                <a:latin typeface="Arial Nova Cond Light" panose="020B0306020202020204" pitchFamily="34" charset="0"/>
              </a:rPr>
            </a:br>
            <a:r>
              <a:rPr lang="en-US" b="1" cap="none" dirty="0">
                <a:solidFill>
                  <a:schemeClr val="tx1"/>
                </a:solidFill>
                <a:latin typeface="Arial Nova Cond Light" panose="020B0306020202020204" pitchFamily="34" charset="0"/>
              </a:rPr>
              <a:t>Si Pedro </a:t>
            </a:r>
            <a:r>
              <a:rPr lang="en-US" b="1" cap="none" dirty="0" err="1">
                <a:solidFill>
                  <a:srgbClr val="FFFF00"/>
                </a:solidFill>
                <a:latin typeface="Arial Nova Cond Light" panose="020B0306020202020204" pitchFamily="34" charset="0"/>
              </a:rPr>
              <a:t>ba'y</a:t>
            </a:r>
            <a:r>
              <a:rPr lang="en-US" b="1" cap="none" dirty="0">
                <a:solidFill>
                  <a:schemeClr val="tx1"/>
                </a:solidFill>
                <a:latin typeface="Arial Nova Cond Light" panose="020B0306020202020204" pitchFamily="34" charset="0"/>
              </a:rPr>
              <a:t> </a:t>
            </a:r>
            <a:r>
              <a:rPr lang="en-US" b="1" cap="none" dirty="0" err="1">
                <a:solidFill>
                  <a:schemeClr val="tx1"/>
                </a:solidFill>
                <a:latin typeface="Arial Nova Cond Light" panose="020B0306020202020204" pitchFamily="34" charset="0"/>
              </a:rPr>
              <a:t>marunong</a:t>
            </a:r>
            <a:r>
              <a:rPr lang="en-US" b="1" cap="none" dirty="0">
                <a:solidFill>
                  <a:schemeClr val="tx1"/>
                </a:solidFill>
                <a:latin typeface="Arial Nova Cond Light" panose="020B0306020202020204" pitchFamily="34" charset="0"/>
              </a:rPr>
              <a:t>?</a:t>
            </a:r>
            <a:br>
              <a:rPr lang="en-US" cap="none" dirty="0">
                <a:solidFill>
                  <a:schemeClr val="tx1"/>
                </a:solidFill>
                <a:latin typeface="Arial Nova Cond Light" panose="020B0306020202020204" pitchFamily="34" charset="0"/>
              </a:rPr>
            </a:br>
            <a:br>
              <a:rPr lang="en-PH" cap="none" dirty="0">
                <a:solidFill>
                  <a:schemeClr val="tx1"/>
                </a:solidFill>
                <a:latin typeface="Arial Nova Cond Light" panose="020B0306020202020204" pitchFamily="34" charset="0"/>
              </a:rPr>
            </a:br>
            <a:br>
              <a:rPr lang="en-US" cap="none" dirty="0">
                <a:latin typeface="Arial Nova Cond Light" panose="020B0306020202020204" pitchFamily="34" charset="0"/>
              </a:rPr>
            </a:br>
            <a:endParaRPr lang="en-US" cap="none" dirty="0">
              <a:solidFill>
                <a:schemeClr val="tx1"/>
              </a:solidFill>
              <a:latin typeface="Arial Nova Cond Light" panose="020B0306020202020204" pitchFamily="34" charset="0"/>
              <a:ea typeface="+mn-ea"/>
              <a:cs typeface="+mn-cs"/>
            </a:endParaRPr>
          </a:p>
        </p:txBody>
      </p:sp>
    </p:spTree>
    <p:extLst>
      <p:ext uri="{BB962C8B-B14F-4D97-AF65-F5344CB8AC3E}">
        <p14:creationId xmlns:p14="http://schemas.microsoft.com/office/powerpoint/2010/main" val="91670683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25380-63AB-5022-0777-7F860885B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232C5-3052-C8AA-5D16-1A4719F5F6DC}"/>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7" name="TextBox 6">
            <a:extLst>
              <a:ext uri="{FF2B5EF4-FFF2-40B4-BE49-F238E27FC236}">
                <a16:creationId xmlns:a16="http://schemas.microsoft.com/office/drawing/2014/main" id="{48C2F637-09B2-540E-29E6-FC162F40AFA6}"/>
              </a:ext>
            </a:extLst>
          </p:cNvPr>
          <p:cNvSpPr txBox="1"/>
          <p:nvPr/>
        </p:nvSpPr>
        <p:spPr>
          <a:xfrm>
            <a:off x="296333" y="220133"/>
            <a:ext cx="11599333" cy="4247317"/>
          </a:xfrm>
          <a:prstGeom prst="rect">
            <a:avLst/>
          </a:prstGeom>
          <a:noFill/>
        </p:spPr>
        <p:txBody>
          <a:bodyPr wrap="square">
            <a:spAutoFit/>
          </a:bodyPr>
          <a:lstStyle/>
          <a:p>
            <a:r>
              <a:rPr lang="en-US" sz="2800" dirty="0">
                <a:latin typeface="Arial Narrow" panose="020B0606020202030204" pitchFamily="34" charset="0"/>
              </a:rPr>
              <a:t> 					</a:t>
            </a:r>
            <a:r>
              <a:rPr lang="en-US" sz="3600" dirty="0">
                <a:latin typeface="Arial Narrow" panose="020B0606020202030204" pitchFamily="34" charset="0"/>
              </a:rPr>
              <a:t>		</a:t>
            </a:r>
            <a:r>
              <a:rPr lang="en-US" sz="4000" dirty="0">
                <a:latin typeface="Arial Narrow" panose="020B0606020202030204" pitchFamily="34" charset="0"/>
              </a:rPr>
              <a:t>	</a:t>
            </a:r>
            <a:r>
              <a:rPr lang="en-US" sz="4000" dirty="0">
                <a:solidFill>
                  <a:srgbClr val="FFFF00"/>
                </a:solidFill>
                <a:latin typeface="Arial Narrow" panose="020B0606020202030204" pitchFamily="34" charset="0"/>
              </a:rPr>
              <a:t>	</a:t>
            </a:r>
            <a:r>
              <a:rPr lang="en-US" sz="4000" b="1" dirty="0">
                <a:solidFill>
                  <a:srgbClr val="FFFF00"/>
                </a:solidFill>
                <a:latin typeface="Arial Nova Cond Light" panose="020B0306020202020204" pitchFamily="34" charset="0"/>
              </a:rPr>
              <a:t>Vocabulary List</a:t>
            </a:r>
            <a:endParaRPr lang="en-PH" sz="4000" dirty="0">
              <a:solidFill>
                <a:srgbClr val="FFFF00"/>
              </a:solidFill>
              <a:latin typeface="Arial Nova Cond Light" panose="020B0306020202020204" pitchFamily="34" charset="0"/>
            </a:endParaRPr>
          </a:p>
          <a:p>
            <a:r>
              <a:rPr lang="en-US" sz="3600" b="1" dirty="0" err="1">
                <a:latin typeface="Arial Nova Cond Light" panose="020B0306020202020204" pitchFamily="34" charset="0"/>
              </a:rPr>
              <a:t>aalis</a:t>
            </a:r>
            <a:r>
              <a:rPr lang="en-US" sz="3600" b="1" dirty="0">
                <a:latin typeface="Arial Nova Cond Light" panose="020B0306020202020204" pitchFamily="34" charset="0"/>
              </a:rPr>
              <a:t> </a:t>
            </a:r>
            <a:r>
              <a:rPr lang="en-US" sz="3600" dirty="0">
                <a:latin typeface="Arial Nova Cond Light" panose="020B0306020202020204" pitchFamily="34" charset="0"/>
              </a:rPr>
              <a:t>= is/are leaving					</a:t>
            </a:r>
            <a:r>
              <a:rPr lang="en-US" sz="3600" b="1" dirty="0" err="1">
                <a:latin typeface="Arial Nova Cond Light" panose="020B0306020202020204" pitchFamily="34" charset="0"/>
              </a:rPr>
              <a:t>radyo</a:t>
            </a:r>
            <a:r>
              <a:rPr lang="en-US" sz="3600" b="1" dirty="0">
                <a:latin typeface="Arial Nova Cond Light" panose="020B0306020202020204" pitchFamily="34" charset="0"/>
              </a:rPr>
              <a:t> </a:t>
            </a:r>
            <a:r>
              <a:rPr lang="en-US" sz="3600" dirty="0">
                <a:latin typeface="Arial Nova Cond Light" panose="020B0306020202020204" pitchFamily="34" charset="0"/>
              </a:rPr>
              <a:t>= radio</a:t>
            </a:r>
          </a:p>
          <a:p>
            <a:r>
              <a:rPr lang="en-US" sz="3600" b="1" dirty="0" err="1">
                <a:latin typeface="Arial Nova Cond Light" panose="020B0306020202020204" pitchFamily="34" charset="0"/>
              </a:rPr>
              <a:t>magkano</a:t>
            </a:r>
            <a:r>
              <a:rPr lang="en-US" sz="3600" b="1" dirty="0">
                <a:latin typeface="Arial Nova Cond Light" panose="020B0306020202020204" pitchFamily="34" charset="0"/>
              </a:rPr>
              <a:t> </a:t>
            </a:r>
            <a:r>
              <a:rPr lang="en-US" sz="3600" dirty="0">
                <a:latin typeface="Arial Nova Cond Light" panose="020B0306020202020204" pitchFamily="34" charset="0"/>
              </a:rPr>
              <a:t>= how much 				</a:t>
            </a:r>
            <a:r>
              <a:rPr lang="en-US" sz="3600" b="1" dirty="0" err="1">
                <a:latin typeface="Arial Nova Cond Light" panose="020B0306020202020204" pitchFamily="34" charset="0"/>
              </a:rPr>
              <a:t>kaibigan</a:t>
            </a:r>
            <a:r>
              <a:rPr lang="en-US" sz="3600" b="1" dirty="0">
                <a:latin typeface="Arial Nova Cond Light" panose="020B0306020202020204" pitchFamily="34" charset="0"/>
              </a:rPr>
              <a:t> </a:t>
            </a:r>
            <a:r>
              <a:rPr lang="en-US" sz="3600" dirty="0">
                <a:latin typeface="Arial Nova Cond Light" panose="020B0306020202020204" pitchFamily="34" charset="0"/>
              </a:rPr>
              <a:t>= friend</a:t>
            </a:r>
            <a:br>
              <a:rPr lang="en-US" sz="3600" dirty="0">
                <a:latin typeface="Arial Nova Cond Light" panose="020B0306020202020204" pitchFamily="34" charset="0"/>
              </a:rPr>
            </a:br>
            <a:r>
              <a:rPr lang="en-US" sz="3600" b="1" dirty="0" err="1">
                <a:latin typeface="Arial Nova Cond Light" panose="020B0306020202020204" pitchFamily="34" charset="0"/>
              </a:rPr>
              <a:t>matapang</a:t>
            </a:r>
            <a:r>
              <a:rPr lang="en-US" sz="3600" b="1" dirty="0">
                <a:latin typeface="Arial Nova Cond Light" panose="020B0306020202020204" pitchFamily="34" charset="0"/>
              </a:rPr>
              <a:t> </a:t>
            </a:r>
            <a:r>
              <a:rPr lang="en-US" sz="3600" dirty="0">
                <a:latin typeface="Arial Nova Cond Light" panose="020B0306020202020204" pitchFamily="34" charset="0"/>
              </a:rPr>
              <a:t>= brave 						</a:t>
            </a:r>
            <a:r>
              <a:rPr lang="en-US" sz="3600" b="1" dirty="0">
                <a:latin typeface="Arial Nova Cond Light" panose="020B0306020202020204" pitchFamily="34" charset="0"/>
              </a:rPr>
              <a:t>marumi</a:t>
            </a:r>
            <a:r>
              <a:rPr lang="en-US" sz="3600" dirty="0">
                <a:latin typeface="Arial Nova Cond Light" panose="020B0306020202020204" pitchFamily="34" charset="0"/>
              </a:rPr>
              <a:t> = dirty</a:t>
            </a:r>
          </a:p>
          <a:p>
            <a:r>
              <a:rPr lang="en-US" sz="3600" b="1" dirty="0" err="1">
                <a:latin typeface="Arial Nova Cond Light" panose="020B0306020202020204" pitchFamily="34" charset="0"/>
              </a:rPr>
              <a:t>kasama</a:t>
            </a:r>
            <a:r>
              <a:rPr lang="en-US" sz="3600" b="1" dirty="0">
                <a:latin typeface="Arial Nova Cond Light" panose="020B0306020202020204" pitchFamily="34" charset="0"/>
              </a:rPr>
              <a:t> </a:t>
            </a:r>
            <a:r>
              <a:rPr lang="en-US" sz="3600" dirty="0">
                <a:latin typeface="Arial Nova Cond Light" panose="020B0306020202020204" pitchFamily="34" charset="0"/>
              </a:rPr>
              <a:t>= companion 					</a:t>
            </a:r>
            <a:r>
              <a:rPr lang="en-US" sz="3600" b="1" dirty="0" err="1">
                <a:latin typeface="Arial Nova Cond Light" panose="020B0306020202020204" pitchFamily="34" charset="0"/>
              </a:rPr>
              <a:t>magsalita</a:t>
            </a:r>
            <a:r>
              <a:rPr lang="en-US" sz="3600" b="1" dirty="0">
                <a:latin typeface="Arial Nova Cond Light" panose="020B0306020202020204" pitchFamily="34" charset="0"/>
              </a:rPr>
              <a:t> </a:t>
            </a:r>
            <a:r>
              <a:rPr lang="en-US" sz="3600" dirty="0">
                <a:latin typeface="Arial Nova Cond Light" panose="020B0306020202020204" pitchFamily="34" charset="0"/>
              </a:rPr>
              <a:t>= to speak up</a:t>
            </a:r>
          </a:p>
          <a:p>
            <a:endParaRPr lang="en-US" sz="3600" dirty="0">
              <a:latin typeface="Arial Nova Cond Light" panose="020B0306020202020204" pitchFamily="34" charset="0"/>
            </a:endParaRPr>
          </a:p>
          <a:p>
            <a:endParaRPr lang="en-PH" dirty="0">
              <a:latin typeface="Arial Nova Cond Light" panose="020B0306020202020204" pitchFamily="34" charset="0"/>
            </a:endParaRPr>
          </a:p>
          <a:p>
            <a:endParaRPr lang="en-US" sz="3200" dirty="0">
              <a:latin typeface="Arial Narrow" panose="020B0606020202030204" pitchFamily="34" charset="0"/>
            </a:endParaRPr>
          </a:p>
        </p:txBody>
      </p:sp>
    </p:spTree>
    <p:extLst>
      <p:ext uri="{BB962C8B-B14F-4D97-AF65-F5344CB8AC3E}">
        <p14:creationId xmlns:p14="http://schemas.microsoft.com/office/powerpoint/2010/main" val="460937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F9874-F104-AB45-B871-48F527805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AAE8B-0A28-8736-5C07-98C0D000014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27C7F417-607D-A2B2-2A48-A613959ADFF8}"/>
              </a:ext>
            </a:extLst>
          </p:cNvPr>
          <p:cNvSpPr txBox="1"/>
          <p:nvPr/>
        </p:nvSpPr>
        <p:spPr>
          <a:xfrm>
            <a:off x="0" y="321733"/>
            <a:ext cx="12252959" cy="6740307"/>
          </a:xfrm>
          <a:prstGeom prst="rect">
            <a:avLst/>
          </a:prstGeom>
          <a:noFill/>
        </p:spPr>
        <p:txBody>
          <a:bodyPr wrap="square">
            <a:spAutoFit/>
          </a:bodyPr>
          <a:lstStyle/>
          <a:p>
            <a:pPr lvl="0"/>
            <a:r>
              <a:rPr lang="en-US" sz="3200" dirty="0">
                <a:latin typeface="Arial Nova Cond Light" panose="020B0306020202020204" pitchFamily="34" charset="0"/>
              </a:rPr>
              <a:t>2. To change a sentence in the </a:t>
            </a:r>
            <a:r>
              <a:rPr lang="en-US" sz="3200" dirty="0">
                <a:solidFill>
                  <a:srgbClr val="FFFF00"/>
                </a:solidFill>
                <a:latin typeface="Arial Nova Cond Light" panose="020B0306020202020204" pitchFamily="34" charset="0"/>
              </a:rPr>
              <a:t>inverted or transposed word order </a:t>
            </a:r>
            <a:r>
              <a:rPr lang="en-US" sz="3200" dirty="0">
                <a:latin typeface="Arial Nova Cond Light" panose="020B0306020202020204" pitchFamily="34" charset="0"/>
              </a:rPr>
              <a:t>into a question, place </a:t>
            </a:r>
            <a:r>
              <a:rPr lang="en-US" sz="3200" b="1" dirty="0" err="1">
                <a:solidFill>
                  <a:srgbClr val="FFFF00"/>
                </a:solidFill>
                <a:latin typeface="Arial Nova Cond Light" panose="020B0306020202020204" pitchFamily="34" charset="0"/>
              </a:rPr>
              <a:t>ba</a:t>
            </a:r>
            <a:r>
              <a:rPr lang="en-US" sz="3200" b="1" dirty="0">
                <a:solidFill>
                  <a:srgbClr val="FFFF00"/>
                </a:solidFill>
                <a:latin typeface="Arial Nova Cond Light" panose="020B0306020202020204" pitchFamily="34" charset="0"/>
              </a:rPr>
              <a:t> </a:t>
            </a:r>
            <a:r>
              <a:rPr lang="en-US" sz="3200" dirty="0">
                <a:latin typeface="Arial Nova Cond Light" panose="020B0306020202020204" pitchFamily="34" charset="0"/>
              </a:rPr>
              <a:t>immediately after the </a:t>
            </a:r>
            <a:r>
              <a:rPr lang="en-US" sz="3200" dirty="0">
                <a:solidFill>
                  <a:srgbClr val="FFFF00"/>
                </a:solidFill>
                <a:latin typeface="Arial Nova Cond Light" panose="020B0306020202020204" pitchFamily="34" charset="0"/>
              </a:rPr>
              <a:t>predicate</a:t>
            </a:r>
            <a:r>
              <a:rPr lang="en-US" sz="3200" dirty="0">
                <a:latin typeface="Arial Nova Cond Light" panose="020B0306020202020204" pitchFamily="34" charset="0"/>
              </a:rPr>
              <a:t>.</a:t>
            </a:r>
            <a:br>
              <a:rPr lang="en-US" sz="3200" dirty="0">
                <a:latin typeface="Arial Nova Cond Light" panose="020B0306020202020204" pitchFamily="34" charset="0"/>
              </a:rPr>
            </a:br>
            <a:r>
              <a:rPr lang="en-US" sz="3200" b="1" dirty="0">
                <a:latin typeface="Arial Nova Cond Light" panose="020B0306020202020204" pitchFamily="34" charset="0"/>
              </a:rPr>
              <a:t>Aalis </a:t>
            </a:r>
            <a:r>
              <a:rPr lang="en-US" sz="3200" b="1" dirty="0" err="1">
                <a:latin typeface="Arial Nova Cond Light" panose="020B0306020202020204" pitchFamily="34" charset="0"/>
              </a:rPr>
              <a:t>sila</a:t>
            </a:r>
            <a:r>
              <a:rPr lang="en-US" sz="3200" b="1" dirty="0">
                <a:latin typeface="Arial Nova Cond Light" panose="020B0306020202020204" pitchFamily="34" charset="0"/>
              </a:rPr>
              <a:t>. 							</a:t>
            </a:r>
            <a:r>
              <a:rPr lang="en-US" sz="3200" dirty="0">
                <a:latin typeface="Arial Nova Cond Light" panose="020B0306020202020204" pitchFamily="34" charset="0"/>
              </a:rPr>
              <a:t> They will leave. </a:t>
            </a:r>
            <a:endParaRPr lang="en-US" sz="3200" b="1" dirty="0">
              <a:latin typeface="Arial Nova Cond Light" panose="020B0306020202020204" pitchFamily="34" charset="0"/>
            </a:endParaRPr>
          </a:p>
          <a:p>
            <a:r>
              <a:rPr lang="en-US" sz="3200" b="1" dirty="0">
                <a:latin typeface="Arial Nova Cond Light" panose="020B0306020202020204" pitchFamily="34" charset="0"/>
              </a:rPr>
              <a:t>Aalis </a:t>
            </a:r>
            <a:r>
              <a:rPr lang="en-US" sz="3200" b="1" dirty="0" err="1">
                <a:solidFill>
                  <a:srgbClr val="FFFF00"/>
                </a:solidFill>
                <a:latin typeface="Arial Nova Cond Light" panose="020B0306020202020204" pitchFamily="34" charset="0"/>
              </a:rPr>
              <a:t>ba</a:t>
            </a:r>
            <a:r>
              <a:rPr lang="en-US" sz="3200" b="1" dirty="0">
                <a:latin typeface="Arial Nova Cond Light" panose="020B0306020202020204" pitchFamily="34" charset="0"/>
              </a:rPr>
              <a:t> </a:t>
            </a:r>
            <a:r>
              <a:rPr lang="en-US" sz="3200" b="1" dirty="0" err="1">
                <a:latin typeface="Arial Nova Cond Light" panose="020B0306020202020204" pitchFamily="34" charset="0"/>
              </a:rPr>
              <a:t>sila</a:t>
            </a:r>
            <a:r>
              <a:rPr lang="en-US" sz="3200" b="1" dirty="0">
                <a:latin typeface="Arial Nova Cond Light" panose="020B0306020202020204" pitchFamily="34" charset="0"/>
              </a:rPr>
              <a:t>?						 </a:t>
            </a:r>
            <a:r>
              <a:rPr lang="en-US" sz="3200" dirty="0">
                <a:latin typeface="Arial Nova Cond Light" panose="020B0306020202020204" pitchFamily="34" charset="0"/>
              </a:rPr>
              <a:t>Will they leave?</a:t>
            </a:r>
            <a:endParaRPr lang="en-PH" sz="3200" dirty="0">
              <a:latin typeface="Arial Nova Cond Light" panose="020B0306020202020204" pitchFamily="34" charset="0"/>
            </a:endParaRPr>
          </a:p>
          <a:p>
            <a:endParaRPr lang="en-PH" sz="3200" dirty="0">
              <a:latin typeface="Arial Nova Cond Light" panose="020B0306020202020204" pitchFamily="34" charset="0"/>
            </a:endParaRPr>
          </a:p>
          <a:p>
            <a:r>
              <a:rPr lang="en-US" sz="3200" b="1" dirty="0" err="1">
                <a:latin typeface="Arial Nova Cond Light" panose="020B0306020202020204" pitchFamily="34" charset="0"/>
              </a:rPr>
              <a:t>Mabait</a:t>
            </a:r>
            <a:r>
              <a:rPr lang="en-US" sz="3200" b="1" dirty="0">
                <a:latin typeface="Arial Nova Cond Light" panose="020B0306020202020204" pitchFamily="34" charset="0"/>
              </a:rPr>
              <a:t> ang </a:t>
            </a:r>
            <a:r>
              <a:rPr lang="en-US" sz="3200" b="1" dirty="0" err="1">
                <a:latin typeface="Arial Nova Cond Light" panose="020B0306020202020204" pitchFamily="34" charset="0"/>
              </a:rPr>
              <a:t>babae</a:t>
            </a:r>
            <a:r>
              <a:rPr lang="en-US" sz="3200" b="1" dirty="0">
                <a:latin typeface="Arial Nova Cond Light" panose="020B0306020202020204" pitchFamily="34" charset="0"/>
              </a:rPr>
              <a:t>. 					</a:t>
            </a:r>
            <a:r>
              <a:rPr lang="en-US" sz="3200" dirty="0">
                <a:latin typeface="Arial Nova Cond Light" panose="020B0306020202020204" pitchFamily="34" charset="0"/>
              </a:rPr>
              <a:t>The woman is good .</a:t>
            </a:r>
          </a:p>
          <a:p>
            <a:r>
              <a:rPr lang="en-US" sz="3200" b="1" dirty="0" err="1">
                <a:latin typeface="Arial Nova Cond Light" panose="020B0306020202020204" pitchFamily="34" charset="0"/>
              </a:rPr>
              <a:t>Mabait</a:t>
            </a:r>
            <a:r>
              <a:rPr lang="en-US" sz="3200" b="1" dirty="0">
                <a:latin typeface="Arial Nova Cond Light" panose="020B0306020202020204" pitchFamily="34" charset="0"/>
              </a:rPr>
              <a:t> </a:t>
            </a:r>
            <a:r>
              <a:rPr lang="en-US" sz="3200" b="1" dirty="0" err="1">
                <a:solidFill>
                  <a:srgbClr val="FFFF00"/>
                </a:solidFill>
                <a:latin typeface="Arial Nova Cond Light" panose="020B0306020202020204" pitchFamily="34" charset="0"/>
              </a:rPr>
              <a:t>ba</a:t>
            </a:r>
            <a:r>
              <a:rPr lang="en-US" sz="3200" b="1" dirty="0">
                <a:latin typeface="Arial Nova Cond Light" panose="020B0306020202020204" pitchFamily="34" charset="0"/>
              </a:rPr>
              <a:t> ang </a:t>
            </a:r>
            <a:r>
              <a:rPr lang="en-US" sz="3200" b="1" dirty="0" err="1">
                <a:latin typeface="Arial Nova Cond Light" panose="020B0306020202020204" pitchFamily="34" charset="0"/>
              </a:rPr>
              <a:t>babae</a:t>
            </a:r>
            <a:r>
              <a:rPr lang="en-US" sz="3200" b="1" dirty="0">
                <a:latin typeface="Arial Nova Cond Light" panose="020B0306020202020204" pitchFamily="34" charset="0"/>
              </a:rPr>
              <a:t>?				 </a:t>
            </a:r>
            <a:r>
              <a:rPr lang="en-US" sz="3200" dirty="0">
                <a:latin typeface="Arial Nova Cond Light" panose="020B0306020202020204" pitchFamily="34" charset="0"/>
              </a:rPr>
              <a:t>Is the woman good?</a:t>
            </a:r>
            <a:endParaRPr lang="en-US" sz="3200" b="1" dirty="0">
              <a:latin typeface="Arial Nova Cond Light" panose="020B0306020202020204" pitchFamily="34" charset="0"/>
            </a:endParaRPr>
          </a:p>
          <a:p>
            <a:br>
              <a:rPr lang="en-US" sz="3200" dirty="0">
                <a:latin typeface="Arial Nova Cond Light" panose="020B0306020202020204" pitchFamily="34" charset="0"/>
              </a:rPr>
            </a:br>
            <a:r>
              <a:rPr lang="en-US" sz="3200" b="1" dirty="0" err="1">
                <a:latin typeface="Arial Nova Cond Light" panose="020B0306020202020204" pitchFamily="34" charset="0"/>
              </a:rPr>
              <a:t>Kakain</a:t>
            </a:r>
            <a:r>
              <a:rPr lang="en-US" sz="3200" b="1" dirty="0">
                <a:latin typeface="Arial Nova Cond Light" panose="020B0306020202020204" pitchFamily="34" charset="0"/>
              </a:rPr>
              <a:t> </a:t>
            </a:r>
            <a:r>
              <a:rPr lang="en-US" sz="3200" b="1" dirty="0" err="1">
                <a:latin typeface="Arial Nova Cond Light" panose="020B0306020202020204" pitchFamily="34" charset="0"/>
              </a:rPr>
              <a:t>ako</a:t>
            </a:r>
            <a:r>
              <a:rPr lang="en-US" sz="3200" b="1" dirty="0">
                <a:latin typeface="Arial Nova Cond Light" panose="020B0306020202020204" pitchFamily="34" charset="0"/>
              </a:rPr>
              <a:t>. 						</a:t>
            </a:r>
            <a:r>
              <a:rPr lang="en-US" sz="3200" dirty="0">
                <a:latin typeface="Arial Nova Cond Light" panose="020B0306020202020204" pitchFamily="34" charset="0"/>
              </a:rPr>
              <a:t> I shall eat.</a:t>
            </a:r>
            <a:endParaRPr lang="en-US" sz="3200" b="1" dirty="0">
              <a:latin typeface="Arial Nova Cond Light" panose="020B0306020202020204" pitchFamily="34" charset="0"/>
            </a:endParaRPr>
          </a:p>
          <a:p>
            <a:r>
              <a:rPr lang="en-US" sz="3200" b="1" dirty="0" err="1">
                <a:latin typeface="Arial Nova Cond Light" panose="020B0306020202020204" pitchFamily="34" charset="0"/>
              </a:rPr>
              <a:t>Kakain</a:t>
            </a:r>
            <a:r>
              <a:rPr lang="en-US" sz="3200" b="1" dirty="0">
                <a:latin typeface="Arial Nova Cond Light" panose="020B0306020202020204" pitchFamily="34" charset="0"/>
              </a:rPr>
              <a:t> </a:t>
            </a:r>
            <a:r>
              <a:rPr lang="en-US" sz="3200" b="1" dirty="0" err="1">
                <a:solidFill>
                  <a:srgbClr val="FFFF00"/>
                </a:solidFill>
                <a:latin typeface="Arial Nova Cond Light" panose="020B0306020202020204" pitchFamily="34" charset="0"/>
              </a:rPr>
              <a:t>ba</a:t>
            </a:r>
            <a:r>
              <a:rPr lang="en-US" sz="3200" b="1" dirty="0">
                <a:latin typeface="Arial Nova Cond Light" panose="020B0306020202020204" pitchFamily="34" charset="0"/>
              </a:rPr>
              <a:t> </a:t>
            </a:r>
            <a:r>
              <a:rPr lang="en-US" sz="3200" b="1" dirty="0" err="1">
                <a:latin typeface="Arial Nova Cond Light" panose="020B0306020202020204" pitchFamily="34" charset="0"/>
              </a:rPr>
              <a:t>ako</a:t>
            </a:r>
            <a:r>
              <a:rPr lang="en-US" sz="3200" b="1" dirty="0">
                <a:latin typeface="Arial Nova Cond Light" panose="020B0306020202020204" pitchFamily="34" charset="0"/>
              </a:rPr>
              <a:t>?					 </a:t>
            </a:r>
            <a:r>
              <a:rPr lang="en-US" sz="3200" dirty="0">
                <a:latin typeface="Arial Nova Cond Light" panose="020B0306020202020204" pitchFamily="34" charset="0"/>
              </a:rPr>
              <a:t>Shall I eat?</a:t>
            </a:r>
            <a:endParaRPr lang="en-PH" sz="3200" dirty="0">
              <a:latin typeface="Arial Nova Cond Light" panose="020B0306020202020204" pitchFamily="34" charset="0"/>
            </a:endParaRPr>
          </a:p>
          <a:p>
            <a:endParaRPr lang="en-PH" sz="2400" dirty="0">
              <a:latin typeface="Arial Nova Cond Light" panose="020B0306020202020204" pitchFamily="34" charset="0"/>
            </a:endParaRPr>
          </a:p>
          <a:p>
            <a:br>
              <a:rPr lang="en-US" sz="2400" dirty="0">
                <a:latin typeface="Arial Nova Cond Light" panose="020B0306020202020204" pitchFamily="34" charset="0"/>
              </a:rPr>
            </a:br>
            <a:endParaRPr lang="en-PH" sz="2400" dirty="0">
              <a:latin typeface="Arial Nova Cond Light" panose="020B0306020202020204" pitchFamily="34" charset="0"/>
            </a:endParaRPr>
          </a:p>
          <a:p>
            <a:endParaRPr lang="en-US" sz="4000" dirty="0">
              <a:latin typeface="Arial Nova Cond Light" panose="020B0306020202020204" pitchFamily="34" charset="0"/>
            </a:endParaRPr>
          </a:p>
        </p:txBody>
      </p:sp>
    </p:spTree>
    <p:extLst>
      <p:ext uri="{BB962C8B-B14F-4D97-AF65-F5344CB8AC3E}">
        <p14:creationId xmlns:p14="http://schemas.microsoft.com/office/powerpoint/2010/main" val="153072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AD00-F7FF-79A9-6CFE-C31644D1D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1E53A-09E4-705A-67F4-662A9E3AE77C}"/>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4" name="TextBox 3">
            <a:extLst>
              <a:ext uri="{FF2B5EF4-FFF2-40B4-BE49-F238E27FC236}">
                <a16:creationId xmlns:a16="http://schemas.microsoft.com/office/drawing/2014/main" id="{6AB44FAC-8EC2-711B-D71A-AEAC7E787DB8}"/>
              </a:ext>
            </a:extLst>
          </p:cNvPr>
          <p:cNvSpPr txBox="1"/>
          <p:nvPr/>
        </p:nvSpPr>
        <p:spPr>
          <a:xfrm>
            <a:off x="135468" y="110067"/>
            <a:ext cx="12056532" cy="5570756"/>
          </a:xfrm>
          <a:prstGeom prst="rect">
            <a:avLst/>
          </a:prstGeom>
          <a:noFill/>
        </p:spPr>
        <p:txBody>
          <a:bodyPr wrap="square">
            <a:spAutoFit/>
          </a:bodyPr>
          <a:lstStyle/>
          <a:p>
            <a:r>
              <a:rPr lang="en-US" sz="3600" dirty="0">
                <a:latin typeface="Arial Nova Cond Light" panose="020B0306020202020204" pitchFamily="34" charset="0"/>
              </a:rPr>
              <a:t>3.	In questions that start with </a:t>
            </a:r>
            <a:r>
              <a:rPr lang="en-US" sz="3600" dirty="0">
                <a:solidFill>
                  <a:srgbClr val="FFFF00"/>
                </a:solidFill>
                <a:latin typeface="Arial Nova Cond Light" panose="020B0306020202020204" pitchFamily="34" charset="0"/>
              </a:rPr>
              <a:t>interrogatives</a:t>
            </a:r>
            <a:r>
              <a:rPr lang="en-US" sz="3600" dirty="0">
                <a:latin typeface="Arial Nova Cond Light" panose="020B0306020202020204" pitchFamily="34" charset="0"/>
              </a:rPr>
              <a:t>, always place </a:t>
            </a:r>
            <a:r>
              <a:rPr lang="en-US" sz="3600" b="1" dirty="0" err="1">
                <a:latin typeface="Arial Nova Cond Light" panose="020B0306020202020204" pitchFamily="34" charset="0"/>
              </a:rPr>
              <a:t>ba</a:t>
            </a:r>
            <a:r>
              <a:rPr lang="en-US" sz="3600" dirty="0">
                <a:latin typeface="Arial Nova Cond Light" panose="020B0306020202020204" pitchFamily="34" charset="0"/>
              </a:rPr>
              <a:t> immediately after the interrogative pro­noun. This sequence is not answerable by </a:t>
            </a:r>
            <a:r>
              <a:rPr lang="en-US" sz="3600" i="1" dirty="0">
                <a:latin typeface="Arial Nova Cond Light" panose="020B0306020202020204" pitchFamily="34" charset="0"/>
              </a:rPr>
              <a:t>yes or no </a:t>
            </a:r>
            <a:r>
              <a:rPr lang="en-US" sz="3600" dirty="0">
                <a:latin typeface="Arial Nova Cond Light" panose="020B0306020202020204" pitchFamily="34" charset="0"/>
              </a:rPr>
              <a:t>unlike the examples in the first  two rules in using </a:t>
            </a:r>
            <a:r>
              <a:rPr lang="en-US" sz="3600" dirty="0" err="1">
                <a:latin typeface="Arial Nova Cond Light" panose="020B0306020202020204" pitchFamily="34" charset="0"/>
              </a:rPr>
              <a:t>ba</a:t>
            </a:r>
            <a:r>
              <a:rPr lang="en-US" sz="3600" dirty="0">
                <a:latin typeface="Arial Nova Cond Light" panose="020B0306020202020204" pitchFamily="34" charset="0"/>
              </a:rPr>
              <a:t>.</a:t>
            </a:r>
          </a:p>
          <a:p>
            <a:r>
              <a:rPr lang="en-US" sz="3600" dirty="0">
                <a:latin typeface="Arial Nova Cond Light" panose="020B0306020202020204" pitchFamily="34" charset="0"/>
              </a:rPr>
              <a:t> </a:t>
            </a:r>
          </a:p>
          <a:p>
            <a:r>
              <a:rPr lang="en-US" sz="3600" dirty="0">
                <a:solidFill>
                  <a:srgbClr val="FFFF00"/>
                </a:solidFill>
                <a:latin typeface="Arial Nova Cond Light" panose="020B0306020202020204" pitchFamily="34" charset="0"/>
              </a:rPr>
              <a:t>Sino </a:t>
            </a:r>
            <a:r>
              <a:rPr lang="en-US" sz="3600" dirty="0" err="1">
                <a:solidFill>
                  <a:srgbClr val="FFFF00"/>
                </a:solidFill>
                <a:latin typeface="Arial Nova Cond Light" panose="020B0306020202020204" pitchFamily="34" charset="0"/>
              </a:rPr>
              <a:t>ba</a:t>
            </a:r>
            <a:r>
              <a:rPr lang="en-US" sz="3600" dirty="0">
                <a:solidFill>
                  <a:srgbClr val="FFFF00"/>
                </a:solidFill>
                <a:latin typeface="Arial Nova Cond Light" panose="020B0306020202020204" pitchFamily="34" charset="0"/>
              </a:rPr>
              <a:t> </a:t>
            </a:r>
            <a:r>
              <a:rPr lang="en-US" sz="3600" dirty="0">
                <a:latin typeface="Arial Nova Cond Light" panose="020B0306020202020204" pitchFamily="34" charset="0"/>
              </a:rPr>
              <a:t>ang </a:t>
            </a:r>
            <a:r>
              <a:rPr lang="en-US" sz="3600" dirty="0" err="1">
                <a:latin typeface="Arial Nova Cond Light" panose="020B0306020202020204" pitchFamily="34" charset="0"/>
              </a:rPr>
              <a:t>kasama</a:t>
            </a:r>
            <a:r>
              <a:rPr lang="en-US" sz="3600" dirty="0">
                <a:latin typeface="Arial Nova Cond Light" panose="020B0306020202020204" pitchFamily="34" charset="0"/>
              </a:rPr>
              <a:t> </a:t>
            </a:r>
            <a:r>
              <a:rPr lang="en-US" sz="3600" dirty="0" err="1">
                <a:latin typeface="Arial Nova Cond Light" panose="020B0306020202020204" pitchFamily="34" charset="0"/>
              </a:rPr>
              <a:t>mo</a:t>
            </a:r>
            <a:r>
              <a:rPr lang="en-US" sz="3600" dirty="0">
                <a:latin typeface="Arial Nova Cond Light" panose="020B0306020202020204" pitchFamily="34" charset="0"/>
              </a:rPr>
              <a:t>? 			Who is your companion? </a:t>
            </a:r>
          </a:p>
          <a:p>
            <a:r>
              <a:rPr lang="en-US" sz="3600" dirty="0">
                <a:solidFill>
                  <a:srgbClr val="FFFF00"/>
                </a:solidFill>
                <a:latin typeface="Arial Nova Cond Light" panose="020B0306020202020204" pitchFamily="34" charset="0"/>
              </a:rPr>
              <a:t>Ano </a:t>
            </a:r>
            <a:r>
              <a:rPr lang="en-US" sz="3600" dirty="0" err="1">
                <a:solidFill>
                  <a:srgbClr val="FFFF00"/>
                </a:solidFill>
                <a:latin typeface="Arial Nova Cond Light" panose="020B0306020202020204" pitchFamily="34" charset="0"/>
              </a:rPr>
              <a:t>ba</a:t>
            </a:r>
            <a:r>
              <a:rPr lang="en-US" sz="3600" dirty="0">
                <a:solidFill>
                  <a:srgbClr val="FFFF00"/>
                </a:solidFill>
                <a:latin typeface="Arial Nova Cond Light" panose="020B0306020202020204" pitchFamily="34" charset="0"/>
              </a:rPr>
              <a:t> </a:t>
            </a:r>
            <a:r>
              <a:rPr lang="en-US" sz="3600" dirty="0">
                <a:latin typeface="Arial Nova Cond Light" panose="020B0306020202020204" pitchFamily="34" charset="0"/>
              </a:rPr>
              <a:t>ang gusto </a:t>
            </a:r>
            <a:r>
              <a:rPr lang="en-US" sz="3600" dirty="0" err="1">
                <a:latin typeface="Arial Nova Cond Light" panose="020B0306020202020204" pitchFamily="34" charset="0"/>
              </a:rPr>
              <a:t>mo</a:t>
            </a:r>
            <a:r>
              <a:rPr lang="en-US" sz="3600" dirty="0">
                <a:latin typeface="Arial Nova Cond Light" panose="020B0306020202020204" pitchFamily="34" charset="0"/>
              </a:rPr>
              <a:t>?					What do you like?</a:t>
            </a:r>
          </a:p>
          <a:p>
            <a:r>
              <a:rPr lang="en-US" sz="3600" dirty="0">
                <a:solidFill>
                  <a:srgbClr val="FFFF00"/>
                </a:solidFill>
                <a:latin typeface="Arial Nova Cond Light" panose="020B0306020202020204" pitchFamily="34" charset="0"/>
              </a:rPr>
              <a:t>Saan </a:t>
            </a:r>
            <a:r>
              <a:rPr lang="en-US" sz="3600" dirty="0" err="1">
                <a:solidFill>
                  <a:srgbClr val="FFFF00"/>
                </a:solidFill>
                <a:latin typeface="Arial Nova Cond Light" panose="020B0306020202020204" pitchFamily="34" charset="0"/>
              </a:rPr>
              <a:t>ba</a:t>
            </a:r>
            <a:r>
              <a:rPr lang="en-US" sz="3600" dirty="0">
                <a:solidFill>
                  <a:srgbClr val="FFFF00"/>
                </a:solidFill>
                <a:latin typeface="Arial Nova Cond Light" panose="020B0306020202020204" pitchFamily="34" charset="0"/>
              </a:rPr>
              <a:t> </a:t>
            </a:r>
            <a:r>
              <a:rPr lang="en-US" sz="3600" dirty="0">
                <a:latin typeface="Arial Nova Cond Light" panose="020B0306020202020204" pitchFamily="34" charset="0"/>
              </a:rPr>
              <a:t>kayo </a:t>
            </a:r>
            <a:r>
              <a:rPr lang="en-US" sz="3600" dirty="0" err="1">
                <a:latin typeface="Arial Nova Cond Light" panose="020B0306020202020204" pitchFamily="34" charset="0"/>
              </a:rPr>
              <a:t>pupunta</a:t>
            </a:r>
            <a:r>
              <a:rPr lang="en-US" sz="3600" dirty="0">
                <a:latin typeface="Arial Nova Cond Light" panose="020B0306020202020204" pitchFamily="34" charset="0"/>
              </a:rPr>
              <a:t>? 				 Where are you going? </a:t>
            </a:r>
          </a:p>
          <a:p>
            <a:r>
              <a:rPr lang="en-US" sz="3600" dirty="0">
                <a:latin typeface="Arial Nova Cond Light" panose="020B0306020202020204" pitchFamily="34" charset="0"/>
              </a:rPr>
              <a:t>Kailan </a:t>
            </a:r>
            <a:r>
              <a:rPr lang="en-US" sz="3600" dirty="0" err="1">
                <a:latin typeface="Arial Nova Cond Light" panose="020B0306020202020204" pitchFamily="34" charset="0"/>
              </a:rPr>
              <a:t>ba</a:t>
            </a:r>
            <a:r>
              <a:rPr lang="en-US" sz="3600" dirty="0">
                <a:latin typeface="Arial Nova Cond Light" panose="020B0306020202020204" pitchFamily="34" charset="0"/>
              </a:rPr>
              <a:t> kayo </a:t>
            </a:r>
            <a:r>
              <a:rPr lang="en-US" sz="3600" dirty="0" err="1">
                <a:latin typeface="Arial Nova Cond Light" panose="020B0306020202020204" pitchFamily="34" charset="0"/>
              </a:rPr>
              <a:t>aalis</a:t>
            </a:r>
            <a:r>
              <a:rPr lang="en-US" sz="3600" dirty="0">
                <a:latin typeface="Arial Nova Cond Light" panose="020B0306020202020204" pitchFamily="34" charset="0"/>
              </a:rPr>
              <a:t>?					 When are you leaving? </a:t>
            </a:r>
          </a:p>
          <a:p>
            <a:r>
              <a:rPr lang="en-US" sz="3600" dirty="0" err="1">
                <a:latin typeface="Arial Nova Cond Light" panose="020B0306020202020204" pitchFamily="34" charset="0"/>
              </a:rPr>
              <a:t>Magkano</a:t>
            </a:r>
            <a:r>
              <a:rPr lang="en-US" sz="3600" dirty="0">
                <a:latin typeface="Arial Nova Cond Light" panose="020B0306020202020204" pitchFamily="34" charset="0"/>
              </a:rPr>
              <a:t> </a:t>
            </a:r>
            <a:r>
              <a:rPr lang="en-US" sz="3600" dirty="0" err="1">
                <a:latin typeface="Arial Nova Cond Light" panose="020B0306020202020204" pitchFamily="34" charset="0"/>
              </a:rPr>
              <a:t>ba</a:t>
            </a:r>
            <a:r>
              <a:rPr lang="en-US" sz="3600" dirty="0">
                <a:latin typeface="Arial Nova Cond Light" panose="020B0306020202020204" pitchFamily="34" charset="0"/>
              </a:rPr>
              <a:t> </a:t>
            </a:r>
            <a:r>
              <a:rPr lang="en-US" sz="3600" dirty="0" err="1">
                <a:latin typeface="Arial Nova Cond Light" panose="020B0306020202020204" pitchFamily="34" charset="0"/>
              </a:rPr>
              <a:t>ito</a:t>
            </a:r>
            <a:r>
              <a:rPr lang="en-US" sz="3600" dirty="0">
                <a:latin typeface="Arial Nova Cond Light" panose="020B0306020202020204" pitchFamily="34" charset="0"/>
              </a:rPr>
              <a:t>?			     		 	How much is chis?</a:t>
            </a:r>
          </a:p>
          <a:p>
            <a:endParaRPr lang="en-US" sz="3200" dirty="0">
              <a:latin typeface="Arial Narrow" panose="020B0606020202030204" pitchFamily="34" charset="0"/>
            </a:endParaRPr>
          </a:p>
        </p:txBody>
      </p:sp>
    </p:spTree>
    <p:extLst>
      <p:ext uri="{BB962C8B-B14F-4D97-AF65-F5344CB8AC3E}">
        <p14:creationId xmlns:p14="http://schemas.microsoft.com/office/powerpoint/2010/main" val="254400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ED91D-7245-1B3A-2343-8529355E9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69443-EC1B-5B83-AC26-173E43433883}"/>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EA14265-F872-0987-9AB9-888DE8F88FFB}"/>
              </a:ext>
            </a:extLst>
          </p:cNvPr>
          <p:cNvSpPr>
            <a:spLocks noGrp="1"/>
          </p:cNvSpPr>
          <p:nvPr>
            <p:ph idx="1"/>
          </p:nvPr>
        </p:nvSpPr>
        <p:spPr>
          <a:xfrm>
            <a:off x="177801" y="1831736"/>
            <a:ext cx="10877054" cy="4052597"/>
          </a:xfrm>
        </p:spPr>
        <p:txBody>
          <a:bodyPr>
            <a:noAutofit/>
          </a:bodyPr>
          <a:lstStyle/>
          <a:p>
            <a:pPr marL="0" indent="0">
              <a:buNone/>
            </a:pPr>
            <a:endParaRPr lang="en-US" sz="2400" dirty="0"/>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6" name="TextBox 5">
            <a:extLst>
              <a:ext uri="{FF2B5EF4-FFF2-40B4-BE49-F238E27FC236}">
                <a16:creationId xmlns:a16="http://schemas.microsoft.com/office/drawing/2014/main" id="{CDD0C1CE-C19C-3B95-045D-5B3A4B6042E7}"/>
              </a:ext>
            </a:extLst>
          </p:cNvPr>
          <p:cNvSpPr txBox="1"/>
          <p:nvPr/>
        </p:nvSpPr>
        <p:spPr>
          <a:xfrm>
            <a:off x="0" y="0"/>
            <a:ext cx="12192000" cy="6494085"/>
          </a:xfrm>
          <a:prstGeom prst="rect">
            <a:avLst/>
          </a:prstGeom>
          <a:noFill/>
        </p:spPr>
        <p:txBody>
          <a:bodyPr wrap="square">
            <a:spAutoFit/>
          </a:bodyPr>
          <a:lstStyle/>
          <a:p>
            <a:r>
              <a:rPr lang="en-US" sz="2800" dirty="0">
                <a:latin typeface="Arial Nova Cond Light" panose="020B0306020202020204" pitchFamily="34" charset="0"/>
              </a:rPr>
              <a:t>There are cases where </a:t>
            </a:r>
            <a:r>
              <a:rPr lang="en-US" sz="2800" dirty="0">
                <a:solidFill>
                  <a:srgbClr val="FFFF00"/>
                </a:solidFill>
                <a:latin typeface="Arial Nova Cond Light" panose="020B0306020202020204" pitchFamily="34" charset="0"/>
              </a:rPr>
              <a:t>monosyllabic words-</a:t>
            </a:r>
            <a:r>
              <a:rPr lang="en-US" sz="2800" dirty="0">
                <a:latin typeface="Arial Nova Cond Light" panose="020B0306020202020204" pitchFamily="34" charset="0"/>
              </a:rPr>
              <a:t>such as the personal pronouns </a:t>
            </a:r>
            <a:r>
              <a:rPr lang="en-US" sz="2800" b="1" dirty="0">
                <a:solidFill>
                  <a:srgbClr val="FFFF00"/>
                </a:solidFill>
                <a:latin typeface="Arial Nova Cond Light" panose="020B0306020202020204" pitchFamily="34" charset="0"/>
              </a:rPr>
              <a:t>ka, ko</a:t>
            </a:r>
            <a:r>
              <a:rPr lang="en-US" sz="2800" dirty="0">
                <a:solidFill>
                  <a:srgbClr val="FFFF00"/>
                </a:solidFill>
                <a:latin typeface="Arial Nova Cond Light" panose="020B0306020202020204" pitchFamily="34" charset="0"/>
              </a:rPr>
              <a:t>,</a:t>
            </a:r>
            <a:r>
              <a:rPr lang="en-US" sz="2800" dirty="0">
                <a:latin typeface="Arial Nova Cond Light" panose="020B0306020202020204" pitchFamily="34" charset="0"/>
              </a:rPr>
              <a:t> and </a:t>
            </a:r>
            <a:r>
              <a:rPr lang="en-US" sz="2800" b="1" dirty="0" err="1">
                <a:solidFill>
                  <a:srgbClr val="FFFF00"/>
                </a:solidFill>
                <a:latin typeface="Arial Nova Cond Light" panose="020B0306020202020204" pitchFamily="34" charset="0"/>
              </a:rPr>
              <a:t>mo</a:t>
            </a:r>
            <a:r>
              <a:rPr lang="en-US" sz="2800" dirty="0">
                <a:latin typeface="Arial Nova Cond Light" panose="020B0306020202020204" pitchFamily="34" charset="0"/>
              </a:rPr>
              <a:t> as well as the Tagalog particles </a:t>
            </a:r>
            <a:r>
              <a:rPr lang="en-US" sz="2800" b="1" dirty="0" err="1">
                <a:solidFill>
                  <a:srgbClr val="FFFF00"/>
                </a:solidFill>
                <a:latin typeface="Arial Nova Cond Light" panose="020B0306020202020204" pitchFamily="34" charset="0"/>
              </a:rPr>
              <a:t>na</a:t>
            </a:r>
            <a:r>
              <a:rPr lang="en-US" sz="2800" b="1" dirty="0">
                <a:solidFill>
                  <a:srgbClr val="FFFF00"/>
                </a:solidFill>
                <a:latin typeface="Arial Nova Cond Light" panose="020B0306020202020204" pitchFamily="34" charset="0"/>
              </a:rPr>
              <a:t>, pa, din, </a:t>
            </a:r>
            <a:r>
              <a:rPr lang="en-US" sz="2800" b="1" dirty="0" err="1">
                <a:solidFill>
                  <a:srgbClr val="FFFF00"/>
                </a:solidFill>
                <a:latin typeface="Arial Nova Cond Light" panose="020B0306020202020204" pitchFamily="34" charset="0"/>
              </a:rPr>
              <a:t>daw</a:t>
            </a:r>
            <a:r>
              <a:rPr lang="en-US" sz="2800" b="1" dirty="0">
                <a:solidFill>
                  <a:srgbClr val="FFFF00"/>
                </a:solidFill>
                <a:latin typeface="Arial Nova Cond Light" panose="020B0306020202020204" pitchFamily="34" charset="0"/>
              </a:rPr>
              <a:t>, po, ho, </a:t>
            </a:r>
            <a:r>
              <a:rPr lang="en-US" sz="2800" b="1" dirty="0" err="1">
                <a:solidFill>
                  <a:srgbClr val="FFFF00"/>
                </a:solidFill>
                <a:latin typeface="Arial Nova Cond Light" panose="020B0306020202020204" pitchFamily="34" charset="0"/>
              </a:rPr>
              <a:t>nga</a:t>
            </a:r>
            <a:r>
              <a:rPr lang="en-US" sz="2800" b="1" dirty="0">
                <a:latin typeface="Arial Nova Cond Light" panose="020B0306020202020204" pitchFamily="34" charset="0"/>
              </a:rPr>
              <a:t>, </a:t>
            </a:r>
            <a:r>
              <a:rPr lang="en-US" sz="2800" dirty="0">
                <a:latin typeface="Arial Nova Cond Light" panose="020B0306020202020204" pitchFamily="34" charset="0"/>
              </a:rPr>
              <a:t>and others-are inserted for emphasis. They follow the </a:t>
            </a:r>
            <a:r>
              <a:rPr lang="en-US" sz="2800" dirty="0">
                <a:solidFill>
                  <a:srgbClr val="FFFF00"/>
                </a:solidFill>
                <a:latin typeface="Arial Nova Cond Light" panose="020B0306020202020204" pitchFamily="34" charset="0"/>
              </a:rPr>
              <a:t>interrogatives</a:t>
            </a:r>
            <a:r>
              <a:rPr lang="en-US" sz="2800" dirty="0">
                <a:latin typeface="Arial Nova Cond Light" panose="020B0306020202020204" pitchFamily="34" charset="0"/>
              </a:rPr>
              <a:t> and push </a:t>
            </a:r>
            <a:r>
              <a:rPr lang="en-US" sz="2800" dirty="0" err="1">
                <a:solidFill>
                  <a:srgbClr val="FFFF00"/>
                </a:solidFill>
                <a:latin typeface="Arial Nova Cond Light" panose="020B0306020202020204" pitchFamily="34" charset="0"/>
              </a:rPr>
              <a:t>ba</a:t>
            </a:r>
            <a:r>
              <a:rPr lang="en-US" sz="2800" dirty="0">
                <a:solidFill>
                  <a:srgbClr val="FFFF00"/>
                </a:solidFill>
                <a:latin typeface="Arial Nova Cond Light" panose="020B0306020202020204" pitchFamily="34" charset="0"/>
              </a:rPr>
              <a:t> f</a:t>
            </a:r>
            <a:r>
              <a:rPr lang="en-US" sz="2800" dirty="0">
                <a:latin typeface="Arial Nova Cond Light" panose="020B0306020202020204" pitchFamily="34" charset="0"/>
              </a:rPr>
              <a:t>urther toward the end of the question.</a:t>
            </a:r>
          </a:p>
          <a:p>
            <a:r>
              <a:rPr lang="en-US" sz="2800" b="1" dirty="0">
                <a:solidFill>
                  <a:srgbClr val="FFFF00"/>
                </a:solidFill>
                <a:latin typeface="Arial Nova Cond Light" panose="020B0306020202020204" pitchFamily="34" charset="0"/>
              </a:rPr>
              <a:t>Ba</a:t>
            </a:r>
            <a:r>
              <a:rPr lang="en-US" sz="2800" dirty="0">
                <a:latin typeface="Arial Nova Cond Light" panose="020B0306020202020204" pitchFamily="34" charset="0"/>
              </a:rPr>
              <a:t> actually belongs to the same group as the Tagalog particles </a:t>
            </a:r>
            <a:r>
              <a:rPr lang="en-US" sz="2800" dirty="0" err="1">
                <a:solidFill>
                  <a:srgbClr val="FFFF00"/>
                </a:solidFill>
                <a:latin typeface="Arial Nova Cond Light" panose="020B0306020202020204" pitchFamily="34" charset="0"/>
              </a:rPr>
              <a:t>n</a:t>
            </a:r>
            <a:r>
              <a:rPr lang="en-US" sz="2800" b="1" dirty="0" err="1">
                <a:solidFill>
                  <a:srgbClr val="FFFF00"/>
                </a:solidFill>
                <a:latin typeface="Arial Nova Cond Light" panose="020B0306020202020204" pitchFamily="34" charset="0"/>
              </a:rPr>
              <a:t>a</a:t>
            </a:r>
            <a:r>
              <a:rPr lang="en-US" sz="2800" b="1" dirty="0">
                <a:solidFill>
                  <a:srgbClr val="FFFF00"/>
                </a:solidFill>
                <a:latin typeface="Arial Nova Cond Light" panose="020B0306020202020204" pitchFamily="34" charset="0"/>
              </a:rPr>
              <a:t>, pa, din, </a:t>
            </a:r>
            <a:r>
              <a:rPr lang="en-US" sz="2800" b="1" dirty="0" err="1">
                <a:solidFill>
                  <a:srgbClr val="FFFF00"/>
                </a:solidFill>
                <a:latin typeface="Arial Nova Cond Light" panose="020B0306020202020204" pitchFamily="34" charset="0"/>
              </a:rPr>
              <a:t>daw</a:t>
            </a:r>
            <a:r>
              <a:rPr lang="en-US" sz="2800" dirty="0">
                <a:latin typeface="Arial Nova Cond Light" panose="020B0306020202020204" pitchFamily="34" charset="0"/>
              </a:rPr>
              <a:t>, and others, which are optional in sentences and questions but gives emphasis to statements. The other monosyllabic par­ticles have the following meanings:</a:t>
            </a:r>
          </a:p>
          <a:p>
            <a:r>
              <a:rPr lang="en-US" sz="2800" dirty="0">
                <a:solidFill>
                  <a:srgbClr val="FFFF00"/>
                </a:solidFill>
                <a:latin typeface="Arial Nova Cond Light" panose="020B0306020202020204" pitchFamily="34" charset="0"/>
              </a:rPr>
              <a:t>-</a:t>
            </a:r>
            <a:r>
              <a:rPr lang="en-US" sz="2800" b="1" dirty="0">
                <a:solidFill>
                  <a:srgbClr val="FFFF00"/>
                </a:solidFill>
                <a:latin typeface="Arial Nova Cond Light" panose="020B0306020202020204" pitchFamily="34" charset="0"/>
              </a:rPr>
              <a:t>Na</a:t>
            </a:r>
            <a:r>
              <a:rPr lang="en-US" sz="2800" dirty="0">
                <a:solidFill>
                  <a:srgbClr val="FFFF00"/>
                </a:solidFill>
                <a:latin typeface="Arial Nova Cond Light" panose="020B0306020202020204" pitchFamily="34" charset="0"/>
              </a:rPr>
              <a:t> </a:t>
            </a:r>
            <a:r>
              <a:rPr lang="en-US" sz="2800" dirty="0">
                <a:latin typeface="Arial Nova Cond Light" panose="020B0306020202020204" pitchFamily="34" charset="0"/>
              </a:rPr>
              <a:t>means </a:t>
            </a:r>
            <a:r>
              <a:rPr lang="en-US" sz="2800" dirty="0">
                <a:solidFill>
                  <a:srgbClr val="FFFF00"/>
                </a:solidFill>
                <a:latin typeface="Arial Nova Cond Light" panose="020B0306020202020204" pitchFamily="34" charset="0"/>
              </a:rPr>
              <a:t>already</a:t>
            </a:r>
            <a:r>
              <a:rPr lang="en-US" sz="2800" dirty="0">
                <a:latin typeface="Arial Nova Cond Light" panose="020B0306020202020204" pitchFamily="34" charset="0"/>
              </a:rPr>
              <a:t> or </a:t>
            </a:r>
            <a:r>
              <a:rPr lang="en-US" sz="2800" dirty="0">
                <a:solidFill>
                  <a:srgbClr val="FFFF00"/>
                </a:solidFill>
                <a:latin typeface="Arial Nova Cond Light" panose="020B0306020202020204" pitchFamily="34" charset="0"/>
              </a:rPr>
              <a:t>now</a:t>
            </a:r>
            <a:r>
              <a:rPr lang="en-US" sz="2800" dirty="0">
                <a:latin typeface="Arial Nova Cond Light" panose="020B0306020202020204" pitchFamily="34" charset="0"/>
              </a:rPr>
              <a:t>, and </a:t>
            </a:r>
            <a:r>
              <a:rPr lang="en-US" sz="2800" dirty="0">
                <a:solidFill>
                  <a:srgbClr val="FFFF00"/>
                </a:solidFill>
                <a:latin typeface="Arial Nova Cond Light" panose="020B0306020202020204" pitchFamily="34" charset="0"/>
              </a:rPr>
              <a:t>expresses finality</a:t>
            </a:r>
            <a:r>
              <a:rPr lang="en-US" sz="2800" dirty="0">
                <a:latin typeface="Arial Nova Cond Light" panose="020B0306020202020204" pitchFamily="34" charset="0"/>
              </a:rPr>
              <a:t> </a:t>
            </a:r>
          </a:p>
          <a:p>
            <a:r>
              <a:rPr lang="en-US" sz="2800" b="1" dirty="0">
                <a:solidFill>
                  <a:srgbClr val="FFFF00"/>
                </a:solidFill>
                <a:latin typeface="Arial Nova Cond Light" panose="020B0306020202020204" pitchFamily="34" charset="0"/>
              </a:rPr>
              <a:t>-Pa </a:t>
            </a:r>
            <a:r>
              <a:rPr lang="en-US" sz="2800" dirty="0">
                <a:latin typeface="Arial Nova Cond Light" panose="020B0306020202020204" pitchFamily="34" charset="0"/>
              </a:rPr>
              <a:t>means </a:t>
            </a:r>
            <a:r>
              <a:rPr lang="en-US" sz="2800" dirty="0">
                <a:solidFill>
                  <a:srgbClr val="FFFF00"/>
                </a:solidFill>
                <a:latin typeface="Arial Nova Cond Light" panose="020B0306020202020204" pitchFamily="34" charset="0"/>
              </a:rPr>
              <a:t>still</a:t>
            </a:r>
            <a:r>
              <a:rPr lang="en-US" sz="2800" dirty="0">
                <a:latin typeface="Arial Nova Cond Light" panose="020B0306020202020204" pitchFamily="34" charset="0"/>
              </a:rPr>
              <a:t>, </a:t>
            </a:r>
            <a:r>
              <a:rPr lang="en-US" sz="2800" dirty="0">
                <a:solidFill>
                  <a:srgbClr val="FFFF00"/>
                </a:solidFill>
                <a:latin typeface="Arial Nova Cond Light" panose="020B0306020202020204" pitchFamily="34" charset="0"/>
              </a:rPr>
              <a:t>yet </a:t>
            </a:r>
            <a:r>
              <a:rPr lang="en-US" sz="2800" dirty="0">
                <a:latin typeface="Arial Nova Cond Light" panose="020B0306020202020204" pitchFamily="34" charset="0"/>
              </a:rPr>
              <a:t>or </a:t>
            </a:r>
            <a:r>
              <a:rPr lang="en-US" sz="2800" dirty="0">
                <a:solidFill>
                  <a:srgbClr val="FFFF00"/>
                </a:solidFill>
                <a:latin typeface="Arial Nova Cond Light" panose="020B0306020202020204" pitchFamily="34" charset="0"/>
              </a:rPr>
              <a:t>more</a:t>
            </a:r>
          </a:p>
          <a:p>
            <a:r>
              <a:rPr lang="en-US" sz="2800" b="1" dirty="0">
                <a:latin typeface="Arial Nova Cond Light" panose="020B0306020202020204" pitchFamily="34" charset="0"/>
              </a:rPr>
              <a:t>-</a:t>
            </a:r>
            <a:r>
              <a:rPr lang="en-US" sz="2800" b="1" dirty="0">
                <a:solidFill>
                  <a:srgbClr val="FFFF00"/>
                </a:solidFill>
                <a:latin typeface="Arial Nova Cond Light" panose="020B0306020202020204" pitchFamily="34" charset="0"/>
              </a:rPr>
              <a:t>Din </a:t>
            </a:r>
            <a:r>
              <a:rPr lang="en-US" sz="2800" dirty="0">
                <a:latin typeface="Arial Nova Cond Light" panose="020B0306020202020204" pitchFamily="34" charset="0"/>
              </a:rPr>
              <a:t>means </a:t>
            </a:r>
            <a:r>
              <a:rPr lang="en-US" sz="2800" dirty="0">
                <a:solidFill>
                  <a:srgbClr val="FFFF00"/>
                </a:solidFill>
                <a:latin typeface="Arial Nova Cond Light" panose="020B0306020202020204" pitchFamily="34" charset="0"/>
              </a:rPr>
              <a:t>too</a:t>
            </a:r>
            <a:r>
              <a:rPr lang="en-US" sz="2800" dirty="0">
                <a:latin typeface="Arial Nova Cond Light" panose="020B0306020202020204" pitchFamily="34" charset="0"/>
              </a:rPr>
              <a:t> and </a:t>
            </a:r>
            <a:r>
              <a:rPr lang="en-US" sz="2800" dirty="0">
                <a:solidFill>
                  <a:srgbClr val="FFFF00"/>
                </a:solidFill>
                <a:latin typeface="Arial Nova Cond Light" panose="020B0306020202020204" pitchFamily="34" charset="0"/>
              </a:rPr>
              <a:t>also</a:t>
            </a:r>
            <a:r>
              <a:rPr lang="en-US" sz="2800" dirty="0">
                <a:latin typeface="Arial Nova Cond Light" panose="020B0306020202020204" pitchFamily="34" charset="0"/>
              </a:rPr>
              <a:t>; placed after words ending in </a:t>
            </a:r>
            <a:r>
              <a:rPr lang="en-US" sz="2800" dirty="0">
                <a:solidFill>
                  <a:srgbClr val="FFFF00"/>
                </a:solidFill>
                <a:latin typeface="Arial Nova Cond Light" panose="020B0306020202020204" pitchFamily="34" charset="0"/>
              </a:rPr>
              <a:t>consonants</a:t>
            </a:r>
            <a:r>
              <a:rPr lang="en-US" sz="2800" dirty="0">
                <a:latin typeface="Arial Nova Cond Light" panose="020B0306020202020204" pitchFamily="34" charset="0"/>
              </a:rPr>
              <a:t> (</a:t>
            </a:r>
            <a:r>
              <a:rPr lang="en-US" sz="2800" b="1" dirty="0" err="1">
                <a:latin typeface="Arial Nova Cond Light" panose="020B0306020202020204" pitchFamily="34" charset="0"/>
              </a:rPr>
              <a:t>lka</a:t>
            </a:r>
            <a:r>
              <a:rPr lang="en-US" sz="2800" b="1" dirty="0" err="1">
                <a:solidFill>
                  <a:srgbClr val="FFFF00"/>
                </a:solidFill>
                <a:latin typeface="Arial Nova Cond Light" panose="020B0306020202020204" pitchFamily="34" charset="0"/>
              </a:rPr>
              <a:t>w</a:t>
            </a:r>
            <a:r>
              <a:rPr lang="en-US" sz="2800" b="1" dirty="0">
                <a:latin typeface="Arial Nova Cond Light" panose="020B0306020202020204" pitchFamily="34" charset="0"/>
              </a:rPr>
              <a:t> din </a:t>
            </a:r>
            <a:r>
              <a:rPr lang="en-US" sz="2800" b="1" dirty="0" err="1">
                <a:latin typeface="Arial Nova Cond Light" panose="020B0306020202020204" pitchFamily="34" charset="0"/>
              </a:rPr>
              <a:t>ba</a:t>
            </a:r>
            <a:r>
              <a:rPr lang="en-US" sz="2800" b="1" dirty="0">
                <a:latin typeface="Arial Nova Cond Light" panose="020B0306020202020204" pitchFamily="34" charset="0"/>
              </a:rPr>
              <a:t>? You too?</a:t>
            </a:r>
            <a:r>
              <a:rPr lang="en-US" sz="2800" dirty="0">
                <a:latin typeface="Arial Nova Cond Light" panose="020B0306020202020204" pitchFamily="34" charset="0"/>
              </a:rPr>
              <a:t>);</a:t>
            </a:r>
          </a:p>
          <a:p>
            <a:r>
              <a:rPr lang="en-US" sz="2800" b="1" dirty="0">
                <a:solidFill>
                  <a:srgbClr val="FFFF00"/>
                </a:solidFill>
                <a:latin typeface="Arial Nova Cond Light" panose="020B0306020202020204" pitchFamily="34" charset="0"/>
              </a:rPr>
              <a:t> Rin</a:t>
            </a:r>
            <a:r>
              <a:rPr lang="en-US" sz="2800" dirty="0">
                <a:solidFill>
                  <a:srgbClr val="FFFF00"/>
                </a:solidFill>
                <a:latin typeface="Arial Nova Cond Light" panose="020B0306020202020204" pitchFamily="34" charset="0"/>
              </a:rPr>
              <a:t> 							  </a:t>
            </a:r>
            <a:r>
              <a:rPr lang="en-US" sz="2800" dirty="0">
                <a:latin typeface="Arial Nova Cond Light" panose="020B0306020202020204" pitchFamily="34" charset="0"/>
              </a:rPr>
              <a:t>placed after words ending in </a:t>
            </a:r>
            <a:r>
              <a:rPr lang="en-US" sz="2800" dirty="0">
                <a:solidFill>
                  <a:srgbClr val="FFFF00"/>
                </a:solidFill>
                <a:latin typeface="Arial Nova Cond Light" panose="020B0306020202020204" pitchFamily="34" charset="0"/>
              </a:rPr>
              <a:t>vowels</a:t>
            </a:r>
            <a:r>
              <a:rPr lang="en-US" sz="2800" dirty="0">
                <a:latin typeface="Arial Nova Cond Light" panose="020B0306020202020204" pitchFamily="34" charset="0"/>
              </a:rPr>
              <a:t> (Ak</a:t>
            </a:r>
            <a:r>
              <a:rPr lang="en-US" sz="2800" dirty="0">
                <a:solidFill>
                  <a:srgbClr val="FFFF00"/>
                </a:solidFill>
                <a:latin typeface="Arial Nova Cond Light" panose="020B0306020202020204" pitchFamily="34" charset="0"/>
              </a:rPr>
              <a:t>o</a:t>
            </a:r>
            <a:r>
              <a:rPr lang="en-US" sz="2800" dirty="0">
                <a:latin typeface="Arial Nova Cond Light" panose="020B0306020202020204" pitchFamily="34" charset="0"/>
              </a:rPr>
              <a:t> </a:t>
            </a:r>
            <a:r>
              <a:rPr lang="en-US" sz="2800" dirty="0" err="1">
                <a:latin typeface="Arial Nova Cond Light" panose="020B0306020202020204" pitchFamily="34" charset="0"/>
              </a:rPr>
              <a:t>rin</a:t>
            </a:r>
            <a:r>
              <a:rPr lang="en-US" sz="2800" dirty="0">
                <a:latin typeface="Arial Nova Cond Light" panose="020B0306020202020204" pitchFamily="34" charset="0"/>
              </a:rPr>
              <a:t> </a:t>
            </a:r>
            <a:r>
              <a:rPr lang="en-US" sz="2800" dirty="0" err="1">
                <a:latin typeface="Arial Nova Cond Light" panose="020B0306020202020204" pitchFamily="34" charset="0"/>
              </a:rPr>
              <a:t>ba</a:t>
            </a:r>
            <a:r>
              <a:rPr lang="en-US" sz="2800" dirty="0">
                <a:latin typeface="Arial Nova Cond Light" panose="020B0306020202020204" pitchFamily="34" charset="0"/>
              </a:rPr>
              <a:t>? Me too.?)</a:t>
            </a:r>
          </a:p>
          <a:p>
            <a:r>
              <a:rPr lang="en-US" sz="2800" b="1" dirty="0">
                <a:solidFill>
                  <a:srgbClr val="FFFF00"/>
                </a:solidFill>
                <a:latin typeface="Arial Nova Cond Light" panose="020B0306020202020204" pitchFamily="34" charset="0"/>
              </a:rPr>
              <a:t>-Daw </a:t>
            </a:r>
            <a:r>
              <a:rPr lang="en-US" sz="2800" dirty="0">
                <a:latin typeface="Arial Nova Cond Light" panose="020B0306020202020204" pitchFamily="34" charset="0"/>
              </a:rPr>
              <a:t>means </a:t>
            </a:r>
            <a:r>
              <a:rPr lang="en-US" sz="2800" dirty="0">
                <a:solidFill>
                  <a:srgbClr val="FFFF00"/>
                </a:solidFill>
                <a:latin typeface="Arial Nova Cond Light" panose="020B0306020202020204" pitchFamily="34" charset="0"/>
              </a:rPr>
              <a:t>they say </a:t>
            </a:r>
            <a:r>
              <a:rPr lang="en-US" sz="2800" dirty="0">
                <a:latin typeface="Arial Nova Cond Light" panose="020B0306020202020204" pitchFamily="34" charset="0"/>
              </a:rPr>
              <a:t>or </a:t>
            </a:r>
            <a:r>
              <a:rPr lang="en-US" sz="2800" dirty="0">
                <a:solidFill>
                  <a:srgbClr val="FFFF00"/>
                </a:solidFill>
                <a:latin typeface="Arial Nova Cond Light" panose="020B0306020202020204" pitchFamily="34" charset="0"/>
              </a:rPr>
              <a:t>reportedly</a:t>
            </a:r>
            <a:r>
              <a:rPr lang="en-US" sz="2800" dirty="0">
                <a:latin typeface="Arial Nova Cond Light" panose="020B0306020202020204" pitchFamily="34" charset="0"/>
              </a:rPr>
              <a:t>; expresses that the information relayed by the speaker is from another source; placed after words ending in consonants (</a:t>
            </a:r>
            <a:r>
              <a:rPr lang="en-US" sz="2800" dirty="0" err="1">
                <a:latin typeface="Arial Nova Cond Light" panose="020B0306020202020204" pitchFamily="34" charset="0"/>
              </a:rPr>
              <a:t>lka</a:t>
            </a:r>
            <a:r>
              <a:rPr lang="en-US" sz="2800" dirty="0" err="1">
                <a:solidFill>
                  <a:srgbClr val="FFFF00"/>
                </a:solidFill>
                <a:latin typeface="Arial Nova Cond Light" panose="020B0306020202020204" pitchFamily="34" charset="0"/>
              </a:rPr>
              <a:t>w</a:t>
            </a:r>
            <a:r>
              <a:rPr lang="en-US" sz="2800" dirty="0">
                <a:latin typeface="Arial Nova Cond Light" panose="020B0306020202020204" pitchFamily="34" charset="0"/>
              </a:rPr>
              <a:t> </a:t>
            </a:r>
            <a:r>
              <a:rPr lang="en-US" sz="2800" dirty="0" err="1">
                <a:latin typeface="Arial Nova Cond Light" panose="020B0306020202020204" pitchFamily="34" charset="0"/>
              </a:rPr>
              <a:t>daw</a:t>
            </a:r>
            <a:r>
              <a:rPr lang="en-US" sz="2800" dirty="0">
                <a:latin typeface="Arial Nova Cond Light" panose="020B0306020202020204" pitchFamily="34" charset="0"/>
              </a:rPr>
              <a:t>. They say it is you.); </a:t>
            </a:r>
            <a:r>
              <a:rPr lang="en-US" sz="2800" dirty="0">
                <a:solidFill>
                  <a:srgbClr val="FFFF00"/>
                </a:solidFill>
                <a:latin typeface="Arial Nova Cond Light" panose="020B0306020202020204" pitchFamily="34" charset="0"/>
              </a:rPr>
              <a:t>raw</a:t>
            </a:r>
            <a:r>
              <a:rPr lang="en-US" sz="2800" dirty="0">
                <a:latin typeface="Arial Nova Cond Light" panose="020B0306020202020204" pitchFamily="34" charset="0"/>
              </a:rPr>
              <a:t> is placed after words ending in vowels (Ako raw. They say it is I.)</a:t>
            </a:r>
          </a:p>
          <a:p>
            <a:r>
              <a:rPr lang="en-US" sz="2800" b="1" dirty="0">
                <a:solidFill>
                  <a:srgbClr val="FFFF00"/>
                </a:solidFill>
                <a:latin typeface="Arial Nova Cond Light" panose="020B0306020202020204" pitchFamily="34" charset="0"/>
              </a:rPr>
              <a:t>-Nga </a:t>
            </a:r>
            <a:r>
              <a:rPr lang="en-US" sz="2800" dirty="0">
                <a:latin typeface="Arial Nova Cond Light" panose="020B0306020202020204" pitchFamily="34" charset="0"/>
              </a:rPr>
              <a:t>means </a:t>
            </a:r>
            <a:r>
              <a:rPr lang="en-US" sz="2800" dirty="0">
                <a:solidFill>
                  <a:srgbClr val="FFFF00"/>
                </a:solidFill>
                <a:latin typeface="Arial Nova Cond Light" panose="020B0306020202020204" pitchFamily="34" charset="0"/>
              </a:rPr>
              <a:t>indeed</a:t>
            </a:r>
            <a:r>
              <a:rPr lang="en-US" sz="2800" dirty="0">
                <a:latin typeface="Arial Nova Cond Light" panose="020B0306020202020204" pitchFamily="34" charset="0"/>
              </a:rPr>
              <a:t>, also puts emphasis to the word before it</a:t>
            </a:r>
          </a:p>
          <a:p>
            <a:endParaRPr lang="en-US" sz="2400" dirty="0">
              <a:latin typeface="Arial Nova Cond Light" panose="020B0306020202020204" pitchFamily="34" charset="0"/>
            </a:endParaRPr>
          </a:p>
        </p:txBody>
      </p:sp>
    </p:spTree>
    <p:extLst>
      <p:ext uri="{BB962C8B-B14F-4D97-AF65-F5344CB8AC3E}">
        <p14:creationId xmlns:p14="http://schemas.microsoft.com/office/powerpoint/2010/main" val="1433527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48C1-9F43-42E4-F8E9-A82539DC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A313F-6CC6-FD32-4501-8C676DE211DD}"/>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3AD538B-2385-D9A7-AA47-DCF6B1A59F94}"/>
              </a:ext>
            </a:extLst>
          </p:cNvPr>
          <p:cNvSpPr>
            <a:spLocks noGrp="1"/>
          </p:cNvSpPr>
          <p:nvPr>
            <p:ph idx="1"/>
          </p:nvPr>
        </p:nvSpPr>
        <p:spPr>
          <a:xfrm>
            <a:off x="1" y="544803"/>
            <a:ext cx="12192000" cy="4052597"/>
          </a:xfrm>
        </p:spPr>
        <p:txBody>
          <a:bodyPr>
            <a:noAutofit/>
          </a:bodyPr>
          <a:lstStyle/>
          <a:p>
            <a:pPr marL="0" indent="0">
              <a:buNone/>
            </a:pPr>
            <a:r>
              <a:rPr lang="en-US" sz="3200" b="1" dirty="0">
                <a:latin typeface="Arial Narrow" panose="020B0606020202030204" pitchFamily="34" charset="0"/>
              </a:rPr>
              <a:t>Aalis </a:t>
            </a:r>
            <a:r>
              <a:rPr lang="en-US" sz="3200" b="1" dirty="0" err="1">
                <a:latin typeface="Arial Narrow" panose="020B0606020202030204" pitchFamily="34" charset="0"/>
              </a:rPr>
              <a:t>na</a:t>
            </a:r>
            <a:r>
              <a:rPr lang="en-US" sz="3200" b="1" dirty="0">
                <a:latin typeface="Arial Narrow" panose="020B0606020202030204" pitchFamily="34" charset="0"/>
              </a:rPr>
              <a:t> </a:t>
            </a:r>
            <a:r>
              <a:rPr lang="en-US" sz="3200" b="1" dirty="0" err="1">
                <a:latin typeface="Arial Narrow" panose="020B0606020202030204" pitchFamily="34" charset="0"/>
              </a:rPr>
              <a:t>ba</a:t>
            </a:r>
            <a:r>
              <a:rPr lang="en-US" sz="3200" b="1" dirty="0">
                <a:latin typeface="Arial Narrow" panose="020B0606020202030204" pitchFamily="34" charset="0"/>
              </a:rPr>
              <a:t> </a:t>
            </a:r>
            <a:r>
              <a:rPr lang="en-US" sz="3200" b="1" dirty="0" err="1">
                <a:latin typeface="Arial Narrow" panose="020B0606020202030204" pitchFamily="34" charset="0"/>
              </a:rPr>
              <a:t>sila</a:t>
            </a:r>
            <a:r>
              <a:rPr lang="en-US" sz="3200" b="1" dirty="0">
                <a:latin typeface="Arial Narrow" panose="020B0606020202030204" pitchFamily="34" charset="0"/>
              </a:rPr>
              <a:t>? 					</a:t>
            </a:r>
            <a:r>
              <a:rPr lang="en-US" sz="3200" dirty="0">
                <a:latin typeface="Arial Narrow" panose="020B0606020202030204" pitchFamily="34" charset="0"/>
              </a:rPr>
              <a:t>Will they leave already? </a:t>
            </a:r>
            <a:endParaRPr lang="en-US" sz="3200" b="1" dirty="0">
              <a:latin typeface="Arial Narrow" panose="020B0606020202030204" pitchFamily="34" charset="0"/>
            </a:endParaRPr>
          </a:p>
          <a:p>
            <a:pPr marL="0" indent="0">
              <a:buNone/>
            </a:pPr>
            <a:r>
              <a:rPr lang="en-US" sz="3200" b="1" dirty="0">
                <a:latin typeface="Arial Narrow" panose="020B0606020202030204" pitchFamily="34" charset="0"/>
              </a:rPr>
              <a:t>Aalis ka </a:t>
            </a:r>
            <a:r>
              <a:rPr lang="en-US" sz="3200" b="1" dirty="0" err="1">
                <a:latin typeface="Arial Narrow" panose="020B0606020202030204" pitchFamily="34" charset="0"/>
              </a:rPr>
              <a:t>na</a:t>
            </a:r>
            <a:r>
              <a:rPr lang="en-US" sz="3200" b="1" dirty="0">
                <a:latin typeface="Arial Narrow" panose="020B0606020202030204" pitchFamily="34" charset="0"/>
              </a:rPr>
              <a:t> </a:t>
            </a:r>
            <a:r>
              <a:rPr lang="en-US" sz="3200" b="1" dirty="0" err="1">
                <a:latin typeface="Arial Narrow" panose="020B0606020202030204" pitchFamily="34" charset="0"/>
              </a:rPr>
              <a:t>ba</a:t>
            </a:r>
            <a:r>
              <a:rPr lang="en-US" sz="3200" b="1" dirty="0">
                <a:latin typeface="Arial Narrow" panose="020B0606020202030204" pitchFamily="34" charset="0"/>
              </a:rPr>
              <a:t>?				 	</a:t>
            </a:r>
            <a:r>
              <a:rPr lang="en-US" sz="3200" dirty="0">
                <a:latin typeface="Arial Narrow" panose="020B0606020202030204" pitchFamily="34" charset="0"/>
              </a:rPr>
              <a:t>Will you leave already? </a:t>
            </a:r>
          </a:p>
          <a:p>
            <a:pPr marL="0" indent="0">
              <a:buNone/>
            </a:pPr>
            <a:r>
              <a:rPr lang="en-US" sz="3200" b="1" dirty="0">
                <a:latin typeface="Arial Narrow" panose="020B0606020202030204" pitchFamily="34" charset="0"/>
              </a:rPr>
              <a:t>Maganda </a:t>
            </a:r>
            <a:r>
              <a:rPr lang="en-US" sz="3200" b="1" dirty="0" err="1">
                <a:latin typeface="Arial Narrow" panose="020B0606020202030204" pitchFamily="34" charset="0"/>
              </a:rPr>
              <a:t>rin</a:t>
            </a:r>
            <a:r>
              <a:rPr lang="en-US" sz="3200" b="1" dirty="0">
                <a:latin typeface="Arial Narrow" panose="020B0606020202030204" pitchFamily="34" charset="0"/>
              </a:rPr>
              <a:t> </a:t>
            </a:r>
            <a:r>
              <a:rPr lang="en-US" sz="3200" b="1" dirty="0" err="1">
                <a:latin typeface="Arial Narrow" panose="020B0606020202030204" pitchFamily="34" charset="0"/>
              </a:rPr>
              <a:t>ba</a:t>
            </a:r>
            <a:r>
              <a:rPr lang="en-US" sz="3200" b="1" dirty="0">
                <a:latin typeface="Arial Narrow" panose="020B0606020202030204" pitchFamily="34" charset="0"/>
              </a:rPr>
              <a:t> ang </a:t>
            </a:r>
            <a:r>
              <a:rPr lang="en-US" sz="3200" b="1" dirty="0" err="1">
                <a:latin typeface="Arial Narrow" panose="020B0606020202030204" pitchFamily="34" charset="0"/>
              </a:rPr>
              <a:t>babae</a:t>
            </a:r>
            <a:r>
              <a:rPr lang="en-US" sz="3200" b="1" dirty="0">
                <a:latin typeface="Arial Narrow" panose="020B0606020202030204" pitchFamily="34" charset="0"/>
              </a:rPr>
              <a:t>?			</a:t>
            </a:r>
            <a:r>
              <a:rPr lang="en-US" sz="3200" dirty="0">
                <a:latin typeface="Arial Narrow" panose="020B0606020202030204" pitchFamily="34" charset="0"/>
              </a:rPr>
              <a:t>Is the woman pretty too?</a:t>
            </a:r>
            <a:endParaRPr lang="en-US" sz="3200" b="1" dirty="0">
              <a:latin typeface="Arial Narrow" panose="020B0606020202030204" pitchFamily="34" charset="0"/>
            </a:endParaRPr>
          </a:p>
          <a:p>
            <a:pPr marL="0" indent="0">
              <a:buNone/>
            </a:pPr>
            <a:r>
              <a:rPr lang="en-US" sz="3200" b="1" dirty="0">
                <a:latin typeface="Arial Narrow" panose="020B0606020202030204" pitchFamily="34" charset="0"/>
              </a:rPr>
              <a:t>Malinis </a:t>
            </a:r>
            <a:r>
              <a:rPr lang="en-US" sz="3200" b="1" dirty="0" err="1">
                <a:solidFill>
                  <a:srgbClr val="FFFF00"/>
                </a:solidFill>
                <a:latin typeface="Arial Narrow" panose="020B0606020202030204" pitchFamily="34" charset="0"/>
              </a:rPr>
              <a:t>daw</a:t>
            </a:r>
            <a:r>
              <a:rPr lang="en-US" sz="3200" b="1" dirty="0">
                <a:latin typeface="Arial Narrow" panose="020B0606020202030204" pitchFamily="34" charset="0"/>
              </a:rPr>
              <a:t> </a:t>
            </a:r>
            <a:r>
              <a:rPr lang="en-US" sz="3200" b="1" dirty="0" err="1">
                <a:latin typeface="Arial Narrow" panose="020B0606020202030204" pitchFamily="34" charset="0"/>
              </a:rPr>
              <a:t>ba</a:t>
            </a:r>
            <a:r>
              <a:rPr lang="en-US" sz="3200" b="1" dirty="0">
                <a:latin typeface="Arial Narrow" panose="020B0606020202030204" pitchFamily="34" charset="0"/>
              </a:rPr>
              <a:t> ang bata?			</a:t>
            </a:r>
            <a:r>
              <a:rPr lang="en-US" sz="3200" dirty="0">
                <a:latin typeface="Arial Narrow" panose="020B0606020202030204" pitchFamily="34" charset="0"/>
              </a:rPr>
              <a:t> Is the child clean as they say? </a:t>
            </a:r>
            <a:endParaRPr lang="en-PH" sz="3200" dirty="0">
              <a:latin typeface="Arial Narrow" panose="020B0606020202030204" pitchFamily="34" charset="0"/>
            </a:endParaRPr>
          </a:p>
          <a:p>
            <a:pPr marL="0" indent="0">
              <a:buNone/>
            </a:pPr>
            <a:r>
              <a:rPr lang="en-US" sz="3200" b="1" dirty="0" err="1">
                <a:latin typeface="Arial Narrow" panose="020B0606020202030204" pitchFamily="34" charset="0"/>
              </a:rPr>
              <a:t>Marumi</a:t>
            </a:r>
            <a:r>
              <a:rPr lang="en-US" sz="3200" b="1" dirty="0">
                <a:latin typeface="Arial Narrow" panose="020B0606020202030204" pitchFamily="34" charset="0"/>
              </a:rPr>
              <a:t> </a:t>
            </a:r>
            <a:r>
              <a:rPr lang="en-US" sz="3200" b="1" dirty="0">
                <a:solidFill>
                  <a:srgbClr val="FFFF00"/>
                </a:solidFill>
                <a:latin typeface="Arial Narrow" panose="020B0606020202030204" pitchFamily="34" charset="0"/>
              </a:rPr>
              <a:t>raw </a:t>
            </a:r>
            <a:r>
              <a:rPr lang="en-US" sz="3200" b="1" dirty="0" err="1">
                <a:latin typeface="Arial Narrow" panose="020B0606020202030204" pitchFamily="34" charset="0"/>
              </a:rPr>
              <a:t>ba</a:t>
            </a:r>
            <a:r>
              <a:rPr lang="en-US" sz="3200" b="1" dirty="0">
                <a:latin typeface="Arial Narrow" panose="020B0606020202030204" pitchFamily="34" charset="0"/>
              </a:rPr>
              <a:t> ang bata? 			</a:t>
            </a:r>
            <a:r>
              <a:rPr lang="en-US" sz="3200" dirty="0">
                <a:latin typeface="Arial Narrow" panose="020B0606020202030204" pitchFamily="34" charset="0"/>
              </a:rPr>
              <a:t> ls the child dirty as they say? </a:t>
            </a:r>
            <a:endParaRPr lang="en-US" sz="3200" b="1" dirty="0">
              <a:latin typeface="Arial Narrow" panose="020B0606020202030204" pitchFamily="34" charset="0"/>
            </a:endParaRPr>
          </a:p>
          <a:p>
            <a:pPr marL="0" indent="0">
              <a:buNone/>
            </a:pPr>
            <a:r>
              <a:rPr lang="en-US" sz="3200" b="1" dirty="0" err="1">
                <a:latin typeface="Arial Narrow" panose="020B0606020202030204" pitchFamily="34" charset="0"/>
              </a:rPr>
              <a:t>Marumi</a:t>
            </a:r>
            <a:r>
              <a:rPr lang="en-US" sz="3200" b="1" dirty="0">
                <a:latin typeface="Arial Narrow" panose="020B0606020202030204" pitchFamily="34" charset="0"/>
              </a:rPr>
              <a:t> </a:t>
            </a:r>
            <a:r>
              <a:rPr lang="en-US" sz="3200" b="1" dirty="0">
                <a:solidFill>
                  <a:srgbClr val="FFFF00"/>
                </a:solidFill>
                <a:latin typeface="Arial Narrow" panose="020B0606020202030204" pitchFamily="34" charset="0"/>
              </a:rPr>
              <a:t>pa</a:t>
            </a:r>
            <a:r>
              <a:rPr lang="en-US" sz="3200" b="1" dirty="0">
                <a:latin typeface="Arial Narrow" panose="020B0606020202030204" pitchFamily="34" charset="0"/>
              </a:rPr>
              <a:t> </a:t>
            </a:r>
            <a:r>
              <a:rPr lang="en-US" sz="3200" b="1" dirty="0" err="1">
                <a:latin typeface="Arial Narrow" panose="020B0606020202030204" pitchFamily="34" charset="0"/>
              </a:rPr>
              <a:t>ba</a:t>
            </a:r>
            <a:r>
              <a:rPr lang="en-US" sz="3200" b="1" dirty="0">
                <a:latin typeface="Arial Narrow" panose="020B0606020202030204" pitchFamily="34" charset="0"/>
              </a:rPr>
              <a:t> </a:t>
            </a:r>
            <a:r>
              <a:rPr lang="en-US" sz="3200" b="1" dirty="0" err="1">
                <a:latin typeface="Arial Narrow" panose="020B0606020202030204" pitchFamily="34" charset="0"/>
              </a:rPr>
              <a:t>siya</a:t>
            </a:r>
            <a:r>
              <a:rPr lang="en-US" sz="3200" b="1" dirty="0">
                <a:latin typeface="Arial Narrow" panose="020B0606020202030204" pitchFamily="34" charset="0"/>
              </a:rPr>
              <a:t>?				</a:t>
            </a:r>
            <a:r>
              <a:rPr lang="en-US" sz="3200" dirty="0">
                <a:latin typeface="Arial Narrow" panose="020B0606020202030204" pitchFamily="34" charset="0"/>
              </a:rPr>
              <a:t>Is he/she still dirty?</a:t>
            </a:r>
            <a:endParaRPr lang="en-PH" sz="3200" dirty="0">
              <a:latin typeface="Arial Narrow" panose="020B0606020202030204" pitchFamily="34" charset="0"/>
            </a:endParaRPr>
          </a:p>
          <a:p>
            <a:pPr marL="0" indent="0">
              <a:buNone/>
            </a:pPr>
            <a:endParaRPr lang="en-PH" dirty="0">
              <a:latin typeface="Arial Narrow" panose="020B0606020202030204" pitchFamily="34" charset="0"/>
            </a:endParaRPr>
          </a:p>
          <a:p>
            <a:pPr marL="0" indent="0">
              <a:buNone/>
            </a:pPr>
            <a:r>
              <a:rPr lang="en-PH" dirty="0">
                <a:latin typeface="Arial Narrow" panose="020B0606020202030204" pitchFamily="34" charset="0"/>
              </a:rPr>
              <a:t>Ang bata </a:t>
            </a:r>
            <a:r>
              <a:rPr lang="en-PH" dirty="0" err="1">
                <a:latin typeface="Arial Narrow" panose="020B0606020202030204" pitchFamily="34" charset="0"/>
              </a:rPr>
              <a:t>daw</a:t>
            </a:r>
            <a:r>
              <a:rPr lang="en-PH" dirty="0">
                <a:latin typeface="Arial Narrow" panose="020B0606020202030204" pitchFamily="34" charset="0"/>
              </a:rPr>
              <a:t> </a:t>
            </a:r>
            <a:r>
              <a:rPr lang="en-PH" dirty="0" err="1">
                <a:latin typeface="Arial Narrow" panose="020B0606020202030204" pitchFamily="34" charset="0"/>
              </a:rPr>
              <a:t>ba</a:t>
            </a:r>
            <a:r>
              <a:rPr lang="en-PH" dirty="0">
                <a:latin typeface="Arial Narrow" panose="020B0606020202030204" pitchFamily="34" charset="0"/>
              </a:rPr>
              <a:t> ay </a:t>
            </a:r>
            <a:r>
              <a:rPr lang="en-PH" dirty="0" err="1">
                <a:latin typeface="Arial Narrow" panose="020B0606020202030204" pitchFamily="34" charset="0"/>
              </a:rPr>
              <a:t>malinis</a:t>
            </a:r>
            <a:r>
              <a:rPr lang="en-PH" dirty="0">
                <a:latin typeface="Arial Narrow" panose="020B0606020202030204" pitchFamily="34" charset="0"/>
              </a:rPr>
              <a:t>? Malinis </a:t>
            </a:r>
            <a:r>
              <a:rPr lang="en-PH" dirty="0" err="1">
                <a:latin typeface="Arial Narrow" panose="020B0606020202030204" pitchFamily="34" charset="0"/>
              </a:rPr>
              <a:t>daw</a:t>
            </a:r>
            <a:r>
              <a:rPr lang="en-PH" dirty="0">
                <a:latin typeface="Arial Narrow" panose="020B0606020202030204" pitchFamily="34" charset="0"/>
              </a:rPr>
              <a:t> </a:t>
            </a:r>
            <a:r>
              <a:rPr lang="en-PH" dirty="0" err="1">
                <a:latin typeface="Arial Narrow" panose="020B0606020202030204" pitchFamily="34" charset="0"/>
              </a:rPr>
              <a:t>ba</a:t>
            </a:r>
            <a:r>
              <a:rPr lang="en-PH" dirty="0">
                <a:latin typeface="Arial Narrow" panose="020B0606020202030204" pitchFamily="34" charset="0"/>
              </a:rPr>
              <a:t> ang bata?</a:t>
            </a:r>
          </a:p>
        </p:txBody>
      </p:sp>
    </p:spTree>
    <p:extLst>
      <p:ext uri="{BB962C8B-B14F-4D97-AF65-F5344CB8AC3E}">
        <p14:creationId xmlns:p14="http://schemas.microsoft.com/office/powerpoint/2010/main" val="2739966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C3C77-79D6-394A-26AA-844E73B8C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C7590-B152-F4FF-101F-33C212A64D8A}"/>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40FFA635-E366-CA57-C1B7-4EE52B81F1C4}"/>
              </a:ext>
            </a:extLst>
          </p:cNvPr>
          <p:cNvSpPr>
            <a:spLocks noGrp="1"/>
          </p:cNvSpPr>
          <p:nvPr>
            <p:ph idx="1"/>
          </p:nvPr>
        </p:nvSpPr>
        <p:spPr>
          <a:xfrm>
            <a:off x="177801" y="1831736"/>
            <a:ext cx="10877054"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5" name="TextBox 4">
            <a:extLst>
              <a:ext uri="{FF2B5EF4-FFF2-40B4-BE49-F238E27FC236}">
                <a16:creationId xmlns:a16="http://schemas.microsoft.com/office/drawing/2014/main" id="{0E093027-FFFF-30FC-978E-6780BF7488E6}"/>
              </a:ext>
            </a:extLst>
          </p:cNvPr>
          <p:cNvSpPr txBox="1"/>
          <p:nvPr/>
        </p:nvSpPr>
        <p:spPr>
          <a:xfrm>
            <a:off x="0" y="101208"/>
            <a:ext cx="12192000" cy="5693866"/>
          </a:xfrm>
          <a:prstGeom prst="rect">
            <a:avLst/>
          </a:prstGeom>
          <a:noFill/>
        </p:spPr>
        <p:txBody>
          <a:bodyPr wrap="square">
            <a:spAutoFit/>
          </a:bodyPr>
          <a:lstStyle/>
          <a:p>
            <a:r>
              <a:rPr lang="en-PH" sz="2800" dirty="0">
                <a:latin typeface="Arial Nova Cond Light" panose="020B0306020202020204" pitchFamily="34" charset="0"/>
              </a:rPr>
              <a:t>4.	In questions that start with </a:t>
            </a:r>
            <a:r>
              <a:rPr lang="en-PH" sz="2800" dirty="0">
                <a:solidFill>
                  <a:srgbClr val="FFFF00"/>
                </a:solidFill>
                <a:latin typeface="Arial Nova Cond Light" panose="020B0306020202020204" pitchFamily="34" charset="0"/>
              </a:rPr>
              <a:t>pseudo verbs </a:t>
            </a:r>
            <a:r>
              <a:rPr lang="en-PH" sz="2800" dirty="0">
                <a:latin typeface="Arial Nova Cond Light" panose="020B0306020202020204" pitchFamily="34" charset="0"/>
              </a:rPr>
              <a:t>such as </a:t>
            </a:r>
            <a:r>
              <a:rPr lang="en-PH" sz="2800" b="1" dirty="0">
                <a:solidFill>
                  <a:srgbClr val="FFFF00"/>
                </a:solidFill>
                <a:latin typeface="Arial Nova Cond Light" panose="020B0306020202020204" pitchFamily="34" charset="0"/>
              </a:rPr>
              <a:t>gusto, </a:t>
            </a:r>
            <a:r>
              <a:rPr lang="en-PH" sz="2800" b="1" dirty="0" err="1">
                <a:solidFill>
                  <a:srgbClr val="FFFF00"/>
                </a:solidFill>
                <a:latin typeface="Arial Nova Cond Light" panose="020B0306020202020204" pitchFamily="34" charset="0"/>
              </a:rPr>
              <a:t>ayaw</a:t>
            </a:r>
            <a:r>
              <a:rPr lang="en-PH" sz="2800" b="1" dirty="0">
                <a:solidFill>
                  <a:srgbClr val="FFFF00"/>
                </a:solidFill>
                <a:latin typeface="Arial Nova Cond Light" panose="020B0306020202020204" pitchFamily="34" charset="0"/>
              </a:rPr>
              <a:t>, </a:t>
            </a:r>
            <a:r>
              <a:rPr lang="en-PH" sz="2800" b="1" dirty="0" err="1">
                <a:solidFill>
                  <a:srgbClr val="FFFF00"/>
                </a:solidFill>
                <a:latin typeface="Arial Nova Cond Light" panose="020B0306020202020204" pitchFamily="34" charset="0"/>
              </a:rPr>
              <a:t>ibig</a:t>
            </a:r>
            <a:r>
              <a:rPr lang="en-PH" sz="2800" b="1" dirty="0">
                <a:solidFill>
                  <a:srgbClr val="FFFF00"/>
                </a:solidFill>
                <a:latin typeface="Arial Nova Cond Light" panose="020B0306020202020204" pitchFamily="34" charset="0"/>
              </a:rPr>
              <a:t>, </a:t>
            </a:r>
            <a:r>
              <a:rPr lang="en-PH" sz="2800" b="1" dirty="0" err="1">
                <a:solidFill>
                  <a:srgbClr val="FFFF00"/>
                </a:solidFill>
                <a:latin typeface="Arial Nova Cond Light" panose="020B0306020202020204" pitchFamily="34" charset="0"/>
              </a:rPr>
              <a:t>puwede</a:t>
            </a:r>
            <a:r>
              <a:rPr lang="en-PH" sz="2800" b="1" dirty="0">
                <a:solidFill>
                  <a:srgbClr val="FFFF00"/>
                </a:solidFill>
                <a:latin typeface="Arial Nova Cond Light" panose="020B0306020202020204" pitchFamily="34" charset="0"/>
              </a:rPr>
              <a:t>, </a:t>
            </a:r>
            <a:r>
              <a:rPr lang="en-PH" sz="2800" b="1" dirty="0" err="1">
                <a:solidFill>
                  <a:srgbClr val="FFFF00"/>
                </a:solidFill>
                <a:latin typeface="Arial Nova Cond Light" panose="020B0306020202020204" pitchFamily="34" charset="0"/>
              </a:rPr>
              <a:t>maaari</a:t>
            </a:r>
            <a:r>
              <a:rPr lang="en-PH" sz="2800" b="1" dirty="0">
                <a:latin typeface="Arial Nova Cond Light" panose="020B0306020202020204" pitchFamily="34" charset="0"/>
              </a:rPr>
              <a:t>, </a:t>
            </a:r>
            <a:r>
              <a:rPr lang="en-PH" sz="2800" dirty="0">
                <a:latin typeface="Arial Nova Cond Light" panose="020B0306020202020204" pitchFamily="34" charset="0"/>
              </a:rPr>
              <a:t>and oth­ers, which help the main verb to express moods (see future Lesson on Pseudo Verbs), place </a:t>
            </a:r>
            <a:r>
              <a:rPr lang="en-PH" sz="2800" b="1" dirty="0" err="1">
                <a:solidFill>
                  <a:srgbClr val="FFFF00"/>
                </a:solidFill>
                <a:latin typeface="Arial Nova Cond Light" panose="020B0306020202020204" pitchFamily="34" charset="0"/>
              </a:rPr>
              <a:t>ba</a:t>
            </a:r>
            <a:r>
              <a:rPr lang="en-PH" sz="2800" dirty="0">
                <a:latin typeface="Arial Nova Cond Light" panose="020B0306020202020204" pitchFamily="34" charset="0"/>
              </a:rPr>
              <a:t> </a:t>
            </a:r>
            <a:r>
              <a:rPr lang="en-PH" sz="2800" dirty="0">
                <a:solidFill>
                  <a:srgbClr val="FFFF00"/>
                </a:solidFill>
                <a:latin typeface="Arial Nova Cond Light" panose="020B0306020202020204" pitchFamily="34" charset="0"/>
              </a:rPr>
              <a:t>between the pseudo verb and the main </a:t>
            </a:r>
            <a:r>
              <a:rPr lang="en-PH" sz="2800" dirty="0">
                <a:latin typeface="Arial Nova Cond Light" panose="020B0306020202020204" pitchFamily="34" charset="0"/>
              </a:rPr>
              <a:t>verb and attach the ligature </a:t>
            </a:r>
            <a:r>
              <a:rPr lang="en-PH" sz="2800" b="1" dirty="0">
                <a:solidFill>
                  <a:srgbClr val="FF0000"/>
                </a:solidFill>
                <a:latin typeface="Arial Nova Cond Light" panose="020B0306020202020204" pitchFamily="34" charset="0"/>
              </a:rPr>
              <a:t>-ng </a:t>
            </a:r>
            <a:r>
              <a:rPr lang="en-PH" sz="2800" dirty="0">
                <a:latin typeface="Arial Nova Cond Light" panose="020B0306020202020204" pitchFamily="34" charset="0"/>
              </a:rPr>
              <a:t>to </a:t>
            </a:r>
            <a:r>
              <a:rPr lang="en-PH" sz="2800" dirty="0" err="1">
                <a:latin typeface="Arial Nova Cond Light" panose="020B0306020202020204" pitchFamily="34" charset="0"/>
              </a:rPr>
              <a:t>ba</a:t>
            </a:r>
            <a:r>
              <a:rPr lang="en-PH" sz="2800" dirty="0">
                <a:latin typeface="Arial Nova Cond Light" panose="020B0306020202020204" pitchFamily="34" charset="0"/>
              </a:rPr>
              <a:t>.</a:t>
            </a:r>
          </a:p>
          <a:p>
            <a:r>
              <a:rPr lang="en-PH" sz="2800" dirty="0">
                <a:latin typeface="Arial Nova Cond Light" panose="020B0306020202020204" pitchFamily="34" charset="0"/>
              </a:rPr>
              <a:t>Gusto </a:t>
            </a:r>
            <a:r>
              <a:rPr lang="en-PH" sz="2800" dirty="0">
                <a:solidFill>
                  <a:srgbClr val="FFFF00"/>
                </a:solidFill>
                <a:latin typeface="Arial Nova Cond Light" panose="020B0306020202020204" pitchFamily="34" charset="0"/>
              </a:rPr>
              <a:t>bang </a:t>
            </a:r>
            <a:r>
              <a:rPr lang="en-PH" sz="2800" dirty="0" err="1">
                <a:latin typeface="Arial Nova Cond Light" panose="020B0306020202020204" pitchFamily="34" charset="0"/>
              </a:rPr>
              <a:t>kumain</a:t>
            </a:r>
            <a:r>
              <a:rPr lang="en-PH" sz="2800" dirty="0">
                <a:latin typeface="Arial Nova Cond Light" panose="020B0306020202020204" pitchFamily="34" charset="0"/>
              </a:rPr>
              <a:t> ng bata?			Does the child like to eat?  Um verb</a:t>
            </a:r>
          </a:p>
          <a:p>
            <a:r>
              <a:rPr lang="en-PH" sz="2800" dirty="0" err="1">
                <a:latin typeface="Arial Nova Cond Light" panose="020B0306020202020204" pitchFamily="34" charset="0"/>
              </a:rPr>
              <a:t>lbig</a:t>
            </a:r>
            <a:r>
              <a:rPr lang="en-PH" sz="2800" dirty="0">
                <a:latin typeface="Arial Nova Cond Light" panose="020B0306020202020204" pitchFamily="34" charset="0"/>
              </a:rPr>
              <a:t> </a:t>
            </a:r>
            <a:r>
              <a:rPr lang="en-PH" sz="2800" dirty="0">
                <a:solidFill>
                  <a:srgbClr val="FFFF00"/>
                </a:solidFill>
                <a:latin typeface="Arial Nova Cond Light" panose="020B0306020202020204" pitchFamily="34" charset="0"/>
              </a:rPr>
              <a:t>bang</a:t>
            </a:r>
            <a:r>
              <a:rPr lang="en-PH" sz="2800" dirty="0">
                <a:latin typeface="Arial Nova Cond Light" panose="020B0306020202020204" pitchFamily="34" charset="0"/>
              </a:rPr>
              <a:t> </a:t>
            </a:r>
            <a:r>
              <a:rPr lang="en-PH" sz="2800" dirty="0" err="1">
                <a:latin typeface="Arial Nova Cond Light" panose="020B0306020202020204" pitchFamily="34" charset="0"/>
              </a:rPr>
              <a:t>umalis</a:t>
            </a:r>
            <a:r>
              <a:rPr lang="en-PH" sz="2800" dirty="0">
                <a:latin typeface="Arial Nova Cond Light" panose="020B0306020202020204" pitchFamily="34" charset="0"/>
              </a:rPr>
              <a:t> ng </a:t>
            </a:r>
            <a:r>
              <a:rPr lang="en-PH" sz="2800" dirty="0" err="1">
                <a:latin typeface="Arial Nova Cond Light" panose="020B0306020202020204" pitchFamily="34" charset="0"/>
              </a:rPr>
              <a:t>lalaki</a:t>
            </a:r>
            <a:r>
              <a:rPr lang="en-PH" sz="2800" dirty="0">
                <a:latin typeface="Arial Nova Cond Light" panose="020B0306020202020204" pitchFamily="34" charset="0"/>
              </a:rPr>
              <a:t>?			Does the man like to leave?</a:t>
            </a:r>
          </a:p>
          <a:p>
            <a:r>
              <a:rPr lang="en-PH" sz="2800" dirty="0">
                <a:latin typeface="Arial Nova Cond Light" panose="020B0306020202020204" pitchFamily="34" charset="0"/>
              </a:rPr>
              <a:t>Ayaw </a:t>
            </a:r>
            <a:r>
              <a:rPr lang="en-PH" sz="2800" dirty="0">
                <a:solidFill>
                  <a:srgbClr val="FFFF00"/>
                </a:solidFill>
                <a:latin typeface="Arial Nova Cond Light" panose="020B0306020202020204" pitchFamily="34" charset="0"/>
              </a:rPr>
              <a:t>bang </a:t>
            </a:r>
            <a:r>
              <a:rPr lang="en-PH" sz="2800" dirty="0" err="1">
                <a:latin typeface="Arial Nova Cond Light" panose="020B0306020202020204" pitchFamily="34" charset="0"/>
              </a:rPr>
              <a:t>umalis</a:t>
            </a:r>
            <a:r>
              <a:rPr lang="en-PH" sz="2800" dirty="0">
                <a:latin typeface="Arial Nova Cond Light" panose="020B0306020202020204" pitchFamily="34" charset="0"/>
              </a:rPr>
              <a:t> ng </a:t>
            </a:r>
            <a:r>
              <a:rPr lang="en-PH" sz="2800" dirty="0" err="1">
                <a:latin typeface="Arial Nova Cond Light" panose="020B0306020202020204" pitchFamily="34" charset="0"/>
              </a:rPr>
              <a:t>babae</a:t>
            </a:r>
            <a:r>
              <a:rPr lang="en-PH" sz="2800" dirty="0">
                <a:latin typeface="Arial Nova Cond Light" panose="020B0306020202020204" pitchFamily="34" charset="0"/>
              </a:rPr>
              <a:t>?			Doesn't the woman want to leave?</a:t>
            </a:r>
          </a:p>
          <a:p>
            <a:endParaRPr lang="en-PH" sz="2800" dirty="0">
              <a:latin typeface="Arial Nova Cond Light" panose="020B0306020202020204" pitchFamily="34" charset="0"/>
            </a:endParaRPr>
          </a:p>
          <a:p>
            <a:r>
              <a:rPr lang="en-PH" sz="2800" dirty="0">
                <a:latin typeface="Arial Nova Cond Light" panose="020B0306020202020204" pitchFamily="34" charset="0"/>
              </a:rPr>
              <a:t>However, if a pronoun comes before the main verb (usually an -</a:t>
            </a:r>
            <a:r>
              <a:rPr lang="en-PH" sz="2800" b="1" dirty="0">
                <a:solidFill>
                  <a:srgbClr val="FFFF00"/>
                </a:solidFill>
                <a:latin typeface="Arial Nova Cond Light" panose="020B0306020202020204" pitchFamily="34" charset="0"/>
              </a:rPr>
              <a:t>um- or mag- verb</a:t>
            </a:r>
            <a:r>
              <a:rPr lang="en-PH" sz="2800" dirty="0">
                <a:latin typeface="Arial Nova Cond Light" panose="020B0306020202020204" pitchFamily="34" charset="0"/>
              </a:rPr>
              <a:t>, see Lesson Fourteen), the ligature -ng is attached to the pronouns </a:t>
            </a:r>
            <a:r>
              <a:rPr lang="en-PH" sz="2800" dirty="0" err="1">
                <a:solidFill>
                  <a:srgbClr val="FFFF00"/>
                </a:solidFill>
                <a:latin typeface="Arial Nova Cond Light" panose="020B0306020202020204" pitchFamily="34" charset="0"/>
              </a:rPr>
              <a:t>siya</a:t>
            </a:r>
            <a:r>
              <a:rPr lang="en-PH" sz="2800" dirty="0">
                <a:solidFill>
                  <a:srgbClr val="FFFF00"/>
                </a:solidFill>
                <a:latin typeface="Arial Nova Cond Light" panose="020B0306020202020204" pitchFamily="34" charset="0"/>
              </a:rPr>
              <a:t>, kami, </a:t>
            </a:r>
            <a:r>
              <a:rPr lang="en-PH" sz="2800" dirty="0" err="1">
                <a:solidFill>
                  <a:srgbClr val="FFFF00"/>
                </a:solidFill>
                <a:latin typeface="Arial Nova Cond Light" panose="020B0306020202020204" pitchFamily="34" charset="0"/>
              </a:rPr>
              <a:t>sila</a:t>
            </a:r>
            <a:r>
              <a:rPr lang="en-PH" sz="2800" dirty="0">
                <a:solidFill>
                  <a:srgbClr val="FFFF00"/>
                </a:solidFill>
                <a:latin typeface="Arial Nova Cond Light" panose="020B0306020202020204" pitchFamily="34" charset="0"/>
              </a:rPr>
              <a:t> and tayo </a:t>
            </a:r>
            <a:r>
              <a:rPr lang="en-PH" sz="2800" dirty="0">
                <a:latin typeface="Arial Nova Cond Light" panose="020B0306020202020204" pitchFamily="34" charset="0"/>
              </a:rPr>
              <a:t>rather than to </a:t>
            </a:r>
            <a:r>
              <a:rPr lang="en-PH" sz="2800" dirty="0" err="1">
                <a:latin typeface="Arial Nova Cond Light" panose="020B0306020202020204" pitchFamily="34" charset="0"/>
              </a:rPr>
              <a:t>ba</a:t>
            </a:r>
            <a:r>
              <a:rPr lang="en-PH" sz="2800" dirty="0">
                <a:latin typeface="Arial Nova Cond Light" panose="020B0306020202020204" pitchFamily="34" charset="0"/>
              </a:rPr>
              <a:t>. </a:t>
            </a:r>
          </a:p>
          <a:p>
            <a:r>
              <a:rPr lang="en-PH" sz="2800" dirty="0">
                <a:latin typeface="Arial Nova Cond Light" panose="020B0306020202020204" pitchFamily="34" charset="0"/>
              </a:rPr>
              <a:t>Dapat </a:t>
            </a:r>
            <a:r>
              <a:rPr lang="en-PH" sz="2800" dirty="0" err="1">
                <a:latin typeface="Arial Nova Cond Light" panose="020B0306020202020204" pitchFamily="34" charset="0"/>
              </a:rPr>
              <a:t>ba</a:t>
            </a:r>
            <a:r>
              <a:rPr lang="en-PH" sz="2800" dirty="0">
                <a:latin typeface="Arial Nova Cond Light" panose="020B0306020202020204" pitchFamily="34" charset="0"/>
              </a:rPr>
              <a:t> </a:t>
            </a:r>
            <a:r>
              <a:rPr lang="en-PH" sz="2800" dirty="0" err="1">
                <a:latin typeface="Arial Nova Cond Light" panose="020B0306020202020204" pitchFamily="34" charset="0"/>
              </a:rPr>
              <a:t>siya</a:t>
            </a:r>
            <a:r>
              <a:rPr lang="en-PH" sz="2800" dirty="0" err="1">
                <a:solidFill>
                  <a:srgbClr val="FFFF00"/>
                </a:solidFill>
                <a:latin typeface="Arial Nova Cond Light" panose="020B0306020202020204" pitchFamily="34" charset="0"/>
              </a:rPr>
              <a:t>ng</a:t>
            </a:r>
            <a:r>
              <a:rPr lang="en-PH" sz="2800" dirty="0">
                <a:solidFill>
                  <a:srgbClr val="FFFF00"/>
                </a:solidFill>
                <a:latin typeface="Arial Nova Cond Light" panose="020B0306020202020204" pitchFamily="34" charset="0"/>
              </a:rPr>
              <a:t> </a:t>
            </a:r>
            <a:r>
              <a:rPr lang="en-PH" sz="2800" dirty="0" err="1">
                <a:latin typeface="Arial Nova Cond Light" panose="020B0306020202020204" pitchFamily="34" charset="0"/>
              </a:rPr>
              <a:t>magsalita</a:t>
            </a:r>
            <a:r>
              <a:rPr lang="en-PH" sz="2800" dirty="0">
                <a:latin typeface="Arial Nova Cond Light" panose="020B0306020202020204" pitchFamily="34" charset="0"/>
              </a:rPr>
              <a:t>?			Should he/she speak?</a:t>
            </a:r>
          </a:p>
          <a:p>
            <a:r>
              <a:rPr lang="en-PH" sz="2800" dirty="0" err="1">
                <a:latin typeface="Arial Nova Cond Light" panose="020B0306020202020204" pitchFamily="34" charset="0"/>
              </a:rPr>
              <a:t>Puwede</a:t>
            </a:r>
            <a:r>
              <a:rPr lang="en-PH" sz="2800" dirty="0">
                <a:latin typeface="Arial Nova Cond Light" panose="020B0306020202020204" pitchFamily="34" charset="0"/>
              </a:rPr>
              <a:t> </a:t>
            </a:r>
            <a:r>
              <a:rPr lang="en-PH" sz="2800" dirty="0" err="1">
                <a:latin typeface="Arial Nova Cond Light" panose="020B0306020202020204" pitchFamily="34" charset="0"/>
              </a:rPr>
              <a:t>ba</a:t>
            </a:r>
            <a:r>
              <a:rPr lang="en-PH" sz="2800" dirty="0">
                <a:latin typeface="Arial Nova Cond Light" panose="020B0306020202020204" pitchFamily="34" charset="0"/>
              </a:rPr>
              <a:t> </a:t>
            </a:r>
            <a:r>
              <a:rPr lang="en-PH" sz="2800" dirty="0" err="1">
                <a:latin typeface="Arial Nova Cond Light" panose="020B0306020202020204" pitchFamily="34" charset="0"/>
              </a:rPr>
              <a:t>ako</a:t>
            </a:r>
            <a:r>
              <a:rPr lang="en-PH" sz="2800" dirty="0" err="1">
                <a:solidFill>
                  <a:srgbClr val="FFFF00"/>
                </a:solidFill>
                <a:latin typeface="Arial Nova Cond Light" panose="020B0306020202020204" pitchFamily="34" charset="0"/>
              </a:rPr>
              <a:t>ng</a:t>
            </a:r>
            <a:r>
              <a:rPr lang="en-PH" sz="2800" dirty="0">
                <a:latin typeface="Arial Nova Cond Light" panose="020B0306020202020204" pitchFamily="34" charset="0"/>
              </a:rPr>
              <a:t> </a:t>
            </a:r>
            <a:r>
              <a:rPr lang="en-PH" sz="2800" dirty="0" err="1">
                <a:latin typeface="Arial Nova Cond Light" panose="020B0306020202020204" pitchFamily="34" charset="0"/>
              </a:rPr>
              <a:t>umalis</a:t>
            </a:r>
            <a:r>
              <a:rPr lang="en-PH" sz="2800" dirty="0">
                <a:latin typeface="Arial Nova Cond Light" panose="020B0306020202020204" pitchFamily="34" charset="0"/>
              </a:rPr>
              <a:t>?			Can I go?</a:t>
            </a:r>
          </a:p>
          <a:p>
            <a:r>
              <a:rPr lang="en-PH" sz="2800" dirty="0" err="1">
                <a:latin typeface="Arial Nova Cond Light" panose="020B0306020202020204" pitchFamily="34" charset="0"/>
              </a:rPr>
              <a:t>Maaarl</a:t>
            </a:r>
            <a:r>
              <a:rPr lang="en-PH" sz="2800" dirty="0">
                <a:latin typeface="Arial Nova Cond Light" panose="020B0306020202020204" pitchFamily="34" charset="0"/>
              </a:rPr>
              <a:t> </a:t>
            </a:r>
            <a:r>
              <a:rPr lang="en-PH" sz="2800" dirty="0" err="1">
                <a:latin typeface="Arial Nova Cond Light" panose="020B0306020202020204" pitchFamily="34" charset="0"/>
              </a:rPr>
              <a:t>ba</a:t>
            </a:r>
            <a:r>
              <a:rPr lang="en-PH" sz="2800" dirty="0">
                <a:latin typeface="Arial Nova Cond Light" panose="020B0306020202020204" pitchFamily="34" charset="0"/>
              </a:rPr>
              <a:t> </a:t>
            </a:r>
            <a:r>
              <a:rPr lang="en-PH" sz="2800" dirty="0" err="1">
                <a:latin typeface="Arial Nova Cond Light" panose="020B0306020202020204" pitchFamily="34" charset="0"/>
              </a:rPr>
              <a:t>kami</a:t>
            </a:r>
            <a:r>
              <a:rPr lang="en-PH" sz="2800" dirty="0" err="1">
                <a:solidFill>
                  <a:srgbClr val="FFFF00"/>
                </a:solidFill>
                <a:latin typeface="Arial Nova Cond Light" panose="020B0306020202020204" pitchFamily="34" charset="0"/>
              </a:rPr>
              <a:t>ng</a:t>
            </a:r>
            <a:r>
              <a:rPr lang="en-PH" sz="2800" dirty="0">
                <a:latin typeface="Arial Nova Cond Light" panose="020B0306020202020204" pitchFamily="34" charset="0"/>
              </a:rPr>
              <a:t> </a:t>
            </a:r>
            <a:r>
              <a:rPr lang="en-PH" sz="2800" dirty="0" err="1">
                <a:latin typeface="Arial Nova Cond Light" panose="020B0306020202020204" pitchFamily="34" charset="0"/>
              </a:rPr>
              <a:t>magtiwala</a:t>
            </a:r>
            <a:r>
              <a:rPr lang="en-PH" sz="2800" dirty="0">
                <a:latin typeface="Arial Nova Cond Light" panose="020B0306020202020204" pitchFamily="34" charset="0"/>
              </a:rPr>
              <a:t> </a:t>
            </a:r>
            <a:r>
              <a:rPr lang="en-PH" sz="2800" dirty="0" err="1">
                <a:latin typeface="Arial Nova Cond Light" panose="020B0306020202020204" pitchFamily="34" charset="0"/>
              </a:rPr>
              <a:t>sa</a:t>
            </a:r>
            <a:r>
              <a:rPr lang="en-PH" sz="2800" dirty="0">
                <a:latin typeface="Arial Nova Cond Light" panose="020B0306020202020204" pitchFamily="34" charset="0"/>
              </a:rPr>
              <a:t> </a:t>
            </a:r>
            <a:r>
              <a:rPr lang="en-PH" sz="2800" dirty="0" err="1">
                <a:latin typeface="Arial Nova Cond Light" panose="020B0306020202020204" pitchFamily="34" charset="0"/>
              </a:rPr>
              <a:t>iyo</a:t>
            </a:r>
            <a:r>
              <a:rPr lang="en-PH" sz="2800" dirty="0">
                <a:latin typeface="Arial Nova Cond Light" panose="020B0306020202020204" pitchFamily="34" charset="0"/>
              </a:rPr>
              <a:t>?	Should we trust you?</a:t>
            </a:r>
          </a:p>
        </p:txBody>
      </p:sp>
    </p:spTree>
    <p:extLst>
      <p:ext uri="{BB962C8B-B14F-4D97-AF65-F5344CB8AC3E}">
        <p14:creationId xmlns:p14="http://schemas.microsoft.com/office/powerpoint/2010/main" val="1049737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406DC-FCAE-2F71-F811-9FFA7D859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F4B50-1F36-EE34-F81B-BC0E70314169}"/>
              </a:ext>
            </a:extLst>
          </p:cNvPr>
          <p:cNvSpPr>
            <a:spLocks noGrp="1"/>
          </p:cNvSpPr>
          <p:nvPr>
            <p:ph type="title"/>
          </p:nvPr>
        </p:nvSpPr>
        <p:spPr>
          <a:xfrm>
            <a:off x="0" y="1219201"/>
            <a:ext cx="11937999" cy="1264469"/>
          </a:xfrm>
        </p:spPr>
        <p:txBody>
          <a:bodyPr>
            <a:noAutofit/>
          </a:bodyPr>
          <a:lstStyle/>
          <a:p>
            <a:pPr algn="l"/>
            <a:r>
              <a:rPr lang="en-US" sz="2400" cap="none" dirty="0">
                <a:solidFill>
                  <a:schemeClr val="tx1"/>
                </a:solidFill>
                <a:latin typeface="Arial Nova Cond Light" panose="020B0306020202020204" pitchFamily="34" charset="0"/>
                <a:ea typeface="+mn-ea"/>
                <a:cs typeface="+mn-cs"/>
              </a:rPr>
              <a:t>Note that in some Tagalog-speaking provinces, </a:t>
            </a:r>
            <a:r>
              <a:rPr lang="en-US" sz="2400" cap="none" dirty="0" err="1">
                <a:solidFill>
                  <a:schemeClr val="tx1"/>
                </a:solidFill>
                <a:latin typeface="Arial Nova Cond Light" panose="020B0306020202020204" pitchFamily="34" charset="0"/>
                <a:ea typeface="+mn-ea"/>
                <a:cs typeface="+mn-cs"/>
              </a:rPr>
              <a:t>baga</a:t>
            </a:r>
            <a:r>
              <a:rPr lang="en-US" sz="2400" cap="none" dirty="0">
                <a:solidFill>
                  <a:schemeClr val="tx1"/>
                </a:solidFill>
                <a:latin typeface="Arial Nova Cond Light" panose="020B0306020202020204" pitchFamily="34" charset="0"/>
                <a:ea typeface="+mn-ea"/>
                <a:cs typeface="+mn-cs"/>
              </a:rPr>
              <a:t> is used instead of </a:t>
            </a:r>
            <a:r>
              <a:rPr lang="en-US" sz="2400" cap="none" dirty="0" err="1">
                <a:solidFill>
                  <a:schemeClr val="tx1"/>
                </a:solidFill>
                <a:latin typeface="Arial Nova Cond Light" panose="020B0306020202020204" pitchFamily="34" charset="0"/>
                <a:ea typeface="+mn-ea"/>
                <a:cs typeface="+mn-cs"/>
              </a:rPr>
              <a:t>ba</a:t>
            </a:r>
            <a:r>
              <a:rPr lang="en-US" sz="2400" cap="none" dirty="0">
                <a:solidFill>
                  <a:schemeClr val="tx1"/>
                </a:solidFill>
                <a:latin typeface="Arial Nova Cond Light" panose="020B0306020202020204" pitchFamily="34" charset="0"/>
                <a:ea typeface="+mn-ea"/>
                <a:cs typeface="+mn-cs"/>
              </a:rPr>
              <a:t>.</a:t>
            </a:r>
            <a:br>
              <a:rPr lang="en-US" sz="2400" cap="none" dirty="0">
                <a:solidFill>
                  <a:schemeClr val="tx1"/>
                </a:solidFill>
                <a:latin typeface="Arial Nova Cond Light" panose="020B0306020202020204" pitchFamily="34" charset="0"/>
                <a:ea typeface="+mn-ea"/>
                <a:cs typeface="+mn-cs"/>
              </a:rPr>
            </a:br>
            <a:br>
              <a:rPr lang="en-US" sz="2400" cap="none" dirty="0">
                <a:solidFill>
                  <a:schemeClr val="tx1"/>
                </a:solidFill>
                <a:latin typeface="Arial Nova Cond Light" panose="020B0306020202020204" pitchFamily="34" charset="0"/>
                <a:ea typeface="+mn-ea"/>
                <a:cs typeface="+mn-cs"/>
              </a:rPr>
            </a:br>
            <a:r>
              <a:rPr lang="en-US" sz="2400" cap="none" dirty="0">
                <a:solidFill>
                  <a:schemeClr val="tx1"/>
                </a:solidFill>
                <a:latin typeface="Arial Nova Cond Light" panose="020B0306020202020204" pitchFamily="34" charset="0"/>
                <a:ea typeface="+mn-ea"/>
                <a:cs typeface="+mn-cs"/>
              </a:rPr>
              <a:t> In asking questions, raise your voice at the end if the answer is either yes or no;</a:t>
            </a:r>
            <a:br>
              <a:rPr lang="en-US" sz="2400" cap="none" dirty="0">
                <a:solidFill>
                  <a:schemeClr val="tx1"/>
                </a:solidFill>
                <a:latin typeface="Arial Nova Cond Light" panose="020B0306020202020204" pitchFamily="34" charset="0"/>
                <a:ea typeface="+mn-ea"/>
                <a:cs typeface="+mn-cs"/>
              </a:rPr>
            </a:br>
            <a:r>
              <a:rPr lang="en-US" sz="2400" cap="none" dirty="0">
                <a:solidFill>
                  <a:schemeClr val="tx1"/>
                </a:solidFill>
                <a:latin typeface="Arial Nova Cond Light" panose="020B0306020202020204" pitchFamily="34" charset="0"/>
                <a:ea typeface="+mn-ea"/>
                <a:cs typeface="+mn-cs"/>
              </a:rPr>
              <a:t> if not, bring down the voice at the end.</a:t>
            </a:r>
            <a:br>
              <a:rPr lang="en-US" sz="2400" cap="none" dirty="0">
                <a:solidFill>
                  <a:schemeClr val="tx1"/>
                </a:solidFill>
                <a:latin typeface="Arial Nova Cond Light" panose="020B0306020202020204" pitchFamily="34" charset="0"/>
                <a:ea typeface="+mn-ea"/>
                <a:cs typeface="+mn-cs"/>
              </a:rPr>
            </a:br>
            <a:br>
              <a:rPr lang="en-US" sz="2400" cap="none" dirty="0">
                <a:solidFill>
                  <a:schemeClr val="tx1"/>
                </a:solidFill>
                <a:latin typeface="Arial Nova Cond Light" panose="020B0306020202020204" pitchFamily="34" charset="0"/>
                <a:ea typeface="+mn-ea"/>
                <a:cs typeface="+mn-cs"/>
              </a:rPr>
            </a:br>
            <a:r>
              <a:rPr lang="en-US" sz="2400" cap="none" dirty="0">
                <a:solidFill>
                  <a:schemeClr val="tx1"/>
                </a:solidFill>
                <a:latin typeface="Arial Nova Cond Light" panose="020B0306020202020204" pitchFamily="34" charset="0"/>
                <a:ea typeface="+mn-ea"/>
                <a:cs typeface="+mn-cs"/>
              </a:rPr>
              <a:t>Aalis ka </a:t>
            </a:r>
            <a:r>
              <a:rPr lang="en-US" sz="2400" cap="none" dirty="0" err="1">
                <a:solidFill>
                  <a:schemeClr val="tx1"/>
                </a:solidFill>
                <a:latin typeface="Arial Nova Cond Light" panose="020B0306020202020204" pitchFamily="34" charset="0"/>
                <a:ea typeface="+mn-ea"/>
                <a:cs typeface="+mn-cs"/>
              </a:rPr>
              <a:t>ba</a:t>
            </a:r>
            <a:r>
              <a:rPr lang="en-US" sz="2400" cap="none" dirty="0">
                <a:solidFill>
                  <a:schemeClr val="tx1"/>
                </a:solidFill>
                <a:latin typeface="Arial Nova Cond Light" panose="020B0306020202020204" pitchFamily="34" charset="0"/>
                <a:ea typeface="+mn-ea"/>
                <a:cs typeface="+mn-cs"/>
              </a:rPr>
              <a:t>:? Oo/Hindi. 		</a:t>
            </a:r>
            <a:r>
              <a:rPr lang="en-US" sz="2400" cap="none" dirty="0">
                <a:solidFill>
                  <a:schemeClr val="tx1"/>
                </a:solidFill>
                <a:latin typeface="Arial Nova Cond Light" panose="020B0306020202020204" pitchFamily="34" charset="0"/>
              </a:rPr>
              <a:t>Are you leaving? Yes/No. </a:t>
            </a:r>
            <a:br>
              <a:rPr lang="en-US" sz="2400" cap="none" dirty="0">
                <a:solidFill>
                  <a:schemeClr val="tx1"/>
                </a:solidFill>
                <a:latin typeface="Arial Nova Cond Light" panose="020B0306020202020204" pitchFamily="34" charset="0"/>
                <a:ea typeface="+mn-ea"/>
                <a:cs typeface="+mn-cs"/>
              </a:rPr>
            </a:br>
            <a:r>
              <a:rPr lang="en-US" sz="2400" cap="none" dirty="0">
                <a:solidFill>
                  <a:schemeClr val="tx1"/>
                </a:solidFill>
                <a:latin typeface="Arial Nova Cond Light" panose="020B0306020202020204" pitchFamily="34" charset="0"/>
                <a:ea typeface="+mn-ea"/>
                <a:cs typeface="+mn-cs"/>
              </a:rPr>
              <a:t>Sino ka </a:t>
            </a:r>
            <a:r>
              <a:rPr lang="en-US" sz="2400" cap="none" dirty="0" err="1">
                <a:solidFill>
                  <a:schemeClr val="tx1"/>
                </a:solidFill>
                <a:latin typeface="Arial Nova Cond Light" panose="020B0306020202020204" pitchFamily="34" charset="0"/>
                <a:ea typeface="+mn-ea"/>
                <a:cs typeface="+mn-cs"/>
              </a:rPr>
              <a:t>ba</a:t>
            </a:r>
            <a:r>
              <a:rPr lang="en-US" sz="2400" cap="none" dirty="0">
                <a:solidFill>
                  <a:schemeClr val="tx1"/>
                </a:solidFill>
                <a:latin typeface="Arial Nova Cond Light" panose="020B0306020202020204" pitchFamily="34" charset="0"/>
                <a:ea typeface="+mn-ea"/>
                <a:cs typeface="+mn-cs"/>
              </a:rPr>
              <a:t>? Ako </a:t>
            </a:r>
            <a:r>
              <a:rPr lang="en-US" sz="2400" cap="none" dirty="0" err="1">
                <a:solidFill>
                  <a:schemeClr val="tx1"/>
                </a:solidFill>
                <a:latin typeface="Arial Nova Cond Light" panose="020B0306020202020204" pitchFamily="34" charset="0"/>
                <a:ea typeface="+mn-ea"/>
                <a:cs typeface="+mn-cs"/>
              </a:rPr>
              <a:t>si</a:t>
            </a:r>
            <a:r>
              <a:rPr lang="en-US" sz="2400" cap="none" dirty="0">
                <a:solidFill>
                  <a:schemeClr val="tx1"/>
                </a:solidFill>
                <a:latin typeface="Arial Nova Cond Light" panose="020B0306020202020204" pitchFamily="34" charset="0"/>
                <a:ea typeface="+mn-ea"/>
                <a:cs typeface="+mn-cs"/>
              </a:rPr>
              <a:t> Mary.		</a:t>
            </a:r>
            <a:r>
              <a:rPr lang="en-US" sz="2400" cap="none" dirty="0">
                <a:solidFill>
                  <a:schemeClr val="tx1"/>
                </a:solidFill>
                <a:latin typeface="Arial Nova Cond Light" panose="020B0306020202020204" pitchFamily="34" charset="0"/>
              </a:rPr>
              <a:t> Who are you? I am Mary.</a:t>
            </a:r>
            <a:br>
              <a:rPr lang="en-US" sz="2400" cap="none" dirty="0">
                <a:solidFill>
                  <a:schemeClr val="tx1"/>
                </a:solidFill>
                <a:latin typeface="Arial Nova Cond Light" panose="020B0306020202020204" pitchFamily="34" charset="0"/>
                <a:ea typeface="+mn-ea"/>
                <a:cs typeface="+mn-cs"/>
              </a:rPr>
            </a:br>
            <a:r>
              <a:rPr lang="en-US" sz="2400" cap="none" dirty="0">
                <a:solidFill>
                  <a:schemeClr val="tx1"/>
                </a:solidFill>
                <a:latin typeface="Arial Nova Cond Light" panose="020B0306020202020204" pitchFamily="34" charset="0"/>
                <a:ea typeface="+mn-ea"/>
                <a:cs typeface="+mn-cs"/>
              </a:rPr>
              <a:t> </a:t>
            </a:r>
            <a:br>
              <a:rPr lang="en-US" sz="2400" cap="none" dirty="0">
                <a:solidFill>
                  <a:schemeClr val="tx1"/>
                </a:solidFill>
                <a:latin typeface="Arial Nova Cond Light" panose="020B0306020202020204" pitchFamily="34" charset="0"/>
                <a:ea typeface="+mn-ea"/>
                <a:cs typeface="+mn-cs"/>
              </a:rPr>
            </a:br>
            <a:br>
              <a:rPr lang="en-US" sz="2400" cap="none" dirty="0">
                <a:solidFill>
                  <a:schemeClr val="tx1"/>
                </a:solidFill>
                <a:latin typeface="Arial Nova Cond Light" panose="020B0306020202020204" pitchFamily="34" charset="0"/>
                <a:ea typeface="+mn-ea"/>
                <a:cs typeface="+mn-cs"/>
              </a:rPr>
            </a:br>
            <a:endParaRPr lang="en-US" sz="2400" cap="none" dirty="0">
              <a:solidFill>
                <a:schemeClr val="tx1"/>
              </a:solidFill>
              <a:latin typeface="Arial Nova Cond Light" panose="020B0306020202020204" pitchFamily="34" charset="0"/>
              <a:ea typeface="+mn-ea"/>
              <a:cs typeface="+mn-cs"/>
            </a:endParaRPr>
          </a:p>
        </p:txBody>
      </p:sp>
      <p:pic>
        <p:nvPicPr>
          <p:cNvPr id="7" name="Picture 6">
            <a:extLst>
              <a:ext uri="{FF2B5EF4-FFF2-40B4-BE49-F238E27FC236}">
                <a16:creationId xmlns:a16="http://schemas.microsoft.com/office/drawing/2014/main" id="{A8FC2322-9B35-AFFC-8BD8-81B89BF4AB4B}"/>
              </a:ext>
            </a:extLst>
          </p:cNvPr>
          <p:cNvPicPr>
            <a:picLocks noChangeAspect="1"/>
          </p:cNvPicPr>
          <p:nvPr/>
        </p:nvPicPr>
        <p:blipFill>
          <a:blip r:embed="rId2"/>
          <a:stretch>
            <a:fillRect/>
          </a:stretch>
        </p:blipFill>
        <p:spPr>
          <a:xfrm>
            <a:off x="5143611" y="3071938"/>
            <a:ext cx="1646656" cy="2505673"/>
          </a:xfrm>
          <a:prstGeom prst="rect">
            <a:avLst/>
          </a:prstGeom>
        </p:spPr>
      </p:pic>
      <p:pic>
        <p:nvPicPr>
          <p:cNvPr id="6" name="Picture 5">
            <a:extLst>
              <a:ext uri="{FF2B5EF4-FFF2-40B4-BE49-F238E27FC236}">
                <a16:creationId xmlns:a16="http://schemas.microsoft.com/office/drawing/2014/main" id="{DE772710-2510-E765-CEA2-610ACE97B6E3}"/>
              </a:ext>
            </a:extLst>
          </p:cNvPr>
          <p:cNvPicPr>
            <a:picLocks noChangeAspect="1"/>
          </p:cNvPicPr>
          <p:nvPr/>
        </p:nvPicPr>
        <p:blipFill>
          <a:blip r:embed="rId3"/>
          <a:stretch>
            <a:fillRect/>
          </a:stretch>
        </p:blipFill>
        <p:spPr>
          <a:xfrm>
            <a:off x="2647372" y="3071938"/>
            <a:ext cx="1713124" cy="2475191"/>
          </a:xfrm>
          <a:prstGeom prst="rect">
            <a:avLst/>
          </a:prstGeom>
        </p:spPr>
      </p:pic>
    </p:spTree>
    <p:extLst>
      <p:ext uri="{BB962C8B-B14F-4D97-AF65-F5344CB8AC3E}">
        <p14:creationId xmlns:p14="http://schemas.microsoft.com/office/powerpoint/2010/main" val="2799871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8C2A9934-A21E-DE5A-0048-D784664EC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21333-97D5-1F39-A4D9-5F17344752A2}"/>
              </a:ext>
            </a:extLst>
          </p:cNvPr>
          <p:cNvSpPr>
            <a:spLocks noGrp="1"/>
          </p:cNvSpPr>
          <p:nvPr>
            <p:ph type="title"/>
          </p:nvPr>
        </p:nvSpPr>
        <p:spPr>
          <a:xfrm>
            <a:off x="0" y="1134532"/>
            <a:ext cx="12192000" cy="3691467"/>
          </a:xfrm>
        </p:spPr>
        <p:txBody>
          <a:bodyPr>
            <a:noAutofit/>
          </a:bodyPr>
          <a:lstStyle/>
          <a:p>
            <a:pPr algn="l"/>
            <a:r>
              <a:rPr lang="en-US" sz="2800" cap="none" dirty="0">
                <a:solidFill>
                  <a:schemeClr val="tx1"/>
                </a:solidFill>
                <a:latin typeface="Arial Nova Cond Light" panose="020B0306020202020204" pitchFamily="34" charset="0"/>
              </a:rPr>
              <a:t>Form questions using the following statements by inserting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in the appropriate places.</a:t>
            </a:r>
            <a:br>
              <a:rPr lang="en-PH" sz="2800" cap="none" dirty="0">
                <a:solidFill>
                  <a:schemeClr val="tx1"/>
                </a:solidFill>
                <a:latin typeface="Arial Nova Cond Light" panose="020B0306020202020204" pitchFamily="34" charset="0"/>
              </a:rPr>
            </a:br>
            <a:r>
              <a:rPr lang="en-US" sz="2800" cap="none" dirty="0">
                <a:solidFill>
                  <a:schemeClr val="tx1"/>
                </a:solidFill>
                <a:latin typeface="Arial Nova Cond Light" panose="020B0306020202020204" pitchFamily="34" charset="0"/>
              </a:rPr>
              <a:t> </a:t>
            </a:r>
            <a:br>
              <a:rPr lang="en-PH" sz="2800" cap="none" dirty="0">
                <a:solidFill>
                  <a:schemeClr val="tx1"/>
                </a:solidFill>
                <a:latin typeface="Arial Nova Cond Light" panose="020B0306020202020204" pitchFamily="34" charset="0"/>
              </a:rPr>
            </a:br>
            <a:br>
              <a:rPr lang="en-PH" sz="2800" b="1" cap="none" dirty="0">
                <a:solidFill>
                  <a:schemeClr val="tx1"/>
                </a:solidFill>
                <a:latin typeface="Arial Nova Cond Light" panose="020B0306020202020204" pitchFamily="34" charset="0"/>
              </a:rPr>
            </a:br>
            <a:r>
              <a:rPr lang="en-US" sz="2800" b="1" cap="none" dirty="0">
                <a:solidFill>
                  <a:schemeClr val="tx1"/>
                </a:solidFill>
                <a:latin typeface="Arial Nova Cond Light" panose="020B0306020202020204" pitchFamily="34" charset="0"/>
              </a:rPr>
              <a:t>Form questions using the following statements by inserting </a:t>
            </a:r>
            <a:r>
              <a:rPr lang="en-US" sz="2800" b="1" cap="none" dirty="0" err="1">
                <a:solidFill>
                  <a:schemeClr val="tx1"/>
                </a:solidFill>
                <a:latin typeface="Arial Nova Cond Light" panose="020B0306020202020204" pitchFamily="34" charset="0"/>
              </a:rPr>
              <a:t>ba</a:t>
            </a:r>
            <a:r>
              <a:rPr lang="en-US" sz="2800" b="1" cap="none" dirty="0">
                <a:solidFill>
                  <a:schemeClr val="tx1"/>
                </a:solidFill>
                <a:latin typeface="Arial Nova Cond Light" panose="020B0306020202020204" pitchFamily="34" charset="0"/>
              </a:rPr>
              <a:t> in the appropriate places.</a:t>
            </a:r>
            <a:br>
              <a:rPr lang="en-US" sz="2800" b="1" dirty="0">
                <a:solidFill>
                  <a:schemeClr val="tx1"/>
                </a:solidFill>
                <a:latin typeface="Arial Nova Cond Light" panose="020B0306020202020204" pitchFamily="34" charset="0"/>
              </a:rPr>
            </a:br>
            <a:r>
              <a:rPr lang="en-US" sz="2800" dirty="0">
                <a:solidFill>
                  <a:schemeClr val="tx1"/>
                </a:solidFill>
                <a:latin typeface="Arial Nova Cond Light" panose="020B0306020202020204" pitchFamily="34" charset="0"/>
              </a:rPr>
              <a:t>1.</a:t>
            </a:r>
            <a:r>
              <a:rPr lang="en-US" sz="2800" cap="none" dirty="0">
                <a:solidFill>
                  <a:schemeClr val="tx1"/>
                </a:solidFill>
                <a:latin typeface="Arial Nova Cond Light" panose="020B0306020202020204" pitchFamily="34" charset="0"/>
              </a:rPr>
              <a:t>Ang </a:t>
            </a:r>
            <a:r>
              <a:rPr lang="en-US" sz="2800" cap="none" dirty="0" err="1">
                <a:solidFill>
                  <a:schemeClr val="tx1"/>
                </a:solidFill>
                <a:latin typeface="Arial Nova Cond Light" panose="020B0306020202020204" pitchFamily="34" charset="0"/>
              </a:rPr>
              <a:t>kaibigan</a:t>
            </a:r>
            <a:r>
              <a:rPr lang="en-US" sz="2800" cap="none" dirty="0">
                <a:solidFill>
                  <a:schemeClr val="tx1"/>
                </a:solidFill>
                <a:latin typeface="Arial Nova Cond Light" panose="020B0306020202020204" pitchFamily="34" charset="0"/>
              </a:rPr>
              <a:t> ko ay </a:t>
            </a:r>
            <a:r>
              <a:rPr lang="en-US" sz="2800" cap="none" dirty="0" err="1">
                <a:solidFill>
                  <a:schemeClr val="tx1"/>
                </a:solidFill>
                <a:latin typeface="Arial Nova Cond Light" panose="020B0306020202020204" pitchFamily="34" charset="0"/>
              </a:rPr>
              <a:t>si</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herbert</a:t>
            </a:r>
            <a:r>
              <a:rPr lang="en-US" sz="2800" cap="none" dirty="0">
                <a:solidFill>
                  <a:schemeClr val="tx1"/>
                </a:solidFill>
                <a:latin typeface="Arial Nova Cond Light" panose="020B0306020202020204" pitchFamily="34" charset="0"/>
              </a:rPr>
              <a:t>. 	Ang </a:t>
            </a:r>
            <a:r>
              <a:rPr lang="en-US" sz="2800" cap="none" dirty="0" err="1">
                <a:solidFill>
                  <a:schemeClr val="tx1"/>
                </a:solidFill>
                <a:latin typeface="Arial Nova Cond Light" panose="020B0306020202020204" pitchFamily="34" charset="0"/>
              </a:rPr>
              <a:t>kaibigan</a:t>
            </a:r>
            <a:r>
              <a:rPr lang="en-US" sz="2800" cap="none" dirty="0">
                <a:solidFill>
                  <a:schemeClr val="tx1"/>
                </a:solidFill>
                <a:latin typeface="Arial Nova Cond Light" panose="020B0306020202020204" pitchFamily="34" charset="0"/>
              </a:rPr>
              <a:t> ko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si</a:t>
            </a:r>
            <a:r>
              <a:rPr lang="en-US" sz="2800" cap="none" dirty="0">
                <a:solidFill>
                  <a:schemeClr val="tx1"/>
                </a:solidFill>
                <a:latin typeface="Arial Nova Cond Light" panose="020B0306020202020204" pitchFamily="34" charset="0"/>
              </a:rPr>
              <a:t> Herbert?	</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2.</a:t>
            </a:r>
            <a:r>
              <a:rPr lang="en-US" sz="2800" cap="none" dirty="0">
                <a:solidFill>
                  <a:schemeClr val="tx1"/>
                </a:solidFill>
                <a:latin typeface="Arial Nova Cond Light" panose="020B0306020202020204" pitchFamily="34" charset="0"/>
              </a:rPr>
              <a:t>Sila ay </a:t>
            </a:r>
            <a:r>
              <a:rPr lang="en-US" sz="2800" cap="none" dirty="0" err="1">
                <a:solidFill>
                  <a:schemeClr val="tx1"/>
                </a:solidFill>
                <a:latin typeface="Arial Nova Cond Light" panose="020B0306020202020204" pitchFamily="34" charset="0"/>
              </a:rPr>
              <a:t>pupunta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kapilya</a:t>
            </a:r>
            <a:r>
              <a:rPr lang="en-US" sz="2800" cap="none" dirty="0">
                <a:solidFill>
                  <a:schemeClr val="tx1"/>
                </a:solidFill>
                <a:latin typeface="Arial Nova Cond Light" panose="020B0306020202020204" pitchFamily="34" charset="0"/>
              </a:rPr>
              <a:t>. 		Sila </a:t>
            </a:r>
            <a:r>
              <a:rPr lang="en-US" sz="2800" cap="none" dirty="0" err="1">
                <a:solidFill>
                  <a:schemeClr val="tx1"/>
                </a:solidFill>
                <a:latin typeface="Arial Nova Cond Light" panose="020B0306020202020204" pitchFamily="34" charset="0"/>
              </a:rPr>
              <a:t>ba’y</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pupunta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kapilya</a:t>
            </a:r>
            <a:r>
              <a:rPr lang="en-US" sz="2800" cap="none" dirty="0">
                <a:solidFill>
                  <a:schemeClr val="tx1"/>
                </a:solidFill>
                <a:latin typeface="Arial Nova Cond Light" panose="020B0306020202020204" pitchFamily="34" charset="0"/>
              </a:rPr>
              <a:t>?	</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3.</a:t>
            </a:r>
            <a:r>
              <a:rPr lang="en-US" sz="2800" cap="none" dirty="0">
                <a:solidFill>
                  <a:schemeClr val="tx1"/>
                </a:solidFill>
                <a:latin typeface="Arial Nova Cond Light" panose="020B0306020202020204" pitchFamily="34" charset="0"/>
              </a:rPr>
              <a:t>Ako ay </a:t>
            </a:r>
            <a:r>
              <a:rPr lang="en-US" sz="2800" cap="none" dirty="0" err="1">
                <a:solidFill>
                  <a:schemeClr val="tx1"/>
                </a:solidFill>
                <a:latin typeface="Arial Nova Cond Light" panose="020B0306020202020204" pitchFamily="34" charset="0"/>
              </a:rPr>
              <a:t>guro</a:t>
            </a:r>
            <a:r>
              <a:rPr lang="en-US" sz="2800" cap="none" dirty="0">
                <a:solidFill>
                  <a:schemeClr val="tx1"/>
                </a:solidFill>
                <a:latin typeface="Arial Nova Cond Light" panose="020B0306020202020204" pitchFamily="34" charset="0"/>
              </a:rPr>
              <a:t>. 			Ako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guro</a:t>
            </a:r>
            <a:r>
              <a:rPr lang="en-US" sz="2800" cap="none" dirty="0">
                <a:solidFill>
                  <a:schemeClr val="tx1"/>
                </a:solidFill>
                <a:latin typeface="Arial Nova Cond Light" panose="020B0306020202020204" pitchFamily="34" charset="0"/>
              </a:rPr>
              <a:t>?		</a:t>
            </a:r>
            <a:br>
              <a:rPr lang="en-PH"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5.</a:t>
            </a:r>
            <a:r>
              <a:rPr lang="en-US" sz="2800" cap="none" dirty="0" err="1">
                <a:solidFill>
                  <a:schemeClr val="tx1"/>
                </a:solidFill>
                <a:latin typeface="Arial Nova Cond Light" panose="020B0306020202020204" pitchFamily="34" charset="0"/>
              </a:rPr>
              <a:t>Marunong</a:t>
            </a:r>
            <a:r>
              <a:rPr lang="en-US" sz="2800" cap="none" dirty="0">
                <a:solidFill>
                  <a:schemeClr val="tx1"/>
                </a:solidFill>
                <a:latin typeface="Arial Nova Cond Light" panose="020B0306020202020204" pitchFamily="34" charset="0"/>
              </a:rPr>
              <a:t> ng </a:t>
            </a:r>
            <a:r>
              <a:rPr lang="en-US" sz="2800" cap="none" dirty="0" err="1">
                <a:solidFill>
                  <a:schemeClr val="tx1"/>
                </a:solidFill>
                <a:latin typeface="Arial Nova Cond Light" panose="020B0306020202020204" pitchFamily="34" charset="0"/>
              </a:rPr>
              <a:t>tagalog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si</a:t>
            </a:r>
            <a:r>
              <a:rPr lang="en-US" sz="2800" cap="none" dirty="0">
                <a:solidFill>
                  <a:schemeClr val="tx1"/>
                </a:solidFill>
                <a:latin typeface="Arial Nova Cond Light" panose="020B0306020202020204" pitchFamily="34" charset="0"/>
              </a:rPr>
              <a:t> peter. 	</a:t>
            </a:r>
            <a:r>
              <a:rPr lang="en-US" sz="2800" cap="none" dirty="0" err="1">
                <a:solidFill>
                  <a:schemeClr val="tx1"/>
                </a:solidFill>
                <a:latin typeface="Arial Nova Cond Light" panose="020B0306020202020204" pitchFamily="34" charset="0"/>
              </a:rPr>
              <a:t>Marunong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ng </a:t>
            </a:r>
            <a:r>
              <a:rPr lang="en-US" sz="2800" cap="none" dirty="0" err="1">
                <a:solidFill>
                  <a:schemeClr val="tx1"/>
                </a:solidFill>
                <a:latin typeface="Arial Nova Cond Light" panose="020B0306020202020204" pitchFamily="34" charset="0"/>
              </a:rPr>
              <a:t>tagalog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si</a:t>
            </a:r>
            <a:r>
              <a:rPr lang="en-US" sz="2800" cap="none" dirty="0">
                <a:solidFill>
                  <a:schemeClr val="tx1"/>
                </a:solidFill>
                <a:latin typeface="Arial Nova Cond Light" panose="020B0306020202020204" pitchFamily="34" charset="0"/>
              </a:rPr>
              <a:t> Peter?		</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4.</a:t>
            </a:r>
            <a:r>
              <a:rPr lang="en-US" sz="2800" cap="none" dirty="0">
                <a:solidFill>
                  <a:schemeClr val="tx1"/>
                </a:solidFill>
                <a:latin typeface="Arial Nova Cond Light" panose="020B0306020202020204" pitchFamily="34" charset="0"/>
              </a:rPr>
              <a:t>Siya ay </a:t>
            </a:r>
            <a:r>
              <a:rPr lang="en-US" sz="2800" cap="none" dirty="0" err="1">
                <a:solidFill>
                  <a:schemeClr val="tx1"/>
                </a:solidFill>
                <a:latin typeface="Arial Nova Cond Light" panose="020B0306020202020204" pitchFamily="34" charset="0"/>
              </a:rPr>
              <a:t>mabait</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na</a:t>
            </a:r>
            <a:r>
              <a:rPr lang="en-US" sz="2800" cap="none" dirty="0">
                <a:solidFill>
                  <a:schemeClr val="tx1"/>
                </a:solidFill>
                <a:latin typeface="Arial Nova Cond Light" panose="020B0306020202020204" pitchFamily="34" charset="0"/>
              </a:rPr>
              <a:t> bata. 		Siya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mabait</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na</a:t>
            </a:r>
            <a:r>
              <a:rPr lang="en-US" sz="2800" cap="none" dirty="0">
                <a:solidFill>
                  <a:schemeClr val="tx1"/>
                </a:solidFill>
                <a:latin typeface="Arial Nova Cond Light" panose="020B0306020202020204" pitchFamily="34" charset="0"/>
              </a:rPr>
              <a:t> bata?	</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5.</a:t>
            </a:r>
            <a:r>
              <a:rPr lang="en-US" sz="2800" cap="none" dirty="0">
                <a:solidFill>
                  <a:schemeClr val="tx1"/>
                </a:solidFill>
                <a:latin typeface="Arial Nova Cond Light" panose="020B0306020202020204" pitchFamily="34" charset="0"/>
              </a:rPr>
              <a:t>Ang </a:t>
            </a:r>
            <a:r>
              <a:rPr lang="en-US" sz="2800" cap="none" dirty="0" err="1">
                <a:solidFill>
                  <a:schemeClr val="tx1"/>
                </a:solidFill>
                <a:latin typeface="Arial Nova Cond Light" panose="020B0306020202020204" pitchFamily="34" charset="0"/>
              </a:rPr>
              <a:t>magagandang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bahay</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kanila</a:t>
            </a:r>
            <a:r>
              <a:rPr lang="en-US" sz="2800" cap="none" dirty="0">
                <a:solidFill>
                  <a:schemeClr val="tx1"/>
                </a:solidFill>
                <a:latin typeface="Arial Nova Cond Light" panose="020B0306020202020204" pitchFamily="34" charset="0"/>
              </a:rPr>
              <a:t>. Ang </a:t>
            </a:r>
            <a:r>
              <a:rPr lang="en-US" sz="2800" cap="none" dirty="0" err="1">
                <a:solidFill>
                  <a:schemeClr val="tx1"/>
                </a:solidFill>
                <a:latin typeface="Arial Nova Cond Light" panose="020B0306020202020204" pitchFamily="34" charset="0"/>
              </a:rPr>
              <a:t>magagandang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bahay</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kanila</a:t>
            </a:r>
            <a:r>
              <a:rPr lang="en-US" sz="2800" cap="none" dirty="0">
                <a:solidFill>
                  <a:schemeClr val="tx1"/>
                </a:solidFill>
                <a:latin typeface="Arial Nova Cond Light" panose="020B0306020202020204" pitchFamily="34" charset="0"/>
              </a:rPr>
              <a:t>?	</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6.</a:t>
            </a:r>
            <a:r>
              <a:rPr lang="en-US" sz="2800" cap="none" dirty="0">
                <a:solidFill>
                  <a:schemeClr val="tx1"/>
                </a:solidFill>
                <a:latin typeface="Arial Nova Cond Light" panose="020B0306020202020204" pitchFamily="34" charset="0"/>
              </a:rPr>
              <a:t>Sila ay </a:t>
            </a:r>
            <a:r>
              <a:rPr lang="en-US" sz="2800" cap="none" dirty="0" err="1">
                <a:solidFill>
                  <a:schemeClr val="tx1"/>
                </a:solidFill>
                <a:latin typeface="Arial Nova Cond Light" panose="020B0306020202020204" pitchFamily="34" charset="0"/>
              </a:rPr>
              <a:t>magsasalita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radyo</a:t>
            </a:r>
            <a:r>
              <a:rPr lang="en-US" sz="2800" cap="none" dirty="0">
                <a:solidFill>
                  <a:schemeClr val="tx1"/>
                </a:solidFill>
                <a:latin typeface="Arial Nova Cond Light" panose="020B0306020202020204" pitchFamily="34" charset="0"/>
              </a:rPr>
              <a:t>.	 	Sila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magsasalita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sa</a:t>
            </a:r>
            <a:r>
              <a:rPr lang="en-US" sz="2800" cap="none" dirty="0">
                <a:solidFill>
                  <a:schemeClr val="tx1"/>
                </a:solidFill>
                <a:latin typeface="Arial Nova Cond Light" panose="020B0306020202020204" pitchFamily="34" charset="0"/>
              </a:rPr>
              <a:t> radio?		</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7.</a:t>
            </a:r>
            <a:r>
              <a:rPr lang="en-US" sz="2800" cap="none" dirty="0">
                <a:solidFill>
                  <a:schemeClr val="tx1"/>
                </a:solidFill>
                <a:latin typeface="Arial Nova Cond Light" panose="020B0306020202020204" pitchFamily="34" charset="0"/>
              </a:rPr>
              <a:t>Ang </a:t>
            </a:r>
            <a:r>
              <a:rPr lang="en-US" sz="2800" cap="none" dirty="0" err="1">
                <a:solidFill>
                  <a:schemeClr val="tx1"/>
                </a:solidFill>
                <a:latin typeface="Arial Nova Cond Light" panose="020B0306020202020204" pitchFamily="34" charset="0"/>
              </a:rPr>
              <a:t>mga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mababait</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sina</a:t>
            </a:r>
            <a:r>
              <a:rPr lang="en-US" sz="2800" cap="none" dirty="0">
                <a:solidFill>
                  <a:schemeClr val="tx1"/>
                </a:solidFill>
                <a:latin typeface="Arial Nova Cond Light" panose="020B0306020202020204" pitchFamily="34" charset="0"/>
              </a:rPr>
              <a:t> Helen at Mary. Ang </a:t>
            </a:r>
            <a:r>
              <a:rPr lang="en-US" sz="2800" cap="none" dirty="0" err="1">
                <a:solidFill>
                  <a:schemeClr val="tx1"/>
                </a:solidFill>
                <a:latin typeface="Arial Nova Cond Light" panose="020B0306020202020204" pitchFamily="34" charset="0"/>
              </a:rPr>
              <a:t>mga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mababait</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sila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sina</a:t>
            </a:r>
            <a:r>
              <a:rPr lang="en-US" sz="2800" cap="none" dirty="0">
                <a:solidFill>
                  <a:schemeClr val="tx1"/>
                </a:solidFill>
                <a:latin typeface="Arial Nova Cond Light" panose="020B0306020202020204" pitchFamily="34" charset="0"/>
              </a:rPr>
              <a:t> Helen at Mary.</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8.</a:t>
            </a:r>
            <a:r>
              <a:rPr lang="en-US" sz="2800" cap="none" dirty="0" err="1">
                <a:solidFill>
                  <a:schemeClr val="tx1"/>
                </a:solidFill>
                <a:latin typeface="Arial Nova Cond Light" panose="020B0306020202020204" pitchFamily="34" charset="0"/>
              </a:rPr>
              <a:t>Kakain</a:t>
            </a:r>
            <a:r>
              <a:rPr lang="en-US" sz="2800" cap="none" dirty="0">
                <a:solidFill>
                  <a:schemeClr val="tx1"/>
                </a:solidFill>
                <a:latin typeface="Arial Nova Cond Light" panose="020B0306020202020204" pitchFamily="34" charset="0"/>
              </a:rPr>
              <a:t> ka </a:t>
            </a:r>
            <a:r>
              <a:rPr lang="en-US" sz="2800" cap="none" dirty="0" err="1">
                <a:solidFill>
                  <a:schemeClr val="tx1"/>
                </a:solidFill>
                <a:latin typeface="Arial Nova Cond Light" panose="020B0306020202020204" pitchFamily="34" charset="0"/>
              </a:rPr>
              <a:t>na.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Kakain</a:t>
            </a:r>
            <a:r>
              <a:rPr lang="en-US" sz="2800" cap="none" dirty="0">
                <a:solidFill>
                  <a:schemeClr val="tx1"/>
                </a:solidFill>
                <a:latin typeface="Arial Nova Cond Light" panose="020B0306020202020204" pitchFamily="34" charset="0"/>
              </a:rPr>
              <a:t> ka </a:t>
            </a:r>
            <a:r>
              <a:rPr lang="en-US" sz="2800" cap="none" dirty="0" err="1">
                <a:solidFill>
                  <a:schemeClr val="tx1"/>
                </a:solidFill>
                <a:latin typeface="Arial Nova Cond Light" panose="020B0306020202020204" pitchFamily="34" charset="0"/>
              </a:rPr>
              <a:t>na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9.</a:t>
            </a:r>
            <a:r>
              <a:rPr lang="en-US" sz="2800" cap="none" dirty="0" err="1">
                <a:solidFill>
                  <a:schemeClr val="tx1"/>
                </a:solidFill>
                <a:latin typeface="Arial Nova Cond Light" panose="020B0306020202020204" pitchFamily="34" charset="0"/>
              </a:rPr>
              <a:t>Mabait</a:t>
            </a:r>
            <a:r>
              <a:rPr lang="en-US" sz="2800" cap="none" dirty="0">
                <a:solidFill>
                  <a:schemeClr val="tx1"/>
                </a:solidFill>
                <a:latin typeface="Arial Nova Cond Light" panose="020B0306020202020204" pitchFamily="34" charset="0"/>
              </a:rPr>
              <a:t> din </a:t>
            </a:r>
            <a:r>
              <a:rPr lang="en-US" sz="2800" cap="none" dirty="0" err="1">
                <a:solidFill>
                  <a:schemeClr val="tx1"/>
                </a:solidFill>
                <a:latin typeface="Arial Nova Cond Light" panose="020B0306020202020204" pitchFamily="34" charset="0"/>
              </a:rPr>
              <a:t>si</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robert</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Mabait</a:t>
            </a:r>
            <a:r>
              <a:rPr lang="en-US" sz="2800" cap="none" dirty="0">
                <a:solidFill>
                  <a:schemeClr val="tx1"/>
                </a:solidFill>
                <a:latin typeface="Arial Nova Cond Light" panose="020B0306020202020204" pitchFamily="34" charset="0"/>
              </a:rPr>
              <a:t> din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si</a:t>
            </a:r>
            <a:r>
              <a:rPr lang="en-US" sz="2800" cap="none" dirty="0">
                <a:solidFill>
                  <a:schemeClr val="tx1"/>
                </a:solidFill>
                <a:latin typeface="Arial Nova Cond Light" panose="020B0306020202020204" pitchFamily="34" charset="0"/>
              </a:rPr>
              <a:t> Robert?	</a:t>
            </a:r>
            <a:br>
              <a:rPr lang="en-US" sz="2800" cap="none" dirty="0">
                <a:solidFill>
                  <a:schemeClr val="tx1"/>
                </a:solidFill>
                <a:latin typeface="Arial Nova Cond Light" panose="020B0306020202020204" pitchFamily="34" charset="0"/>
              </a:rPr>
            </a:br>
            <a:r>
              <a:rPr lang="en-US" sz="2800" cap="none" dirty="0">
                <a:solidFill>
                  <a:schemeClr val="tx1"/>
                </a:solidFill>
                <a:latin typeface="Arial Nova Cond Light" panose="020B0306020202020204" pitchFamily="34" charset="0"/>
              </a:rPr>
              <a:t>1</a:t>
            </a:r>
            <a:r>
              <a:rPr lang="en-PH" sz="2800" cap="none" dirty="0">
                <a:solidFill>
                  <a:schemeClr val="tx1"/>
                </a:solidFill>
                <a:latin typeface="Arial Nova Cond Light" panose="020B0306020202020204" pitchFamily="34" charset="0"/>
              </a:rPr>
              <a:t>0. Maari </a:t>
            </a:r>
            <a:r>
              <a:rPr lang="en-PH" sz="2800" cap="none" dirty="0" err="1">
                <a:solidFill>
                  <a:schemeClr val="tx1"/>
                </a:solidFill>
                <a:latin typeface="Arial Nova Cond Light" panose="020B0306020202020204" pitchFamily="34" charset="0"/>
              </a:rPr>
              <a:t>ako</a:t>
            </a:r>
            <a:r>
              <a:rPr lang="en-PH" sz="2800" cap="none" dirty="0">
                <a:solidFill>
                  <a:schemeClr val="tx1"/>
                </a:solidFill>
                <a:latin typeface="Arial Nova Cond Light" panose="020B0306020202020204" pitchFamily="34" charset="0"/>
              </a:rPr>
              <a:t> </a:t>
            </a:r>
            <a:r>
              <a:rPr lang="en-PH" sz="2800" cap="none" dirty="0" err="1">
                <a:solidFill>
                  <a:schemeClr val="tx1"/>
                </a:solidFill>
                <a:latin typeface="Arial Nova Cond Light" panose="020B0306020202020204" pitchFamily="34" charset="0"/>
              </a:rPr>
              <a:t>umalis</a:t>
            </a:r>
            <a:r>
              <a:rPr lang="en-PH" sz="2800" cap="none" dirty="0">
                <a:solidFill>
                  <a:schemeClr val="tx1"/>
                </a:solidFill>
                <a:latin typeface="Arial Nova Cond Light" panose="020B0306020202020204" pitchFamily="34" charset="0"/>
              </a:rPr>
              <a:t>. 		Maari </a:t>
            </a:r>
            <a:r>
              <a:rPr lang="en-PH" sz="2800" cap="none" dirty="0" err="1">
                <a:solidFill>
                  <a:schemeClr val="tx1"/>
                </a:solidFill>
                <a:latin typeface="Arial Nova Cond Light" panose="020B0306020202020204" pitchFamily="34" charset="0"/>
              </a:rPr>
              <a:t>ba</a:t>
            </a:r>
            <a:r>
              <a:rPr lang="en-PH" sz="2800" cap="none" dirty="0">
                <a:solidFill>
                  <a:schemeClr val="tx1"/>
                </a:solidFill>
                <a:latin typeface="Arial Nova Cond Light" panose="020B0306020202020204" pitchFamily="34" charset="0"/>
              </a:rPr>
              <a:t> </a:t>
            </a:r>
            <a:r>
              <a:rPr lang="en-PH" sz="2800" cap="none" dirty="0" err="1">
                <a:solidFill>
                  <a:schemeClr val="tx1"/>
                </a:solidFill>
                <a:latin typeface="Arial Nova Cond Light" panose="020B0306020202020204" pitchFamily="34" charset="0"/>
              </a:rPr>
              <a:t>akong</a:t>
            </a:r>
            <a:r>
              <a:rPr lang="en-PH" sz="2800" cap="none" dirty="0">
                <a:solidFill>
                  <a:schemeClr val="tx1"/>
                </a:solidFill>
                <a:latin typeface="Arial Nova Cond Light" panose="020B0306020202020204" pitchFamily="34" charset="0"/>
              </a:rPr>
              <a:t> </a:t>
            </a:r>
            <a:r>
              <a:rPr lang="en-PH" sz="2800" cap="none" dirty="0" err="1">
                <a:solidFill>
                  <a:schemeClr val="tx1"/>
                </a:solidFill>
                <a:latin typeface="Arial Nova Cond Light" panose="020B0306020202020204" pitchFamily="34" charset="0"/>
              </a:rPr>
              <a:t>umalis</a:t>
            </a:r>
            <a:r>
              <a:rPr lang="en-PH" sz="2800" cap="none" dirty="0">
                <a:solidFill>
                  <a:schemeClr val="tx1"/>
                </a:solidFill>
                <a:latin typeface="Arial Nova Cond Light" panose="020B0306020202020204" pitchFamily="34" charset="0"/>
              </a:rPr>
              <a:t>?</a:t>
            </a:r>
            <a:endParaRPr lang="en-US" sz="2800" cap="none" dirty="0">
              <a:solidFill>
                <a:schemeClr val="tx1"/>
              </a:solidFill>
              <a:latin typeface="Arial Nova Cond Light" panose="020B0306020202020204" pitchFamily="34" charset="0"/>
              <a:ea typeface="+mn-ea"/>
              <a:cs typeface="+mn-cs"/>
            </a:endParaRPr>
          </a:p>
        </p:txBody>
      </p:sp>
    </p:spTree>
    <p:extLst>
      <p:ext uri="{BB962C8B-B14F-4D97-AF65-F5344CB8AC3E}">
        <p14:creationId xmlns:p14="http://schemas.microsoft.com/office/powerpoint/2010/main" val="138792159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9FE6F-2E92-32B7-ED9A-E2F7F2F5F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7E2CE-3021-702C-F69D-5D949EDED7DE}"/>
              </a:ext>
            </a:extLst>
          </p:cNvPr>
          <p:cNvSpPr>
            <a:spLocks noGrp="1"/>
          </p:cNvSpPr>
          <p:nvPr>
            <p:ph type="title"/>
          </p:nvPr>
        </p:nvSpPr>
        <p:spPr>
          <a:xfrm>
            <a:off x="1" y="1532466"/>
            <a:ext cx="12191999" cy="2827867"/>
          </a:xfrm>
        </p:spPr>
        <p:txBody>
          <a:bodyPr>
            <a:noAutofit/>
          </a:bodyPr>
          <a:lstStyle/>
          <a:p>
            <a:pPr algn="l"/>
            <a:r>
              <a:rPr lang="en-US" sz="2800" cap="none" dirty="0">
                <a:solidFill>
                  <a:schemeClr val="tx1"/>
                </a:solidFill>
                <a:latin typeface="Arial Nova Cond Light" panose="020B0306020202020204" pitchFamily="34" charset="0"/>
              </a:rPr>
              <a:t>Answer the following questions.</a:t>
            </a:r>
            <a:br>
              <a:rPr lang="en-PH" sz="2800" cap="none" dirty="0">
                <a:solidFill>
                  <a:schemeClr val="tx1"/>
                </a:solidFill>
                <a:latin typeface="Arial Nova Cond Light" panose="020B0306020202020204" pitchFamily="34" charset="0"/>
              </a:rPr>
            </a:br>
            <a:r>
              <a:rPr lang="en-US" sz="2800" cap="none" dirty="0">
                <a:solidFill>
                  <a:schemeClr val="tx1"/>
                </a:solidFill>
                <a:latin typeface="Arial Nova Cond Light" panose="020B0306020202020204" pitchFamily="34" charset="0"/>
              </a:rPr>
              <a:t> </a:t>
            </a:r>
            <a:br>
              <a:rPr lang="en-PH" sz="2800" cap="none" dirty="0">
                <a:solidFill>
                  <a:schemeClr val="tx1"/>
                </a:solidFill>
                <a:latin typeface="Arial Nova Cond Light" panose="020B0306020202020204" pitchFamily="34" charset="0"/>
              </a:rPr>
            </a:br>
            <a:r>
              <a:rPr lang="en-US" sz="2800" cap="none" dirty="0">
                <a:solidFill>
                  <a:schemeClr val="tx1"/>
                </a:solidFill>
                <a:latin typeface="Arial Nova Cond Light" panose="020B0306020202020204" pitchFamily="34" charset="0"/>
              </a:rPr>
              <a:t>1. Ano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ang </a:t>
            </a:r>
            <a:r>
              <a:rPr lang="en-US" sz="2800" cap="none" dirty="0" err="1">
                <a:solidFill>
                  <a:schemeClr val="tx1"/>
                </a:solidFill>
                <a:latin typeface="Arial Nova Cond Light" panose="020B0306020202020204" pitchFamily="34" charset="0"/>
              </a:rPr>
              <a:t>inyong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pangalan</a:t>
            </a:r>
            <a:r>
              <a:rPr lang="en-US" sz="2800" cap="none" dirty="0">
                <a:solidFill>
                  <a:schemeClr val="tx1"/>
                </a:solidFill>
                <a:latin typeface="Arial Nova Cond Light" panose="020B0306020202020204" pitchFamily="34" charset="0"/>
              </a:rPr>
              <a:t>? (Formal)		</a:t>
            </a:r>
            <a:br>
              <a:rPr lang="en-PH"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2.</a:t>
            </a:r>
            <a:r>
              <a:rPr lang="en-US" sz="2800" cap="none" dirty="0">
                <a:solidFill>
                  <a:schemeClr val="tx1"/>
                </a:solidFill>
                <a:latin typeface="Arial Nova Cond Light" panose="020B0306020202020204" pitchFamily="34" charset="0"/>
              </a:rPr>
              <a:t>Saan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kayo </a:t>
            </a:r>
            <a:r>
              <a:rPr lang="en-US" sz="2800" cap="none" dirty="0" err="1">
                <a:solidFill>
                  <a:schemeClr val="tx1"/>
                </a:solidFill>
                <a:latin typeface="Arial Nova Cond Light" panose="020B0306020202020204" pitchFamily="34" charset="0"/>
              </a:rPr>
              <a:t>nakatira</a:t>
            </a:r>
            <a:r>
              <a:rPr lang="en-US" sz="2800" cap="none" dirty="0">
                <a:solidFill>
                  <a:schemeClr val="tx1"/>
                </a:solidFill>
                <a:latin typeface="Arial Nova Cond Light" panose="020B0306020202020204" pitchFamily="34" charset="0"/>
              </a:rPr>
              <a:t>? (Formal)			</a:t>
            </a:r>
            <a:br>
              <a:rPr lang="en-PH"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3.S</a:t>
            </a:r>
            <a:r>
              <a:rPr lang="en-US" sz="2800" cap="none" dirty="0" err="1">
                <a:solidFill>
                  <a:schemeClr val="tx1"/>
                </a:solidFill>
                <a:latin typeface="Arial Nova Cond Light" panose="020B0306020202020204" pitchFamily="34" charset="0"/>
              </a:rPr>
              <a:t>ino</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ang </a:t>
            </a:r>
            <a:r>
              <a:rPr lang="en-US" sz="2800" cap="none" dirty="0" err="1">
                <a:solidFill>
                  <a:schemeClr val="tx1"/>
                </a:solidFill>
                <a:latin typeface="Arial Nova Cond Light" panose="020B0306020202020204" pitchFamily="34" charset="0"/>
              </a:rPr>
              <a:t>inyong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kaibigan</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dito</a:t>
            </a:r>
            <a:r>
              <a:rPr lang="en-US" sz="2800" cap="none" dirty="0">
                <a:solidFill>
                  <a:schemeClr val="tx1"/>
                </a:solidFill>
                <a:latin typeface="Arial Nova Cond Light" panose="020B0306020202020204" pitchFamily="34" charset="0"/>
              </a:rPr>
              <a:t>? (Formal)	Ang </a:t>
            </a:r>
            <a:r>
              <a:rPr lang="en-US" sz="2800" cap="none" dirty="0" err="1">
                <a:solidFill>
                  <a:schemeClr val="tx1"/>
                </a:solidFill>
                <a:latin typeface="Arial Nova Cond Light" panose="020B0306020202020204" pitchFamily="34" charset="0"/>
              </a:rPr>
              <a:t>aking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kaibigan</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si</a:t>
            </a:r>
            <a:r>
              <a:rPr lang="en-US" sz="2800" cap="none" dirty="0">
                <a:solidFill>
                  <a:schemeClr val="tx1"/>
                </a:solidFill>
                <a:latin typeface="Arial Nova Cond Light" panose="020B0306020202020204" pitchFamily="34" charset="0"/>
              </a:rPr>
              <a:t> James</a:t>
            </a:r>
            <a:br>
              <a:rPr lang="en-US"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4.</a:t>
            </a:r>
            <a:r>
              <a:rPr lang="en-US" sz="2800" cap="none" dirty="0" err="1">
                <a:solidFill>
                  <a:schemeClr val="tx1"/>
                </a:solidFill>
                <a:latin typeface="Arial Nova Cond Light" panose="020B0306020202020204" pitchFamily="34" charset="0"/>
              </a:rPr>
              <a:t>Mabait</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siya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Opo</a:t>
            </a:r>
            <a:r>
              <a:rPr lang="en-US" sz="2800" cap="none" dirty="0">
                <a:solidFill>
                  <a:schemeClr val="tx1"/>
                </a:solidFill>
                <a:latin typeface="Arial Nova Cond Light" panose="020B0306020202020204" pitchFamily="34" charset="0"/>
              </a:rPr>
              <a:t>			</a:t>
            </a:r>
            <a:br>
              <a:rPr lang="en-PH"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5.</a:t>
            </a:r>
            <a:r>
              <a:rPr lang="en-US" sz="2800" cap="none" dirty="0">
                <a:solidFill>
                  <a:schemeClr val="tx1"/>
                </a:solidFill>
                <a:latin typeface="Arial Nova Cond Light" panose="020B0306020202020204" pitchFamily="34" charset="0"/>
              </a:rPr>
              <a:t>Siya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amerikano</a:t>
            </a:r>
            <a:r>
              <a:rPr lang="en-US" sz="2800" cap="none" dirty="0">
                <a:solidFill>
                  <a:schemeClr val="tx1"/>
                </a:solidFill>
                <a:latin typeface="Arial Nova Cond Light" panose="020B0306020202020204" pitchFamily="34" charset="0"/>
              </a:rPr>
              <a:t>?	Hindi po			</a:t>
            </a:r>
            <a:br>
              <a:rPr lang="en-PH"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6.</a:t>
            </a:r>
            <a:r>
              <a:rPr lang="en-US" sz="2800" cap="none" dirty="0">
                <a:solidFill>
                  <a:schemeClr val="tx1"/>
                </a:solidFill>
                <a:latin typeface="Arial Nova Cond Light" panose="020B0306020202020204" pitchFamily="34" charset="0"/>
              </a:rPr>
              <a:t>Saan-</a:t>
            </a:r>
            <a:r>
              <a:rPr lang="en-US" sz="2800" cap="none" dirty="0" err="1">
                <a:solidFill>
                  <a:schemeClr val="tx1"/>
                </a:solidFill>
                <a:latin typeface="Arial Nova Cond Light" panose="020B0306020202020204" pitchFamily="34" charset="0"/>
              </a:rPr>
              <a:t>saan</a:t>
            </a:r>
            <a:r>
              <a:rPr lang="en-US" sz="2800" cap="none" dirty="0">
                <a:solidFill>
                  <a:schemeClr val="tx1"/>
                </a:solidFill>
                <a:latin typeface="Arial Nova Cond Light" panose="020B0306020202020204" pitchFamily="34" charset="0"/>
              </a:rPr>
              <a:t>  kayo </a:t>
            </a:r>
            <a:r>
              <a:rPr lang="en-US" sz="2800" cap="none" dirty="0" err="1">
                <a:solidFill>
                  <a:schemeClr val="tx1"/>
                </a:solidFill>
                <a:latin typeface="Arial Nova Cond Light" panose="020B0306020202020204" pitchFamily="34" charset="0"/>
              </a:rPr>
              <a:t>pumunta</a:t>
            </a:r>
            <a:r>
              <a:rPr lang="en-US" sz="2800" cap="none" dirty="0">
                <a:solidFill>
                  <a:schemeClr val="tx1"/>
                </a:solidFill>
                <a:latin typeface="Arial Nova Cond Light" panose="020B0306020202020204" pitchFamily="34" charset="0"/>
              </a:rPr>
              <a:t> (went)?		</a:t>
            </a:r>
            <a:r>
              <a:rPr lang="en-US" sz="2800" cap="none" dirty="0" err="1">
                <a:solidFill>
                  <a:schemeClr val="tx1"/>
                </a:solidFill>
                <a:latin typeface="Arial Nova Cond Light" panose="020B0306020202020204" pitchFamily="34" charset="0"/>
              </a:rPr>
              <a:t>Pumunta</a:t>
            </a:r>
            <a:r>
              <a:rPr lang="en-US" sz="2800" cap="none" dirty="0">
                <a:solidFill>
                  <a:schemeClr val="tx1"/>
                </a:solidFill>
                <a:latin typeface="Arial Nova Cond Light" panose="020B0306020202020204" pitchFamily="34" charset="0"/>
              </a:rPr>
              <a:t> kami </a:t>
            </a:r>
            <a:r>
              <a:rPr lang="en-US" sz="2800" cap="none" dirty="0" err="1">
                <a:solidFill>
                  <a:schemeClr val="tx1"/>
                </a:solidFill>
                <a:latin typeface="Arial Nova Cond Light" panose="020B0306020202020204" pitchFamily="34" charset="0"/>
              </a:rPr>
              <a:t>sa</a:t>
            </a:r>
            <a:r>
              <a:rPr lang="en-US" sz="2800" cap="none" dirty="0">
                <a:solidFill>
                  <a:schemeClr val="tx1"/>
                </a:solidFill>
                <a:latin typeface="Arial Nova Cond Light" panose="020B0306020202020204" pitchFamily="34" charset="0"/>
              </a:rPr>
              <a:t> El </a:t>
            </a:r>
            <a:r>
              <a:rPr lang="en-US" sz="2800" cap="none" dirty="0" err="1">
                <a:solidFill>
                  <a:schemeClr val="tx1"/>
                </a:solidFill>
                <a:latin typeface="Arial Nova Cond Light" panose="020B0306020202020204" pitchFamily="34" charset="0"/>
              </a:rPr>
              <a:t>nido</a:t>
            </a:r>
            <a:r>
              <a:rPr lang="en-US" sz="2800" cap="none" dirty="0">
                <a:solidFill>
                  <a:schemeClr val="tx1"/>
                </a:solidFill>
                <a:latin typeface="Arial Nova Cond Light" panose="020B0306020202020204" pitchFamily="34" charset="0"/>
              </a:rPr>
              <a:t> ,Coron at Havier .	</a:t>
            </a:r>
            <a:br>
              <a:rPr lang="en-PH"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7.</a:t>
            </a:r>
            <a:r>
              <a:rPr lang="en-US" sz="2800" cap="none" dirty="0">
                <a:solidFill>
                  <a:schemeClr val="tx1"/>
                </a:solidFill>
                <a:latin typeface="Arial Nova Cond Light" panose="020B0306020202020204" pitchFamily="34" charset="0"/>
              </a:rPr>
              <a:t>Malaki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ang </a:t>
            </a:r>
            <a:r>
              <a:rPr lang="en-US" sz="2800" cap="none" dirty="0" err="1">
                <a:solidFill>
                  <a:schemeClr val="tx1"/>
                </a:solidFill>
                <a:latin typeface="Arial Nova Cond Light" panose="020B0306020202020204" pitchFamily="34" charset="0"/>
              </a:rPr>
              <a:t>bahay</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nila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Opo</a:t>
            </a:r>
            <a:r>
              <a:rPr lang="en-US" sz="2800" cap="none" dirty="0">
                <a:solidFill>
                  <a:schemeClr val="tx1"/>
                </a:solidFill>
                <a:latin typeface="Arial Nova Cond Light" panose="020B0306020202020204" pitchFamily="34" charset="0"/>
              </a:rPr>
              <a:t> Malaki ang </a:t>
            </a:r>
            <a:r>
              <a:rPr lang="en-US" sz="2800" cap="none" dirty="0" err="1">
                <a:solidFill>
                  <a:schemeClr val="tx1"/>
                </a:solidFill>
                <a:latin typeface="Arial Nova Cond Light" panose="020B0306020202020204" pitchFamily="34" charset="0"/>
              </a:rPr>
              <a:t>bahay</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nila</a:t>
            </a:r>
            <a:r>
              <a:rPr lang="en-US" sz="2800" cap="none" dirty="0">
                <a:solidFill>
                  <a:schemeClr val="tx1"/>
                </a:solidFill>
                <a:latin typeface="Arial Nova Cond Light" panose="020B0306020202020204" pitchFamily="34" charset="0"/>
              </a:rPr>
              <a:t>		</a:t>
            </a:r>
            <a:br>
              <a:rPr lang="en-PH"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9.</a:t>
            </a:r>
            <a:r>
              <a:rPr lang="en-US" sz="2800" cap="none" dirty="0">
                <a:solidFill>
                  <a:schemeClr val="tx1"/>
                </a:solidFill>
                <a:latin typeface="Arial Nova Cond Light" panose="020B0306020202020204" pitchFamily="34" charset="0"/>
              </a:rPr>
              <a:t>Si Bonifacio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ay </a:t>
            </a:r>
            <a:r>
              <a:rPr lang="en-US" sz="2800" cap="none" dirty="0" err="1">
                <a:solidFill>
                  <a:schemeClr val="tx1"/>
                </a:solidFill>
                <a:latin typeface="Arial Nova Cond Light" panose="020B0306020202020204" pitchFamily="34" charset="0"/>
              </a:rPr>
              <a:t>matapang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Opo</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matapang</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si</a:t>
            </a:r>
            <a:r>
              <a:rPr lang="en-US" sz="2800" cap="none" dirty="0">
                <a:solidFill>
                  <a:schemeClr val="tx1"/>
                </a:solidFill>
                <a:latin typeface="Arial Nova Cond Light" panose="020B0306020202020204" pitchFamily="34" charset="0"/>
              </a:rPr>
              <a:t> Bonifacio</a:t>
            </a:r>
            <a:br>
              <a:rPr lang="en-PH" sz="2800" cap="none" dirty="0">
                <a:solidFill>
                  <a:schemeClr val="tx1"/>
                </a:solidFill>
                <a:latin typeface="Arial Nova Cond Light" panose="020B0306020202020204" pitchFamily="34" charset="0"/>
              </a:rPr>
            </a:br>
            <a:r>
              <a:rPr lang="en-PH" sz="2800" cap="none" dirty="0">
                <a:solidFill>
                  <a:schemeClr val="tx1"/>
                </a:solidFill>
                <a:latin typeface="Arial Nova Cond Light" panose="020B0306020202020204" pitchFamily="34" charset="0"/>
              </a:rPr>
              <a:t>10.</a:t>
            </a:r>
            <a:r>
              <a:rPr lang="en-US" sz="2800" cap="none" dirty="0">
                <a:solidFill>
                  <a:schemeClr val="tx1"/>
                </a:solidFill>
                <a:latin typeface="Arial Nova Cond Light" panose="020B0306020202020204" pitchFamily="34" charset="0"/>
              </a:rPr>
              <a:t>Gusto </a:t>
            </a:r>
            <a:r>
              <a:rPr lang="en-US" sz="2800" cap="none" dirty="0" err="1">
                <a:solidFill>
                  <a:schemeClr val="tx1"/>
                </a:solidFill>
                <a:latin typeface="Arial Nova Cond Light" panose="020B0306020202020204" pitchFamily="34" charset="0"/>
              </a:rPr>
              <a:t>ba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ninyo</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sa</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pilipinas</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Opo</a:t>
            </a:r>
            <a:r>
              <a:rPr lang="en-US" sz="2800" cap="none" dirty="0">
                <a:solidFill>
                  <a:schemeClr val="tx1"/>
                </a:solidFill>
                <a:latin typeface="Arial Nova Cond Light" panose="020B0306020202020204" pitchFamily="34" charset="0"/>
              </a:rPr>
              <a:t> gusto </a:t>
            </a:r>
            <a:r>
              <a:rPr lang="en-US" sz="2800" cap="none" dirty="0" err="1">
                <a:solidFill>
                  <a:schemeClr val="tx1"/>
                </a:solidFill>
                <a:latin typeface="Arial Nova Cond Light" panose="020B0306020202020204" pitchFamily="34" charset="0"/>
              </a:rPr>
              <a:t>namin</a:t>
            </a:r>
            <a:r>
              <a:rPr lang="en-US" sz="2800" cap="none" dirty="0">
                <a:solidFill>
                  <a:schemeClr val="tx1"/>
                </a:solidFill>
                <a:latin typeface="Arial Nova Cond Light" panose="020B0306020202020204" pitchFamily="34" charset="0"/>
              </a:rPr>
              <a:t> </a:t>
            </a:r>
            <a:r>
              <a:rPr lang="en-US" sz="2800" cap="none" dirty="0" err="1">
                <a:solidFill>
                  <a:schemeClr val="tx1"/>
                </a:solidFill>
                <a:latin typeface="Arial Nova Cond Light" panose="020B0306020202020204" pitchFamily="34" charset="0"/>
              </a:rPr>
              <a:t>sa</a:t>
            </a:r>
            <a:r>
              <a:rPr lang="en-US" sz="2800" cap="none" dirty="0">
                <a:solidFill>
                  <a:schemeClr val="tx1"/>
                </a:solidFill>
                <a:latin typeface="Arial Nova Cond Light" panose="020B0306020202020204" pitchFamily="34" charset="0"/>
              </a:rPr>
              <a:t> Pilipinas</a:t>
            </a:r>
            <a:br>
              <a:rPr lang="en-PH" sz="2800" cap="none" dirty="0">
                <a:solidFill>
                  <a:schemeClr val="tx1"/>
                </a:solidFill>
                <a:latin typeface="Arial Nova Cond Light" panose="020B0306020202020204" pitchFamily="34" charset="0"/>
              </a:rPr>
            </a:br>
            <a:r>
              <a:rPr lang="en-US" sz="2800" cap="none" dirty="0">
                <a:solidFill>
                  <a:schemeClr val="tx1"/>
                </a:solidFill>
                <a:latin typeface="Arial Nova Cond Light" panose="020B0306020202020204" pitchFamily="34" charset="0"/>
              </a:rPr>
              <a:t> </a:t>
            </a:r>
            <a:br>
              <a:rPr lang="en-PH" sz="2800" cap="none" dirty="0">
                <a:solidFill>
                  <a:schemeClr val="tx1"/>
                </a:solidFill>
                <a:latin typeface="Arial Nova Cond Light" panose="020B0306020202020204" pitchFamily="34" charset="0"/>
              </a:rPr>
            </a:br>
            <a:r>
              <a:rPr lang="en-US" sz="1600" cap="none" dirty="0">
                <a:solidFill>
                  <a:schemeClr val="tx1"/>
                </a:solidFill>
                <a:latin typeface="Arial Nova Cond Light" panose="020B0306020202020204" pitchFamily="34" charset="0"/>
              </a:rPr>
              <a:t>* Jose P. Rizal (1861-1896) is the national hero of the Philippines. He is a writer, poet, physician, soci­ologist and nationalist, among others. </a:t>
            </a:r>
            <a:br>
              <a:rPr lang="en-US" sz="1600" cap="none" dirty="0">
                <a:solidFill>
                  <a:schemeClr val="tx1"/>
                </a:solidFill>
                <a:latin typeface="Arial Nova Cond Light" panose="020B0306020202020204" pitchFamily="34" charset="0"/>
              </a:rPr>
            </a:br>
            <a:r>
              <a:rPr lang="en-US" sz="1600" cap="none" dirty="0">
                <a:solidFill>
                  <a:schemeClr val="tx1"/>
                </a:solidFill>
                <a:latin typeface="Arial Nova Cond Light" panose="020B0306020202020204" pitchFamily="34" charset="0"/>
              </a:rPr>
              <a:t>Andres </a:t>
            </a:r>
            <a:r>
              <a:rPr lang="en-US" sz="1600" cap="none" dirty="0" err="1">
                <a:solidFill>
                  <a:schemeClr val="tx1"/>
                </a:solidFill>
                <a:latin typeface="Arial Nova Cond Light" panose="020B0306020202020204" pitchFamily="34" charset="0"/>
              </a:rPr>
              <a:t>bonifacio</a:t>
            </a:r>
            <a:r>
              <a:rPr lang="en-US" sz="1600" cap="none" dirty="0">
                <a:solidFill>
                  <a:schemeClr val="tx1"/>
                </a:solidFill>
                <a:latin typeface="Arial Nova Cond Light" panose="020B0306020202020204" pitchFamily="34" charset="0"/>
              </a:rPr>
              <a:t> (1863-1896) is the father of the revolution­ary movement called </a:t>
            </a:r>
            <a:r>
              <a:rPr lang="en-US" sz="1600" cap="none" dirty="0" err="1">
                <a:solidFill>
                  <a:schemeClr val="tx1"/>
                </a:solidFill>
                <a:latin typeface="Arial Nova Cond Light" panose="020B0306020202020204" pitchFamily="34" charset="0"/>
              </a:rPr>
              <a:t>katipunan</a:t>
            </a:r>
            <a:r>
              <a:rPr lang="en-US" sz="1600" cap="none" dirty="0">
                <a:solidFill>
                  <a:schemeClr val="tx1"/>
                </a:solidFill>
                <a:latin typeface="Arial Nova Cond Light" panose="020B0306020202020204" pitchFamily="34" charset="0"/>
              </a:rPr>
              <a:t> and led the revolt of the masses against </a:t>
            </a:r>
            <a:r>
              <a:rPr lang="en-US" sz="1600" cap="none" dirty="0" err="1">
                <a:solidFill>
                  <a:schemeClr val="tx1"/>
                </a:solidFill>
                <a:latin typeface="Arial Nova Cond Light" panose="020B0306020202020204" pitchFamily="34" charset="0"/>
              </a:rPr>
              <a:t>spain</a:t>
            </a:r>
            <a:r>
              <a:rPr lang="en-US" sz="1600" cap="none" dirty="0">
                <a:solidFill>
                  <a:schemeClr val="tx1"/>
                </a:solidFill>
                <a:latin typeface="Arial Nova Cond Light" panose="020B0306020202020204" pitchFamily="34" charset="0"/>
              </a:rPr>
              <a:t>.</a:t>
            </a:r>
            <a:br>
              <a:rPr lang="en-PH" sz="2800" cap="none" dirty="0">
                <a:latin typeface="Arial Nova Cond Light" panose="020B0306020202020204" pitchFamily="34" charset="0"/>
              </a:rPr>
            </a:br>
            <a:endParaRPr lang="en-US" sz="2800" cap="none" dirty="0">
              <a:solidFill>
                <a:schemeClr val="tx1"/>
              </a:solidFill>
              <a:latin typeface="Arial Nova Cond Light" panose="020B0306020202020204" pitchFamily="34" charset="0"/>
              <a:ea typeface="+mn-ea"/>
              <a:cs typeface="+mn-cs"/>
            </a:endParaRPr>
          </a:p>
        </p:txBody>
      </p:sp>
    </p:spTree>
    <p:extLst>
      <p:ext uri="{BB962C8B-B14F-4D97-AF65-F5344CB8AC3E}">
        <p14:creationId xmlns:p14="http://schemas.microsoft.com/office/powerpoint/2010/main" val="3587796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35C8-794B-F8D6-3B4E-F0FC5AC16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F5456-22A4-9918-943C-3C1233932A69}"/>
              </a:ext>
            </a:extLst>
          </p:cNvPr>
          <p:cNvSpPr>
            <a:spLocks noGrp="1"/>
          </p:cNvSpPr>
          <p:nvPr>
            <p:ph type="ctrTitle"/>
          </p:nvPr>
        </p:nvSpPr>
        <p:spPr>
          <a:xfrm>
            <a:off x="810956" y="2158284"/>
            <a:ext cx="10959554" cy="2541431"/>
          </a:xfrm>
        </p:spPr>
        <p:txBody>
          <a:bodyPr>
            <a:noAutofit/>
          </a:bodyPr>
          <a:lstStyle/>
          <a:p>
            <a:r>
              <a:rPr lang="en-PH" sz="9600" cap="none" dirty="0">
                <a:latin typeface="Arial Narrow" panose="020B0606020202030204" pitchFamily="34" charset="0"/>
              </a:rPr>
              <a:t>Great job!</a:t>
            </a:r>
            <a:br>
              <a:rPr lang="en-PH" sz="9600" cap="none" dirty="0">
                <a:latin typeface="Arial Narrow" panose="020B0606020202030204" pitchFamily="34" charset="0"/>
              </a:rPr>
            </a:br>
            <a:r>
              <a:rPr lang="en-PH" sz="9600" cap="none" dirty="0">
                <a:latin typeface="Arial Narrow" panose="020B0606020202030204" pitchFamily="34" charset="0"/>
              </a:rPr>
              <a:t>We just ended our lesson!</a:t>
            </a:r>
          </a:p>
        </p:txBody>
      </p:sp>
    </p:spTree>
    <p:extLst>
      <p:ext uri="{BB962C8B-B14F-4D97-AF65-F5344CB8AC3E}">
        <p14:creationId xmlns:p14="http://schemas.microsoft.com/office/powerpoint/2010/main" val="2268009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48B93-72EF-D205-8960-BBC1F5B2E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28393-84F5-C65C-5FA2-C513B482F2D8}"/>
              </a:ext>
            </a:extLst>
          </p:cNvPr>
          <p:cNvSpPr>
            <a:spLocks noGrp="1"/>
          </p:cNvSpPr>
          <p:nvPr>
            <p:ph type="ctrTitle"/>
          </p:nvPr>
        </p:nvSpPr>
        <p:spPr>
          <a:xfrm>
            <a:off x="1105446" y="1293365"/>
            <a:ext cx="10959554" cy="2541431"/>
          </a:xfrm>
        </p:spPr>
        <p:txBody>
          <a:bodyPr>
            <a:normAutofit/>
          </a:bodyPr>
          <a:lstStyle/>
          <a:p>
            <a:r>
              <a:rPr lang="en-PH" sz="14900" dirty="0">
                <a:latin typeface="Arial Narrow" panose="020B0606020202030204" pitchFamily="34" charset="0"/>
              </a:rPr>
              <a:t>Thank you!</a:t>
            </a:r>
          </a:p>
        </p:txBody>
      </p:sp>
    </p:spTree>
    <p:extLst>
      <p:ext uri="{BB962C8B-B14F-4D97-AF65-F5344CB8AC3E}">
        <p14:creationId xmlns:p14="http://schemas.microsoft.com/office/powerpoint/2010/main" val="370515515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themeOverride>
</file>

<file path=docProps/app.xml><?xml version="1.0" encoding="utf-8"?>
<Properties xmlns="http://schemas.openxmlformats.org/officeDocument/2006/extended-properties" xmlns:vt="http://schemas.openxmlformats.org/officeDocument/2006/docPropsVTypes">
  <Template/>
  <TotalTime>2349</TotalTime>
  <Words>1841</Words>
  <Application>Microsoft Office PowerPoint</Application>
  <PresentationFormat>Widescreen</PresentationFormat>
  <Paragraphs>82</Paragraphs>
  <Slides>18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Narrow</vt:lpstr>
      <vt:lpstr>Arial Nova Cond Light</vt:lpstr>
      <vt:lpstr>Calibri</vt:lpstr>
      <vt:lpstr>Rockwell</vt:lpstr>
      <vt:lpstr>Gallery</vt:lpstr>
      <vt:lpstr>WELCOME back Pablo! </vt:lpstr>
      <vt:lpstr>Lesson 07 </vt:lpstr>
      <vt:lpstr> The Question Word Ba  </vt:lpstr>
      <vt:lpstr>Certain words unique to the Tagalog language give a particular meaning or sentiment that a speaker may wish to convey in his/her sentences and questions. These words spice up the language. Curiosity, frustration, irritation and other emotions pepper everyday Tagalog speech and a learner of this lan­guage will do well to understand these nuances. One example is the question word ba. The word has no specific meaning and cannot be translated in English except that it serves as a spoken question mark to indicate clearly that the speaker is ask­ing a question. </vt:lpstr>
      <vt:lpstr> </vt:lpstr>
      <vt:lpstr> </vt:lpstr>
      <vt:lpstr>  1. To change a sentence in the subject-predicate word order into a question, place ba immediately after the subject and just before ay. The sequence ba + ay is then often shortened into ba'y. Sila ay aalis na.   They will leave already. Sila ba ay aalis na?   Are they leaving now? Sila ba'y aalis na?  Ang babae ay mabait.   The woman is good/kind.  Ang babae ba ay mabait?  Is the woman good? Ang babae ba'y mabait?  Si Pedro ay marunong.   Pedro is intelligent.  Si Pedro ba ay marunong?  ls Pedro intelligent? Si Pedro ba'y marunong?   </vt:lpstr>
      <vt:lpstr> </vt:lpstr>
      <vt:lpstr> </vt:lpstr>
      <vt:lpstr> </vt:lpstr>
      <vt:lpstr> </vt:lpstr>
      <vt:lpstr> </vt:lpstr>
      <vt:lpstr> </vt:lpstr>
      <vt:lpstr>Note that in some Tagalog-speaking provinces, baga is used instead of ba.   In asking questions, raise your voice at the end if the answer is either yes or no;  if not, bring down the voice at the end.  Aalis ka ba:? Oo/Hindi.   Are you leaving? Yes/No.  Sino ka ba? Ako si Mary.   Who are you? I am Mary.    </vt:lpstr>
      <vt:lpstr>Form questions using the following statements by inserting ba in the appropriate places.    Form questions using the following statements by inserting ba in the appropriate places. 1.Ang kaibigan ko ay si herbert.  Ang kaibigan ko ba ay si Herbert?  2.Sila ay pupunta sa kapilya.   Sila ba’y pupunta sa kapilya?  3.Ako ay guro.    Ako ba ay guro?   5.Marunong ng tagalog si peter.  Marunong ba ng tagalog si Peter?   4.Siya ay mabait na bata.   Siya ba ay mabait na bata?  5.Ang magagandang bahay ay kanila. Ang magagandang bahay ba ay kanila?  6.Sila ay magsasalita sa radyo.   Sila ba ay magsasalita sa radio?   7.Ang mga mababait ay sina Helen at Mary. Ang mga mababait ba ay sila sina Helen at Mary. 8.Kakain ka na.    Kakain ka na ba?  9.Mabait din si robert.    Mabait din ba si Robert?  10. Maari ako umalis.   Maari ba akong umalis?</vt:lpstr>
      <vt:lpstr>Answer the following questions.   1. Ano ba ang inyong pangalan? (Formal)   2.Saan ba kayo nakatira? (Formal)    3.Sino ba ang inyong kaibigan dito? (Formal) Ang aking kaibigan ay si James 4.Mabait ba siya?  Opo    5.Siya ba ay amerikano? Hindi po    6.Saan-saan  kayo pumunta (went)?  Pumunta kami sa El nido ,Coron at Havier .  7.Malaki ba ang bahay nila?  Opo Malaki ang bahay nila   9.Si Bonifacio ba ay matapang? Opo, matapang si Bonifacio 10.Gusto ba ninyo sa pilipinas? Opo gusto namin sa Pilipinas   * Jose P. Rizal (1861-1896) is the national hero of the Philippines. He is a writer, poet, physician, soci­ologist and nationalist, among others.  Andres bonifacio (1863-1896) is the father of the revolution­ary movement called katipunan and led the revolt of the masses against spain. </vt:lpstr>
      <vt:lpstr>Great job! We just ended our lesson!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Charine Labao</dc:creator>
  <cp:lastModifiedBy>Charine Labao</cp:lastModifiedBy>
  <cp:revision>9</cp:revision>
  <dcterms:created xsi:type="dcterms:W3CDTF">2025-07-09T10:16:11Z</dcterms:created>
  <dcterms:modified xsi:type="dcterms:W3CDTF">2026-08-18T02:32:40Z</dcterms:modified>
</cp:coreProperties>
</file>