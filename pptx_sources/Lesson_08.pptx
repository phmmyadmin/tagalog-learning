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21"/>
  </p:notesMasterIdLst>
  <p:sldIdLst>
    <p:sldId id="256" r:id="rId2"/>
    <p:sldId id="275" r:id="rId3"/>
    <p:sldId id="315" r:id="rId4"/>
    <p:sldId id="316" r:id="rId5"/>
    <p:sldId id="353" r:id="rId6"/>
    <p:sldId id="317" r:id="rId7"/>
    <p:sldId id="319" r:id="rId8"/>
    <p:sldId id="341" r:id="rId9"/>
    <p:sldId id="322" r:id="rId10"/>
    <p:sldId id="354" r:id="rId11"/>
    <p:sldId id="323" r:id="rId12"/>
    <p:sldId id="324" r:id="rId13"/>
    <p:sldId id="325" r:id="rId14"/>
    <p:sldId id="326" r:id="rId15"/>
    <p:sldId id="348" r:id="rId16"/>
    <p:sldId id="351" r:id="rId17"/>
    <p:sldId id="350" r:id="rId18"/>
    <p:sldId id="344" r:id="rId19"/>
    <p:sldId id="26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9F055A-0BA4-4444-A242-BAA78AFE6CFC}" v="1" dt="2026-08-20T02:13:48.9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88" autoAdjust="0"/>
    <p:restoredTop sz="94660"/>
  </p:normalViewPr>
  <p:slideViewPr>
    <p:cSldViewPr snapToGrid="0">
      <p:cViewPr varScale="1">
        <p:scale>
          <a:sx n="95" d="100"/>
          <a:sy n="95" d="100"/>
        </p:scale>
        <p:origin x="11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ine Labao" userId="d49f38c7da5d9737" providerId="LiveId" clId="{74BAE539-5A96-4830-AD90-F51E8ECC701B}"/>
    <pc:docChg chg="undo custSel addSld delSld modSld sldOrd addSection delSection">
      <pc:chgData name="Charine Labao" userId="d49f38c7da5d9737" providerId="LiveId" clId="{74BAE539-5A96-4830-AD90-F51E8ECC701B}" dt="2026-08-20T02:51:03.162" v="6113" actId="20577"/>
      <pc:docMkLst>
        <pc:docMk/>
      </pc:docMkLst>
      <pc:sldChg chg="modSp mod">
        <pc:chgData name="Charine Labao" userId="d49f38c7da5d9737" providerId="LiveId" clId="{74BAE539-5A96-4830-AD90-F51E8ECC701B}" dt="2026-08-18T02:30:56.353" v="5001" actId="20577"/>
        <pc:sldMkLst>
          <pc:docMk/>
          <pc:sldMk cId="4101661442" sldId="256"/>
        </pc:sldMkLst>
        <pc:spChg chg="mod">
          <ac:chgData name="Charine Labao" userId="d49f38c7da5d9737" providerId="LiveId" clId="{74BAE539-5A96-4830-AD90-F51E8ECC701B}" dt="2026-08-18T02:30:56.353" v="5001" actId="20577"/>
          <ac:spMkLst>
            <pc:docMk/>
            <pc:sldMk cId="4101661442" sldId="256"/>
            <ac:spMk id="2" creationId="{00BCFF50-8CD8-2A55-F5E3-38E524DAEEFB}"/>
          </ac:spMkLst>
        </pc:spChg>
      </pc:sldChg>
      <pc:sldChg chg="modSp mod">
        <pc:chgData name="Charine Labao" userId="d49f38c7da5d9737" providerId="LiveId" clId="{74BAE539-5A96-4830-AD90-F51E8ECC701B}" dt="2026-08-18T02:33:51.654" v="5002" actId="2711"/>
        <pc:sldMkLst>
          <pc:docMk/>
          <pc:sldMk cId="1737026159" sldId="315"/>
        </pc:sldMkLst>
        <pc:spChg chg="mod">
          <ac:chgData name="Charine Labao" userId="d49f38c7da5d9737" providerId="LiveId" clId="{74BAE539-5A96-4830-AD90-F51E8ECC701B}" dt="2026-08-18T02:33:51.654" v="5002" actId="2711"/>
          <ac:spMkLst>
            <pc:docMk/>
            <pc:sldMk cId="1737026159" sldId="315"/>
            <ac:spMk id="5" creationId="{4886789D-506B-8D06-2C40-76610B6E4EEF}"/>
          </ac:spMkLst>
        </pc:spChg>
      </pc:sldChg>
      <pc:sldChg chg="modSp mod">
        <pc:chgData name="Charine Labao" userId="d49f38c7da5d9737" providerId="LiveId" clId="{74BAE539-5A96-4830-AD90-F51E8ECC701B}" dt="2026-08-12T08:03:39.381" v="4084" actId="2711"/>
        <pc:sldMkLst>
          <pc:docMk/>
          <pc:sldMk cId="3616196084" sldId="316"/>
        </pc:sldMkLst>
        <pc:spChg chg="mod">
          <ac:chgData name="Charine Labao" userId="d49f38c7da5d9737" providerId="LiveId" clId="{74BAE539-5A96-4830-AD90-F51E8ECC701B}" dt="2026-08-12T08:03:39.381" v="4084" actId="2711"/>
          <ac:spMkLst>
            <pc:docMk/>
            <pc:sldMk cId="3616196084" sldId="316"/>
            <ac:spMk id="4" creationId="{799D91A1-1B0E-86BC-0348-FA4262644A3D}"/>
          </ac:spMkLst>
        </pc:spChg>
      </pc:sldChg>
      <pc:sldChg chg="modSp mod">
        <pc:chgData name="Charine Labao" userId="d49f38c7da5d9737" providerId="LiveId" clId="{74BAE539-5A96-4830-AD90-F51E8ECC701B}" dt="2026-08-20T02:09:31.351" v="5228" actId="1076"/>
        <pc:sldMkLst>
          <pc:docMk/>
          <pc:sldMk cId="2979525536" sldId="317"/>
        </pc:sldMkLst>
        <pc:spChg chg="mod">
          <ac:chgData name="Charine Labao" userId="d49f38c7da5d9737" providerId="LiveId" clId="{74BAE539-5A96-4830-AD90-F51E8ECC701B}" dt="2026-08-20T02:09:31.351" v="5228" actId="1076"/>
          <ac:spMkLst>
            <pc:docMk/>
            <pc:sldMk cId="2979525536" sldId="317"/>
            <ac:spMk id="7" creationId="{E6D717E8-A3F2-81ED-716D-98378E027D4C}"/>
          </ac:spMkLst>
        </pc:spChg>
      </pc:sldChg>
      <pc:sldChg chg="modSp mod">
        <pc:chgData name="Charine Labao" userId="d49f38c7da5d9737" providerId="LiveId" clId="{74BAE539-5A96-4830-AD90-F51E8ECC701B}" dt="2026-08-18T02:48:43.945" v="5203" actId="20577"/>
        <pc:sldMkLst>
          <pc:docMk/>
          <pc:sldMk cId="2897824435" sldId="319"/>
        </pc:sldMkLst>
        <pc:spChg chg="mod">
          <ac:chgData name="Charine Labao" userId="d49f38c7da5d9737" providerId="LiveId" clId="{74BAE539-5A96-4830-AD90-F51E8ECC701B}" dt="2026-08-18T02:48:43.945" v="5203" actId="20577"/>
          <ac:spMkLst>
            <pc:docMk/>
            <pc:sldMk cId="2897824435" sldId="319"/>
            <ac:spMk id="4" creationId="{3E52C602-EFFD-CADD-EE9C-A0B190077E8E}"/>
          </ac:spMkLst>
        </pc:spChg>
      </pc:sldChg>
      <pc:sldChg chg="modSp mod">
        <pc:chgData name="Charine Labao" userId="d49f38c7da5d9737" providerId="LiveId" clId="{74BAE539-5A96-4830-AD90-F51E8ECC701B}" dt="2026-08-20T02:13:32.827" v="5331" actId="14100"/>
        <pc:sldMkLst>
          <pc:docMk/>
          <pc:sldMk cId="460937252" sldId="322"/>
        </pc:sldMkLst>
        <pc:spChg chg="mod">
          <ac:chgData name="Charine Labao" userId="d49f38c7da5d9737" providerId="LiveId" clId="{74BAE539-5A96-4830-AD90-F51E8ECC701B}" dt="2026-08-20T02:13:32.827" v="5331" actId="14100"/>
          <ac:spMkLst>
            <pc:docMk/>
            <pc:sldMk cId="460937252" sldId="322"/>
            <ac:spMk id="7" creationId="{48C2F637-09B2-540E-29E6-FC162F40AFA6}"/>
          </ac:spMkLst>
        </pc:spChg>
      </pc:sldChg>
      <pc:sldChg chg="modSp mod">
        <pc:chgData name="Charine Labao" userId="d49f38c7da5d9737" providerId="LiveId" clId="{74BAE539-5A96-4830-AD90-F51E8ECC701B}" dt="2026-08-20T02:17:11.108" v="5339" actId="207"/>
        <pc:sldMkLst>
          <pc:docMk/>
          <pc:sldMk cId="153072248" sldId="323"/>
        </pc:sldMkLst>
        <pc:spChg chg="mod">
          <ac:chgData name="Charine Labao" userId="d49f38c7da5d9737" providerId="LiveId" clId="{74BAE539-5A96-4830-AD90-F51E8ECC701B}" dt="2026-08-20T02:17:11.108" v="5339" actId="207"/>
          <ac:spMkLst>
            <pc:docMk/>
            <pc:sldMk cId="153072248" sldId="323"/>
            <ac:spMk id="4" creationId="{27C7F417-607D-A2B2-2A48-A613959ADFF8}"/>
          </ac:spMkLst>
        </pc:spChg>
      </pc:sldChg>
      <pc:sldChg chg="modSp mod">
        <pc:chgData name="Charine Labao" userId="d49f38c7da5d9737" providerId="LiveId" clId="{74BAE539-5A96-4830-AD90-F51E8ECC701B}" dt="2026-08-20T02:23:26.831" v="5393" actId="20577"/>
        <pc:sldMkLst>
          <pc:docMk/>
          <pc:sldMk cId="254400569" sldId="324"/>
        </pc:sldMkLst>
        <pc:spChg chg="mod">
          <ac:chgData name="Charine Labao" userId="d49f38c7da5d9737" providerId="LiveId" clId="{74BAE539-5A96-4830-AD90-F51E8ECC701B}" dt="2026-08-20T02:23:26.831" v="5393" actId="20577"/>
          <ac:spMkLst>
            <pc:docMk/>
            <pc:sldMk cId="254400569" sldId="324"/>
            <ac:spMk id="4" creationId="{6AB44FAC-8EC2-711B-D71A-AEAC7E787DB8}"/>
          </ac:spMkLst>
        </pc:spChg>
      </pc:sldChg>
      <pc:sldChg chg="modSp mod">
        <pc:chgData name="Charine Labao" userId="d49f38c7da5d9737" providerId="LiveId" clId="{74BAE539-5A96-4830-AD90-F51E8ECC701B}" dt="2026-08-20T02:29:44.747" v="5421" actId="113"/>
        <pc:sldMkLst>
          <pc:docMk/>
          <pc:sldMk cId="1433527617" sldId="325"/>
        </pc:sldMkLst>
        <pc:spChg chg="mod">
          <ac:chgData name="Charine Labao" userId="d49f38c7da5d9737" providerId="LiveId" clId="{74BAE539-5A96-4830-AD90-F51E8ECC701B}" dt="2026-08-20T02:29:44.747" v="5421" actId="113"/>
          <ac:spMkLst>
            <pc:docMk/>
            <pc:sldMk cId="1433527617" sldId="325"/>
            <ac:spMk id="6" creationId="{CDD0C1CE-C19C-3B95-045D-5B3A4B6042E7}"/>
          </ac:spMkLst>
        </pc:spChg>
      </pc:sldChg>
      <pc:sldChg chg="modSp mod">
        <pc:chgData name="Charine Labao" userId="d49f38c7da5d9737" providerId="LiveId" clId="{74BAE539-5A96-4830-AD90-F51E8ECC701B}" dt="2026-08-20T02:31:51.168" v="5425" actId="14100"/>
        <pc:sldMkLst>
          <pc:docMk/>
          <pc:sldMk cId="2739966783" sldId="326"/>
        </pc:sldMkLst>
        <pc:spChg chg="mod">
          <ac:chgData name="Charine Labao" userId="d49f38c7da5d9737" providerId="LiveId" clId="{74BAE539-5A96-4830-AD90-F51E8ECC701B}" dt="2026-08-20T02:31:51.168" v="5425" actId="14100"/>
          <ac:spMkLst>
            <pc:docMk/>
            <pc:sldMk cId="2739966783" sldId="326"/>
            <ac:spMk id="3" creationId="{83AD538B-2385-D9A7-AA47-DCF6B1A59F94}"/>
          </ac:spMkLst>
        </pc:spChg>
      </pc:sldChg>
      <pc:sldChg chg="modSp mod">
        <pc:chgData name="Charine Labao" userId="d49f38c7da5d9737" providerId="LiveId" clId="{74BAE539-5A96-4830-AD90-F51E8ECC701B}" dt="2026-08-20T02:08:39.438" v="5227" actId="113"/>
        <pc:sldMkLst>
          <pc:docMk/>
          <pc:sldMk cId="916706835" sldId="341"/>
        </pc:sldMkLst>
        <pc:spChg chg="mod">
          <ac:chgData name="Charine Labao" userId="d49f38c7da5d9737" providerId="LiveId" clId="{74BAE539-5A96-4830-AD90-F51E8ECC701B}" dt="2026-08-20T02:08:39.438" v="5227" actId="113"/>
          <ac:spMkLst>
            <pc:docMk/>
            <pc:sldMk cId="916706835" sldId="341"/>
            <ac:spMk id="2" creationId="{3F5BC027-7451-C1D1-C983-E621D5F334AE}"/>
          </ac:spMkLst>
        </pc:spChg>
      </pc:sldChg>
      <pc:sldChg chg="modSp mod">
        <pc:chgData name="Charine Labao" userId="d49f38c7da5d9737" providerId="LiveId" clId="{74BAE539-5A96-4830-AD90-F51E8ECC701B}" dt="2026-08-20T02:44:01.776" v="5847" actId="20577"/>
        <pc:sldMkLst>
          <pc:docMk/>
          <pc:sldMk cId="3355340298" sldId="348"/>
        </pc:sldMkLst>
        <pc:spChg chg="mod">
          <ac:chgData name="Charine Labao" userId="d49f38c7da5d9737" providerId="LiveId" clId="{74BAE539-5A96-4830-AD90-F51E8ECC701B}" dt="2026-08-20T02:44:01.776" v="5847" actId="20577"/>
          <ac:spMkLst>
            <pc:docMk/>
            <pc:sldMk cId="3355340298" sldId="348"/>
            <ac:spMk id="3" creationId="{0B614C0A-D640-D36A-C2EA-41602AC86F03}"/>
          </ac:spMkLst>
        </pc:spChg>
      </pc:sldChg>
      <pc:sldChg chg="modSp mod">
        <pc:chgData name="Charine Labao" userId="d49f38c7da5d9737" providerId="LiveId" clId="{74BAE539-5A96-4830-AD90-F51E8ECC701B}" dt="2026-08-12T08:49:45.979" v="4976" actId="20577"/>
        <pc:sldMkLst>
          <pc:docMk/>
          <pc:sldMk cId="801209280" sldId="350"/>
        </pc:sldMkLst>
        <pc:spChg chg="mod">
          <ac:chgData name="Charine Labao" userId="d49f38c7da5d9737" providerId="LiveId" clId="{74BAE539-5A96-4830-AD90-F51E8ECC701B}" dt="2026-08-12T08:49:45.979" v="4976" actId="20577"/>
          <ac:spMkLst>
            <pc:docMk/>
            <pc:sldMk cId="801209280" sldId="350"/>
            <ac:spMk id="3" creationId="{A7907E0C-20B7-E8BD-5156-25A27363B05A}"/>
          </ac:spMkLst>
        </pc:spChg>
      </pc:sldChg>
      <pc:sldChg chg="modSp mod">
        <pc:chgData name="Charine Labao" userId="d49f38c7da5d9737" providerId="LiveId" clId="{74BAE539-5A96-4830-AD90-F51E8ECC701B}" dt="2026-08-20T02:51:03.162" v="6113" actId="20577"/>
        <pc:sldMkLst>
          <pc:docMk/>
          <pc:sldMk cId="1051402054" sldId="351"/>
        </pc:sldMkLst>
        <pc:spChg chg="mod">
          <ac:chgData name="Charine Labao" userId="d49f38c7da5d9737" providerId="LiveId" clId="{74BAE539-5A96-4830-AD90-F51E8ECC701B}" dt="2026-08-20T02:51:03.162" v="6113" actId="20577"/>
          <ac:spMkLst>
            <pc:docMk/>
            <pc:sldMk cId="1051402054" sldId="351"/>
            <ac:spMk id="3" creationId="{92DF3C96-0F29-DB55-EDC9-743F78692A0A}"/>
          </ac:spMkLst>
        </pc:spChg>
      </pc:sldChg>
      <pc:sldChg chg="delSp modSp new del mod">
        <pc:chgData name="Charine Labao" userId="d49f38c7da5d9737" providerId="LiveId" clId="{74BAE539-5A96-4830-AD90-F51E8ECC701B}" dt="2026-08-20T01:53:23.396" v="5216" actId="2696"/>
        <pc:sldMkLst>
          <pc:docMk/>
          <pc:sldMk cId="2255784766" sldId="352"/>
        </pc:sldMkLst>
      </pc:sldChg>
      <pc:sldChg chg="delSp modSp new mod">
        <pc:chgData name="Charine Labao" userId="d49f38c7da5d9737" providerId="LiveId" clId="{74BAE539-5A96-4830-AD90-F51E8ECC701B}" dt="2026-08-20T02:01:31.339" v="5218" actId="403"/>
        <pc:sldMkLst>
          <pc:docMk/>
          <pc:sldMk cId="2928223327" sldId="353"/>
        </pc:sldMkLst>
        <pc:spChg chg="mod">
          <ac:chgData name="Charine Labao" userId="d49f38c7da5d9737" providerId="LiveId" clId="{74BAE539-5A96-4830-AD90-F51E8ECC701B}" dt="2026-08-20T02:01:31.339" v="5218" actId="403"/>
          <ac:spMkLst>
            <pc:docMk/>
            <pc:sldMk cId="2928223327" sldId="353"/>
            <ac:spMk id="2" creationId="{43EB298B-EEE6-53D0-4B8A-3297EC485A05}"/>
          </ac:spMkLst>
        </pc:spChg>
      </pc:sldChg>
      <pc:sldChg chg="new del">
        <pc:chgData name="Charine Labao" userId="d49f38c7da5d9737" providerId="LiveId" clId="{74BAE539-5A96-4830-AD90-F51E8ECC701B}" dt="2026-08-20T02:04:14.570" v="5226" actId="2696"/>
        <pc:sldMkLst>
          <pc:docMk/>
          <pc:sldMk cId="673397285" sldId="354"/>
        </pc:sldMkLst>
      </pc:sldChg>
      <pc:sldChg chg="delSp modSp new mod">
        <pc:chgData name="Charine Labao" userId="d49f38c7da5d9737" providerId="LiveId" clId="{74BAE539-5A96-4830-AD90-F51E8ECC701B}" dt="2026-08-20T02:13:53.159" v="5336" actId="478"/>
        <pc:sldMkLst>
          <pc:docMk/>
          <pc:sldMk cId="882054381" sldId="354"/>
        </pc:sldMkLst>
        <pc:spChg chg="mod">
          <ac:chgData name="Charine Labao" userId="d49f38c7da5d9737" providerId="LiveId" clId="{74BAE539-5A96-4830-AD90-F51E8ECC701B}" dt="2026-08-20T02:13:48.946" v="5334"/>
          <ac:spMkLst>
            <pc:docMk/>
            <pc:sldMk cId="882054381" sldId="354"/>
            <ac:spMk id="2" creationId="{5C8E0ECF-6CE6-341B-56CE-49317B94A2D8}"/>
          </ac:spMkLst>
        </pc:spChg>
        <pc:spChg chg="del mod">
          <ac:chgData name="Charine Labao" userId="d49f38c7da5d9737" providerId="LiveId" clId="{74BAE539-5A96-4830-AD90-F51E8ECC701B}" dt="2026-08-20T02:13:53.159" v="5336" actId="478"/>
          <ac:spMkLst>
            <pc:docMk/>
            <pc:sldMk cId="882054381" sldId="354"/>
            <ac:spMk id="3" creationId="{26077A6D-543A-6581-FE5D-797CD0657D4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49E4C6-9EB3-473B-A1C2-288F1938347A}" type="datetimeFigureOut">
              <a:rPr lang="en-PH" smtClean="0"/>
              <a:t>8/20/2026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BAE25A-5D24-4004-A82D-A9BE88A40641}" type="slidenum">
              <a:rPr lang="en-PH" smtClean="0"/>
              <a:t>‹#›</a:t>
            </a:fld>
            <a:endParaRPr lang="en-PH"/>
          </a:p>
        </p:txBody>
      </p:sp>
    </p:spTree>
    <p:extLst>
      <p:ext uri="{BB962C8B-B14F-4D97-AF65-F5344CB8AC3E}">
        <p14:creationId xmlns:p14="http://schemas.microsoft.com/office/powerpoint/2010/main" val="600600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7BAE25A-5D24-4004-A82D-A9BE88A40641}" type="slidenum">
              <a:rPr lang="en-PH" smtClean="0"/>
              <a:t>12</a:t>
            </a:fld>
            <a:endParaRPr lang="en-PH"/>
          </a:p>
        </p:txBody>
      </p:sp>
    </p:spTree>
    <p:extLst>
      <p:ext uri="{BB962C8B-B14F-4D97-AF65-F5344CB8AC3E}">
        <p14:creationId xmlns:p14="http://schemas.microsoft.com/office/powerpoint/2010/main" val="4012835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7BAE25A-5D24-4004-A82D-A9BE88A40641}" type="slidenum">
              <a:rPr lang="en-PH" smtClean="0"/>
              <a:t>14</a:t>
            </a:fld>
            <a:endParaRPr lang="en-PH"/>
          </a:p>
        </p:txBody>
      </p:sp>
    </p:spTree>
    <p:extLst>
      <p:ext uri="{BB962C8B-B14F-4D97-AF65-F5344CB8AC3E}">
        <p14:creationId xmlns:p14="http://schemas.microsoft.com/office/powerpoint/2010/main" val="96922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FEA0B-755F-6FD1-FD6B-EED06E231B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AB1DEB-2124-FAF3-FC17-E1B27BE43F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AEDD03-7518-A41C-47F6-A10131603A4C}"/>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836F07FE-67AB-C7DE-4BEA-85F12CA2D164}"/>
              </a:ext>
            </a:extLst>
          </p:cNvPr>
          <p:cNvSpPr>
            <a:spLocks noGrp="1"/>
          </p:cNvSpPr>
          <p:nvPr>
            <p:ph type="sldNum" sz="quarter" idx="5"/>
          </p:nvPr>
        </p:nvSpPr>
        <p:spPr/>
        <p:txBody>
          <a:bodyPr/>
          <a:lstStyle/>
          <a:p>
            <a:fld id="{F7BAE25A-5D24-4004-A82D-A9BE88A40641}" type="slidenum">
              <a:rPr lang="en-PH" smtClean="0"/>
              <a:t>15</a:t>
            </a:fld>
            <a:endParaRPr lang="en-PH"/>
          </a:p>
        </p:txBody>
      </p:sp>
    </p:spTree>
    <p:extLst>
      <p:ext uri="{BB962C8B-B14F-4D97-AF65-F5344CB8AC3E}">
        <p14:creationId xmlns:p14="http://schemas.microsoft.com/office/powerpoint/2010/main" val="26486243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B0A8F-9ECF-AB14-D989-D7E2F780E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7BAFD8-F134-82D2-954A-0C7B653273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CDDB8D-84A5-4FF1-D635-AE8ADF695FC8}"/>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97D82B2-35DE-D4E6-82D6-5A64C6269520}"/>
              </a:ext>
            </a:extLst>
          </p:cNvPr>
          <p:cNvSpPr>
            <a:spLocks noGrp="1"/>
          </p:cNvSpPr>
          <p:nvPr>
            <p:ph type="sldNum" sz="quarter" idx="5"/>
          </p:nvPr>
        </p:nvSpPr>
        <p:spPr/>
        <p:txBody>
          <a:bodyPr/>
          <a:lstStyle/>
          <a:p>
            <a:fld id="{F7BAE25A-5D24-4004-A82D-A9BE88A40641}" type="slidenum">
              <a:rPr lang="en-PH" smtClean="0"/>
              <a:t>16</a:t>
            </a:fld>
            <a:endParaRPr lang="en-PH"/>
          </a:p>
        </p:txBody>
      </p:sp>
    </p:spTree>
    <p:extLst>
      <p:ext uri="{BB962C8B-B14F-4D97-AF65-F5344CB8AC3E}">
        <p14:creationId xmlns:p14="http://schemas.microsoft.com/office/powerpoint/2010/main" val="1654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C7CA6-35AA-CA32-B4B4-921FCBE976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48EBB9-443D-E7BE-502B-1E0469C950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3BF594-EE72-75ED-BC40-79916A62339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D06282F9-B4EA-50F7-9FF9-84C0C160C9CA}"/>
              </a:ext>
            </a:extLst>
          </p:cNvPr>
          <p:cNvSpPr>
            <a:spLocks noGrp="1"/>
          </p:cNvSpPr>
          <p:nvPr>
            <p:ph type="sldNum" sz="quarter" idx="5"/>
          </p:nvPr>
        </p:nvSpPr>
        <p:spPr/>
        <p:txBody>
          <a:bodyPr/>
          <a:lstStyle/>
          <a:p>
            <a:fld id="{F7BAE25A-5D24-4004-A82D-A9BE88A40641}" type="slidenum">
              <a:rPr lang="en-PH" smtClean="0"/>
              <a:t>17</a:t>
            </a:fld>
            <a:endParaRPr lang="en-PH"/>
          </a:p>
        </p:txBody>
      </p:sp>
    </p:spTree>
    <p:extLst>
      <p:ext uri="{BB962C8B-B14F-4D97-AF65-F5344CB8AC3E}">
        <p14:creationId xmlns:p14="http://schemas.microsoft.com/office/powerpoint/2010/main" val="2214540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710144-C51D-4F13-8FAF-CC827A160CBB}" type="datetimeFigureOut">
              <a:rPr lang="en-PH" smtClean="0"/>
              <a:t>8/20/2026</a:t>
            </a:fld>
            <a:endParaRPr lang="en-PH"/>
          </a:p>
        </p:txBody>
      </p:sp>
      <p:sp>
        <p:nvSpPr>
          <p:cNvPr id="5" name="Footer Placeholder 4"/>
          <p:cNvSpPr>
            <a:spLocks noGrp="1"/>
          </p:cNvSpPr>
          <p:nvPr>
            <p:ph type="ftr" sz="quarter" idx="11"/>
          </p:nvPr>
        </p:nvSpPr>
        <p:spPr>
          <a:xfrm>
            <a:off x="1451579" y="329307"/>
            <a:ext cx="5626774" cy="309201"/>
          </a:xfrm>
        </p:spPr>
        <p:txBody>
          <a:bodyPr/>
          <a:lstStyle/>
          <a:p>
            <a:endParaRPr lang="en-PH"/>
          </a:p>
        </p:txBody>
      </p:sp>
      <p:sp>
        <p:nvSpPr>
          <p:cNvPr id="6" name="Slide Number Placeholder 5"/>
          <p:cNvSpPr>
            <a:spLocks noGrp="1"/>
          </p:cNvSpPr>
          <p:nvPr>
            <p:ph type="sldNum" sz="quarter" idx="12"/>
          </p:nvPr>
        </p:nvSpPr>
        <p:spPr>
          <a:xfrm>
            <a:off x="476834" y="798973"/>
            <a:ext cx="811019" cy="503578"/>
          </a:xfrm>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2949311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710144-C51D-4F13-8FAF-CC827A160CBB}" type="datetimeFigureOut">
              <a:rPr lang="en-PH" smtClean="0"/>
              <a:t>8/20/2026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1927653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710144-C51D-4F13-8FAF-CC827A160CBB}" type="datetimeFigureOut">
              <a:rPr lang="en-PH" smtClean="0"/>
              <a:t>8/20/2026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339294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710144-C51D-4F13-8FAF-CC827A160CBB}" type="datetimeFigureOut">
              <a:rPr lang="en-PH" smtClean="0"/>
              <a:t>8/20/2026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612697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710144-C51D-4F13-8FAF-CC827A160CBB}" type="datetimeFigureOut">
              <a:rPr lang="en-PH" smtClean="0"/>
              <a:t>8/20/2026</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4264141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0710144-C51D-4F13-8FAF-CC827A160CBB}" type="datetimeFigureOut">
              <a:rPr lang="en-PH" smtClean="0"/>
              <a:t>8/20/2026</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3894133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710144-C51D-4F13-8FAF-CC827A160CBB}" type="datetimeFigureOut">
              <a:rPr lang="en-PH" smtClean="0"/>
              <a:t>8/20/2026</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377736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0710144-C51D-4F13-8FAF-CC827A160CBB}" type="datetimeFigureOut">
              <a:rPr lang="en-PH" smtClean="0"/>
              <a:t>8/20/2026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415536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0710144-C51D-4F13-8FAF-CC827A160CBB}" type="datetimeFigureOut">
              <a:rPr lang="en-PH" smtClean="0"/>
              <a:t>8/20/2026</a:t>
            </a:fld>
            <a:endParaRPr lang="en-PH"/>
          </a:p>
        </p:txBody>
      </p:sp>
      <p:sp>
        <p:nvSpPr>
          <p:cNvPr id="6" name="Footer Placeholder 5"/>
          <p:cNvSpPr>
            <a:spLocks noGrp="1"/>
          </p:cNvSpPr>
          <p:nvPr>
            <p:ph type="ftr" sz="quarter" idx="11"/>
          </p:nvPr>
        </p:nvSpPr>
        <p:spPr>
          <a:xfrm>
            <a:off x="1447382" y="318640"/>
            <a:ext cx="5541004" cy="320931"/>
          </a:xfrm>
        </p:spPr>
        <p:txBody>
          <a:bodyPr/>
          <a:lstStyle/>
          <a:p>
            <a:endParaRPr lang="en-PH"/>
          </a:p>
        </p:txBody>
      </p:sp>
      <p:sp>
        <p:nvSpPr>
          <p:cNvPr id="7" name="Slide Number Placeholder 6"/>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2360447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710144-C51D-4F13-8FAF-CC827A160CBB}" type="datetimeFigureOut">
              <a:rPr lang="en-PH" smtClean="0"/>
              <a:t>8/20/2026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664889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710144-C51D-4F13-8FAF-CC827A160CBB}" type="datetimeFigureOut">
              <a:rPr lang="en-PH" smtClean="0"/>
              <a:t>8/20/2026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559723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0710144-C51D-4F13-8FAF-CC827A160CBB}" type="datetimeFigureOut">
              <a:rPr lang="en-PH" smtClean="0"/>
              <a:t>8/20/2026</a:t>
            </a:fld>
            <a:endParaRPr lang="en-PH"/>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DD131BB-748F-41AA-A188-03FFE40F9EE7}" type="slidenum">
              <a:rPr lang="en-PH" smtClean="0"/>
              <a:t>‹#›</a:t>
            </a:fld>
            <a:endParaRPr lang="en-PH"/>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215279"/>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CFF50-8CD8-2A55-F5E3-38E524DAEEFB}"/>
              </a:ext>
            </a:extLst>
          </p:cNvPr>
          <p:cNvSpPr>
            <a:spLocks noGrp="1"/>
          </p:cNvSpPr>
          <p:nvPr>
            <p:ph type="ctrTitle"/>
          </p:nvPr>
        </p:nvSpPr>
        <p:spPr>
          <a:xfrm>
            <a:off x="0" y="2791966"/>
            <a:ext cx="12191999" cy="2541431"/>
          </a:xfrm>
        </p:spPr>
        <p:txBody>
          <a:bodyPr>
            <a:noAutofit/>
          </a:bodyPr>
          <a:lstStyle/>
          <a:p>
            <a:pPr algn="ctr"/>
            <a:r>
              <a:rPr lang="en-PH" sz="11200" dirty="0">
                <a:latin typeface="Arial Narrow" panose="020B0606020202030204" pitchFamily="34" charset="0"/>
              </a:rPr>
              <a:t>WELCOME back Pablo!</a:t>
            </a:r>
            <a:br>
              <a:rPr lang="en-PH" sz="11200" dirty="0">
                <a:latin typeface="Arial Narrow" panose="020B0606020202030204" pitchFamily="34" charset="0"/>
              </a:rPr>
            </a:br>
            <a:endParaRPr lang="en-PH" sz="11200" dirty="0">
              <a:latin typeface="Arial Narrow" panose="020B0606020202030204" pitchFamily="34" charset="0"/>
            </a:endParaRPr>
          </a:p>
        </p:txBody>
      </p:sp>
    </p:spTree>
    <p:extLst>
      <p:ext uri="{BB962C8B-B14F-4D97-AF65-F5344CB8AC3E}">
        <p14:creationId xmlns:p14="http://schemas.microsoft.com/office/powerpoint/2010/main" val="4101661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A24FC-36EF-BF32-1929-2434869911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4469B-D37F-D990-E189-D913B41EB93D}"/>
              </a:ext>
            </a:extLst>
          </p:cNvPr>
          <p:cNvSpPr>
            <a:spLocks noGrp="1"/>
          </p:cNvSpPr>
          <p:nvPr>
            <p:ph type="ctrTitle"/>
          </p:nvPr>
        </p:nvSpPr>
        <p:spPr>
          <a:xfrm>
            <a:off x="1718733" y="3708400"/>
            <a:ext cx="9264377" cy="1380068"/>
          </a:xfrm>
        </p:spPr>
        <p:txBody>
          <a:bodyPr>
            <a:normAutofit fontScale="90000"/>
          </a:bodyPr>
          <a:lstStyle/>
          <a:p>
            <a:pPr algn="ctr"/>
            <a:r>
              <a:rPr lang="en-PH" sz="14900" dirty="0">
                <a:latin typeface="Arial Narrow" panose="020B0606020202030204" pitchFamily="34" charset="0"/>
              </a:rPr>
              <a:t>Lesson 08</a:t>
            </a:r>
            <a:br>
              <a:rPr lang="en-PH" dirty="0">
                <a:latin typeface="Arial Narrow" panose="020B0606020202030204" pitchFamily="34" charset="0"/>
              </a:rPr>
            </a:br>
            <a:endParaRPr lang="en-PH" sz="14900" dirty="0">
              <a:latin typeface="Arial Narrow" panose="020B0606020202030204" pitchFamily="34" charset="0"/>
            </a:endParaRPr>
          </a:p>
        </p:txBody>
      </p:sp>
    </p:spTree>
    <p:extLst>
      <p:ext uri="{BB962C8B-B14F-4D97-AF65-F5344CB8AC3E}">
        <p14:creationId xmlns:p14="http://schemas.microsoft.com/office/powerpoint/2010/main" val="3685224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035D8-B879-0DE4-A35C-444C61DBA35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B223B6-F5FA-EC54-98A9-E70D02BD73F2}"/>
              </a:ext>
            </a:extLst>
          </p:cNvPr>
          <p:cNvSpPr>
            <a:spLocks noGrp="1"/>
          </p:cNvSpPr>
          <p:nvPr>
            <p:ph idx="1"/>
          </p:nvPr>
        </p:nvSpPr>
        <p:spPr>
          <a:xfrm>
            <a:off x="0" y="1831736"/>
            <a:ext cx="12191999" cy="4052597"/>
          </a:xfrm>
        </p:spPr>
        <p:txBody>
          <a:bodyPr>
            <a:normAutofit/>
          </a:bodyPr>
          <a:lstStyle/>
          <a:p>
            <a:pPr marL="0" indent="0">
              <a:buNone/>
            </a:pPr>
            <a:endParaRPr lang="en-PH" dirty="0"/>
          </a:p>
          <a:p>
            <a:pPr marL="0" indent="0">
              <a:buNone/>
            </a:pPr>
            <a:endParaRPr lang="en-PH" dirty="0"/>
          </a:p>
        </p:txBody>
      </p:sp>
      <p:sp>
        <p:nvSpPr>
          <p:cNvPr id="5" name="Title 4">
            <a:extLst>
              <a:ext uri="{FF2B5EF4-FFF2-40B4-BE49-F238E27FC236}">
                <a16:creationId xmlns:a16="http://schemas.microsoft.com/office/drawing/2014/main" id="{4886789D-506B-8D06-2C40-76610B6E4EEF}"/>
              </a:ext>
            </a:extLst>
          </p:cNvPr>
          <p:cNvSpPr>
            <a:spLocks noGrp="1"/>
          </p:cNvSpPr>
          <p:nvPr>
            <p:ph type="title"/>
          </p:nvPr>
        </p:nvSpPr>
        <p:spPr>
          <a:xfrm>
            <a:off x="177801" y="1831736"/>
            <a:ext cx="12192000" cy="1294954"/>
          </a:xfrm>
        </p:spPr>
        <p:txBody>
          <a:bodyPr>
            <a:noAutofit/>
          </a:bodyPr>
          <a:lstStyle/>
          <a:p>
            <a:br>
              <a:rPr lang="en-US" sz="4800" dirty="0">
                <a:latin typeface="Arial Narrow" panose="020B0606020202030204" pitchFamily="34" charset="0"/>
              </a:rPr>
            </a:br>
            <a:r>
              <a:rPr lang="en-US" sz="7200" dirty="0">
                <a:latin typeface="Berlin Sans FB Demi" panose="020E0802020502020306" pitchFamily="34" charset="0"/>
              </a:rPr>
              <a:t>Making Comparisons</a:t>
            </a:r>
            <a:br>
              <a:rPr lang="en-PH" sz="4800" dirty="0">
                <a:latin typeface="Arial Narrow" panose="020B0606020202030204" pitchFamily="34" charset="0"/>
              </a:rPr>
            </a:br>
            <a:br>
              <a:rPr lang="en-PH" sz="4800" dirty="0">
                <a:latin typeface="Arial Narrow" panose="020B0606020202030204" pitchFamily="34" charset="0"/>
              </a:rPr>
            </a:br>
            <a:br>
              <a:rPr lang="en-PH" sz="4800" dirty="0">
                <a:latin typeface="Arial Narrow" panose="020B0606020202030204" pitchFamily="34" charset="0"/>
              </a:rPr>
            </a:br>
            <a:endParaRPr lang="en-PH" sz="4800" dirty="0">
              <a:latin typeface="Arial Narrow" panose="020B0606020202030204" pitchFamily="34" charset="0"/>
            </a:endParaRPr>
          </a:p>
        </p:txBody>
      </p:sp>
    </p:spTree>
    <p:extLst>
      <p:ext uri="{BB962C8B-B14F-4D97-AF65-F5344CB8AC3E}">
        <p14:creationId xmlns:p14="http://schemas.microsoft.com/office/powerpoint/2010/main" val="1737026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760D4-A038-F675-7C35-6F5B6B3ED6A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99D91A1-1B0E-86BC-0348-FA4262644A3D}"/>
              </a:ext>
            </a:extLst>
          </p:cNvPr>
          <p:cNvSpPr>
            <a:spLocks noGrp="1"/>
          </p:cNvSpPr>
          <p:nvPr>
            <p:ph type="title"/>
          </p:nvPr>
        </p:nvSpPr>
        <p:spPr>
          <a:xfrm>
            <a:off x="169333" y="423333"/>
            <a:ext cx="11895667" cy="4394201"/>
          </a:xfrm>
        </p:spPr>
        <p:txBody>
          <a:bodyPr>
            <a:noAutofit/>
          </a:bodyPr>
          <a:lstStyle/>
          <a:p>
            <a:pPr algn="l"/>
            <a:r>
              <a:rPr lang="en-US" sz="3600" cap="none" dirty="0">
                <a:solidFill>
                  <a:schemeClr val="tx1"/>
                </a:solidFill>
                <a:latin typeface="Arial Nova Cond Light" panose="020B0306020202020204" pitchFamily="34" charset="0"/>
              </a:rPr>
              <a:t>People and things have qualities or attributes that may be compared to one another. These qualities are expressed by an adjective, which can indicate if two people or things are equal or not equal, or if a person or thing has a high degree of a certain quality-if not the highest among all others.</a:t>
            </a:r>
            <a:br>
              <a:rPr lang="en-PH" sz="3600" cap="none" dirty="0">
                <a:solidFill>
                  <a:schemeClr val="tx1"/>
                </a:solidFill>
                <a:latin typeface="Arial Nova Cond Light" panose="020B0306020202020204" pitchFamily="34" charset="0"/>
              </a:rPr>
            </a:br>
            <a:r>
              <a:rPr lang="en-US" sz="3600" cap="none" dirty="0">
                <a:solidFill>
                  <a:schemeClr val="tx1"/>
                </a:solidFill>
                <a:latin typeface="Arial Nova Cond Light" panose="020B0306020202020204" pitchFamily="34" charset="0"/>
              </a:rPr>
              <a:t>In the Tagalog language, </a:t>
            </a:r>
            <a:r>
              <a:rPr lang="en-US" sz="3600" i="1" cap="none" dirty="0">
                <a:solidFill>
                  <a:schemeClr val="tx1"/>
                </a:solidFill>
                <a:latin typeface="Arial Nova Cond Light" panose="020B0306020202020204" pitchFamily="34" charset="0"/>
              </a:rPr>
              <a:t>as </a:t>
            </a:r>
            <a:r>
              <a:rPr lang="en-US" sz="3600" cap="none" dirty="0">
                <a:solidFill>
                  <a:schemeClr val="tx1"/>
                </a:solidFill>
                <a:latin typeface="Arial Nova Cond Light" panose="020B0306020202020204" pitchFamily="34" charset="0"/>
              </a:rPr>
              <a:t>in English, there are various ways of comparing things according to the</a:t>
            </a:r>
            <a:r>
              <a:rPr lang="en-PH" sz="3600" cap="none" dirty="0">
                <a:solidFill>
                  <a:schemeClr val="tx1"/>
                </a:solidFill>
                <a:latin typeface="Arial Nova Cond Light" panose="020B0306020202020204" pitchFamily="34" charset="0"/>
              </a:rPr>
              <a:t> </a:t>
            </a:r>
            <a:r>
              <a:rPr lang="en-US" sz="3600" cap="none" dirty="0">
                <a:solidFill>
                  <a:schemeClr val="tx1"/>
                </a:solidFill>
                <a:latin typeface="Arial Nova Cond Light" panose="020B0306020202020204" pitchFamily="34" charset="0"/>
              </a:rPr>
              <a:t>different levels or degrees.</a:t>
            </a:r>
            <a:br>
              <a:rPr lang="en-PH" sz="3600" cap="none" dirty="0">
                <a:latin typeface="Arial Nova Cond Light" panose="020B0306020202020204" pitchFamily="34" charset="0"/>
              </a:rPr>
            </a:br>
            <a:endParaRPr lang="en-PH" sz="4000" cap="none" dirty="0">
              <a:solidFill>
                <a:schemeClr val="tx1"/>
              </a:solidFill>
              <a:latin typeface="Arial Nova Cond Light" panose="020B0306020202020204" pitchFamily="34" charset="0"/>
            </a:endParaRPr>
          </a:p>
        </p:txBody>
      </p:sp>
    </p:spTree>
    <p:extLst>
      <p:ext uri="{BB962C8B-B14F-4D97-AF65-F5344CB8AC3E}">
        <p14:creationId xmlns:p14="http://schemas.microsoft.com/office/powerpoint/2010/main" val="3616196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B298B-EEE6-53D0-4B8A-3297EC485A05}"/>
              </a:ext>
            </a:extLst>
          </p:cNvPr>
          <p:cNvSpPr>
            <a:spLocks noGrp="1"/>
          </p:cNvSpPr>
          <p:nvPr>
            <p:ph type="title"/>
          </p:nvPr>
        </p:nvSpPr>
        <p:spPr/>
        <p:txBody>
          <a:bodyPr>
            <a:normAutofit/>
          </a:bodyPr>
          <a:lstStyle/>
          <a:p>
            <a:r>
              <a:rPr lang="en-PH" sz="4400" dirty="0"/>
              <a:t>express equality </a:t>
            </a:r>
          </a:p>
        </p:txBody>
      </p:sp>
    </p:spTree>
    <p:extLst>
      <p:ext uri="{BB962C8B-B14F-4D97-AF65-F5344CB8AC3E}">
        <p14:creationId xmlns:p14="http://schemas.microsoft.com/office/powerpoint/2010/main" val="2928223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581EF-E29B-1A62-5DC1-189FFDEBC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00C50C-5A7F-40B7-5F1E-FD16E199D6A3}"/>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7" name="TextBox 6">
            <a:extLst>
              <a:ext uri="{FF2B5EF4-FFF2-40B4-BE49-F238E27FC236}">
                <a16:creationId xmlns:a16="http://schemas.microsoft.com/office/drawing/2014/main" id="{E6D717E8-A3F2-81ED-716D-98378E027D4C}"/>
              </a:ext>
            </a:extLst>
          </p:cNvPr>
          <p:cNvSpPr txBox="1"/>
          <p:nvPr/>
        </p:nvSpPr>
        <p:spPr>
          <a:xfrm>
            <a:off x="-51692" y="0"/>
            <a:ext cx="12259734" cy="6328120"/>
          </a:xfrm>
          <a:prstGeom prst="rect">
            <a:avLst/>
          </a:prstGeom>
          <a:noFill/>
        </p:spPr>
        <p:txBody>
          <a:bodyPr wrap="square">
            <a:spAutoFit/>
          </a:bodyPr>
          <a:lstStyle/>
          <a:p>
            <a:r>
              <a:rPr lang="en-US" sz="2400" dirty="0">
                <a:latin typeface="Arial Nova Cond Light" panose="020B0306020202020204" pitchFamily="34" charset="0"/>
              </a:rPr>
              <a:t> I. </a:t>
            </a:r>
            <a:r>
              <a:rPr lang="en-US" sz="2800" dirty="0">
                <a:latin typeface="Arial Nova Cond Light" panose="020B0306020202020204" pitchFamily="34" charset="0"/>
              </a:rPr>
              <a:t>To express </a:t>
            </a:r>
            <a:r>
              <a:rPr lang="en-US" sz="2800" dirty="0">
                <a:solidFill>
                  <a:srgbClr val="FFFF00"/>
                </a:solidFill>
                <a:latin typeface="Arial Nova Cond Light" panose="020B0306020202020204" pitchFamily="34" charset="0"/>
              </a:rPr>
              <a:t>equality between two nouns (A and B) </a:t>
            </a:r>
            <a:r>
              <a:rPr lang="en-US" sz="2800" dirty="0">
                <a:latin typeface="Arial Nova Cond Light" panose="020B0306020202020204" pitchFamily="34" charset="0"/>
              </a:rPr>
              <a:t>in terms of one quality, either attach the prefixes </a:t>
            </a:r>
            <a:r>
              <a:rPr lang="en-US" sz="2800" b="1" dirty="0" err="1">
                <a:solidFill>
                  <a:srgbClr val="FFFF00"/>
                </a:solidFill>
                <a:latin typeface="Arial Nova Cond Light" panose="020B0306020202020204" pitchFamily="34" charset="0"/>
              </a:rPr>
              <a:t>kasing</a:t>
            </a:r>
            <a:r>
              <a:rPr lang="en-US" sz="2800" b="1" dirty="0">
                <a:solidFill>
                  <a:srgbClr val="FFFF00"/>
                </a:solidFill>
                <a:latin typeface="Arial Nova Cond Light" panose="020B0306020202020204" pitchFamily="34" charset="0"/>
              </a:rPr>
              <a:t>- </a:t>
            </a:r>
            <a:r>
              <a:rPr lang="en-US" sz="2800" dirty="0">
                <a:latin typeface="Arial Nova Cond Light" panose="020B0306020202020204" pitchFamily="34" charset="0"/>
              </a:rPr>
              <a:t>or</a:t>
            </a:r>
            <a:r>
              <a:rPr lang="en-US" sz="2800" dirty="0">
                <a:solidFill>
                  <a:srgbClr val="FFFF00"/>
                </a:solidFill>
                <a:latin typeface="Arial Nova Cond Light" panose="020B0306020202020204" pitchFamily="34" charset="0"/>
              </a:rPr>
              <a:t> </a:t>
            </a:r>
            <a:r>
              <a:rPr lang="en-US" sz="2800" b="1" dirty="0" err="1">
                <a:solidFill>
                  <a:srgbClr val="FFFF00"/>
                </a:solidFill>
                <a:latin typeface="Arial Nova Cond Light" panose="020B0306020202020204" pitchFamily="34" charset="0"/>
              </a:rPr>
              <a:t>magkasing</a:t>
            </a:r>
            <a:r>
              <a:rPr lang="en-US" sz="2800" b="1" dirty="0">
                <a:solidFill>
                  <a:srgbClr val="FFFF00"/>
                </a:solidFill>
                <a:latin typeface="Arial Nova Cond Light" panose="020B0306020202020204" pitchFamily="34" charset="0"/>
              </a:rPr>
              <a:t>-</a:t>
            </a:r>
            <a:r>
              <a:rPr lang="en-US" sz="2800" b="1" dirty="0">
                <a:latin typeface="Arial Nova Cond Light" panose="020B0306020202020204" pitchFamily="34" charset="0"/>
              </a:rPr>
              <a:t>, </a:t>
            </a:r>
            <a:r>
              <a:rPr lang="en-US" sz="2800" dirty="0">
                <a:latin typeface="Arial Nova Cond Light" panose="020B0306020202020204" pitchFamily="34" charset="0"/>
              </a:rPr>
              <a:t>which by themselves mean </a:t>
            </a:r>
            <a:r>
              <a:rPr lang="en-US" sz="2800" i="1" dirty="0">
                <a:solidFill>
                  <a:srgbClr val="FFFF00"/>
                </a:solidFill>
                <a:latin typeface="Arial Nova Cond Light" panose="020B0306020202020204" pitchFamily="34" charset="0"/>
              </a:rPr>
              <a:t>as, t</a:t>
            </a:r>
            <a:r>
              <a:rPr lang="en-US" sz="2800" dirty="0">
                <a:solidFill>
                  <a:srgbClr val="FFFF00"/>
                </a:solidFill>
                <a:latin typeface="Arial Nova Cond Light" panose="020B0306020202020204" pitchFamily="34" charset="0"/>
              </a:rPr>
              <a:t>o the root word of an adjective</a:t>
            </a:r>
            <a:r>
              <a:rPr lang="en-US" sz="2800" dirty="0">
                <a:latin typeface="Arial Nova Cond Light" panose="020B0306020202020204" pitchFamily="34" charset="0"/>
              </a:rPr>
              <a:t>; or use the words </a:t>
            </a:r>
            <a:r>
              <a:rPr lang="en-US" sz="2800" b="1" dirty="0" err="1">
                <a:solidFill>
                  <a:srgbClr val="FFFF00"/>
                </a:solidFill>
                <a:latin typeface="Arial Nova Cond Light" panose="020B0306020202020204" pitchFamily="34" charset="0"/>
              </a:rPr>
              <a:t>pareho</a:t>
            </a:r>
            <a:r>
              <a:rPr lang="en-US" sz="2800" b="1" dirty="0">
                <a:solidFill>
                  <a:srgbClr val="FFFF00"/>
                </a:solidFill>
                <a:latin typeface="Arial Nova Cond Light" panose="020B0306020202020204" pitchFamily="34" charset="0"/>
              </a:rPr>
              <a:t>, </a:t>
            </a:r>
            <a:r>
              <a:rPr lang="en-US" sz="2800" b="1" dirty="0" err="1">
                <a:solidFill>
                  <a:srgbClr val="FFFF00"/>
                </a:solidFill>
                <a:latin typeface="Arial Nova Cond Light" panose="020B0306020202020204" pitchFamily="34" charset="0"/>
              </a:rPr>
              <a:t>katulad</a:t>
            </a:r>
            <a:r>
              <a:rPr lang="en-US" sz="2800" b="1" dirty="0">
                <a:solidFill>
                  <a:srgbClr val="FFFF00"/>
                </a:solidFill>
                <a:latin typeface="Arial Nova Cond Light" panose="020B0306020202020204" pitchFamily="34" charset="0"/>
              </a:rPr>
              <a:t> </a:t>
            </a:r>
            <a:r>
              <a:rPr lang="en-US" sz="2800" dirty="0">
                <a:latin typeface="Arial Nova Cond Light" panose="020B0306020202020204" pitchFamily="34" charset="0"/>
              </a:rPr>
              <a:t>or</a:t>
            </a:r>
            <a:r>
              <a:rPr lang="en-US" sz="2800" dirty="0">
                <a:solidFill>
                  <a:srgbClr val="FFFF00"/>
                </a:solidFill>
                <a:latin typeface="Arial Nova Cond Light" panose="020B0306020202020204" pitchFamily="34" charset="0"/>
              </a:rPr>
              <a:t> </a:t>
            </a:r>
            <a:r>
              <a:rPr lang="en-US" sz="2800" b="1" dirty="0" err="1">
                <a:solidFill>
                  <a:srgbClr val="FFFF00"/>
                </a:solidFill>
                <a:latin typeface="Arial Nova Cond Light" panose="020B0306020202020204" pitchFamily="34" charset="0"/>
              </a:rPr>
              <a:t>gaya</a:t>
            </a:r>
            <a:r>
              <a:rPr lang="en-US" sz="2800" b="1" dirty="0">
                <a:latin typeface="Arial Nova Cond Light" panose="020B0306020202020204" pitchFamily="34" charset="0"/>
              </a:rPr>
              <a:t>, </a:t>
            </a:r>
            <a:r>
              <a:rPr lang="en-US" sz="2800" dirty="0">
                <a:latin typeface="Arial Nova Cond Light" panose="020B0306020202020204" pitchFamily="34" charset="0"/>
              </a:rPr>
              <a:t>all of which mean </a:t>
            </a:r>
            <a:r>
              <a:rPr lang="en-US" sz="2800" i="1" dirty="0">
                <a:solidFill>
                  <a:srgbClr val="FFFF00"/>
                </a:solidFill>
                <a:latin typeface="Arial Nova Cond Light" panose="020B0306020202020204" pitchFamily="34" charset="0"/>
              </a:rPr>
              <a:t>similar to </a:t>
            </a:r>
            <a:r>
              <a:rPr lang="en-US" sz="2800" dirty="0">
                <a:latin typeface="Arial Nova Cond Light" panose="020B0306020202020204" pitchFamily="34" charset="0"/>
              </a:rPr>
              <a:t>or</a:t>
            </a:r>
            <a:r>
              <a:rPr lang="en-US" sz="2800" dirty="0">
                <a:solidFill>
                  <a:srgbClr val="FFFF00"/>
                </a:solidFill>
                <a:latin typeface="Arial Nova Cond Light" panose="020B0306020202020204" pitchFamily="34" charset="0"/>
              </a:rPr>
              <a:t> </a:t>
            </a:r>
            <a:r>
              <a:rPr lang="en-US" sz="2800" i="1" dirty="0">
                <a:solidFill>
                  <a:srgbClr val="FFFF00"/>
                </a:solidFill>
                <a:latin typeface="Arial Nova Cond Light" panose="020B0306020202020204" pitchFamily="34" charset="0"/>
              </a:rPr>
              <a:t>like</a:t>
            </a:r>
            <a:r>
              <a:rPr lang="en-US" sz="2800" i="1" dirty="0">
                <a:latin typeface="Arial Nova Cond Light" panose="020B0306020202020204" pitchFamily="34" charset="0"/>
              </a:rPr>
              <a:t>.</a:t>
            </a:r>
          </a:p>
          <a:p>
            <a:endParaRPr lang="en-PH" sz="2800" dirty="0">
              <a:latin typeface="Arial Nova Cond Light" panose="020B0306020202020204" pitchFamily="34" charset="0"/>
            </a:endParaRPr>
          </a:p>
          <a:p>
            <a:r>
              <a:rPr lang="en-US" sz="2800" b="1" i="1" dirty="0">
                <a:solidFill>
                  <a:srgbClr val="FFFF00"/>
                </a:solidFill>
                <a:latin typeface="Arial Nova Cond Light" panose="020B0306020202020204" pitchFamily="34" charset="0"/>
              </a:rPr>
              <a:t> </a:t>
            </a:r>
            <a:r>
              <a:rPr lang="en-US" sz="2800" b="1" dirty="0">
                <a:solidFill>
                  <a:srgbClr val="FFFF00"/>
                </a:solidFill>
                <a:latin typeface="Arial Nova Cond Light" panose="020B0306020202020204" pitchFamily="34" charset="0"/>
              </a:rPr>
              <a:t>1.A </a:t>
            </a:r>
            <a:r>
              <a:rPr lang="en-US" sz="2800" b="1" dirty="0">
                <a:latin typeface="Arial Nova Cond Light" panose="020B0306020202020204" pitchFamily="34" charset="0"/>
              </a:rPr>
              <a:t>is as [adjective] </a:t>
            </a:r>
            <a:r>
              <a:rPr lang="en-US" sz="2800" b="1" dirty="0">
                <a:solidFill>
                  <a:srgbClr val="FFFF00"/>
                </a:solidFill>
                <a:latin typeface="Arial Nova Cond Light" panose="020B0306020202020204" pitchFamily="34" charset="0"/>
              </a:rPr>
              <a:t>as B</a:t>
            </a:r>
            <a:endParaRPr lang="en-PH" sz="2800" b="1" dirty="0">
              <a:solidFill>
                <a:srgbClr val="FFFF00"/>
              </a:solidFill>
              <a:latin typeface="Arial Nova Cond Light" panose="020B0306020202020204" pitchFamily="34" charset="0"/>
            </a:endParaRPr>
          </a:p>
          <a:p>
            <a:r>
              <a:rPr lang="en-US" sz="2800" dirty="0">
                <a:latin typeface="Arial Nova Cond Light" panose="020B0306020202020204" pitchFamily="34" charset="0"/>
              </a:rPr>
              <a:t>Formula: </a:t>
            </a:r>
            <a:r>
              <a:rPr lang="en-US" sz="2800" b="1" dirty="0">
                <a:solidFill>
                  <a:srgbClr val="FFFF00"/>
                </a:solidFill>
                <a:latin typeface="Arial Nova Cond Light" panose="020B0306020202020204" pitchFamily="34" charset="0"/>
              </a:rPr>
              <a:t>A</a:t>
            </a:r>
            <a:r>
              <a:rPr lang="en-US" sz="2800" dirty="0">
                <a:solidFill>
                  <a:srgbClr val="FFFF00"/>
                </a:solidFill>
                <a:latin typeface="Arial Nova Cond Light" panose="020B0306020202020204" pitchFamily="34" charset="0"/>
              </a:rPr>
              <a:t> prefix </a:t>
            </a:r>
            <a:r>
              <a:rPr lang="en-US" sz="2800" b="1" dirty="0" err="1">
                <a:solidFill>
                  <a:srgbClr val="FFFF00"/>
                </a:solidFill>
                <a:latin typeface="Arial Nova Cond Light" panose="020B0306020202020204" pitchFamily="34" charset="0"/>
              </a:rPr>
              <a:t>kasing</a:t>
            </a:r>
            <a:r>
              <a:rPr lang="en-US" sz="2800" b="1" dirty="0">
                <a:solidFill>
                  <a:srgbClr val="FFFF00"/>
                </a:solidFill>
                <a:latin typeface="Arial Nova Cond Light" panose="020B0306020202020204" pitchFamily="34" charset="0"/>
              </a:rPr>
              <a:t>- </a:t>
            </a:r>
            <a:r>
              <a:rPr lang="en-US" sz="2800" dirty="0">
                <a:solidFill>
                  <a:srgbClr val="FFFF00"/>
                </a:solidFill>
                <a:latin typeface="Arial Nova Cond Light" panose="020B0306020202020204" pitchFamily="34" charset="0"/>
              </a:rPr>
              <a:t>+ adjective + </a:t>
            </a:r>
            <a:r>
              <a:rPr lang="en-US" sz="2800" b="1" dirty="0" err="1">
                <a:solidFill>
                  <a:srgbClr val="FFFF00"/>
                </a:solidFill>
                <a:latin typeface="Arial Nova Cond Light" panose="020B0306020202020204" pitchFamily="34" charset="0"/>
              </a:rPr>
              <a:t>ni</a:t>
            </a:r>
            <a:r>
              <a:rPr lang="en-US" sz="2800" b="1" dirty="0">
                <a:solidFill>
                  <a:srgbClr val="FFFF00"/>
                </a:solidFill>
                <a:latin typeface="Arial Nova Cond Light" panose="020B0306020202020204" pitchFamily="34" charset="0"/>
              </a:rPr>
              <a:t> </a:t>
            </a:r>
            <a:r>
              <a:rPr lang="en-US" sz="2800" dirty="0">
                <a:solidFill>
                  <a:srgbClr val="FFFF00"/>
                </a:solidFill>
                <a:latin typeface="Arial Nova Cond Light" panose="020B0306020202020204" pitchFamily="34" charset="0"/>
              </a:rPr>
              <a:t>(</a:t>
            </a:r>
            <a:r>
              <a:rPr lang="en-US" sz="2800" dirty="0">
                <a:latin typeface="Arial Nova Cond Light" panose="020B0306020202020204" pitchFamily="34" charset="0"/>
              </a:rPr>
              <a:t>or</a:t>
            </a:r>
            <a:r>
              <a:rPr lang="en-US" sz="2800" dirty="0">
                <a:solidFill>
                  <a:srgbClr val="FFFF00"/>
                </a:solidFill>
                <a:latin typeface="Arial Nova Cond Light" panose="020B0306020202020204" pitchFamily="34" charset="0"/>
              </a:rPr>
              <a:t> </a:t>
            </a:r>
            <a:r>
              <a:rPr lang="en-US" sz="2800" b="1" dirty="0">
                <a:solidFill>
                  <a:srgbClr val="FFFF00"/>
                </a:solidFill>
                <a:latin typeface="Arial Nova Cond Light" panose="020B0306020202020204" pitchFamily="34" charset="0"/>
              </a:rPr>
              <a:t>ng) B</a:t>
            </a:r>
            <a:endParaRPr lang="en-PH" sz="2800" b="1" dirty="0">
              <a:solidFill>
                <a:srgbClr val="FFFF00"/>
              </a:solidFill>
              <a:latin typeface="Arial Nova Cond Light" panose="020B0306020202020204" pitchFamily="34" charset="0"/>
            </a:endParaRPr>
          </a:p>
          <a:p>
            <a:r>
              <a:rPr lang="en-US" sz="2800" dirty="0">
                <a:latin typeface="Arial Nova Cond Light" panose="020B0306020202020204" pitchFamily="34" charset="0"/>
              </a:rPr>
              <a:t>This phrase means </a:t>
            </a:r>
            <a:r>
              <a:rPr lang="en-US" sz="2800" i="1" dirty="0">
                <a:solidFill>
                  <a:srgbClr val="FFFF00"/>
                </a:solidFill>
                <a:latin typeface="Arial Nova Cond Light" panose="020B0306020202020204" pitchFamily="34" charset="0"/>
              </a:rPr>
              <a:t>as </a:t>
            </a:r>
            <a:r>
              <a:rPr lang="en-US" sz="2800" dirty="0">
                <a:solidFill>
                  <a:srgbClr val="FFFF00"/>
                </a:solidFill>
                <a:latin typeface="Arial Nova Cond Light" panose="020B0306020202020204" pitchFamily="34" charset="0"/>
              </a:rPr>
              <a:t>+ adjective + </a:t>
            </a:r>
            <a:r>
              <a:rPr lang="en-US" sz="2800" i="1" dirty="0">
                <a:solidFill>
                  <a:srgbClr val="FFFF00"/>
                </a:solidFill>
                <a:latin typeface="Arial Nova Cond Light" panose="020B0306020202020204" pitchFamily="34" charset="0"/>
              </a:rPr>
              <a:t>as </a:t>
            </a:r>
            <a:r>
              <a:rPr lang="en-US" sz="2800" dirty="0" err="1">
                <a:latin typeface="Arial Nova Cond Light" panose="020B0306020202020204" pitchFamily="34" charset="0"/>
              </a:rPr>
              <a:t>as</a:t>
            </a:r>
            <a:r>
              <a:rPr lang="en-US" sz="2800" i="1" dirty="0">
                <a:latin typeface="Arial Nova Cond Light" panose="020B0306020202020204" pitchFamily="34" charset="0"/>
              </a:rPr>
              <a:t> </a:t>
            </a:r>
            <a:r>
              <a:rPr lang="en-US" sz="2800" dirty="0">
                <a:latin typeface="Arial Nova Cond Light" panose="020B0306020202020204" pitchFamily="34" charset="0"/>
              </a:rPr>
              <a:t>seen in the following examples, and the order can also be reversed with </a:t>
            </a:r>
            <a:r>
              <a:rPr lang="en-US" sz="2800" b="1" dirty="0" err="1">
                <a:latin typeface="Arial Nova Cond Light" panose="020B0306020202020204" pitchFamily="34" charset="0"/>
              </a:rPr>
              <a:t>kasing</a:t>
            </a:r>
            <a:r>
              <a:rPr lang="en-US" sz="2800" b="1" dirty="0">
                <a:latin typeface="Arial Nova Cond Light" panose="020B0306020202020204" pitchFamily="34" charset="0"/>
              </a:rPr>
              <a:t>- </a:t>
            </a:r>
            <a:r>
              <a:rPr lang="en-US" sz="2800" dirty="0">
                <a:latin typeface="Arial Nova Cond Light" panose="020B0306020202020204" pitchFamily="34" charset="0"/>
              </a:rPr>
              <a:t>+adjective at the beginning of the sentence.</a:t>
            </a:r>
          </a:p>
          <a:p>
            <a:endParaRPr lang="en-PH" sz="2800" dirty="0">
              <a:latin typeface="Arial Nova Cond Light" panose="020B0306020202020204" pitchFamily="34" charset="0"/>
            </a:endParaRPr>
          </a:p>
          <a:p>
            <a:r>
              <a:rPr lang="en-US" sz="2800" dirty="0">
                <a:latin typeface="Arial Nova Cond Light" panose="020B0306020202020204" pitchFamily="34" charset="0"/>
              </a:rPr>
              <a:t>Si Maria ay </a:t>
            </a:r>
            <a:r>
              <a:rPr lang="en-US" sz="2800" dirty="0" err="1">
                <a:solidFill>
                  <a:srgbClr val="FFFF00"/>
                </a:solidFill>
                <a:latin typeface="Arial Nova Cond Light" panose="020B0306020202020204" pitchFamily="34" charset="0"/>
              </a:rPr>
              <a:t>kasing</a:t>
            </a:r>
            <a:r>
              <a:rPr lang="en-US" sz="2800" dirty="0" err="1">
                <a:latin typeface="Arial Nova Cond Light" panose="020B0306020202020204" pitchFamily="34" charset="0"/>
              </a:rPr>
              <a:t>ganda</a:t>
            </a:r>
            <a:r>
              <a:rPr lang="en-US" sz="2800" dirty="0">
                <a:latin typeface="Arial Nova Cond Light" panose="020B0306020202020204" pitchFamily="34" charset="0"/>
              </a:rPr>
              <a:t> </a:t>
            </a:r>
            <a:r>
              <a:rPr lang="en-US" sz="2800" dirty="0" err="1">
                <a:latin typeface="Arial Nova Cond Light" panose="020B0306020202020204" pitchFamily="34" charset="0"/>
              </a:rPr>
              <a:t>ni</a:t>
            </a:r>
            <a:r>
              <a:rPr lang="en-US" sz="2800" dirty="0">
                <a:latin typeface="Arial Nova Cond Light" panose="020B0306020202020204" pitchFamily="34" charset="0"/>
              </a:rPr>
              <a:t> Elena.		Maria is </a:t>
            </a:r>
            <a:r>
              <a:rPr lang="en-US" sz="2800" u="heavy" dirty="0">
                <a:solidFill>
                  <a:srgbClr val="FFFF00"/>
                </a:solidFill>
                <a:latin typeface="Arial Nova Cond Light" panose="020B0306020202020204" pitchFamily="34" charset="0"/>
              </a:rPr>
              <a:t>as</a:t>
            </a:r>
            <a:r>
              <a:rPr lang="en-US" sz="2800" u="heavy" dirty="0">
                <a:latin typeface="Arial Nova Cond Light" panose="020B0306020202020204" pitchFamily="34" charset="0"/>
              </a:rPr>
              <a:t> beautiful </a:t>
            </a:r>
            <a:r>
              <a:rPr lang="en-US" sz="2800" u="heavy" dirty="0">
                <a:solidFill>
                  <a:srgbClr val="FFFF00"/>
                </a:solidFill>
                <a:latin typeface="Arial Nova Cond Light" panose="020B0306020202020204" pitchFamily="34" charset="0"/>
              </a:rPr>
              <a:t>as</a:t>
            </a:r>
            <a:r>
              <a:rPr lang="en-US" sz="2800" dirty="0">
                <a:latin typeface="Arial Nova Cond Light" panose="020B0306020202020204" pitchFamily="34" charset="0"/>
              </a:rPr>
              <a:t> Elena.</a:t>
            </a:r>
            <a:endParaRPr lang="en-PH" sz="2800" dirty="0">
              <a:latin typeface="Arial Nova Cond Light" panose="020B0306020202020204" pitchFamily="34" charset="0"/>
            </a:endParaRPr>
          </a:p>
          <a:p>
            <a:r>
              <a:rPr lang="en-US" sz="2800" b="1" dirty="0" err="1">
                <a:solidFill>
                  <a:srgbClr val="FFFF00"/>
                </a:solidFill>
                <a:latin typeface="Arial Nova Cond Light" panose="020B0306020202020204" pitchFamily="34" charset="0"/>
              </a:rPr>
              <a:t>Kasinggaling</a:t>
            </a:r>
            <a:r>
              <a:rPr lang="en-US" sz="2800" dirty="0">
                <a:latin typeface="Arial Nova Cond Light" panose="020B0306020202020204" pitchFamily="34" charset="0"/>
              </a:rPr>
              <a:t> </a:t>
            </a:r>
            <a:r>
              <a:rPr lang="en-US" sz="2800" dirty="0" err="1">
                <a:latin typeface="Arial Nova Cond Light" panose="020B0306020202020204" pitchFamily="34" charset="0"/>
              </a:rPr>
              <a:t>ni</a:t>
            </a:r>
            <a:r>
              <a:rPr lang="en-US" sz="2800" dirty="0">
                <a:latin typeface="Arial Nova Cond Light" panose="020B0306020202020204" pitchFamily="34" charset="0"/>
              </a:rPr>
              <a:t> Rizal </a:t>
            </a:r>
            <a:r>
              <a:rPr lang="en-US" sz="2800" dirty="0" err="1">
                <a:latin typeface="Arial Nova Cond Light" panose="020B0306020202020204" pitchFamily="34" charset="0"/>
              </a:rPr>
              <a:t>si</a:t>
            </a:r>
            <a:r>
              <a:rPr lang="en-US" sz="2800" dirty="0">
                <a:latin typeface="Arial Nova Cond Light" panose="020B0306020202020204" pitchFamily="34" charset="0"/>
              </a:rPr>
              <a:t> Bonifacio.</a:t>
            </a:r>
            <a:r>
              <a:rPr lang="en-US" sz="2800" b="1" dirty="0">
                <a:latin typeface="Arial Nova Cond Light" panose="020B0306020202020204" pitchFamily="34" charset="0"/>
              </a:rPr>
              <a:t>		</a:t>
            </a:r>
            <a:r>
              <a:rPr lang="en-US" sz="2800" b="1" i="1" u="heavy" dirty="0">
                <a:solidFill>
                  <a:srgbClr val="FFFF00"/>
                </a:solidFill>
                <a:latin typeface="Arial Nova Cond Light" panose="020B0306020202020204" pitchFamily="34" charset="0"/>
              </a:rPr>
              <a:t>As </a:t>
            </a:r>
            <a:r>
              <a:rPr lang="en-US" sz="2800" b="1" u="heavy" dirty="0">
                <a:solidFill>
                  <a:srgbClr val="FFFF00"/>
                </a:solidFill>
                <a:latin typeface="Arial Nova Cond Light" panose="020B0306020202020204" pitchFamily="34" charset="0"/>
              </a:rPr>
              <a:t>good as</a:t>
            </a:r>
            <a:r>
              <a:rPr lang="en-US" sz="2800" b="1" dirty="0">
                <a:solidFill>
                  <a:srgbClr val="FFFF00"/>
                </a:solidFill>
                <a:latin typeface="Arial Nova Cond Light" panose="020B0306020202020204" pitchFamily="34" charset="0"/>
              </a:rPr>
              <a:t> </a:t>
            </a:r>
            <a:r>
              <a:rPr lang="en-US" sz="2800" dirty="0">
                <a:latin typeface="Arial Nova Cond Light" panose="020B0306020202020204" pitchFamily="34" charset="0"/>
              </a:rPr>
              <a:t>Rizal, Bonifacio is. (lie.)</a:t>
            </a:r>
            <a:endParaRPr lang="en-PH" sz="2800" dirty="0">
              <a:latin typeface="Arial Nova Cond Light" panose="020B0306020202020204" pitchFamily="34" charset="0"/>
            </a:endParaRPr>
          </a:p>
          <a:p>
            <a:r>
              <a:rPr lang="en-US" sz="2800" dirty="0">
                <a:latin typeface="Arial Nova Cond Light" panose="020B0306020202020204" pitchFamily="34" charset="0"/>
              </a:rPr>
              <a:t>Bonifacio is </a:t>
            </a:r>
            <a:r>
              <a:rPr lang="en-US" sz="2800" b="1" dirty="0">
                <a:solidFill>
                  <a:srgbClr val="FFFF00"/>
                </a:solidFill>
                <a:latin typeface="Arial Nova Cond Light" panose="020B0306020202020204" pitchFamily="34" charset="0"/>
              </a:rPr>
              <a:t>as good </a:t>
            </a:r>
            <a:r>
              <a:rPr lang="en-US" sz="2800" dirty="0">
                <a:latin typeface="Arial Nova Cond Light" panose="020B0306020202020204" pitchFamily="34" charset="0"/>
              </a:rPr>
              <a:t>as Rizal.</a:t>
            </a:r>
          </a:p>
          <a:p>
            <a:endParaRPr lang="en-US" sz="2800" dirty="0">
              <a:latin typeface="Arial Nova Cond Light" panose="020B0306020202020204" pitchFamily="34" charset="0"/>
            </a:endParaRPr>
          </a:p>
          <a:p>
            <a:r>
              <a:rPr lang="en-US" sz="2800" dirty="0">
                <a:latin typeface="Arial Nova Cond Light" panose="020B0306020202020204" pitchFamily="34" charset="0"/>
              </a:rPr>
              <a:t>Ang Spain ay </a:t>
            </a:r>
            <a:r>
              <a:rPr lang="en-US" sz="2800" dirty="0" err="1">
                <a:latin typeface="Arial Nova Cond Light" panose="020B0306020202020204" pitchFamily="34" charset="0"/>
              </a:rPr>
              <a:t>kasinglinis</a:t>
            </a:r>
            <a:r>
              <a:rPr lang="en-US" sz="2800" dirty="0">
                <a:latin typeface="Arial Nova Cond Light" panose="020B0306020202020204" pitchFamily="34" charset="0"/>
              </a:rPr>
              <a:t> ng Pilipinas.	Spain is as clean as Philippines.</a:t>
            </a:r>
          </a:p>
        </p:txBody>
      </p:sp>
    </p:spTree>
    <p:extLst>
      <p:ext uri="{BB962C8B-B14F-4D97-AF65-F5344CB8AC3E}">
        <p14:creationId xmlns:p14="http://schemas.microsoft.com/office/powerpoint/2010/main" val="2979525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FF80A715-483B-B972-D344-E285A188BA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BE67FD-54C7-BE04-2561-101CA7DEE2EF}"/>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4" name="TextBox 3">
            <a:extLst>
              <a:ext uri="{FF2B5EF4-FFF2-40B4-BE49-F238E27FC236}">
                <a16:creationId xmlns:a16="http://schemas.microsoft.com/office/drawing/2014/main" id="{3E52C602-EFFD-CADD-EE9C-A0B190077E8E}"/>
              </a:ext>
            </a:extLst>
          </p:cNvPr>
          <p:cNvSpPr txBox="1"/>
          <p:nvPr/>
        </p:nvSpPr>
        <p:spPr>
          <a:xfrm>
            <a:off x="0" y="0"/>
            <a:ext cx="12192000" cy="6309420"/>
          </a:xfrm>
          <a:prstGeom prst="rect">
            <a:avLst/>
          </a:prstGeom>
          <a:noFill/>
        </p:spPr>
        <p:txBody>
          <a:bodyPr wrap="square">
            <a:spAutoFit/>
          </a:bodyPr>
          <a:lstStyle/>
          <a:p>
            <a:pPr lvl="1"/>
            <a:r>
              <a:rPr lang="en-US" sz="2800" dirty="0">
                <a:latin typeface="Arial Nova Cond Light" panose="020B0306020202020204" pitchFamily="34" charset="0"/>
              </a:rPr>
              <a:t>2. A and B are equally [adjective] </a:t>
            </a:r>
          </a:p>
          <a:p>
            <a:pPr lvl="1"/>
            <a:r>
              <a:rPr lang="en-US" sz="2800" dirty="0">
                <a:solidFill>
                  <a:srgbClr val="FFFF00"/>
                </a:solidFill>
                <a:latin typeface="Arial Nova Cond Light" panose="020B0306020202020204" pitchFamily="34" charset="0"/>
              </a:rPr>
              <a:t>Formula: prefix </a:t>
            </a:r>
            <a:r>
              <a:rPr lang="en-US" sz="2800" b="1" dirty="0" err="1">
                <a:solidFill>
                  <a:srgbClr val="FFFF00"/>
                </a:solidFill>
                <a:latin typeface="Arial Nova Cond Light" panose="020B0306020202020204" pitchFamily="34" charset="0"/>
              </a:rPr>
              <a:t>magkasing</a:t>
            </a:r>
            <a:r>
              <a:rPr lang="en-US" sz="2800" b="1" dirty="0">
                <a:solidFill>
                  <a:srgbClr val="FFFF00"/>
                </a:solidFill>
                <a:latin typeface="Arial Nova Cond Light" panose="020B0306020202020204" pitchFamily="34" charset="0"/>
              </a:rPr>
              <a:t>- </a:t>
            </a:r>
            <a:r>
              <a:rPr lang="en-US" sz="2800" dirty="0">
                <a:solidFill>
                  <a:srgbClr val="FFFF00"/>
                </a:solidFill>
                <a:latin typeface="Arial Nova Cond Light" panose="020B0306020202020204" pitchFamily="34" charset="0"/>
              </a:rPr>
              <a:t>+ adjective</a:t>
            </a:r>
            <a:endParaRPr lang="en-PH" sz="2800" dirty="0">
              <a:solidFill>
                <a:srgbClr val="FFFF00"/>
              </a:solidFill>
              <a:latin typeface="Arial Nova Cond Light" panose="020B0306020202020204" pitchFamily="34" charset="0"/>
            </a:endParaRPr>
          </a:p>
          <a:p>
            <a:r>
              <a:rPr lang="en-US" sz="2800" dirty="0">
                <a:latin typeface="Arial Nova Cond Light" panose="020B0306020202020204" pitchFamily="34" charset="0"/>
              </a:rPr>
              <a:t>Unlike the previous formula, subjects being compared using </a:t>
            </a:r>
            <a:r>
              <a:rPr lang="en-US" sz="2800" b="1" dirty="0" err="1">
                <a:latin typeface="Arial Nova Cond Light" panose="020B0306020202020204" pitchFamily="34" charset="0"/>
              </a:rPr>
              <a:t>magkasing</a:t>
            </a:r>
            <a:r>
              <a:rPr lang="en-US" sz="2800" b="1" dirty="0">
                <a:latin typeface="Arial Nova Cond Light" panose="020B0306020202020204" pitchFamily="34" charset="0"/>
              </a:rPr>
              <a:t>- </a:t>
            </a:r>
            <a:r>
              <a:rPr lang="en-US" sz="2800" dirty="0">
                <a:latin typeface="Arial Nova Cond Light" panose="020B0306020202020204" pitchFamily="34" charset="0"/>
              </a:rPr>
              <a:t>are mentioned side by side.</a:t>
            </a:r>
            <a:endParaRPr lang="en-PH" sz="2800" dirty="0">
              <a:latin typeface="Arial Nova Cond Light" panose="020B0306020202020204" pitchFamily="34" charset="0"/>
            </a:endParaRPr>
          </a:p>
          <a:p>
            <a:r>
              <a:rPr lang="en-US" sz="2800" dirty="0">
                <a:latin typeface="Arial Nova Cond Light" panose="020B0306020202020204" pitchFamily="34" charset="0"/>
              </a:rPr>
              <a:t>An optional pronoun or article introducing the name or names of subject or subjects is needed if</a:t>
            </a:r>
            <a:r>
              <a:rPr lang="en-PH" sz="2800" dirty="0">
                <a:latin typeface="Arial Nova Cond Light" panose="020B0306020202020204" pitchFamily="34" charset="0"/>
              </a:rPr>
              <a:t> </a:t>
            </a:r>
            <a:r>
              <a:rPr lang="en-US" sz="2800" b="1" dirty="0" err="1">
                <a:latin typeface="Arial Nova Cond Light" panose="020B0306020202020204" pitchFamily="34" charset="0"/>
              </a:rPr>
              <a:t>magkasing</a:t>
            </a:r>
            <a:r>
              <a:rPr lang="en-US" sz="2800" b="1" dirty="0">
                <a:latin typeface="Arial Nova Cond Light" panose="020B0306020202020204" pitchFamily="34" charset="0"/>
              </a:rPr>
              <a:t>- </a:t>
            </a:r>
            <a:r>
              <a:rPr lang="en-US" sz="2800" dirty="0">
                <a:latin typeface="Arial Nova Cond Light" panose="020B0306020202020204" pitchFamily="34" charset="0"/>
              </a:rPr>
              <a:t>is placed at the beginning of the sentence (see second and third sentences).</a:t>
            </a:r>
          </a:p>
          <a:p>
            <a:endParaRPr lang="en-PH" sz="2800" dirty="0">
              <a:latin typeface="Arial Nova Cond Light" panose="020B0306020202020204" pitchFamily="34" charset="0"/>
            </a:endParaRPr>
          </a:p>
          <a:p>
            <a:r>
              <a:rPr lang="en-US" sz="2800" dirty="0">
                <a:latin typeface="Arial Nova Cond Light" panose="020B0306020202020204" pitchFamily="34" charset="0"/>
              </a:rPr>
              <a:t>Sina Maria at Elena ay </a:t>
            </a:r>
            <a:r>
              <a:rPr lang="en-US" sz="2800" dirty="0" err="1">
                <a:solidFill>
                  <a:srgbClr val="FFFF00"/>
                </a:solidFill>
                <a:latin typeface="Arial Nova Cond Light" panose="020B0306020202020204" pitchFamily="34" charset="0"/>
              </a:rPr>
              <a:t>magkasingganda</a:t>
            </a:r>
            <a:r>
              <a:rPr lang="en-US" sz="2800" dirty="0">
                <a:latin typeface="Arial Nova Cond Light" panose="020B0306020202020204" pitchFamily="34" charset="0"/>
              </a:rPr>
              <a:t>.	 	Maria and Elena </a:t>
            </a:r>
            <a:r>
              <a:rPr lang="en-US" sz="2800" u="heavy" dirty="0">
                <a:latin typeface="Arial Nova Cond Light" panose="020B0306020202020204" pitchFamily="34" charset="0"/>
              </a:rPr>
              <a:t>are equally beautiful.</a:t>
            </a:r>
            <a:r>
              <a:rPr lang="en-US" sz="2800" dirty="0">
                <a:latin typeface="Arial Nova Cond Light" panose="020B0306020202020204" pitchFamily="34" charset="0"/>
              </a:rPr>
              <a:t> </a:t>
            </a:r>
          </a:p>
          <a:p>
            <a:r>
              <a:rPr lang="en-US" sz="2800" dirty="0" err="1">
                <a:solidFill>
                  <a:srgbClr val="FFFF00"/>
                </a:solidFill>
                <a:latin typeface="Arial Nova Cond Light" panose="020B0306020202020204" pitchFamily="34" charset="0"/>
              </a:rPr>
              <a:t>Magkasinggaling</a:t>
            </a:r>
            <a:r>
              <a:rPr lang="en-US" sz="2800" dirty="0">
                <a:latin typeface="Arial Nova Cond Light" panose="020B0306020202020204" pitchFamily="34" charset="0"/>
              </a:rPr>
              <a:t> </a:t>
            </a:r>
            <a:r>
              <a:rPr lang="en-US" sz="2800" dirty="0" err="1">
                <a:latin typeface="Arial Nova Cond Light" panose="020B0306020202020204" pitchFamily="34" charset="0"/>
              </a:rPr>
              <a:t>sina</a:t>
            </a:r>
            <a:r>
              <a:rPr lang="en-US" sz="2800" dirty="0">
                <a:latin typeface="Arial Nova Cond Light" panose="020B0306020202020204" pitchFamily="34" charset="0"/>
              </a:rPr>
              <a:t> Rizal at Bonifacio.	 	Rizal and Bonifacio </a:t>
            </a:r>
            <a:r>
              <a:rPr lang="en-US" sz="2800" u="heavy" dirty="0">
                <a:latin typeface="Arial Nova Cond Light" panose="020B0306020202020204" pitchFamily="34" charset="0"/>
              </a:rPr>
              <a:t>are equally good</a:t>
            </a:r>
            <a:r>
              <a:rPr lang="en-US" sz="2800" dirty="0">
                <a:latin typeface="Arial Nova Cond Light" panose="020B0306020202020204" pitchFamily="34" charset="0"/>
              </a:rPr>
              <a:t>. </a:t>
            </a:r>
          </a:p>
          <a:p>
            <a:r>
              <a:rPr lang="en-US" sz="2800" dirty="0" err="1">
                <a:latin typeface="Arial Nova Cond Light" panose="020B0306020202020204" pitchFamily="34" charset="0"/>
              </a:rPr>
              <a:t>Magkasintaas</a:t>
            </a:r>
            <a:r>
              <a:rPr lang="en-US" sz="2800" dirty="0">
                <a:latin typeface="Arial Nova Cond Light" panose="020B0306020202020204" pitchFamily="34" charset="0"/>
              </a:rPr>
              <a:t> kami.	</a:t>
            </a:r>
            <a:r>
              <a:rPr lang="en-US" sz="2800" b="1" dirty="0">
                <a:latin typeface="Arial Nova Cond Light" panose="020B0306020202020204" pitchFamily="34" charset="0"/>
              </a:rPr>
              <a:t>						 </a:t>
            </a:r>
            <a:r>
              <a:rPr lang="en-US" sz="2800" dirty="0">
                <a:latin typeface="Arial Nova Cond Light" panose="020B0306020202020204" pitchFamily="34" charset="0"/>
              </a:rPr>
              <a:t>We are equally tall.</a:t>
            </a:r>
            <a:endParaRPr lang="en-PH" sz="2800" dirty="0">
              <a:latin typeface="Arial Nova Cond Light" panose="020B0306020202020204" pitchFamily="34" charset="0"/>
            </a:endParaRPr>
          </a:p>
          <a:p>
            <a:br>
              <a:rPr lang="en-US" sz="2800" dirty="0">
                <a:latin typeface="Arial Nova Cond Light" panose="020B0306020202020204" pitchFamily="34" charset="0"/>
              </a:rPr>
            </a:br>
            <a:endParaRPr lang="en-PH" sz="2800" dirty="0">
              <a:latin typeface="Arial Nova Cond Light" panose="020B0306020202020204" pitchFamily="34" charset="0"/>
            </a:endParaRPr>
          </a:p>
          <a:p>
            <a:r>
              <a:rPr lang="en-US" i="1" dirty="0">
                <a:latin typeface="Arial Nova Cond Light" panose="020B0306020202020204" pitchFamily="34" charset="0"/>
              </a:rPr>
              <a:t> </a:t>
            </a:r>
            <a:endParaRPr lang="en-PH" dirty="0">
              <a:latin typeface="Arial Nova Cond Light" panose="020B0306020202020204" pitchFamily="34" charset="0"/>
            </a:endParaRPr>
          </a:p>
          <a:p>
            <a:r>
              <a:rPr lang="en-US" i="1" dirty="0">
                <a:latin typeface="Arial Nova Cond Light" panose="020B0306020202020204" pitchFamily="34" charset="0"/>
              </a:rPr>
              <a:t> </a:t>
            </a:r>
            <a:endParaRPr lang="en-PH" sz="1100" dirty="0">
              <a:latin typeface="Arial Nova Cond Light" panose="020B0306020202020204" pitchFamily="34" charset="0"/>
            </a:endParaRPr>
          </a:p>
          <a:p>
            <a:pPr marL="90805">
              <a:tabLst>
                <a:tab pos="883920" algn="l"/>
                <a:tab pos="2097405" algn="l"/>
              </a:tabLst>
            </a:pPr>
            <a:endParaRPr lang="en-PH" sz="3200" dirty="0">
              <a:effectLst/>
              <a:latin typeface="Arial Nova Cond Light" panose="020B0306020202020204" pitchFamily="34" charset="0"/>
              <a:ea typeface="Times New Roman" panose="02020603050405020304" pitchFamily="18" charset="0"/>
            </a:endParaRPr>
          </a:p>
        </p:txBody>
      </p:sp>
    </p:spTree>
    <p:extLst>
      <p:ext uri="{BB962C8B-B14F-4D97-AF65-F5344CB8AC3E}">
        <p14:creationId xmlns:p14="http://schemas.microsoft.com/office/powerpoint/2010/main" val="2897824435"/>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CFCDF18F-AEC5-F677-D42F-DECEF7A81C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5BC027-7451-C1D1-C983-E621D5F334AE}"/>
              </a:ext>
            </a:extLst>
          </p:cNvPr>
          <p:cNvSpPr>
            <a:spLocks noGrp="1"/>
          </p:cNvSpPr>
          <p:nvPr>
            <p:ph type="title"/>
          </p:nvPr>
        </p:nvSpPr>
        <p:spPr>
          <a:xfrm>
            <a:off x="55033" y="431801"/>
            <a:ext cx="12081933" cy="4593079"/>
          </a:xfrm>
        </p:spPr>
        <p:txBody>
          <a:bodyPr>
            <a:noAutofit/>
          </a:bodyPr>
          <a:lstStyle/>
          <a:p>
            <a:pPr algn="l"/>
            <a:br>
              <a:rPr lang="en-US" sz="2800" cap="none" dirty="0">
                <a:solidFill>
                  <a:schemeClr val="tx1"/>
                </a:solidFill>
                <a:latin typeface="Arial Nova Cond Light" panose="020B0306020202020204" pitchFamily="34" charset="0"/>
              </a:rPr>
            </a:br>
            <a:r>
              <a:rPr lang="en-US" sz="2800" cap="none" dirty="0">
                <a:solidFill>
                  <a:schemeClr val="tx1"/>
                </a:solidFill>
                <a:latin typeface="Arial Nova Cond Light" panose="020B0306020202020204" pitchFamily="34" charset="0"/>
              </a:rPr>
              <a:t>Note how the following prefixes are attached to the adjectives:</a:t>
            </a:r>
            <a:br>
              <a:rPr lang="en-US" sz="2800" cap="none" dirty="0">
                <a:solidFill>
                  <a:schemeClr val="tx1"/>
                </a:solidFill>
                <a:latin typeface="Arial Nova Cond Light" panose="020B0306020202020204" pitchFamily="34" charset="0"/>
              </a:rPr>
            </a:br>
            <a:br>
              <a:rPr lang="en-PH" sz="2800" cap="none" dirty="0">
                <a:solidFill>
                  <a:schemeClr val="tx1"/>
                </a:solidFill>
                <a:latin typeface="Arial Nova Cond Light" panose="020B0306020202020204" pitchFamily="34" charset="0"/>
              </a:rPr>
            </a:br>
            <a:r>
              <a:rPr lang="en-US" sz="2800" b="1" cap="none" dirty="0">
                <a:solidFill>
                  <a:schemeClr val="tx1"/>
                </a:solidFill>
                <a:latin typeface="Arial Nova Cond Light" panose="020B0306020202020204" pitchFamily="34" charset="0"/>
              </a:rPr>
              <a:t>a. </a:t>
            </a:r>
            <a:r>
              <a:rPr lang="en-US" sz="2800" b="1" cap="none" dirty="0" err="1">
                <a:solidFill>
                  <a:srgbClr val="FFFF00"/>
                </a:solidFill>
                <a:latin typeface="Arial Nova Cond Light" panose="020B0306020202020204" pitchFamily="34" charset="0"/>
              </a:rPr>
              <a:t>Kasing</a:t>
            </a:r>
            <a:r>
              <a:rPr lang="en-US" sz="2800" b="1" cap="none" dirty="0">
                <a:solidFill>
                  <a:srgbClr val="FFFF00"/>
                </a:solidFill>
                <a:latin typeface="Arial Nova Cond Light" panose="020B0306020202020204" pitchFamily="34" charset="0"/>
              </a:rPr>
              <a:t>- </a:t>
            </a:r>
            <a:r>
              <a:rPr lang="en-US" sz="2800" cap="none" dirty="0">
                <a:solidFill>
                  <a:srgbClr val="FFFF00"/>
                </a:solidFill>
                <a:latin typeface="Arial Nova Cond Light" panose="020B0306020202020204" pitchFamily="34" charset="0"/>
              </a:rPr>
              <a:t>or </a:t>
            </a:r>
            <a:r>
              <a:rPr lang="en-US" sz="2800" b="1" cap="none" dirty="0" err="1">
                <a:solidFill>
                  <a:srgbClr val="FFFF00"/>
                </a:solidFill>
                <a:latin typeface="Arial Nova Cond Light" panose="020B0306020202020204" pitchFamily="34" charset="0"/>
              </a:rPr>
              <a:t>magkasing</a:t>
            </a:r>
            <a:r>
              <a:rPr lang="en-US" sz="2800" b="1" cap="none" dirty="0">
                <a:solidFill>
                  <a:srgbClr val="FFFF00"/>
                </a:solidFill>
                <a:latin typeface="Arial Nova Cond Light" panose="020B0306020202020204" pitchFamily="34" charset="0"/>
              </a:rPr>
              <a:t>- </a:t>
            </a:r>
            <a:r>
              <a:rPr lang="en-US" sz="2800" cap="none" dirty="0">
                <a:solidFill>
                  <a:schemeClr val="tx1"/>
                </a:solidFill>
                <a:latin typeface="Arial Nova Cond Light" panose="020B0306020202020204" pitchFamily="34" charset="0"/>
              </a:rPr>
              <a:t>is attached to roots that begin in </a:t>
            </a:r>
            <a:r>
              <a:rPr lang="en-US" sz="2800" b="1" cap="none" dirty="0">
                <a:solidFill>
                  <a:srgbClr val="FFFF00"/>
                </a:solidFill>
                <a:latin typeface="Arial Nova Cond Light" panose="020B0306020202020204" pitchFamily="34" charset="0"/>
              </a:rPr>
              <a:t>a, e, </a:t>
            </a:r>
            <a:r>
              <a:rPr lang="en-US" sz="2800" cap="none" dirty="0" err="1">
                <a:solidFill>
                  <a:srgbClr val="FFFF00"/>
                </a:solidFill>
                <a:latin typeface="Arial Nova Cond Light" panose="020B0306020202020204" pitchFamily="34" charset="0"/>
              </a:rPr>
              <a:t>i</a:t>
            </a:r>
            <a:r>
              <a:rPr lang="en-US" sz="2800" cap="none" dirty="0">
                <a:solidFill>
                  <a:srgbClr val="FFFF00"/>
                </a:solidFill>
                <a:latin typeface="Arial Nova Cond Light" panose="020B0306020202020204" pitchFamily="34" charset="0"/>
              </a:rPr>
              <a:t>, </a:t>
            </a:r>
            <a:r>
              <a:rPr lang="en-US" sz="2800" b="1" cap="none" dirty="0">
                <a:solidFill>
                  <a:srgbClr val="FFFF00"/>
                </a:solidFill>
                <a:latin typeface="Arial Nova Cond Light" panose="020B0306020202020204" pitchFamily="34" charset="0"/>
              </a:rPr>
              <a:t>o, u, k, g, h, m, n, w, </a:t>
            </a:r>
            <a:r>
              <a:rPr lang="en-US" sz="2800" cap="none" dirty="0">
                <a:solidFill>
                  <a:schemeClr val="tx1"/>
                </a:solidFill>
                <a:latin typeface="Arial Nova Cond Light" panose="020B0306020202020204" pitchFamily="34" charset="0"/>
              </a:rPr>
              <a:t>and</a:t>
            </a:r>
            <a:r>
              <a:rPr lang="en-US" sz="2800" cap="none" dirty="0">
                <a:solidFill>
                  <a:srgbClr val="FFFF00"/>
                </a:solidFill>
                <a:latin typeface="Arial Nova Cond Light" panose="020B0306020202020204" pitchFamily="34" charset="0"/>
              </a:rPr>
              <a:t> </a:t>
            </a:r>
            <a:r>
              <a:rPr lang="en-US" sz="2800" b="1" cap="none" dirty="0">
                <a:solidFill>
                  <a:srgbClr val="FFFF00"/>
                </a:solidFill>
                <a:latin typeface="Arial Nova Cond Light" panose="020B0306020202020204" pitchFamily="34" charset="0"/>
              </a:rPr>
              <a:t>y </a:t>
            </a:r>
            <a:r>
              <a:rPr lang="en-US" sz="2800" cap="none" dirty="0">
                <a:solidFill>
                  <a:schemeClr val="tx1"/>
                </a:solidFill>
                <a:latin typeface="Arial Nova Cond Light" panose="020B0306020202020204" pitchFamily="34" charset="0"/>
              </a:rPr>
              <a:t>(for example: </a:t>
            </a:r>
            <a:r>
              <a:rPr lang="en-US" sz="2800" b="1" cap="none" dirty="0" err="1">
                <a:solidFill>
                  <a:schemeClr val="tx1"/>
                </a:solidFill>
                <a:latin typeface="Arial Nova Cond Light" panose="020B0306020202020204" pitchFamily="34" charset="0"/>
              </a:rPr>
              <a:t>kasingkulot</a:t>
            </a:r>
            <a:r>
              <a:rPr lang="en-US" sz="2800" b="1" cap="none" dirty="0">
                <a:solidFill>
                  <a:schemeClr val="tx1"/>
                </a:solidFill>
                <a:latin typeface="Arial Nova Cond Light" panose="020B0306020202020204" pitchFamily="34" charset="0"/>
              </a:rPr>
              <a:t> </a:t>
            </a:r>
            <a:r>
              <a:rPr lang="en-US" sz="2800" cap="none" dirty="0">
                <a:solidFill>
                  <a:schemeClr val="tx1"/>
                </a:solidFill>
                <a:latin typeface="Arial Nova Cond Light" panose="020B0306020202020204" pitchFamily="34" charset="0"/>
              </a:rPr>
              <a:t>meaning </a:t>
            </a:r>
            <a:r>
              <a:rPr lang="en-US" sz="2800" i="1" cap="none" dirty="0">
                <a:solidFill>
                  <a:schemeClr val="tx1"/>
                </a:solidFill>
                <a:latin typeface="Arial Nova Cond Light" panose="020B0306020202020204" pitchFamily="34" charset="0"/>
              </a:rPr>
              <a:t>as curly as)</a:t>
            </a:r>
            <a:br>
              <a:rPr lang="en-PH" sz="2800" cap="none" dirty="0">
                <a:latin typeface="Arial Nova Cond Light" panose="020B0306020202020204" pitchFamily="34" charset="0"/>
              </a:rPr>
            </a:br>
            <a:r>
              <a:rPr lang="en-PH" sz="2800" cap="none" dirty="0">
                <a:latin typeface="Arial Nova Cond Light" panose="020B0306020202020204" pitchFamily="34" charset="0"/>
              </a:rPr>
              <a:t>B. </a:t>
            </a:r>
            <a:r>
              <a:rPr lang="en-US" sz="3200" b="1" cap="none" dirty="0" err="1">
                <a:solidFill>
                  <a:srgbClr val="FFFF00"/>
                </a:solidFill>
                <a:latin typeface="Arial Nova Cond Light" panose="020B0306020202020204" pitchFamily="34" charset="0"/>
              </a:rPr>
              <a:t>kasin</a:t>
            </a:r>
            <a:r>
              <a:rPr lang="en-US" sz="3200" b="1" cap="none" dirty="0">
                <a:solidFill>
                  <a:srgbClr val="FFFF00"/>
                </a:solidFill>
                <a:latin typeface="Arial Nova Cond Light" panose="020B0306020202020204" pitchFamily="34" charset="0"/>
              </a:rPr>
              <a:t>- or </a:t>
            </a:r>
            <a:r>
              <a:rPr lang="en-US" sz="3200" b="1" cap="none" dirty="0" err="1">
                <a:solidFill>
                  <a:srgbClr val="FFFF00"/>
                </a:solidFill>
                <a:latin typeface="Arial Nova Cond Light" panose="020B0306020202020204" pitchFamily="34" charset="0"/>
              </a:rPr>
              <a:t>magkasin</a:t>
            </a:r>
            <a:r>
              <a:rPr lang="en-US" sz="3200" b="1" cap="none" dirty="0">
                <a:solidFill>
                  <a:srgbClr val="FFFF00"/>
                </a:solidFill>
                <a:latin typeface="Arial Nova Cond Light" panose="020B0306020202020204" pitchFamily="34" charset="0"/>
              </a:rPr>
              <a:t>- </a:t>
            </a:r>
            <a:r>
              <a:rPr lang="en-US" sz="3200" cap="none" dirty="0">
                <a:solidFill>
                  <a:schemeClr val="tx1"/>
                </a:solidFill>
                <a:latin typeface="Arial Nova Cond Light" panose="020B0306020202020204" pitchFamily="34" charset="0"/>
              </a:rPr>
              <a:t>is attached </a:t>
            </a:r>
            <a:r>
              <a:rPr lang="en-US" sz="2800" cap="none" dirty="0">
                <a:solidFill>
                  <a:schemeClr val="tx1"/>
                </a:solidFill>
                <a:latin typeface="Arial Nova Cond Light" panose="020B0306020202020204" pitchFamily="34" charset="0"/>
              </a:rPr>
              <a:t>to </a:t>
            </a:r>
            <a:r>
              <a:rPr lang="en-US" sz="3200" cap="none" dirty="0">
                <a:solidFill>
                  <a:schemeClr val="tx1"/>
                </a:solidFill>
                <a:latin typeface="Arial Nova Cond Light" panose="020B0306020202020204" pitchFamily="34" charset="0"/>
              </a:rPr>
              <a:t>roots that begin with </a:t>
            </a:r>
            <a:r>
              <a:rPr lang="en-US" sz="3200" b="1" cap="none" dirty="0">
                <a:solidFill>
                  <a:srgbClr val="FFFF00"/>
                </a:solidFill>
                <a:latin typeface="Arial Nova Cond Light" panose="020B0306020202020204" pitchFamily="34" charset="0"/>
              </a:rPr>
              <a:t>d, I, r, s, </a:t>
            </a:r>
            <a:r>
              <a:rPr lang="en-US" sz="3200" cap="none" dirty="0">
                <a:solidFill>
                  <a:schemeClr val="tx1"/>
                </a:solidFill>
                <a:latin typeface="Arial Nova Cond Light" panose="020B0306020202020204" pitchFamily="34" charset="0"/>
              </a:rPr>
              <a:t>and</a:t>
            </a:r>
            <a:r>
              <a:rPr lang="en-US" sz="3200" cap="none" dirty="0">
                <a:solidFill>
                  <a:srgbClr val="FFFF00"/>
                </a:solidFill>
                <a:latin typeface="Arial Nova Cond Light" panose="020B0306020202020204" pitchFamily="34" charset="0"/>
              </a:rPr>
              <a:t> </a:t>
            </a:r>
            <a:r>
              <a:rPr lang="en-US" sz="3200" b="1" cap="none" dirty="0">
                <a:solidFill>
                  <a:srgbClr val="FFFF00"/>
                </a:solidFill>
                <a:latin typeface="Arial Nova Cond Light" panose="020B0306020202020204" pitchFamily="34" charset="0"/>
              </a:rPr>
              <a:t>t </a:t>
            </a:r>
            <a:r>
              <a:rPr lang="en-US" sz="3200" cap="none" dirty="0">
                <a:solidFill>
                  <a:schemeClr val="tx1"/>
                </a:solidFill>
                <a:latin typeface="Arial Nova Cond Light" panose="020B0306020202020204" pitchFamily="34" charset="0"/>
              </a:rPr>
              <a:t>(for example: </a:t>
            </a:r>
            <a:r>
              <a:rPr lang="en-US" sz="3200" b="1" cap="none" dirty="0" err="1">
                <a:solidFill>
                  <a:schemeClr val="tx1"/>
                </a:solidFill>
                <a:latin typeface="Arial Nova Cond Light" panose="020B0306020202020204" pitchFamily="34" charset="0"/>
              </a:rPr>
              <a:t>kasindumi</a:t>
            </a:r>
            <a:r>
              <a:rPr lang="en-PH" sz="4000" b="1" cap="none" dirty="0">
                <a:solidFill>
                  <a:schemeClr val="tx1"/>
                </a:solidFill>
                <a:latin typeface="Arial Nova Cond Light" panose="020B0306020202020204" pitchFamily="34" charset="0"/>
              </a:rPr>
              <a:t> </a:t>
            </a:r>
            <a:r>
              <a:rPr lang="en-US" sz="3200" cap="none" dirty="0">
                <a:solidFill>
                  <a:schemeClr val="tx1"/>
                </a:solidFill>
                <a:latin typeface="Arial Nova Cond Light" panose="020B0306020202020204" pitchFamily="34" charset="0"/>
              </a:rPr>
              <a:t>meaning </a:t>
            </a:r>
            <a:r>
              <a:rPr lang="en-US" sz="2800" i="1" cap="none" dirty="0">
                <a:solidFill>
                  <a:schemeClr val="tx1"/>
                </a:solidFill>
                <a:latin typeface="Arial Nova Cond Light" panose="020B0306020202020204" pitchFamily="34" charset="0"/>
              </a:rPr>
              <a:t>as dirty as</a:t>
            </a:r>
            <a:r>
              <a:rPr lang="en-US" sz="3600" i="1" cap="none" dirty="0">
                <a:solidFill>
                  <a:schemeClr val="tx1"/>
                </a:solidFill>
                <a:latin typeface="Arial Nova Cond Light" panose="020B0306020202020204" pitchFamily="34" charset="0"/>
              </a:rPr>
              <a:t>)</a:t>
            </a:r>
            <a:br>
              <a:rPr lang="en-PH" sz="4000" cap="none" dirty="0">
                <a:solidFill>
                  <a:schemeClr val="tx1"/>
                </a:solidFill>
                <a:latin typeface="Arial Nova Cond Light" panose="020B0306020202020204" pitchFamily="34" charset="0"/>
              </a:rPr>
            </a:br>
            <a:r>
              <a:rPr lang="en-PH" sz="4000" cap="none" dirty="0" err="1">
                <a:solidFill>
                  <a:schemeClr val="tx1"/>
                </a:solidFill>
                <a:latin typeface="Arial Nova Cond Light" panose="020B0306020202020204" pitchFamily="34" charset="0"/>
              </a:rPr>
              <a:t>c.</a:t>
            </a:r>
            <a:r>
              <a:rPr lang="en-US" sz="3200" b="1" cap="none" dirty="0" err="1">
                <a:solidFill>
                  <a:srgbClr val="FFFF00"/>
                </a:solidFill>
                <a:latin typeface="Arial Nova Cond Light" panose="020B0306020202020204" pitchFamily="34" charset="0"/>
              </a:rPr>
              <a:t>kasim</a:t>
            </a:r>
            <a:r>
              <a:rPr lang="en-US" sz="3200" b="1" cap="none" dirty="0">
                <a:solidFill>
                  <a:srgbClr val="FFFF00"/>
                </a:solidFill>
                <a:latin typeface="Arial Nova Cond Light" panose="020B0306020202020204" pitchFamily="34" charset="0"/>
              </a:rPr>
              <a:t>- </a:t>
            </a:r>
            <a:r>
              <a:rPr lang="en-US" sz="2800" b="1" cap="none" dirty="0">
                <a:solidFill>
                  <a:srgbClr val="FFFF00"/>
                </a:solidFill>
                <a:latin typeface="Arial Nova Cond Light" panose="020B0306020202020204" pitchFamily="34" charset="0"/>
              </a:rPr>
              <a:t>or </a:t>
            </a:r>
            <a:r>
              <a:rPr lang="en-US" sz="3200" b="1" cap="none" dirty="0" err="1">
                <a:solidFill>
                  <a:srgbClr val="FFFF00"/>
                </a:solidFill>
                <a:latin typeface="Arial Nova Cond Light" panose="020B0306020202020204" pitchFamily="34" charset="0"/>
              </a:rPr>
              <a:t>magkasim</a:t>
            </a:r>
            <a:r>
              <a:rPr lang="en-US" sz="3200" b="1" cap="none" dirty="0">
                <a:solidFill>
                  <a:srgbClr val="FFFF00"/>
                </a:solidFill>
                <a:latin typeface="Arial Nova Cond Light" panose="020B0306020202020204" pitchFamily="34" charset="0"/>
              </a:rPr>
              <a:t>-</a:t>
            </a:r>
            <a:r>
              <a:rPr lang="en-US" sz="3200" b="1" cap="none" dirty="0">
                <a:solidFill>
                  <a:schemeClr val="tx1"/>
                </a:solidFill>
                <a:latin typeface="Arial Nova Cond Light" panose="020B0306020202020204" pitchFamily="34" charset="0"/>
              </a:rPr>
              <a:t> </a:t>
            </a:r>
            <a:r>
              <a:rPr lang="en-US" sz="3200" cap="none" dirty="0">
                <a:solidFill>
                  <a:schemeClr val="tx1"/>
                </a:solidFill>
                <a:latin typeface="Arial Nova Cond Light" panose="020B0306020202020204" pitchFamily="34" charset="0"/>
              </a:rPr>
              <a:t>is attached </a:t>
            </a:r>
            <a:r>
              <a:rPr lang="en-US" sz="2800" cap="none" dirty="0">
                <a:solidFill>
                  <a:schemeClr val="tx1"/>
                </a:solidFill>
                <a:latin typeface="Arial Nova Cond Light" panose="020B0306020202020204" pitchFamily="34" charset="0"/>
              </a:rPr>
              <a:t>to </a:t>
            </a:r>
            <a:r>
              <a:rPr lang="en-US" sz="3200" cap="none" dirty="0">
                <a:solidFill>
                  <a:schemeClr val="tx1"/>
                </a:solidFill>
                <a:latin typeface="Arial Nova Cond Light" panose="020B0306020202020204" pitchFamily="34" charset="0"/>
              </a:rPr>
              <a:t>roots that begins with </a:t>
            </a:r>
            <a:r>
              <a:rPr lang="en-US" sz="3200" b="1" cap="none" dirty="0">
                <a:solidFill>
                  <a:srgbClr val="FFFF00"/>
                </a:solidFill>
                <a:latin typeface="Arial Nova Cond Light" panose="020B0306020202020204" pitchFamily="34" charset="0"/>
              </a:rPr>
              <a:t>b</a:t>
            </a:r>
            <a:r>
              <a:rPr lang="en-US" sz="3200" cap="none" dirty="0">
                <a:solidFill>
                  <a:srgbClr val="FFFF00"/>
                </a:solidFill>
                <a:latin typeface="Arial Nova Cond Light" panose="020B0306020202020204" pitchFamily="34" charset="0"/>
              </a:rPr>
              <a:t> </a:t>
            </a:r>
            <a:r>
              <a:rPr lang="en-US" sz="3200" cap="none" dirty="0">
                <a:solidFill>
                  <a:schemeClr val="tx1"/>
                </a:solidFill>
                <a:latin typeface="Arial Nova Cond Light" panose="020B0306020202020204" pitchFamily="34" charset="0"/>
              </a:rPr>
              <a:t>and</a:t>
            </a:r>
            <a:r>
              <a:rPr lang="en-US" sz="3200" cap="none" dirty="0">
                <a:solidFill>
                  <a:srgbClr val="FFFF00"/>
                </a:solidFill>
                <a:latin typeface="Arial Nova Cond Light" panose="020B0306020202020204" pitchFamily="34" charset="0"/>
              </a:rPr>
              <a:t> </a:t>
            </a:r>
            <a:r>
              <a:rPr lang="en-US" sz="3200" b="1" cap="none" dirty="0">
                <a:solidFill>
                  <a:srgbClr val="FFFF00"/>
                </a:solidFill>
                <a:latin typeface="Arial Nova Cond Light" panose="020B0306020202020204" pitchFamily="34" charset="0"/>
              </a:rPr>
              <a:t>p </a:t>
            </a:r>
            <a:r>
              <a:rPr lang="en-US" sz="3200" cap="none" dirty="0">
                <a:solidFill>
                  <a:schemeClr val="tx1"/>
                </a:solidFill>
                <a:latin typeface="Arial Nova Cond Light" panose="020B0306020202020204" pitchFamily="34" charset="0"/>
              </a:rPr>
              <a:t>(for example: </a:t>
            </a:r>
            <a:r>
              <a:rPr lang="en-US" sz="3200" b="1" cap="none" dirty="0" err="1">
                <a:solidFill>
                  <a:schemeClr val="tx1"/>
                </a:solidFill>
                <a:latin typeface="Arial Nova Cond Light" panose="020B0306020202020204" pitchFamily="34" charset="0"/>
              </a:rPr>
              <a:t>magkasimbaho</a:t>
            </a:r>
            <a:r>
              <a:rPr lang="en-PH" sz="4000" b="1" cap="none" dirty="0">
                <a:solidFill>
                  <a:schemeClr val="tx1"/>
                </a:solidFill>
                <a:latin typeface="Arial Nova Cond Light" panose="020B0306020202020204" pitchFamily="34" charset="0"/>
              </a:rPr>
              <a:t> </a:t>
            </a:r>
            <a:r>
              <a:rPr lang="en-US" sz="3200" cap="none" dirty="0">
                <a:solidFill>
                  <a:schemeClr val="tx1"/>
                </a:solidFill>
                <a:latin typeface="Arial Nova Cond Light" panose="020B0306020202020204" pitchFamily="34" charset="0"/>
              </a:rPr>
              <a:t>meaning </a:t>
            </a:r>
            <a:r>
              <a:rPr lang="en-US" sz="2800" i="1" cap="none" dirty="0">
                <a:solidFill>
                  <a:schemeClr val="tx1"/>
                </a:solidFill>
                <a:latin typeface="Arial Nova Cond Light" panose="020B0306020202020204" pitchFamily="34" charset="0"/>
              </a:rPr>
              <a:t>as </a:t>
            </a:r>
            <a:r>
              <a:rPr lang="en-US" sz="3600" i="1" cap="none" dirty="0" err="1">
                <a:solidFill>
                  <a:schemeClr val="tx1"/>
                </a:solidFill>
                <a:latin typeface="Arial Nova Cond Light" panose="020B0306020202020204" pitchFamily="34" charset="0"/>
              </a:rPr>
              <a:t>faul</a:t>
            </a:r>
            <a:r>
              <a:rPr lang="en-US" sz="3600" i="1" cap="none" dirty="0">
                <a:solidFill>
                  <a:schemeClr val="tx1"/>
                </a:solidFill>
                <a:latin typeface="Arial Nova Cond Light" panose="020B0306020202020204" pitchFamily="34" charset="0"/>
              </a:rPr>
              <a:t>-smelling </a:t>
            </a:r>
            <a:r>
              <a:rPr lang="en-US" sz="2800" i="1" cap="none" dirty="0">
                <a:solidFill>
                  <a:schemeClr val="tx1"/>
                </a:solidFill>
                <a:latin typeface="Arial Nova Cond Light" panose="020B0306020202020204" pitchFamily="34" charset="0"/>
              </a:rPr>
              <a:t>as)</a:t>
            </a:r>
            <a:br>
              <a:rPr lang="en-PH" sz="4000" cap="none" dirty="0">
                <a:solidFill>
                  <a:schemeClr val="tx1"/>
                </a:solidFill>
                <a:latin typeface="Arial Nova Cond Light" panose="020B0306020202020204" pitchFamily="34" charset="0"/>
              </a:rPr>
            </a:br>
            <a:r>
              <a:rPr lang="en-US" sz="4800" i="1" cap="none" dirty="0">
                <a:solidFill>
                  <a:schemeClr val="tx1"/>
                </a:solidFill>
                <a:latin typeface="Arial Nova Cond Light" panose="020B0306020202020204" pitchFamily="34" charset="0"/>
              </a:rPr>
              <a:t> </a:t>
            </a:r>
            <a:br>
              <a:rPr lang="en-PH" sz="3200" cap="none" dirty="0">
                <a:solidFill>
                  <a:schemeClr val="tx1"/>
                </a:solidFill>
                <a:latin typeface="Arial Nova Cond Light" panose="020B0306020202020204" pitchFamily="34" charset="0"/>
              </a:rPr>
            </a:br>
            <a:r>
              <a:rPr lang="en-US" sz="3200" cap="none" dirty="0">
                <a:solidFill>
                  <a:schemeClr val="tx1"/>
                </a:solidFill>
                <a:latin typeface="Arial Nova Cond Light" panose="020B0306020202020204" pitchFamily="34" charset="0"/>
              </a:rPr>
              <a:t>remember also that names of people must be preceded by the articles </a:t>
            </a:r>
            <a:r>
              <a:rPr lang="en-US" sz="3200" b="1" cap="none" dirty="0" err="1">
                <a:solidFill>
                  <a:schemeClr val="tx1"/>
                </a:solidFill>
                <a:latin typeface="Arial Nova Cond Light" panose="020B0306020202020204" pitchFamily="34" charset="0"/>
              </a:rPr>
              <a:t>ni</a:t>
            </a:r>
            <a:r>
              <a:rPr lang="en-US" sz="3200" b="1" cap="none" dirty="0">
                <a:solidFill>
                  <a:schemeClr val="tx1"/>
                </a:solidFill>
                <a:latin typeface="Arial Nova Cond Light" panose="020B0306020202020204" pitchFamily="34" charset="0"/>
              </a:rPr>
              <a:t>/</a:t>
            </a:r>
            <a:r>
              <a:rPr lang="en-US" sz="3200" b="1" cap="none" dirty="0" err="1">
                <a:solidFill>
                  <a:schemeClr val="tx1"/>
                </a:solidFill>
                <a:latin typeface="Arial Nova Cond Light" panose="020B0306020202020204" pitchFamily="34" charset="0"/>
              </a:rPr>
              <a:t>nina</a:t>
            </a:r>
            <a:r>
              <a:rPr lang="en-US" sz="3200" b="1" cap="none" dirty="0">
                <a:solidFill>
                  <a:schemeClr val="tx1"/>
                </a:solidFill>
                <a:latin typeface="Arial Nova Cond Light" panose="020B0306020202020204" pitchFamily="34" charset="0"/>
              </a:rPr>
              <a:t> </a:t>
            </a:r>
            <a:r>
              <a:rPr lang="en-US" sz="3200" cap="none" dirty="0">
                <a:solidFill>
                  <a:schemeClr val="tx1"/>
                </a:solidFill>
                <a:latin typeface="Arial Nova Cond Light" panose="020B0306020202020204" pitchFamily="34" charset="0"/>
              </a:rPr>
              <a:t>and </a:t>
            </a:r>
            <a:r>
              <a:rPr lang="en-US" sz="3200" b="1" cap="none" dirty="0" err="1">
                <a:solidFill>
                  <a:schemeClr val="tx1"/>
                </a:solidFill>
                <a:latin typeface="Arial Nova Cond Light" panose="020B0306020202020204" pitchFamily="34" charset="0"/>
              </a:rPr>
              <a:t>si</a:t>
            </a:r>
            <a:r>
              <a:rPr lang="en-US" sz="3200" b="1" cap="none" dirty="0">
                <a:solidFill>
                  <a:schemeClr val="tx1"/>
                </a:solidFill>
                <a:latin typeface="Arial Nova Cond Light" panose="020B0306020202020204" pitchFamily="34" charset="0"/>
              </a:rPr>
              <a:t>/</a:t>
            </a:r>
            <a:r>
              <a:rPr lang="en-US" sz="3200" b="1" cap="none" dirty="0" err="1">
                <a:solidFill>
                  <a:schemeClr val="tx1"/>
                </a:solidFill>
                <a:latin typeface="Arial Nova Cond Light" panose="020B0306020202020204" pitchFamily="34" charset="0"/>
              </a:rPr>
              <a:t>sina</a:t>
            </a:r>
            <a:r>
              <a:rPr lang="en-US" sz="3200" b="1" cap="none" dirty="0">
                <a:solidFill>
                  <a:schemeClr val="tx1"/>
                </a:solidFill>
                <a:latin typeface="Arial Nova Cond Light" panose="020B0306020202020204" pitchFamily="34" charset="0"/>
              </a:rPr>
              <a:t> </a:t>
            </a:r>
            <a:r>
              <a:rPr lang="en-US" sz="3200" cap="none" dirty="0">
                <a:solidFill>
                  <a:schemeClr val="tx1"/>
                </a:solidFill>
                <a:latin typeface="Arial Nova Cond Light" panose="020B0306020202020204" pitchFamily="34" charset="0"/>
              </a:rPr>
              <a:t>while names of things or places use the articles </a:t>
            </a:r>
            <a:r>
              <a:rPr lang="en-US" sz="3200" b="1" cap="none" dirty="0">
                <a:solidFill>
                  <a:schemeClr val="tx1"/>
                </a:solidFill>
                <a:latin typeface="Arial Nova Cond Light" panose="020B0306020202020204" pitchFamily="34" charset="0"/>
              </a:rPr>
              <a:t>ng/ng </a:t>
            </a:r>
            <a:r>
              <a:rPr lang="en-US" sz="3200" b="1" cap="none" dirty="0" err="1">
                <a:solidFill>
                  <a:schemeClr val="tx1"/>
                </a:solidFill>
                <a:latin typeface="Arial Nova Cond Light" panose="020B0306020202020204" pitchFamily="34" charset="0"/>
              </a:rPr>
              <a:t>mga</a:t>
            </a:r>
            <a:r>
              <a:rPr lang="en-US" sz="3200" b="1" cap="none" dirty="0">
                <a:solidFill>
                  <a:schemeClr val="tx1"/>
                </a:solidFill>
                <a:latin typeface="Arial Nova Cond Light" panose="020B0306020202020204" pitchFamily="34" charset="0"/>
              </a:rPr>
              <a:t>.</a:t>
            </a:r>
            <a:br>
              <a:rPr lang="en-PH" sz="4000" cap="none" dirty="0">
                <a:solidFill>
                  <a:schemeClr val="tx1"/>
                </a:solidFill>
                <a:latin typeface="Arial Nova Cond Light" panose="020B0306020202020204" pitchFamily="34" charset="0"/>
              </a:rPr>
            </a:br>
            <a:endParaRPr lang="en-US" sz="3200" cap="none" dirty="0">
              <a:solidFill>
                <a:schemeClr val="tx1"/>
              </a:solidFill>
              <a:latin typeface="Arial Nova Cond Light" panose="020B0306020202020204" pitchFamily="34" charset="0"/>
              <a:ea typeface="+mn-ea"/>
              <a:cs typeface="+mn-cs"/>
            </a:endParaRPr>
          </a:p>
        </p:txBody>
      </p:sp>
    </p:spTree>
    <p:extLst>
      <p:ext uri="{BB962C8B-B14F-4D97-AF65-F5344CB8AC3E}">
        <p14:creationId xmlns:p14="http://schemas.microsoft.com/office/powerpoint/2010/main" val="916706835"/>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25380-63AB-5022-0777-7F860885B9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D232C5-3052-C8AA-5D16-1A4719F5F6DC}"/>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7" name="TextBox 6">
            <a:extLst>
              <a:ext uri="{FF2B5EF4-FFF2-40B4-BE49-F238E27FC236}">
                <a16:creationId xmlns:a16="http://schemas.microsoft.com/office/drawing/2014/main" id="{48C2F637-09B2-540E-29E6-FC162F40AFA6}"/>
              </a:ext>
            </a:extLst>
          </p:cNvPr>
          <p:cNvSpPr txBox="1"/>
          <p:nvPr/>
        </p:nvSpPr>
        <p:spPr>
          <a:xfrm>
            <a:off x="0" y="0"/>
            <a:ext cx="12191999" cy="5509200"/>
          </a:xfrm>
          <a:prstGeom prst="rect">
            <a:avLst/>
          </a:prstGeom>
          <a:noFill/>
        </p:spPr>
        <p:txBody>
          <a:bodyPr wrap="square">
            <a:spAutoFit/>
          </a:bodyPr>
          <a:lstStyle/>
          <a:p>
            <a:pPr lvl="1"/>
            <a:r>
              <a:rPr lang="en-US" sz="3200" b="1" dirty="0">
                <a:latin typeface="Arial Nova Cond Light" panose="020B0306020202020204" pitchFamily="34" charset="0"/>
              </a:rPr>
              <a:t>3. A is [adjective] like B</a:t>
            </a:r>
            <a:endParaRPr lang="en-PH" sz="3200" b="1" dirty="0">
              <a:latin typeface="Arial Nova Cond Light" panose="020B0306020202020204" pitchFamily="34" charset="0"/>
            </a:endParaRPr>
          </a:p>
          <a:p>
            <a:r>
              <a:rPr lang="en-US" sz="3200" dirty="0">
                <a:latin typeface="Arial Nova Cond Light" panose="020B0306020202020204" pitchFamily="34" charset="0"/>
              </a:rPr>
              <a:t>Formula: </a:t>
            </a:r>
            <a:r>
              <a:rPr lang="en-US" sz="3200" dirty="0">
                <a:solidFill>
                  <a:srgbClr val="FFFF00"/>
                </a:solidFill>
                <a:latin typeface="Arial Nova Cond Light" panose="020B0306020202020204" pitchFamily="34" charset="0"/>
              </a:rPr>
              <a:t>A + adjective + </a:t>
            </a:r>
            <a:r>
              <a:rPr lang="en-US" sz="3200" b="1" dirty="0" err="1">
                <a:solidFill>
                  <a:srgbClr val="FFFF00"/>
                </a:solidFill>
                <a:latin typeface="Arial Nova Cond Light" panose="020B0306020202020204" pitchFamily="34" charset="0"/>
              </a:rPr>
              <a:t>pareho</a:t>
            </a:r>
            <a:r>
              <a:rPr lang="en-US" sz="3200" b="1" dirty="0">
                <a:solidFill>
                  <a:srgbClr val="FFFF00"/>
                </a:solidFill>
                <a:latin typeface="Arial Nova Cond Light" panose="020B0306020202020204" pitchFamily="34" charset="0"/>
              </a:rPr>
              <a:t> </a:t>
            </a:r>
            <a:r>
              <a:rPr lang="en-US" sz="3200" dirty="0" err="1">
                <a:latin typeface="Arial Nova Cond Light" panose="020B0306020202020204" pitchFamily="34" charset="0"/>
              </a:rPr>
              <a:t>ni</a:t>
            </a:r>
            <a:r>
              <a:rPr lang="en-US" sz="3200" dirty="0">
                <a:latin typeface="Arial Nova Cond Light" panose="020B0306020202020204" pitchFamily="34" charset="0"/>
              </a:rPr>
              <a:t>/ng</a:t>
            </a:r>
            <a:r>
              <a:rPr lang="en-US" sz="3200" b="1" dirty="0">
                <a:solidFill>
                  <a:srgbClr val="FFFF00"/>
                </a:solidFill>
                <a:latin typeface="Arial Nova Cond Light" panose="020B0306020202020204" pitchFamily="34" charset="0"/>
              </a:rPr>
              <a:t>, </a:t>
            </a:r>
            <a:r>
              <a:rPr lang="en-US" sz="3200" b="1" dirty="0" err="1">
                <a:solidFill>
                  <a:srgbClr val="FFFF00"/>
                </a:solidFill>
                <a:latin typeface="Arial Nova Cond Light" panose="020B0306020202020204" pitchFamily="34" charset="0"/>
              </a:rPr>
              <a:t>katulad</a:t>
            </a:r>
            <a:r>
              <a:rPr lang="en-US" sz="3200" b="1" dirty="0">
                <a:solidFill>
                  <a:srgbClr val="FFFF00"/>
                </a:solidFill>
                <a:latin typeface="Arial Nova Cond Light" panose="020B0306020202020204" pitchFamily="34" charset="0"/>
              </a:rPr>
              <a:t> </a:t>
            </a:r>
            <a:r>
              <a:rPr lang="en-US" sz="3200" dirty="0" err="1">
                <a:latin typeface="Arial Nova Cond Light" panose="020B0306020202020204" pitchFamily="34" charset="0"/>
              </a:rPr>
              <a:t>ni</a:t>
            </a:r>
            <a:r>
              <a:rPr lang="en-US" sz="3200" dirty="0">
                <a:latin typeface="Arial Nova Cond Light" panose="020B0306020202020204" pitchFamily="34" charset="0"/>
              </a:rPr>
              <a:t>/ng or</a:t>
            </a:r>
            <a:r>
              <a:rPr lang="en-US" sz="3200" b="1" dirty="0">
                <a:solidFill>
                  <a:srgbClr val="FFFF00"/>
                </a:solidFill>
                <a:latin typeface="Arial Nova Cond Light" panose="020B0306020202020204" pitchFamily="34" charset="0"/>
              </a:rPr>
              <a:t> </a:t>
            </a:r>
            <a:r>
              <a:rPr lang="en-US" sz="3200" b="1" dirty="0" err="1">
                <a:solidFill>
                  <a:srgbClr val="FFFF00"/>
                </a:solidFill>
                <a:latin typeface="Arial Nova Cond Light" panose="020B0306020202020204" pitchFamily="34" charset="0"/>
              </a:rPr>
              <a:t>gaya</a:t>
            </a:r>
            <a:r>
              <a:rPr lang="en-US" sz="3200" b="1" dirty="0">
                <a:solidFill>
                  <a:srgbClr val="FFFF00"/>
                </a:solidFill>
                <a:latin typeface="Arial Nova Cond Light" panose="020B0306020202020204" pitchFamily="34" charset="0"/>
              </a:rPr>
              <a:t> </a:t>
            </a:r>
            <a:r>
              <a:rPr lang="en-US" sz="3200" dirty="0" err="1">
                <a:latin typeface="Arial Nova Cond Light" panose="020B0306020202020204" pitchFamily="34" charset="0"/>
              </a:rPr>
              <a:t>ni</a:t>
            </a:r>
            <a:r>
              <a:rPr lang="en-US" sz="3200" dirty="0">
                <a:latin typeface="Arial Nova Cond Light" panose="020B0306020202020204" pitchFamily="34" charset="0"/>
              </a:rPr>
              <a:t>/ng </a:t>
            </a:r>
            <a:r>
              <a:rPr lang="en-US" sz="3200" dirty="0">
                <a:solidFill>
                  <a:srgbClr val="FFFF00"/>
                </a:solidFill>
                <a:latin typeface="Arial Nova Cond Light" panose="020B0306020202020204" pitchFamily="34" charset="0"/>
              </a:rPr>
              <a:t>+ B</a:t>
            </a:r>
            <a:endParaRPr lang="en-PH" sz="3200" dirty="0">
              <a:solidFill>
                <a:srgbClr val="FFFF00"/>
              </a:solidFill>
              <a:latin typeface="Arial Nova Cond Light" panose="020B0306020202020204" pitchFamily="34" charset="0"/>
            </a:endParaRPr>
          </a:p>
          <a:p>
            <a:r>
              <a:rPr lang="en-US" sz="3200" dirty="0">
                <a:latin typeface="Arial Nova Cond Light" panose="020B0306020202020204" pitchFamily="34" charset="0"/>
              </a:rPr>
              <a:t>These phrases mean </a:t>
            </a:r>
            <a:r>
              <a:rPr lang="en-US" sz="3200" i="1" dirty="0">
                <a:solidFill>
                  <a:srgbClr val="FFFF00"/>
                </a:solidFill>
                <a:latin typeface="Arial Nova Cond Light" panose="020B0306020202020204" pitchFamily="34" charset="0"/>
              </a:rPr>
              <a:t>similar to </a:t>
            </a:r>
            <a:r>
              <a:rPr lang="en-US" sz="3200" dirty="0">
                <a:latin typeface="Arial Nova Cond Light" panose="020B0306020202020204" pitchFamily="34" charset="0"/>
              </a:rPr>
              <a:t>or</a:t>
            </a:r>
            <a:r>
              <a:rPr lang="en-US" sz="3200" dirty="0">
                <a:solidFill>
                  <a:srgbClr val="FFFF00"/>
                </a:solidFill>
                <a:latin typeface="Arial Nova Cond Light" panose="020B0306020202020204" pitchFamily="34" charset="0"/>
              </a:rPr>
              <a:t> </a:t>
            </a:r>
            <a:r>
              <a:rPr lang="en-US" sz="3200" i="1" dirty="0">
                <a:solidFill>
                  <a:srgbClr val="FFFF00"/>
                </a:solidFill>
                <a:latin typeface="Arial Nova Cond Light" panose="020B0306020202020204" pitchFamily="34" charset="0"/>
              </a:rPr>
              <a:t>like </a:t>
            </a:r>
            <a:r>
              <a:rPr lang="en-US" sz="3200" dirty="0">
                <a:latin typeface="Arial Nova Cond Light" panose="020B0306020202020204" pitchFamily="34" charset="0"/>
              </a:rPr>
              <a:t>on their own and but translate to the first formula </a:t>
            </a:r>
            <a:r>
              <a:rPr lang="en-US" sz="3200" i="1" dirty="0">
                <a:latin typeface="Arial Nova Cond Light" panose="020B0306020202020204" pitchFamily="34" charset="0"/>
              </a:rPr>
              <a:t>(</a:t>
            </a:r>
            <a:r>
              <a:rPr lang="en-US" sz="3200" i="1" dirty="0">
                <a:solidFill>
                  <a:srgbClr val="FFFF00"/>
                </a:solidFill>
                <a:latin typeface="Arial Nova Cond Light" panose="020B0306020202020204" pitchFamily="34" charset="0"/>
              </a:rPr>
              <a:t>as+ </a:t>
            </a:r>
            <a:r>
              <a:rPr lang="en-US" sz="3200" dirty="0">
                <a:solidFill>
                  <a:srgbClr val="FFFF00"/>
                </a:solidFill>
                <a:latin typeface="Arial Nova Cond Light" panose="020B0306020202020204" pitchFamily="34" charset="0"/>
              </a:rPr>
              <a:t>adjec­tive + </a:t>
            </a:r>
            <a:r>
              <a:rPr lang="en-US" sz="3200" i="1" dirty="0">
                <a:solidFill>
                  <a:srgbClr val="FFFF00"/>
                </a:solidFill>
                <a:latin typeface="Arial Nova Cond Light" panose="020B0306020202020204" pitchFamily="34" charset="0"/>
              </a:rPr>
              <a:t>as</a:t>
            </a:r>
            <a:r>
              <a:rPr lang="en-US" sz="3200" i="1" dirty="0">
                <a:latin typeface="Arial Nova Cond Light" panose="020B0306020202020204" pitchFamily="34" charset="0"/>
              </a:rPr>
              <a:t>) </a:t>
            </a:r>
            <a:r>
              <a:rPr lang="en-US" sz="3200" dirty="0">
                <a:latin typeface="Arial Nova Cond Light" panose="020B0306020202020204" pitchFamily="34" charset="0"/>
              </a:rPr>
              <a:t>when used to compare the qualities of nouns.</a:t>
            </a:r>
          </a:p>
          <a:p>
            <a:endParaRPr lang="en-PH" sz="3200" dirty="0">
              <a:latin typeface="Arial Nova Cond Light" panose="020B0306020202020204" pitchFamily="34" charset="0"/>
            </a:endParaRPr>
          </a:p>
          <a:p>
            <a:r>
              <a:rPr lang="en-US" sz="3200" dirty="0">
                <a:latin typeface="Arial Nova Cond Light" panose="020B0306020202020204" pitchFamily="34" charset="0"/>
              </a:rPr>
              <a:t>Si Maria ay </a:t>
            </a:r>
            <a:r>
              <a:rPr lang="en-US" sz="3200" dirty="0" err="1">
                <a:latin typeface="Arial Nova Cond Light" panose="020B0306020202020204" pitchFamily="34" charset="0"/>
              </a:rPr>
              <a:t>maganda</a:t>
            </a:r>
            <a:r>
              <a:rPr lang="en-US" sz="3200" dirty="0">
                <a:latin typeface="Arial Nova Cond Light" panose="020B0306020202020204" pitchFamily="34" charset="0"/>
              </a:rPr>
              <a:t> </a:t>
            </a:r>
            <a:r>
              <a:rPr lang="en-US" sz="3200" dirty="0" err="1">
                <a:solidFill>
                  <a:srgbClr val="FFFF00"/>
                </a:solidFill>
                <a:latin typeface="Arial Nova Cond Light" panose="020B0306020202020204" pitchFamily="34" charset="0"/>
              </a:rPr>
              <a:t>pareho</a:t>
            </a:r>
            <a:r>
              <a:rPr lang="en-US" sz="3200" dirty="0">
                <a:latin typeface="Arial Nova Cond Light" panose="020B0306020202020204" pitchFamily="34" charset="0"/>
              </a:rPr>
              <a:t> </a:t>
            </a:r>
            <a:r>
              <a:rPr lang="en-US" sz="3200" dirty="0" err="1">
                <a:latin typeface="Arial Nova Cond Light" panose="020B0306020202020204" pitchFamily="34" charset="0"/>
              </a:rPr>
              <a:t>ni</a:t>
            </a:r>
            <a:r>
              <a:rPr lang="en-US" sz="3200" dirty="0">
                <a:latin typeface="Arial Nova Cond Light" panose="020B0306020202020204" pitchFamily="34" charset="0"/>
              </a:rPr>
              <a:t> Elena.</a:t>
            </a:r>
          </a:p>
          <a:p>
            <a:r>
              <a:rPr lang="en-US" sz="3200" dirty="0">
                <a:latin typeface="Arial Nova Cond Light" panose="020B0306020202020204" pitchFamily="34" charset="0"/>
              </a:rPr>
              <a:t>Si Maria ay </a:t>
            </a:r>
            <a:r>
              <a:rPr lang="en-US" sz="3200" dirty="0" err="1">
                <a:latin typeface="Arial Nova Cond Light" panose="020B0306020202020204" pitchFamily="34" charset="0"/>
              </a:rPr>
              <a:t>maganda</a:t>
            </a:r>
            <a:r>
              <a:rPr lang="en-US" sz="3200" dirty="0">
                <a:latin typeface="Arial Nova Cond Light" panose="020B0306020202020204" pitchFamily="34" charset="0"/>
              </a:rPr>
              <a:t> </a:t>
            </a:r>
            <a:r>
              <a:rPr lang="en-US" sz="3200" dirty="0" err="1">
                <a:solidFill>
                  <a:srgbClr val="FFFF00"/>
                </a:solidFill>
                <a:latin typeface="Arial Nova Cond Light" panose="020B0306020202020204" pitchFamily="34" charset="0"/>
              </a:rPr>
              <a:t>gaya</a:t>
            </a:r>
            <a:r>
              <a:rPr lang="en-US" sz="3200" dirty="0">
                <a:latin typeface="Arial Nova Cond Light" panose="020B0306020202020204" pitchFamily="34" charset="0"/>
              </a:rPr>
              <a:t> </a:t>
            </a:r>
            <a:r>
              <a:rPr lang="en-US" sz="3200" dirty="0" err="1">
                <a:latin typeface="Arial Nova Cond Light" panose="020B0306020202020204" pitchFamily="34" charset="0"/>
              </a:rPr>
              <a:t>ni</a:t>
            </a:r>
            <a:r>
              <a:rPr lang="en-US" sz="3200" dirty="0">
                <a:latin typeface="Arial Nova Cond Light" panose="020B0306020202020204" pitchFamily="34" charset="0"/>
              </a:rPr>
              <a:t> Elena.</a:t>
            </a:r>
            <a:endParaRPr lang="en-PH" sz="3200" dirty="0">
              <a:latin typeface="Arial Nova Cond Light" panose="020B0306020202020204" pitchFamily="34" charset="0"/>
            </a:endParaRPr>
          </a:p>
          <a:p>
            <a:r>
              <a:rPr lang="en-US" sz="3200" dirty="0">
                <a:latin typeface="Arial Nova Cond Light" panose="020B0306020202020204" pitchFamily="34" charset="0"/>
              </a:rPr>
              <a:t>Maria is beautiful like (as beautiful as) Elena.</a:t>
            </a:r>
            <a:br>
              <a:rPr lang="en-US" sz="3200" dirty="0">
                <a:latin typeface="Arial Nova Cond Light" panose="020B0306020202020204" pitchFamily="34" charset="0"/>
              </a:rPr>
            </a:br>
            <a:br>
              <a:rPr lang="en-US" sz="3200" dirty="0">
                <a:latin typeface="Arial Nova Cond Light" panose="020B0306020202020204" pitchFamily="34" charset="0"/>
              </a:rPr>
            </a:br>
            <a:r>
              <a:rPr lang="en-US" sz="3200" dirty="0">
                <a:latin typeface="Arial Nova Cond Light" panose="020B0306020202020204" pitchFamily="34" charset="0"/>
              </a:rPr>
              <a:t>Ang </a:t>
            </a:r>
            <a:r>
              <a:rPr lang="en-US" sz="3200" dirty="0" err="1">
                <a:latin typeface="Arial Nova Cond Light" panose="020B0306020202020204" pitchFamily="34" charset="0"/>
              </a:rPr>
              <a:t>Espanya</a:t>
            </a:r>
            <a:r>
              <a:rPr lang="en-US" sz="3200" dirty="0">
                <a:latin typeface="Arial Nova Cond Light" panose="020B0306020202020204" pitchFamily="34" charset="0"/>
              </a:rPr>
              <a:t> ay </a:t>
            </a:r>
            <a:r>
              <a:rPr lang="en-US" sz="3200" dirty="0" err="1">
                <a:latin typeface="Arial Nova Cond Light" panose="020B0306020202020204" pitchFamily="34" charset="0"/>
              </a:rPr>
              <a:t>malaki</a:t>
            </a:r>
            <a:r>
              <a:rPr lang="en-US" sz="3200" dirty="0">
                <a:latin typeface="Arial Nova Cond Light" panose="020B0306020202020204" pitchFamily="34" charset="0"/>
              </a:rPr>
              <a:t> </a:t>
            </a:r>
            <a:r>
              <a:rPr lang="en-US" sz="3200" dirty="0" err="1">
                <a:latin typeface="Arial Nova Cond Light" panose="020B0306020202020204" pitchFamily="34" charset="0"/>
              </a:rPr>
              <a:t>pareho</a:t>
            </a:r>
            <a:r>
              <a:rPr lang="en-US" sz="3200" dirty="0">
                <a:latin typeface="Arial Nova Cond Light" panose="020B0306020202020204" pitchFamily="34" charset="0"/>
              </a:rPr>
              <a:t> ng Pilipinas. </a:t>
            </a:r>
            <a:endParaRPr lang="en-PH" sz="3200" dirty="0">
              <a:latin typeface="Arial Nova Cond Light" panose="020B0306020202020204" pitchFamily="34" charset="0"/>
            </a:endParaRPr>
          </a:p>
          <a:p>
            <a:endParaRPr lang="en-US" sz="3200" dirty="0">
              <a:latin typeface="Arial Nova Cond Light" panose="020B0306020202020204" pitchFamily="34" charset="0"/>
            </a:endParaRPr>
          </a:p>
        </p:txBody>
      </p:sp>
    </p:spTree>
    <p:extLst>
      <p:ext uri="{BB962C8B-B14F-4D97-AF65-F5344CB8AC3E}">
        <p14:creationId xmlns:p14="http://schemas.microsoft.com/office/powerpoint/2010/main" val="460937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E0ECF-6CE6-341B-56CE-49317B94A2D8}"/>
              </a:ext>
            </a:extLst>
          </p:cNvPr>
          <p:cNvSpPr>
            <a:spLocks noGrp="1"/>
          </p:cNvSpPr>
          <p:nvPr>
            <p:ph type="title"/>
          </p:nvPr>
        </p:nvSpPr>
        <p:spPr/>
        <p:txBody>
          <a:bodyPr/>
          <a:lstStyle/>
          <a:p>
            <a:r>
              <a:rPr lang="en-US" b="1" dirty="0">
                <a:solidFill>
                  <a:srgbClr val="FFFF00"/>
                </a:solidFill>
                <a:latin typeface="Arial Nova Cond Light" panose="020B0306020202020204" pitchFamily="34" charset="0"/>
              </a:rPr>
              <a:t>II. INEQUALITY (A	B)</a:t>
            </a:r>
            <a:br>
              <a:rPr lang="en-PH" b="1" dirty="0">
                <a:solidFill>
                  <a:srgbClr val="FFFF00"/>
                </a:solidFill>
                <a:latin typeface="Arial Nova Cond Light" panose="020B0306020202020204" pitchFamily="34" charset="0"/>
              </a:rPr>
            </a:br>
            <a:endParaRPr lang="en-PH" dirty="0"/>
          </a:p>
        </p:txBody>
      </p:sp>
    </p:spTree>
    <p:extLst>
      <p:ext uri="{BB962C8B-B14F-4D97-AF65-F5344CB8AC3E}">
        <p14:creationId xmlns:p14="http://schemas.microsoft.com/office/powerpoint/2010/main" val="882054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F9874-F104-AB45-B871-48F527805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7AAE8B-0A28-8736-5C07-98C0D000014F}"/>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4" name="TextBox 3">
            <a:extLst>
              <a:ext uri="{FF2B5EF4-FFF2-40B4-BE49-F238E27FC236}">
                <a16:creationId xmlns:a16="http://schemas.microsoft.com/office/drawing/2014/main" id="{27C7F417-607D-A2B2-2A48-A613959ADFF8}"/>
              </a:ext>
            </a:extLst>
          </p:cNvPr>
          <p:cNvSpPr txBox="1"/>
          <p:nvPr/>
        </p:nvSpPr>
        <p:spPr>
          <a:xfrm>
            <a:off x="0" y="0"/>
            <a:ext cx="12192000" cy="6340197"/>
          </a:xfrm>
          <a:prstGeom prst="rect">
            <a:avLst/>
          </a:prstGeom>
          <a:noFill/>
        </p:spPr>
        <p:txBody>
          <a:bodyPr wrap="square">
            <a:spAutoFit/>
          </a:bodyPr>
          <a:lstStyle/>
          <a:p>
            <a:endParaRPr lang="en-PH" sz="1400" b="1" dirty="0">
              <a:latin typeface="Arial Nova Cond Light" panose="020B0306020202020204" pitchFamily="34" charset="0"/>
            </a:endParaRPr>
          </a:p>
          <a:p>
            <a:pPr lvl="1"/>
            <a:r>
              <a:rPr lang="en-US" sz="2400" b="1" dirty="0">
                <a:solidFill>
                  <a:srgbClr val="FFFF00"/>
                </a:solidFill>
                <a:latin typeface="Arial Nova Cond Light" panose="020B0306020202020204" pitchFamily="34" charset="0"/>
              </a:rPr>
              <a:t>A is better than B</a:t>
            </a:r>
            <a:endParaRPr lang="en-PH" sz="3200" b="1" dirty="0">
              <a:solidFill>
                <a:srgbClr val="FFFF00"/>
              </a:solidFill>
              <a:latin typeface="Arial Nova Cond Light" panose="020B0306020202020204" pitchFamily="34" charset="0"/>
            </a:endParaRPr>
          </a:p>
          <a:p>
            <a:endParaRPr lang="en-PH" sz="1400" dirty="0">
              <a:latin typeface="Arial Nova Cond Light" panose="020B0306020202020204" pitchFamily="34" charset="0"/>
            </a:endParaRPr>
          </a:p>
          <a:p>
            <a:r>
              <a:rPr lang="en-US" sz="2400" dirty="0">
                <a:latin typeface="Arial Nova Cond Light" panose="020B0306020202020204" pitchFamily="34" charset="0"/>
              </a:rPr>
              <a:t>To express that something is better than something else, the formula is:</a:t>
            </a:r>
            <a:endParaRPr lang="en-PH" sz="3200" dirty="0">
              <a:latin typeface="Arial Nova Cond Light" panose="020B0306020202020204" pitchFamily="34" charset="0"/>
            </a:endParaRPr>
          </a:p>
          <a:p>
            <a:r>
              <a:rPr lang="en-US" sz="2400" dirty="0">
                <a:latin typeface="Arial Nova Cond Light" panose="020B0306020202020204" pitchFamily="34" charset="0"/>
              </a:rPr>
              <a:t>A</a:t>
            </a:r>
            <a:r>
              <a:rPr lang="en-US" sz="2400" dirty="0">
                <a:solidFill>
                  <a:srgbClr val="FFFF00"/>
                </a:solidFill>
                <a:latin typeface="Arial Nova Cond Light" panose="020B0306020202020204" pitchFamily="34" charset="0"/>
              </a:rPr>
              <a:t>+ </a:t>
            </a:r>
            <a:r>
              <a:rPr lang="en-US" sz="2400" b="1" dirty="0" err="1">
                <a:solidFill>
                  <a:srgbClr val="FFFF00"/>
                </a:solidFill>
                <a:latin typeface="Arial Nova Cond Light" panose="020B0306020202020204" pitchFamily="34" charset="0"/>
              </a:rPr>
              <a:t>lalong</a:t>
            </a:r>
            <a:r>
              <a:rPr lang="en-US" sz="2400" b="1" dirty="0">
                <a:solidFill>
                  <a:srgbClr val="FFFF00"/>
                </a:solidFill>
                <a:latin typeface="Arial Nova Cond Light" panose="020B0306020202020204" pitchFamily="34" charset="0"/>
              </a:rPr>
              <a:t> </a:t>
            </a:r>
            <a:r>
              <a:rPr lang="en-US" sz="2400" dirty="0">
                <a:solidFill>
                  <a:srgbClr val="FFFF00"/>
                </a:solidFill>
                <a:latin typeface="Arial Nova Cond Light" panose="020B0306020202020204" pitchFamily="34" charset="0"/>
              </a:rPr>
              <a:t>(</a:t>
            </a:r>
            <a:r>
              <a:rPr lang="en-US" sz="2400" dirty="0">
                <a:latin typeface="Arial Nova Cond Light" panose="020B0306020202020204" pitchFamily="34" charset="0"/>
              </a:rPr>
              <a:t>or </a:t>
            </a:r>
            <a:r>
              <a:rPr lang="en-US" sz="2400" b="1" dirty="0" err="1">
                <a:solidFill>
                  <a:srgbClr val="FFFF00"/>
                </a:solidFill>
                <a:latin typeface="Arial Nova Cond Light" panose="020B0306020202020204" pitchFamily="34" charset="0"/>
              </a:rPr>
              <a:t>higit</a:t>
            </a:r>
            <a:r>
              <a:rPr lang="en-US" sz="2400" b="1" dirty="0">
                <a:solidFill>
                  <a:srgbClr val="FFFF00"/>
                </a:solidFill>
                <a:latin typeface="Arial Nova Cond Light" panose="020B0306020202020204" pitchFamily="34" charset="0"/>
              </a:rPr>
              <a:t> </a:t>
            </a:r>
            <a:r>
              <a:rPr lang="en-US" sz="2400" b="1" dirty="0" err="1">
                <a:solidFill>
                  <a:srgbClr val="FFFF00"/>
                </a:solidFill>
                <a:latin typeface="Arial Nova Cond Light" panose="020B0306020202020204" pitchFamily="34" charset="0"/>
              </a:rPr>
              <a:t>na</a:t>
            </a:r>
            <a:r>
              <a:rPr lang="en-US" sz="2400" b="1" dirty="0">
                <a:solidFill>
                  <a:srgbClr val="FFFF00"/>
                </a:solidFill>
                <a:latin typeface="Arial Nova Cond Light" panose="020B0306020202020204" pitchFamily="34" charset="0"/>
              </a:rPr>
              <a:t> </a:t>
            </a:r>
            <a:r>
              <a:rPr lang="en-US" sz="2400" b="1" dirty="0">
                <a:latin typeface="Arial Nova Cond Light" panose="020B0306020202020204" pitchFamily="34" charset="0"/>
              </a:rPr>
              <a:t>or</a:t>
            </a:r>
            <a:r>
              <a:rPr lang="en-US" sz="2400" b="1" dirty="0">
                <a:solidFill>
                  <a:srgbClr val="FFFF00"/>
                </a:solidFill>
                <a:latin typeface="Arial Nova Cond Light" panose="020B0306020202020204" pitchFamily="34" charset="0"/>
              </a:rPr>
              <a:t> mas) </a:t>
            </a:r>
            <a:r>
              <a:rPr lang="en-US" sz="2400" dirty="0">
                <a:latin typeface="Arial Nova Cond Light" panose="020B0306020202020204" pitchFamily="34" charset="0"/>
              </a:rPr>
              <a:t>+ [adjective] </a:t>
            </a:r>
            <a:r>
              <a:rPr lang="en-US" dirty="0">
                <a:latin typeface="Arial Nova Cond Light" panose="020B0306020202020204" pitchFamily="34" charset="0"/>
              </a:rPr>
              <a:t>+ </a:t>
            </a:r>
            <a:r>
              <a:rPr lang="en-US" sz="2400" b="1" dirty="0" err="1">
                <a:solidFill>
                  <a:srgbClr val="FFFF00"/>
                </a:solidFill>
                <a:latin typeface="Arial Nova Cond Light" panose="020B0306020202020204" pitchFamily="34" charset="0"/>
              </a:rPr>
              <a:t>kaysa</a:t>
            </a:r>
            <a:r>
              <a:rPr lang="en-US" sz="2400" b="1" dirty="0">
                <a:solidFill>
                  <a:srgbClr val="FFFF00"/>
                </a:solidFill>
                <a:latin typeface="Arial Nova Cond Light" panose="020B0306020202020204" pitchFamily="34" charset="0"/>
              </a:rPr>
              <a:t> kay </a:t>
            </a:r>
            <a:r>
              <a:rPr lang="en-US" sz="2400" dirty="0">
                <a:latin typeface="Arial Nova Cond Light" panose="020B0306020202020204" pitchFamily="34" charset="0"/>
              </a:rPr>
              <a:t>(</a:t>
            </a:r>
            <a:r>
              <a:rPr lang="en-US" sz="2400" dirty="0">
                <a:solidFill>
                  <a:srgbClr val="FFFF00"/>
                </a:solidFill>
                <a:latin typeface="Arial Nova Cond Light" panose="020B0306020202020204" pitchFamily="34" charset="0"/>
              </a:rPr>
              <a:t>or </a:t>
            </a:r>
            <a:r>
              <a:rPr lang="en-US" sz="2400" b="1" dirty="0" err="1">
                <a:solidFill>
                  <a:srgbClr val="FFFF00"/>
                </a:solidFill>
                <a:latin typeface="Arial Nova Cond Light" panose="020B0306020202020204" pitchFamily="34" charset="0"/>
              </a:rPr>
              <a:t>kaysa</a:t>
            </a:r>
            <a:r>
              <a:rPr lang="en-US" sz="2400" b="1" dirty="0">
                <a:solidFill>
                  <a:srgbClr val="FFFF00"/>
                </a:solidFill>
                <a:latin typeface="Arial Nova Cond Light" panose="020B0306020202020204" pitchFamily="34" charset="0"/>
              </a:rPr>
              <a:t> </a:t>
            </a:r>
            <a:r>
              <a:rPr lang="en-US" sz="2400" b="1" dirty="0" err="1">
                <a:solidFill>
                  <a:srgbClr val="FFFF00"/>
                </a:solidFill>
                <a:latin typeface="Arial Nova Cond Light" panose="020B0306020202020204" pitchFamily="34" charset="0"/>
              </a:rPr>
              <a:t>sa</a:t>
            </a:r>
            <a:r>
              <a:rPr lang="en-US" sz="2400" b="1" dirty="0">
                <a:latin typeface="Arial Nova Cond Light" panose="020B0306020202020204" pitchFamily="34" charset="0"/>
              </a:rPr>
              <a:t>) </a:t>
            </a:r>
            <a:r>
              <a:rPr lang="en-US" sz="2400" dirty="0">
                <a:latin typeface="Arial Nova Cond Light" panose="020B0306020202020204" pitchFamily="34" charset="0"/>
              </a:rPr>
              <a:t>+ B</a:t>
            </a:r>
            <a:endParaRPr lang="en-PH" sz="3200" dirty="0">
              <a:latin typeface="Arial Nova Cond Light" panose="020B0306020202020204" pitchFamily="34" charset="0"/>
            </a:endParaRPr>
          </a:p>
          <a:p>
            <a:endParaRPr lang="en-PH" sz="1400" dirty="0">
              <a:latin typeface="Arial Nova Cond Light" panose="020B0306020202020204" pitchFamily="34" charset="0"/>
            </a:endParaRPr>
          </a:p>
          <a:p>
            <a:r>
              <a:rPr lang="en-US" sz="2400" dirty="0">
                <a:latin typeface="Arial Nova Cond Light" panose="020B0306020202020204" pitchFamily="34" charset="0"/>
              </a:rPr>
              <a:t>The first noun is usually the one with the higher degree of quality. </a:t>
            </a:r>
            <a:r>
              <a:rPr lang="en-US" sz="2400" b="1" dirty="0">
                <a:latin typeface="Arial Nova Cond Light" panose="020B0306020202020204" pitchFamily="34" charset="0"/>
              </a:rPr>
              <a:t>Lalong (</a:t>
            </a:r>
            <a:r>
              <a:rPr lang="en-US" sz="2400" b="1" dirty="0" err="1">
                <a:solidFill>
                  <a:srgbClr val="FFFF00"/>
                </a:solidFill>
                <a:latin typeface="Arial Nova Cond Light" panose="020B0306020202020204" pitchFamily="34" charset="0"/>
              </a:rPr>
              <a:t>lalo</a:t>
            </a:r>
            <a:r>
              <a:rPr lang="en-US" sz="2400" b="1" dirty="0">
                <a:solidFill>
                  <a:srgbClr val="FFFF00"/>
                </a:solidFill>
                <a:latin typeface="Arial Nova Cond Light" panose="020B0306020202020204" pitchFamily="34" charset="0"/>
              </a:rPr>
              <a:t> </a:t>
            </a:r>
            <a:r>
              <a:rPr lang="en-US" sz="2000" dirty="0">
                <a:latin typeface="Arial Nova Cond Light" panose="020B0306020202020204" pitchFamily="34" charset="0"/>
              </a:rPr>
              <a:t>+ </a:t>
            </a:r>
            <a:r>
              <a:rPr lang="en-US" sz="2400" dirty="0">
                <a:latin typeface="Arial Nova Cond Light" panose="020B0306020202020204" pitchFamily="34" charset="0"/>
              </a:rPr>
              <a:t>the ligature</a:t>
            </a:r>
            <a:endParaRPr lang="en-PH" sz="3200" dirty="0">
              <a:latin typeface="Arial Nova Cond Light" panose="020B0306020202020204" pitchFamily="34" charset="0"/>
            </a:endParaRPr>
          </a:p>
          <a:p>
            <a:r>
              <a:rPr lang="en-US" sz="2400" b="1" dirty="0">
                <a:latin typeface="Arial Nova Cond Light" panose="020B0306020202020204" pitchFamily="34" charset="0"/>
              </a:rPr>
              <a:t>-</a:t>
            </a:r>
            <a:r>
              <a:rPr lang="en-US" sz="2400" b="1" dirty="0">
                <a:solidFill>
                  <a:srgbClr val="FFFF00"/>
                </a:solidFill>
                <a:latin typeface="Arial Nova Cond Light" panose="020B0306020202020204" pitchFamily="34" charset="0"/>
              </a:rPr>
              <a:t>ng</a:t>
            </a:r>
            <a:r>
              <a:rPr lang="en-US" sz="2400" b="1" dirty="0">
                <a:latin typeface="Arial Nova Cond Light" panose="020B0306020202020204" pitchFamily="34" charset="0"/>
              </a:rPr>
              <a:t>), </a:t>
            </a:r>
            <a:r>
              <a:rPr lang="en-US" sz="2400" b="1" dirty="0" err="1">
                <a:solidFill>
                  <a:srgbClr val="FFFF00"/>
                </a:solidFill>
                <a:latin typeface="Arial Nova Cond Light" panose="020B0306020202020204" pitchFamily="34" charset="0"/>
              </a:rPr>
              <a:t>higit</a:t>
            </a:r>
            <a:r>
              <a:rPr lang="en-US" sz="2400" b="1" dirty="0">
                <a:solidFill>
                  <a:srgbClr val="FFFF00"/>
                </a:solidFill>
                <a:latin typeface="Arial Nova Cond Light" panose="020B0306020202020204" pitchFamily="34" charset="0"/>
              </a:rPr>
              <a:t> </a:t>
            </a:r>
            <a:r>
              <a:rPr lang="en-US" sz="2400" b="1" dirty="0" err="1">
                <a:solidFill>
                  <a:srgbClr val="FFFF00"/>
                </a:solidFill>
                <a:latin typeface="Arial Nova Cond Light" panose="020B0306020202020204" pitchFamily="34" charset="0"/>
              </a:rPr>
              <a:t>na</a:t>
            </a:r>
            <a:r>
              <a:rPr lang="en-US" sz="2400" b="1" dirty="0">
                <a:solidFill>
                  <a:srgbClr val="FFFF00"/>
                </a:solidFill>
                <a:latin typeface="Arial Nova Cond Light" panose="020B0306020202020204" pitchFamily="34" charset="0"/>
              </a:rPr>
              <a:t> </a:t>
            </a:r>
            <a:r>
              <a:rPr lang="en-US" sz="2400" b="1" dirty="0">
                <a:latin typeface="Arial Nova Cond Light" panose="020B0306020202020204" pitchFamily="34" charset="0"/>
              </a:rPr>
              <a:t>(</a:t>
            </a:r>
            <a:r>
              <a:rPr lang="en-US" sz="2400" b="1" dirty="0" err="1">
                <a:solidFill>
                  <a:srgbClr val="FFFF00"/>
                </a:solidFill>
                <a:latin typeface="Arial Nova Cond Light" panose="020B0306020202020204" pitchFamily="34" charset="0"/>
              </a:rPr>
              <a:t>higit</a:t>
            </a:r>
            <a:r>
              <a:rPr lang="en-US" sz="2400" b="1" dirty="0">
                <a:latin typeface="Arial Nova Cond Light" panose="020B0306020202020204" pitchFamily="34" charset="0"/>
              </a:rPr>
              <a:t> </a:t>
            </a:r>
            <a:r>
              <a:rPr lang="en-US" dirty="0">
                <a:latin typeface="Arial Nova Cond Light" panose="020B0306020202020204" pitchFamily="34" charset="0"/>
              </a:rPr>
              <a:t>+ </a:t>
            </a:r>
            <a:r>
              <a:rPr lang="en-US" sz="2400" dirty="0">
                <a:latin typeface="Arial Nova Cond Light" panose="020B0306020202020204" pitchFamily="34" charset="0"/>
              </a:rPr>
              <a:t>the ligature </a:t>
            </a:r>
            <a:r>
              <a:rPr lang="en-US" sz="2400" b="1" dirty="0" err="1">
                <a:solidFill>
                  <a:srgbClr val="FFFF00"/>
                </a:solidFill>
                <a:latin typeface="Arial Nova Cond Light" panose="020B0306020202020204" pitchFamily="34" charset="0"/>
              </a:rPr>
              <a:t>na</a:t>
            </a:r>
            <a:r>
              <a:rPr lang="en-US" sz="2400" b="1" dirty="0">
                <a:latin typeface="Arial Nova Cond Light" panose="020B0306020202020204" pitchFamily="34" charset="0"/>
              </a:rPr>
              <a:t>) or </a:t>
            </a:r>
            <a:r>
              <a:rPr lang="en-US" sz="2400" b="1" dirty="0">
                <a:solidFill>
                  <a:srgbClr val="FFFF00"/>
                </a:solidFill>
                <a:latin typeface="Arial Nova Cond Light" panose="020B0306020202020204" pitchFamily="34" charset="0"/>
              </a:rPr>
              <a:t>mas</a:t>
            </a:r>
            <a:r>
              <a:rPr lang="en-US" sz="2400" dirty="0">
                <a:solidFill>
                  <a:srgbClr val="FFFF00"/>
                </a:solidFill>
                <a:latin typeface="Arial Nova Cond Light" panose="020B0306020202020204" pitchFamily="34" charset="0"/>
              </a:rPr>
              <a:t>(no ligature)</a:t>
            </a:r>
            <a:r>
              <a:rPr lang="en-US" sz="2400" dirty="0">
                <a:latin typeface="Arial Nova Cond Light" panose="020B0306020202020204" pitchFamily="34" charset="0"/>
              </a:rPr>
              <a:t> all mean </a:t>
            </a:r>
            <a:r>
              <a:rPr lang="en-US" sz="2800" i="1" dirty="0">
                <a:solidFill>
                  <a:srgbClr val="FFFF00"/>
                </a:solidFill>
                <a:latin typeface="Arial Nova Cond Light" panose="020B0306020202020204" pitchFamily="34" charset="0"/>
              </a:rPr>
              <a:t>more</a:t>
            </a:r>
            <a:r>
              <a:rPr lang="en-US" sz="2800" i="1" dirty="0">
                <a:latin typeface="Arial Nova Cond Light" panose="020B0306020202020204" pitchFamily="34" charset="0"/>
              </a:rPr>
              <a:t> </a:t>
            </a:r>
            <a:r>
              <a:rPr lang="en-US" sz="2400" dirty="0">
                <a:latin typeface="Arial Nova Cond Light" panose="020B0306020202020204" pitchFamily="34" charset="0"/>
              </a:rPr>
              <a:t>while </a:t>
            </a:r>
            <a:r>
              <a:rPr lang="en-US" sz="2400" b="1" dirty="0" err="1">
                <a:latin typeface="Arial Nova Cond Light" panose="020B0306020202020204" pitchFamily="34" charset="0"/>
              </a:rPr>
              <a:t>kaysa</a:t>
            </a:r>
            <a:r>
              <a:rPr lang="en-US" sz="2400" b="1" dirty="0">
                <a:latin typeface="Arial Nova Cond Light" panose="020B0306020202020204" pitchFamily="34" charset="0"/>
              </a:rPr>
              <a:t> </a:t>
            </a:r>
            <a:r>
              <a:rPr lang="en-US" sz="2400" dirty="0">
                <a:latin typeface="Arial Nova Cond Light" panose="020B0306020202020204" pitchFamily="34" charset="0"/>
              </a:rPr>
              <a:t>means </a:t>
            </a:r>
            <a:r>
              <a:rPr lang="en-US" sz="2400" dirty="0">
                <a:solidFill>
                  <a:srgbClr val="FFFF00"/>
                </a:solidFill>
                <a:latin typeface="Arial Nova Cond Light" panose="020B0306020202020204" pitchFamily="34" charset="0"/>
              </a:rPr>
              <a:t>than</a:t>
            </a:r>
            <a:r>
              <a:rPr lang="en-US" sz="2800" i="1" dirty="0">
                <a:latin typeface="Arial Nova Cond Light" panose="020B0306020202020204" pitchFamily="34" charset="0"/>
              </a:rPr>
              <a:t>. </a:t>
            </a:r>
            <a:r>
              <a:rPr lang="en-US" sz="2400" dirty="0">
                <a:latin typeface="Arial Nova Cond Light" panose="020B0306020202020204" pitchFamily="34" charset="0"/>
              </a:rPr>
              <a:t>Similar to the possessive words </a:t>
            </a:r>
            <a:r>
              <a:rPr lang="en-US" sz="2400" b="1" dirty="0" err="1">
                <a:solidFill>
                  <a:srgbClr val="FFFF00"/>
                </a:solidFill>
                <a:latin typeface="Arial Nova Cond Light" panose="020B0306020202020204" pitchFamily="34" charset="0"/>
              </a:rPr>
              <a:t>ni</a:t>
            </a:r>
            <a:r>
              <a:rPr lang="en-US" sz="2400" b="1" dirty="0">
                <a:latin typeface="Arial Nova Cond Light" panose="020B0306020202020204" pitchFamily="34" charset="0"/>
              </a:rPr>
              <a:t> </a:t>
            </a:r>
            <a:r>
              <a:rPr lang="en-US" sz="2400" dirty="0">
                <a:latin typeface="Arial Nova Cond Light" panose="020B0306020202020204" pitchFamily="34" charset="0"/>
              </a:rPr>
              <a:t>and </a:t>
            </a:r>
            <a:r>
              <a:rPr lang="en-US" sz="2400" b="1" dirty="0">
                <a:solidFill>
                  <a:srgbClr val="FFFF00"/>
                </a:solidFill>
                <a:latin typeface="Arial Nova Cond Light" panose="020B0306020202020204" pitchFamily="34" charset="0"/>
              </a:rPr>
              <a:t>ng</a:t>
            </a:r>
            <a:r>
              <a:rPr lang="en-US" sz="2400" b="1" dirty="0">
                <a:latin typeface="Arial Nova Cond Light" panose="020B0306020202020204" pitchFamily="34" charset="0"/>
              </a:rPr>
              <a:t>, </a:t>
            </a:r>
            <a:r>
              <a:rPr lang="en-US" sz="2400" b="1" dirty="0" err="1">
                <a:solidFill>
                  <a:srgbClr val="FFFF00"/>
                </a:solidFill>
                <a:latin typeface="Arial Nova Cond Light" panose="020B0306020202020204" pitchFamily="34" charset="0"/>
              </a:rPr>
              <a:t>kaysa</a:t>
            </a:r>
            <a:r>
              <a:rPr lang="en-US" sz="2400" b="1" dirty="0">
                <a:solidFill>
                  <a:srgbClr val="FFFF00"/>
                </a:solidFill>
                <a:latin typeface="Arial Nova Cond Light" panose="020B0306020202020204" pitchFamily="34" charset="0"/>
              </a:rPr>
              <a:t> kay </a:t>
            </a:r>
            <a:r>
              <a:rPr lang="en-US" sz="2400" dirty="0">
                <a:solidFill>
                  <a:srgbClr val="FFFF00"/>
                </a:solidFill>
                <a:latin typeface="Arial Nova Cond Light" panose="020B0306020202020204" pitchFamily="34" charset="0"/>
              </a:rPr>
              <a:t>is followed by the name of a person</a:t>
            </a:r>
            <a:r>
              <a:rPr lang="en-US" sz="2400" dirty="0">
                <a:latin typeface="Arial Nova Cond Light" panose="020B0306020202020204" pitchFamily="34" charset="0"/>
              </a:rPr>
              <a:t> while </a:t>
            </a:r>
            <a:r>
              <a:rPr lang="en-US" sz="2400" b="1" dirty="0" err="1">
                <a:solidFill>
                  <a:srgbClr val="FFFF00"/>
                </a:solidFill>
                <a:latin typeface="Arial Nova Cond Light" panose="020B0306020202020204" pitchFamily="34" charset="0"/>
              </a:rPr>
              <a:t>kaysa</a:t>
            </a:r>
            <a:r>
              <a:rPr lang="en-US" sz="2400" b="1" dirty="0">
                <a:solidFill>
                  <a:srgbClr val="FFFF00"/>
                </a:solidFill>
                <a:latin typeface="Arial Nova Cond Light" panose="020B0306020202020204" pitchFamily="34" charset="0"/>
              </a:rPr>
              <a:t> </a:t>
            </a:r>
            <a:r>
              <a:rPr lang="en-US" sz="2400" b="1" dirty="0" err="1">
                <a:solidFill>
                  <a:srgbClr val="FFFF00"/>
                </a:solidFill>
                <a:latin typeface="Arial Nova Cond Light" panose="020B0306020202020204" pitchFamily="34" charset="0"/>
              </a:rPr>
              <a:t>sa</a:t>
            </a:r>
            <a:r>
              <a:rPr lang="en-US" sz="2400" b="1" dirty="0">
                <a:solidFill>
                  <a:srgbClr val="FFFF00"/>
                </a:solidFill>
                <a:latin typeface="Arial Nova Cond Light" panose="020B0306020202020204" pitchFamily="34" charset="0"/>
              </a:rPr>
              <a:t> </a:t>
            </a:r>
            <a:r>
              <a:rPr lang="en-US" sz="2400" dirty="0">
                <a:solidFill>
                  <a:srgbClr val="FFFF00"/>
                </a:solidFill>
                <a:latin typeface="Arial Nova Cond Light" panose="020B0306020202020204" pitchFamily="34" charset="0"/>
              </a:rPr>
              <a:t>is fol­lowed by the name of a place or thing</a:t>
            </a:r>
            <a:r>
              <a:rPr lang="en-US" sz="2400" dirty="0">
                <a:latin typeface="Arial Nova Cond Light" panose="020B0306020202020204" pitchFamily="34" charset="0"/>
              </a:rPr>
              <a:t>. </a:t>
            </a:r>
            <a:r>
              <a:rPr lang="en-US" sz="2400" b="1" dirty="0">
                <a:solidFill>
                  <a:srgbClr val="FFFF00"/>
                </a:solidFill>
                <a:latin typeface="Arial Nova Cond Light" panose="020B0306020202020204" pitchFamily="34" charset="0"/>
              </a:rPr>
              <a:t>Kaysa </a:t>
            </a:r>
            <a:r>
              <a:rPr lang="en-US" sz="2400" b="1" dirty="0" err="1">
                <a:solidFill>
                  <a:srgbClr val="FFFF00"/>
                </a:solidFill>
                <a:latin typeface="Arial Nova Cond Light" panose="020B0306020202020204" pitchFamily="34" charset="0"/>
              </a:rPr>
              <a:t>sa</a:t>
            </a:r>
            <a:r>
              <a:rPr lang="en-US" sz="2400" b="1" dirty="0">
                <a:solidFill>
                  <a:srgbClr val="FFFF00"/>
                </a:solidFill>
                <a:latin typeface="Arial Nova Cond Light" panose="020B0306020202020204" pitchFamily="34" charset="0"/>
              </a:rPr>
              <a:t> </a:t>
            </a:r>
            <a:r>
              <a:rPr lang="en-US" sz="2400" dirty="0">
                <a:latin typeface="Arial Nova Cond Light" panose="020B0306020202020204" pitchFamily="34" charset="0"/>
              </a:rPr>
              <a:t>may be shortened </a:t>
            </a:r>
            <a:r>
              <a:rPr lang="en-US" dirty="0">
                <a:latin typeface="Arial Nova Cond Light" panose="020B0306020202020204" pitchFamily="34" charset="0"/>
              </a:rPr>
              <a:t>to </a:t>
            </a:r>
            <a:r>
              <a:rPr lang="en-US" sz="2400" b="1" dirty="0" err="1">
                <a:solidFill>
                  <a:srgbClr val="FFFF00"/>
                </a:solidFill>
                <a:latin typeface="Arial Nova Cond Light" panose="020B0306020202020204" pitchFamily="34" charset="0"/>
              </a:rPr>
              <a:t>kesa</a:t>
            </a:r>
            <a:r>
              <a:rPr lang="en-US" sz="2400" b="1" dirty="0">
                <a:solidFill>
                  <a:srgbClr val="FFFF00"/>
                </a:solidFill>
                <a:latin typeface="Arial Nova Cond Light" panose="020B0306020202020204" pitchFamily="34" charset="0"/>
              </a:rPr>
              <a:t>.</a:t>
            </a:r>
          </a:p>
          <a:p>
            <a:endParaRPr lang="en-US" sz="2400" b="1" dirty="0">
              <a:latin typeface="Arial Nova Cond Light" panose="020B0306020202020204" pitchFamily="34" charset="0"/>
            </a:endParaRPr>
          </a:p>
          <a:p>
            <a:r>
              <a:rPr lang="en-US" sz="2400" dirty="0">
                <a:latin typeface="Arial Nova Cond Light" panose="020B0306020202020204" pitchFamily="34" charset="0"/>
              </a:rPr>
              <a:t>Si Peter ay </a:t>
            </a:r>
            <a:r>
              <a:rPr lang="en-US" sz="2400" dirty="0" err="1">
                <a:solidFill>
                  <a:srgbClr val="FFFF00"/>
                </a:solidFill>
                <a:latin typeface="Arial Nova Cond Light" panose="020B0306020202020204" pitchFamily="34" charset="0"/>
              </a:rPr>
              <a:t>lalong</a:t>
            </a:r>
            <a:r>
              <a:rPr lang="en-US" sz="2400" dirty="0">
                <a:solidFill>
                  <a:srgbClr val="FFFF00"/>
                </a:solidFill>
                <a:latin typeface="Arial Nova Cond Light" panose="020B0306020202020204" pitchFamily="34" charset="0"/>
              </a:rPr>
              <a:t> </a:t>
            </a:r>
            <a:r>
              <a:rPr lang="en-US" sz="2400" dirty="0" err="1">
                <a:latin typeface="Arial Nova Cond Light" panose="020B0306020202020204" pitchFamily="34" charset="0"/>
              </a:rPr>
              <a:t>marunong</a:t>
            </a:r>
            <a:r>
              <a:rPr lang="en-US" sz="2400" dirty="0">
                <a:latin typeface="Arial Nova Cond Light" panose="020B0306020202020204" pitchFamily="34" charset="0"/>
              </a:rPr>
              <a:t> </a:t>
            </a:r>
            <a:r>
              <a:rPr lang="en-US" sz="2400" dirty="0" err="1">
                <a:latin typeface="Arial Nova Cond Light" panose="020B0306020202020204" pitchFamily="34" charset="0"/>
              </a:rPr>
              <a:t>kaysa</a:t>
            </a:r>
            <a:r>
              <a:rPr lang="en-US" sz="2400" dirty="0">
                <a:latin typeface="Arial Nova Cond Light" panose="020B0306020202020204" pitchFamily="34" charset="0"/>
              </a:rPr>
              <a:t> kay John.</a:t>
            </a:r>
          </a:p>
          <a:p>
            <a:r>
              <a:rPr lang="en-US" sz="2400" dirty="0">
                <a:latin typeface="Arial Nova Cond Light" panose="020B0306020202020204" pitchFamily="34" charset="0"/>
              </a:rPr>
              <a:t> </a:t>
            </a:r>
            <a:r>
              <a:rPr lang="en-US" sz="2400" dirty="0" err="1">
                <a:solidFill>
                  <a:srgbClr val="FFFF00"/>
                </a:solidFill>
                <a:latin typeface="Arial Nova Cond Light" panose="020B0306020202020204" pitchFamily="34" charset="0"/>
              </a:rPr>
              <a:t>Higit</a:t>
            </a:r>
            <a:r>
              <a:rPr lang="en-US" sz="2400" dirty="0">
                <a:solidFill>
                  <a:srgbClr val="FFFF00"/>
                </a:solidFill>
                <a:latin typeface="Arial Nova Cond Light" panose="020B0306020202020204" pitchFamily="34" charset="0"/>
              </a:rPr>
              <a:t> </a:t>
            </a:r>
            <a:r>
              <a:rPr lang="en-US" sz="2400" dirty="0" err="1">
                <a:solidFill>
                  <a:srgbClr val="FFFF00"/>
                </a:solidFill>
                <a:latin typeface="Arial Nova Cond Light" panose="020B0306020202020204" pitchFamily="34" charset="0"/>
              </a:rPr>
              <a:t>na</a:t>
            </a:r>
            <a:r>
              <a:rPr lang="en-US" sz="2400" dirty="0">
                <a:solidFill>
                  <a:srgbClr val="FFFF00"/>
                </a:solidFill>
                <a:latin typeface="Arial Nova Cond Light" panose="020B0306020202020204" pitchFamily="34" charset="0"/>
              </a:rPr>
              <a:t> </a:t>
            </a:r>
            <a:r>
              <a:rPr lang="en-US" sz="2400" dirty="0" err="1">
                <a:latin typeface="Arial Nova Cond Light" panose="020B0306020202020204" pitchFamily="34" charset="0"/>
              </a:rPr>
              <a:t>marunong</a:t>
            </a:r>
            <a:r>
              <a:rPr lang="en-US" sz="2400" dirty="0">
                <a:latin typeface="Arial Nova Cond Light" panose="020B0306020202020204" pitchFamily="34" charset="0"/>
              </a:rPr>
              <a:t> </a:t>
            </a:r>
            <a:r>
              <a:rPr lang="en-US" sz="2400" dirty="0" err="1">
                <a:latin typeface="Arial Nova Cond Light" panose="020B0306020202020204" pitchFamily="34" charset="0"/>
              </a:rPr>
              <a:t>si</a:t>
            </a:r>
            <a:r>
              <a:rPr lang="en-US" sz="2400" dirty="0">
                <a:latin typeface="Arial Nova Cond Light" panose="020B0306020202020204" pitchFamily="34" charset="0"/>
              </a:rPr>
              <a:t> Peter </a:t>
            </a:r>
            <a:r>
              <a:rPr lang="en-US" sz="2400" dirty="0" err="1">
                <a:latin typeface="Arial Nova Cond Light" panose="020B0306020202020204" pitchFamily="34" charset="0"/>
              </a:rPr>
              <a:t>kaysa</a:t>
            </a:r>
            <a:r>
              <a:rPr lang="en-US" sz="2400" dirty="0">
                <a:latin typeface="Arial Nova Cond Light" panose="020B0306020202020204" pitchFamily="34" charset="0"/>
              </a:rPr>
              <a:t> kay John. 				Peter is brighter than John.</a:t>
            </a:r>
            <a:endParaRPr lang="en-PH" sz="3200" dirty="0">
              <a:latin typeface="Arial Nova Cond Light" panose="020B0306020202020204" pitchFamily="34" charset="0"/>
            </a:endParaRPr>
          </a:p>
          <a:p>
            <a:r>
              <a:rPr lang="en-US" sz="2400" dirty="0">
                <a:latin typeface="Arial Nova Cond Light" panose="020B0306020202020204" pitchFamily="34" charset="0"/>
              </a:rPr>
              <a:t> </a:t>
            </a:r>
            <a:endParaRPr lang="en-PH" dirty="0">
              <a:latin typeface="Arial Nova Cond Light" panose="020B0306020202020204" pitchFamily="34" charset="0"/>
            </a:endParaRPr>
          </a:p>
          <a:p>
            <a:r>
              <a:rPr lang="en-US" sz="2400" dirty="0">
                <a:latin typeface="Arial Nova Cond Light" panose="020B0306020202020204" pitchFamily="34" charset="0"/>
              </a:rPr>
              <a:t>Ang </a:t>
            </a:r>
            <a:r>
              <a:rPr lang="en-US" sz="2400" dirty="0" err="1">
                <a:latin typeface="Arial Nova Cond Light" panose="020B0306020202020204" pitchFamily="34" charset="0"/>
              </a:rPr>
              <a:t>matanda</a:t>
            </a:r>
            <a:r>
              <a:rPr lang="en-US" sz="2400" dirty="0">
                <a:latin typeface="Arial Nova Cond Light" panose="020B0306020202020204" pitchFamily="34" charset="0"/>
              </a:rPr>
              <a:t> ay </a:t>
            </a:r>
            <a:r>
              <a:rPr lang="en-US" sz="2400" dirty="0" err="1">
                <a:solidFill>
                  <a:srgbClr val="FFFF00"/>
                </a:solidFill>
                <a:latin typeface="Arial Nova Cond Light" panose="020B0306020202020204" pitchFamily="34" charset="0"/>
              </a:rPr>
              <a:t>lalong</a:t>
            </a:r>
            <a:r>
              <a:rPr lang="en-US" sz="2400" dirty="0">
                <a:latin typeface="Arial Nova Cond Light" panose="020B0306020202020204" pitchFamily="34" charset="0"/>
              </a:rPr>
              <a:t> </a:t>
            </a:r>
            <a:r>
              <a:rPr lang="en-US" sz="2400" dirty="0" err="1">
                <a:latin typeface="Arial Nova Cond Light" panose="020B0306020202020204" pitchFamily="34" charset="0"/>
              </a:rPr>
              <a:t>masipag</a:t>
            </a:r>
            <a:r>
              <a:rPr lang="en-US" sz="2400" dirty="0">
                <a:latin typeface="Arial Nova Cond Light" panose="020B0306020202020204" pitchFamily="34" charset="0"/>
              </a:rPr>
              <a:t> </a:t>
            </a:r>
            <a:r>
              <a:rPr lang="en-US" sz="2400" dirty="0" err="1">
                <a:latin typeface="Arial Nova Cond Light" panose="020B0306020202020204" pitchFamily="34" charset="0"/>
              </a:rPr>
              <a:t>kaysa</a:t>
            </a:r>
            <a:r>
              <a:rPr lang="en-US" sz="2400" dirty="0">
                <a:solidFill>
                  <a:srgbClr val="FFFF00"/>
                </a:solidFill>
                <a:latin typeface="Arial Nova Cond Light" panose="020B0306020202020204" pitchFamily="34" charset="0"/>
              </a:rPr>
              <a:t> </a:t>
            </a:r>
            <a:r>
              <a:rPr lang="en-US" sz="2400" dirty="0" err="1">
                <a:solidFill>
                  <a:srgbClr val="FFFF00"/>
                </a:solidFill>
                <a:latin typeface="Arial Nova Cond Light" panose="020B0306020202020204" pitchFamily="34" charset="0"/>
              </a:rPr>
              <a:t>sa</a:t>
            </a:r>
            <a:r>
              <a:rPr lang="en-US" sz="2400" dirty="0">
                <a:solidFill>
                  <a:srgbClr val="FFFF00"/>
                </a:solidFill>
                <a:latin typeface="Arial Nova Cond Light" panose="020B0306020202020204" pitchFamily="34" charset="0"/>
              </a:rPr>
              <a:t> </a:t>
            </a:r>
            <a:r>
              <a:rPr lang="en-US" sz="2400" dirty="0">
                <a:latin typeface="Arial Nova Cond Light" panose="020B0306020202020204" pitchFamily="34" charset="0"/>
              </a:rPr>
              <a:t>bata. </a:t>
            </a:r>
          </a:p>
          <a:p>
            <a:r>
              <a:rPr lang="en-US" sz="2400" dirty="0">
                <a:solidFill>
                  <a:srgbClr val="FFFF00"/>
                </a:solidFill>
                <a:latin typeface="Arial Nova Cond Light" panose="020B0306020202020204" pitchFamily="34" charset="0"/>
              </a:rPr>
              <a:t>Mas</a:t>
            </a:r>
            <a:r>
              <a:rPr lang="en-US" sz="2400" dirty="0">
                <a:latin typeface="Arial Nova Cond Light" panose="020B0306020202020204" pitchFamily="34" charset="0"/>
              </a:rPr>
              <a:t> </a:t>
            </a:r>
            <a:r>
              <a:rPr lang="en-US" sz="2400" dirty="0" err="1">
                <a:latin typeface="Arial Nova Cond Light" panose="020B0306020202020204" pitchFamily="34" charset="0"/>
              </a:rPr>
              <a:t>masipag</a:t>
            </a:r>
            <a:r>
              <a:rPr lang="en-US" sz="2400" dirty="0">
                <a:latin typeface="Arial Nova Cond Light" panose="020B0306020202020204" pitchFamily="34" charset="0"/>
              </a:rPr>
              <a:t> ang </a:t>
            </a:r>
            <a:r>
              <a:rPr lang="en-US" sz="2400" dirty="0" err="1">
                <a:latin typeface="Arial Nova Cond Light" panose="020B0306020202020204" pitchFamily="34" charset="0"/>
              </a:rPr>
              <a:t>matanda</a:t>
            </a:r>
            <a:r>
              <a:rPr lang="en-US" sz="2400" dirty="0">
                <a:latin typeface="Arial Nova Cond Light" panose="020B0306020202020204" pitchFamily="34" charset="0"/>
              </a:rPr>
              <a:t> </a:t>
            </a:r>
            <a:r>
              <a:rPr lang="en-US" sz="2400" dirty="0" err="1">
                <a:latin typeface="Arial Nova Cond Light" panose="020B0306020202020204" pitchFamily="34" charset="0"/>
              </a:rPr>
              <a:t>kaysa</a:t>
            </a:r>
            <a:r>
              <a:rPr lang="en-US" sz="2400" dirty="0">
                <a:latin typeface="Arial Nova Cond Light" panose="020B0306020202020204" pitchFamily="34" charset="0"/>
              </a:rPr>
              <a:t> </a:t>
            </a:r>
            <a:r>
              <a:rPr lang="en-US" sz="2400" dirty="0" err="1">
                <a:latin typeface="Arial Nova Cond Light" panose="020B0306020202020204" pitchFamily="34" charset="0"/>
              </a:rPr>
              <a:t>sa</a:t>
            </a:r>
            <a:r>
              <a:rPr lang="en-US" sz="2400" dirty="0">
                <a:latin typeface="Arial Nova Cond Light" panose="020B0306020202020204" pitchFamily="34" charset="0"/>
              </a:rPr>
              <a:t> bata.</a:t>
            </a:r>
            <a:r>
              <a:rPr lang="en-PH" sz="3200" dirty="0">
                <a:latin typeface="Arial Nova Cond Light" panose="020B0306020202020204" pitchFamily="34" charset="0"/>
              </a:rPr>
              <a:t>		</a:t>
            </a:r>
            <a:r>
              <a:rPr lang="en-PH" sz="3200" b="1" dirty="0">
                <a:latin typeface="Arial Nova Cond Light" panose="020B0306020202020204" pitchFamily="34" charset="0"/>
              </a:rPr>
              <a:t>			</a:t>
            </a:r>
            <a:r>
              <a:rPr lang="en-US" sz="2400" dirty="0">
                <a:latin typeface="Arial Nova Cond Light" panose="020B0306020202020204" pitchFamily="34" charset="0"/>
              </a:rPr>
              <a:t>The old is more diligent than the young.</a:t>
            </a:r>
            <a:endParaRPr lang="en-PH" sz="3200" dirty="0">
              <a:latin typeface="Arial Nova Cond Light" panose="020B0306020202020204" pitchFamily="34" charset="0"/>
            </a:endParaRPr>
          </a:p>
          <a:p>
            <a:endParaRPr lang="en-US" sz="4000" dirty="0">
              <a:latin typeface="Arial Narrow" panose="020B0606020202030204" pitchFamily="34" charset="0"/>
            </a:endParaRPr>
          </a:p>
        </p:txBody>
      </p:sp>
    </p:spTree>
    <p:extLst>
      <p:ext uri="{BB962C8B-B14F-4D97-AF65-F5344CB8AC3E}">
        <p14:creationId xmlns:p14="http://schemas.microsoft.com/office/powerpoint/2010/main" val="153072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DAD00-F7FF-79A9-6CFE-C31644D1DE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11E53A-09E4-705A-67F4-662A9E3AE77C}"/>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4" name="TextBox 3">
            <a:extLst>
              <a:ext uri="{FF2B5EF4-FFF2-40B4-BE49-F238E27FC236}">
                <a16:creationId xmlns:a16="http://schemas.microsoft.com/office/drawing/2014/main" id="{6AB44FAC-8EC2-711B-D71A-AEAC7E787DB8}"/>
              </a:ext>
            </a:extLst>
          </p:cNvPr>
          <p:cNvSpPr txBox="1"/>
          <p:nvPr/>
        </p:nvSpPr>
        <p:spPr>
          <a:xfrm>
            <a:off x="1" y="0"/>
            <a:ext cx="12191999" cy="6124754"/>
          </a:xfrm>
          <a:prstGeom prst="rect">
            <a:avLst/>
          </a:prstGeom>
          <a:noFill/>
        </p:spPr>
        <p:txBody>
          <a:bodyPr wrap="square">
            <a:spAutoFit/>
          </a:bodyPr>
          <a:lstStyle/>
          <a:p>
            <a:r>
              <a:rPr lang="en-US" sz="2800" dirty="0">
                <a:solidFill>
                  <a:srgbClr val="FFFF00"/>
                </a:solidFill>
                <a:latin typeface="Arial Nova Cond Light" panose="020B0306020202020204" pitchFamily="34" charset="0"/>
              </a:rPr>
              <a:t> </a:t>
            </a:r>
            <a:r>
              <a:rPr lang="en-US" sz="2800" b="1" dirty="0">
                <a:solidFill>
                  <a:srgbClr val="FFFF00"/>
                </a:solidFill>
                <a:latin typeface="Arial Nova Cond Light" panose="020B0306020202020204" pitchFamily="34" charset="0"/>
              </a:rPr>
              <a:t>2. A is worse than B</a:t>
            </a:r>
            <a:endParaRPr lang="en-PH" sz="2800" b="1" dirty="0">
              <a:solidFill>
                <a:srgbClr val="FFFF00"/>
              </a:solidFill>
              <a:latin typeface="Arial Nova Cond Light" panose="020B0306020202020204" pitchFamily="34" charset="0"/>
            </a:endParaRPr>
          </a:p>
          <a:p>
            <a:r>
              <a:rPr lang="en-US" sz="2800" dirty="0">
                <a:latin typeface="Arial Nova Cond Light" panose="020B0306020202020204" pitchFamily="34" charset="0"/>
              </a:rPr>
              <a:t> </a:t>
            </a:r>
            <a:endParaRPr lang="en-PH" sz="2800" dirty="0">
              <a:latin typeface="Arial Nova Cond Light" panose="020B0306020202020204" pitchFamily="34" charset="0"/>
            </a:endParaRPr>
          </a:p>
          <a:p>
            <a:r>
              <a:rPr lang="en-US" sz="2800" dirty="0">
                <a:latin typeface="Arial Nova Cond Light" panose="020B0306020202020204" pitchFamily="34" charset="0"/>
              </a:rPr>
              <a:t>To express a lower quality or lesser degree, the formula is:</a:t>
            </a:r>
            <a:endParaRPr lang="en-PH" sz="2800" dirty="0">
              <a:latin typeface="Arial Nova Cond Light" panose="020B0306020202020204" pitchFamily="34" charset="0"/>
            </a:endParaRPr>
          </a:p>
          <a:p>
            <a:r>
              <a:rPr lang="en-US" sz="2800" dirty="0">
                <a:latin typeface="Arial Nova Cond Light" panose="020B0306020202020204" pitchFamily="34" charset="0"/>
              </a:rPr>
              <a:t>A + </a:t>
            </a:r>
            <a:r>
              <a:rPr lang="en-US" sz="2800" b="1" dirty="0" err="1">
                <a:solidFill>
                  <a:srgbClr val="FFFF00"/>
                </a:solidFill>
                <a:latin typeface="Arial Nova Cond Light" panose="020B0306020202020204" pitchFamily="34" charset="0"/>
              </a:rPr>
              <a:t>hindi</a:t>
            </a:r>
            <a:r>
              <a:rPr lang="en-US" sz="2800" b="1" dirty="0">
                <a:solidFill>
                  <a:srgbClr val="FFFF00"/>
                </a:solidFill>
                <a:latin typeface="Arial Nova Cond Light" panose="020B0306020202020204" pitchFamily="34" charset="0"/>
              </a:rPr>
              <a:t> </a:t>
            </a:r>
            <a:r>
              <a:rPr lang="en-US" sz="2800" b="1" dirty="0" err="1">
                <a:solidFill>
                  <a:srgbClr val="FFFF00"/>
                </a:solidFill>
                <a:latin typeface="Arial Nova Cond Light" panose="020B0306020202020204" pitchFamily="34" charset="0"/>
              </a:rPr>
              <a:t>kasing</a:t>
            </a:r>
            <a:r>
              <a:rPr lang="en-US" sz="2800" b="1" dirty="0">
                <a:solidFill>
                  <a:srgbClr val="FFFF00"/>
                </a:solidFill>
                <a:latin typeface="Arial Nova Cond Light" panose="020B0306020202020204" pitchFamily="34" charset="0"/>
              </a:rPr>
              <a:t>- </a:t>
            </a:r>
            <a:r>
              <a:rPr lang="en-US" sz="2800" dirty="0">
                <a:latin typeface="Arial Nova Cond Light" panose="020B0306020202020204" pitchFamily="34" charset="0"/>
              </a:rPr>
              <a:t>+ [adjective] + </a:t>
            </a:r>
            <a:r>
              <a:rPr lang="en-US" sz="2800" b="1" dirty="0" err="1">
                <a:latin typeface="Arial Nova Cond Light" panose="020B0306020202020204" pitchFamily="34" charset="0"/>
              </a:rPr>
              <a:t>ni</a:t>
            </a:r>
            <a:r>
              <a:rPr lang="en-US" sz="2800" b="1" dirty="0">
                <a:latin typeface="Arial Nova Cond Light" panose="020B0306020202020204" pitchFamily="34" charset="0"/>
              </a:rPr>
              <a:t> </a:t>
            </a:r>
            <a:r>
              <a:rPr lang="en-US" sz="2800" b="1" i="1" dirty="0">
                <a:latin typeface="Arial Nova Cond Light" panose="020B0306020202020204" pitchFamily="34" charset="0"/>
              </a:rPr>
              <a:t>/ng </a:t>
            </a:r>
            <a:r>
              <a:rPr lang="en-US" sz="2800" dirty="0">
                <a:latin typeface="Arial Nova Cond Light" panose="020B0306020202020204" pitchFamily="34" charset="0"/>
              </a:rPr>
              <a:t>+ B</a:t>
            </a:r>
            <a:endParaRPr lang="en-PH" sz="2800" dirty="0">
              <a:latin typeface="Arial Nova Cond Light" panose="020B0306020202020204" pitchFamily="34" charset="0"/>
            </a:endParaRPr>
          </a:p>
          <a:p>
            <a:r>
              <a:rPr lang="en-US" sz="2800" dirty="0">
                <a:latin typeface="Arial Nova Cond Light" panose="020B0306020202020204" pitchFamily="34" charset="0"/>
              </a:rPr>
              <a:t> </a:t>
            </a:r>
            <a:endParaRPr lang="en-PH" sz="2800" dirty="0">
              <a:latin typeface="Arial Nova Cond Light" panose="020B0306020202020204" pitchFamily="34" charset="0"/>
            </a:endParaRPr>
          </a:p>
          <a:p>
            <a:r>
              <a:rPr lang="en-US" sz="2800" dirty="0">
                <a:latin typeface="Arial Nova Cond Light" panose="020B0306020202020204" pitchFamily="34" charset="0"/>
              </a:rPr>
              <a:t>The resulting phrase </a:t>
            </a:r>
            <a:r>
              <a:rPr lang="en-US" sz="2800" i="1" dirty="0">
                <a:solidFill>
                  <a:srgbClr val="FFFF00"/>
                </a:solidFill>
                <a:latin typeface="Arial Nova Cond Light" panose="020B0306020202020204" pitchFamily="34" charset="0"/>
              </a:rPr>
              <a:t>not as </a:t>
            </a:r>
            <a:r>
              <a:rPr lang="en-US" sz="2800" dirty="0">
                <a:latin typeface="Arial Nova Cond Light" panose="020B0306020202020204" pitchFamily="34" charset="0"/>
              </a:rPr>
              <a:t>[adjective] </a:t>
            </a:r>
            <a:r>
              <a:rPr lang="en-US" sz="2800" i="1" dirty="0">
                <a:solidFill>
                  <a:srgbClr val="FFFF00"/>
                </a:solidFill>
                <a:latin typeface="Arial Nova Cond Light" panose="020B0306020202020204" pitchFamily="34" charset="0"/>
              </a:rPr>
              <a:t>as</a:t>
            </a:r>
            <a:r>
              <a:rPr lang="en-US" sz="2800" i="1" dirty="0">
                <a:latin typeface="Arial Nova Cond Light" panose="020B0306020202020204" pitchFamily="34" charset="0"/>
              </a:rPr>
              <a:t> </a:t>
            </a:r>
            <a:r>
              <a:rPr lang="en-US" sz="2800" dirty="0">
                <a:latin typeface="Arial Nova Cond Light" panose="020B0306020202020204" pitchFamily="34" charset="0"/>
              </a:rPr>
              <a:t>means that the quality of the first noun is lower or less­er than that of the second noun.</a:t>
            </a:r>
            <a:endParaRPr lang="en-PH" sz="2800" dirty="0">
              <a:latin typeface="Arial Nova Cond Light" panose="020B0306020202020204" pitchFamily="34" charset="0"/>
            </a:endParaRPr>
          </a:p>
          <a:p>
            <a:br>
              <a:rPr lang="en-US" sz="2800" dirty="0">
                <a:latin typeface="Arial Nova Cond Light" panose="020B0306020202020204" pitchFamily="34" charset="0"/>
              </a:rPr>
            </a:br>
            <a:r>
              <a:rPr lang="en-US" sz="2800" b="1" dirty="0">
                <a:latin typeface="Arial Nova Cond Light" panose="020B0306020202020204" pitchFamily="34" charset="0"/>
              </a:rPr>
              <a:t>Si John ay </a:t>
            </a:r>
            <a:r>
              <a:rPr lang="en-US" sz="2800" b="1" dirty="0" err="1">
                <a:solidFill>
                  <a:srgbClr val="FFFF00"/>
                </a:solidFill>
                <a:latin typeface="Arial Nova Cond Light" panose="020B0306020202020204" pitchFamily="34" charset="0"/>
              </a:rPr>
              <a:t>hindi</a:t>
            </a:r>
            <a:r>
              <a:rPr lang="en-US" sz="2800" b="1" dirty="0">
                <a:solidFill>
                  <a:srgbClr val="FFFF00"/>
                </a:solidFill>
                <a:latin typeface="Arial Nova Cond Light" panose="020B0306020202020204" pitchFamily="34" charset="0"/>
              </a:rPr>
              <a:t> </a:t>
            </a:r>
            <a:r>
              <a:rPr lang="en-US" sz="2800" b="1" dirty="0" err="1">
                <a:solidFill>
                  <a:srgbClr val="FFFF00"/>
                </a:solidFill>
                <a:latin typeface="Arial Nova Cond Light" panose="020B0306020202020204" pitchFamily="34" charset="0"/>
              </a:rPr>
              <a:t>kasinrunong</a:t>
            </a:r>
            <a:r>
              <a:rPr lang="en-US" sz="2800" b="1" dirty="0">
                <a:solidFill>
                  <a:srgbClr val="FFFF00"/>
                </a:solidFill>
                <a:latin typeface="Arial Nova Cond Light" panose="020B0306020202020204" pitchFamily="34" charset="0"/>
              </a:rPr>
              <a:t> </a:t>
            </a:r>
            <a:r>
              <a:rPr lang="en-US" sz="2800" b="1" dirty="0" err="1">
                <a:latin typeface="Arial Nova Cond Light" panose="020B0306020202020204" pitchFamily="34" charset="0"/>
              </a:rPr>
              <a:t>ni</a:t>
            </a:r>
            <a:r>
              <a:rPr lang="en-US" sz="2800" b="1" dirty="0">
                <a:latin typeface="Arial Nova Cond Light" panose="020B0306020202020204" pitchFamily="34" charset="0"/>
              </a:rPr>
              <a:t> Peter.				</a:t>
            </a:r>
            <a:r>
              <a:rPr lang="en-US" sz="2800" dirty="0">
                <a:latin typeface="Arial Nova Cond Light" panose="020B0306020202020204" pitchFamily="34" charset="0"/>
              </a:rPr>
              <a:t>John is not as bright as Peter.</a:t>
            </a:r>
          </a:p>
          <a:p>
            <a:r>
              <a:rPr lang="en-US" sz="2800" dirty="0">
                <a:latin typeface="Arial Nova Cond Light" panose="020B0306020202020204" pitchFamily="34" charset="0"/>
              </a:rPr>
              <a:t>Hindi </a:t>
            </a:r>
            <a:r>
              <a:rPr lang="en-US" sz="2800" dirty="0" err="1">
                <a:latin typeface="Arial Nova Cond Light" panose="020B0306020202020204" pitchFamily="34" charset="0"/>
              </a:rPr>
              <a:t>kasinrunong</a:t>
            </a:r>
            <a:r>
              <a:rPr lang="en-US" sz="2800" dirty="0">
                <a:latin typeface="Arial Nova Cond Light" panose="020B0306020202020204" pitchFamily="34" charset="0"/>
              </a:rPr>
              <a:t> </a:t>
            </a:r>
            <a:r>
              <a:rPr lang="en-US" sz="2800" dirty="0" err="1">
                <a:latin typeface="Arial Nova Cond Light" panose="020B0306020202020204" pitchFamily="34" charset="0"/>
              </a:rPr>
              <a:t>si</a:t>
            </a:r>
            <a:r>
              <a:rPr lang="en-US" sz="2800" dirty="0">
                <a:latin typeface="Arial Nova Cond Light" panose="020B0306020202020204" pitchFamily="34" charset="0"/>
              </a:rPr>
              <a:t> John </a:t>
            </a:r>
            <a:r>
              <a:rPr lang="en-US" sz="2800" dirty="0" err="1">
                <a:latin typeface="Arial Nova Cond Light" panose="020B0306020202020204" pitchFamily="34" charset="0"/>
              </a:rPr>
              <a:t>ni</a:t>
            </a:r>
            <a:r>
              <a:rPr lang="en-US" sz="2800" dirty="0">
                <a:latin typeface="Arial Nova Cond Light" panose="020B0306020202020204" pitchFamily="34" charset="0"/>
              </a:rPr>
              <a:t> Peter. </a:t>
            </a:r>
            <a:endParaRPr lang="en-PH" sz="2800" dirty="0">
              <a:latin typeface="Arial Nova Cond Light" panose="020B0306020202020204" pitchFamily="34" charset="0"/>
            </a:endParaRPr>
          </a:p>
          <a:p>
            <a:r>
              <a:rPr lang="en-US" sz="2800" b="1" dirty="0">
                <a:latin typeface="Arial Nova Cond Light" panose="020B0306020202020204" pitchFamily="34" charset="0"/>
              </a:rPr>
              <a:t>Ang </a:t>
            </a:r>
            <a:r>
              <a:rPr lang="en-US" sz="2800" b="1" dirty="0" err="1">
                <a:latin typeface="Arial Nova Cond Light" panose="020B0306020202020204" pitchFamily="34" charset="0"/>
              </a:rPr>
              <a:t>aking</a:t>
            </a:r>
            <a:r>
              <a:rPr lang="en-US" sz="2800" b="1" dirty="0">
                <a:latin typeface="Arial Nova Cond Light" panose="020B0306020202020204" pitchFamily="34" charset="0"/>
              </a:rPr>
              <a:t> </a:t>
            </a:r>
            <a:r>
              <a:rPr lang="en-US" sz="2800" b="1" dirty="0" err="1">
                <a:latin typeface="Arial Nova Cond Light" panose="020B0306020202020204" pitchFamily="34" charset="0"/>
              </a:rPr>
              <a:t>anak</a:t>
            </a:r>
            <a:r>
              <a:rPr lang="en-US" sz="2800" b="1" dirty="0">
                <a:latin typeface="Arial Nova Cond Light" panose="020B0306020202020204" pitchFamily="34" charset="0"/>
              </a:rPr>
              <a:t> ay </a:t>
            </a:r>
            <a:r>
              <a:rPr lang="en-US" sz="2800" b="1" dirty="0" err="1">
                <a:solidFill>
                  <a:srgbClr val="FFFF00"/>
                </a:solidFill>
                <a:latin typeface="Arial Nova Cond Light" panose="020B0306020202020204" pitchFamily="34" charset="0"/>
              </a:rPr>
              <a:t>hindi</a:t>
            </a:r>
            <a:r>
              <a:rPr lang="en-US" sz="2800" b="1" dirty="0">
                <a:solidFill>
                  <a:srgbClr val="FFFF00"/>
                </a:solidFill>
                <a:latin typeface="Arial Nova Cond Light" panose="020B0306020202020204" pitchFamily="34" charset="0"/>
              </a:rPr>
              <a:t> </a:t>
            </a:r>
            <a:r>
              <a:rPr lang="en-US" sz="2800" b="1" dirty="0" err="1">
                <a:solidFill>
                  <a:srgbClr val="FFFF00"/>
                </a:solidFill>
                <a:latin typeface="Arial Nova Cond Light" panose="020B0306020202020204" pitchFamily="34" charset="0"/>
              </a:rPr>
              <a:t>kasimbait</a:t>
            </a:r>
            <a:r>
              <a:rPr lang="en-US" sz="2800" b="1" dirty="0">
                <a:solidFill>
                  <a:srgbClr val="FFFF00"/>
                </a:solidFill>
                <a:latin typeface="Arial Nova Cond Light" panose="020B0306020202020204" pitchFamily="34" charset="0"/>
              </a:rPr>
              <a:t> </a:t>
            </a:r>
            <a:r>
              <a:rPr lang="en-US" sz="2800" b="1" dirty="0">
                <a:latin typeface="Arial Nova Cond Light" panose="020B0306020202020204" pitchFamily="34" charset="0"/>
              </a:rPr>
              <a:t>ng </a:t>
            </a:r>
            <a:r>
              <a:rPr lang="en-US" sz="2800" b="1" dirty="0" err="1">
                <a:latin typeface="Arial Nova Cond Light" panose="020B0306020202020204" pitchFamily="34" charset="0"/>
              </a:rPr>
              <a:t>anak</a:t>
            </a:r>
            <a:r>
              <a:rPr lang="en-US" sz="2800" b="1" dirty="0">
                <a:latin typeface="Arial Nova Cond Light" panose="020B0306020202020204" pitchFamily="34" charset="0"/>
              </a:rPr>
              <a:t> </a:t>
            </a:r>
            <a:r>
              <a:rPr lang="en-US" sz="2800" b="1" dirty="0" err="1">
                <a:latin typeface="Arial Nova Cond Light" panose="020B0306020202020204" pitchFamily="34" charset="0"/>
              </a:rPr>
              <a:t>niya</a:t>
            </a:r>
            <a:r>
              <a:rPr lang="en-US" sz="2800" b="1" dirty="0">
                <a:latin typeface="Arial Nova Cond Light" panose="020B0306020202020204" pitchFamily="34" charset="0"/>
              </a:rPr>
              <a:t>.	</a:t>
            </a:r>
            <a:r>
              <a:rPr lang="en-US" sz="2800" dirty="0">
                <a:latin typeface="Arial Nova Cond Light" panose="020B0306020202020204" pitchFamily="34" charset="0"/>
              </a:rPr>
              <a:t>My child is not as good as his/her child.</a:t>
            </a:r>
            <a:endParaRPr lang="en-PH" sz="2800" dirty="0">
              <a:latin typeface="Arial Nova Cond Light" panose="020B0306020202020204" pitchFamily="34" charset="0"/>
            </a:endParaRPr>
          </a:p>
          <a:p>
            <a:endParaRPr lang="en-PH" sz="2800" dirty="0">
              <a:latin typeface="Arial Nova Cond Light" panose="020B0306020202020204" pitchFamily="34" charset="0"/>
            </a:endParaRPr>
          </a:p>
          <a:p>
            <a:br>
              <a:rPr lang="en-US" sz="2800" dirty="0">
                <a:latin typeface="Arial Nova Cond Light" panose="020B0306020202020204" pitchFamily="34" charset="0"/>
              </a:rPr>
            </a:br>
            <a:endParaRPr lang="en-US" sz="2800" dirty="0">
              <a:latin typeface="Arial Nova Cond Light" panose="020B0306020202020204" pitchFamily="34" charset="0"/>
            </a:endParaRPr>
          </a:p>
        </p:txBody>
      </p:sp>
    </p:spTree>
    <p:extLst>
      <p:ext uri="{BB962C8B-B14F-4D97-AF65-F5344CB8AC3E}">
        <p14:creationId xmlns:p14="http://schemas.microsoft.com/office/powerpoint/2010/main" val="254400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ED91D-7245-1B3A-2343-8529355E9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A69443-EC1B-5B83-AC26-173E43433883}"/>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8EA14265-F872-0987-9AB9-888DE8F88FFB}"/>
              </a:ext>
            </a:extLst>
          </p:cNvPr>
          <p:cNvSpPr>
            <a:spLocks noGrp="1"/>
          </p:cNvSpPr>
          <p:nvPr>
            <p:ph idx="1"/>
          </p:nvPr>
        </p:nvSpPr>
        <p:spPr>
          <a:xfrm>
            <a:off x="177801" y="1831736"/>
            <a:ext cx="10877054" cy="4052597"/>
          </a:xfrm>
        </p:spPr>
        <p:txBody>
          <a:bodyPr>
            <a:noAutofit/>
          </a:bodyPr>
          <a:lstStyle/>
          <a:p>
            <a:pPr marL="0" indent="0">
              <a:buNone/>
            </a:pPr>
            <a:endParaRPr lang="en-US" sz="2400" dirty="0"/>
          </a:p>
          <a:p>
            <a:pPr marL="0" indent="0">
              <a:buNone/>
            </a:pPr>
            <a:endParaRPr lang="en-US" sz="2400" dirty="0"/>
          </a:p>
          <a:p>
            <a:pPr marL="0" indent="0">
              <a:buNone/>
            </a:pPr>
            <a:r>
              <a:rPr lang="en-US" sz="2400" dirty="0"/>
              <a:t> </a:t>
            </a:r>
          </a:p>
          <a:p>
            <a:pPr marL="0" indent="0">
              <a:buNone/>
            </a:pPr>
            <a:endParaRPr lang="en-US" sz="2400" dirty="0"/>
          </a:p>
          <a:p>
            <a:pPr marL="0" indent="0">
              <a:buNone/>
            </a:pPr>
            <a:endParaRPr lang="en-PH" sz="2400" dirty="0"/>
          </a:p>
        </p:txBody>
      </p:sp>
      <p:sp>
        <p:nvSpPr>
          <p:cNvPr id="6" name="TextBox 5">
            <a:extLst>
              <a:ext uri="{FF2B5EF4-FFF2-40B4-BE49-F238E27FC236}">
                <a16:creationId xmlns:a16="http://schemas.microsoft.com/office/drawing/2014/main" id="{CDD0C1CE-C19C-3B95-045D-5B3A4B6042E7}"/>
              </a:ext>
            </a:extLst>
          </p:cNvPr>
          <p:cNvSpPr txBox="1"/>
          <p:nvPr/>
        </p:nvSpPr>
        <p:spPr>
          <a:xfrm>
            <a:off x="0" y="0"/>
            <a:ext cx="12192000" cy="6370975"/>
          </a:xfrm>
          <a:prstGeom prst="rect">
            <a:avLst/>
          </a:prstGeom>
          <a:noFill/>
        </p:spPr>
        <p:txBody>
          <a:bodyPr wrap="square">
            <a:spAutoFit/>
          </a:bodyPr>
          <a:lstStyle/>
          <a:p>
            <a:pPr lvl="0"/>
            <a:r>
              <a:rPr lang="en-US" sz="2400" b="1" dirty="0">
                <a:solidFill>
                  <a:srgbClr val="FFFF00"/>
                </a:solidFill>
                <a:latin typeface="Arial Nova Cond Light" panose="020B0306020202020204" pitchFamily="34" charset="0"/>
              </a:rPr>
              <a:t>III. INTENSIVES: A IS VERY [ADJECTIVE]</a:t>
            </a:r>
            <a:endParaRPr lang="en-PH" sz="2400" b="1" dirty="0">
              <a:solidFill>
                <a:srgbClr val="FFFF00"/>
              </a:solidFill>
              <a:latin typeface="Arial Nova Cond Light" panose="020B0306020202020204" pitchFamily="34" charset="0"/>
            </a:endParaRPr>
          </a:p>
          <a:p>
            <a:r>
              <a:rPr lang="en-US" sz="2400" dirty="0">
                <a:latin typeface="Arial Nova Cond Light" panose="020B0306020202020204" pitchFamily="34" charset="0"/>
              </a:rPr>
              <a:t>The intensive degree expresses a quality of a noun in a more forceful and emphatic way by using a phrase that starts with </a:t>
            </a:r>
            <a:r>
              <a:rPr lang="en-US" sz="2400" i="1" dirty="0">
                <a:latin typeface="Arial Nova Cond Light" panose="020B0306020202020204" pitchFamily="34" charset="0"/>
              </a:rPr>
              <a:t>very. </a:t>
            </a:r>
            <a:r>
              <a:rPr lang="en-US" sz="2400" dirty="0">
                <a:latin typeface="Arial Nova Cond Light" panose="020B0306020202020204" pitchFamily="34" charset="0"/>
              </a:rPr>
              <a:t>There ate many ways to express the intensity of the qualities in Tagalog but the most common are the following:</a:t>
            </a:r>
            <a:endParaRPr lang="en-PH" sz="2400" dirty="0">
              <a:latin typeface="Arial Nova Cond Light" panose="020B0306020202020204" pitchFamily="34" charset="0"/>
            </a:endParaRPr>
          </a:p>
          <a:p>
            <a:pPr lvl="1"/>
            <a:r>
              <a:rPr lang="en-US" sz="2400" dirty="0">
                <a:latin typeface="Arial Nova Cond Light" panose="020B0306020202020204" pitchFamily="34" charset="0"/>
              </a:rPr>
              <a:t>1. By </a:t>
            </a:r>
            <a:r>
              <a:rPr lang="en-US" sz="2400" dirty="0">
                <a:solidFill>
                  <a:srgbClr val="FFFF00"/>
                </a:solidFill>
                <a:latin typeface="Arial Nova Cond Light" panose="020B0306020202020204" pitchFamily="34" charset="0"/>
              </a:rPr>
              <a:t>duplicating</a:t>
            </a:r>
            <a:r>
              <a:rPr lang="en-US" sz="2400" dirty="0">
                <a:latin typeface="Arial Nova Cond Light" panose="020B0306020202020204" pitchFamily="34" charset="0"/>
              </a:rPr>
              <a:t> the adjective and attaching an appropriate ligature </a:t>
            </a:r>
            <a:r>
              <a:rPr lang="en-US" sz="2400" b="1" dirty="0">
                <a:solidFill>
                  <a:srgbClr val="FFFF00"/>
                </a:solidFill>
                <a:latin typeface="Arial Nova Cond Light" panose="020B0306020202020204" pitchFamily="34" charset="0"/>
              </a:rPr>
              <a:t>(-ng, -g </a:t>
            </a:r>
            <a:r>
              <a:rPr lang="en-US" sz="2400" b="1" dirty="0">
                <a:latin typeface="Arial Nova Cond Light" panose="020B0306020202020204" pitchFamily="34" charset="0"/>
              </a:rPr>
              <a:t>or </a:t>
            </a:r>
            <a:r>
              <a:rPr lang="en-US" sz="2400" b="1" dirty="0" err="1">
                <a:solidFill>
                  <a:srgbClr val="FFFF00"/>
                </a:solidFill>
                <a:latin typeface="Arial Nova Cond Light" panose="020B0306020202020204" pitchFamily="34" charset="0"/>
              </a:rPr>
              <a:t>na</a:t>
            </a:r>
            <a:r>
              <a:rPr lang="en-US" sz="2400" b="1" dirty="0">
                <a:solidFill>
                  <a:srgbClr val="FFFF00"/>
                </a:solidFill>
                <a:latin typeface="Arial Nova Cond Light" panose="020B0306020202020204" pitchFamily="34" charset="0"/>
              </a:rPr>
              <a:t>): </a:t>
            </a:r>
          </a:p>
          <a:p>
            <a:pPr lvl="1"/>
            <a:r>
              <a:rPr lang="en-US" sz="2400" b="1" dirty="0" err="1">
                <a:latin typeface="Arial Nova Cond Light" panose="020B0306020202020204" pitchFamily="34" charset="0"/>
              </a:rPr>
              <a:t>maganda</a:t>
            </a:r>
            <a:r>
              <a:rPr lang="en-US" sz="2400" b="1" dirty="0" err="1">
                <a:solidFill>
                  <a:srgbClr val="FFFF00"/>
                </a:solidFill>
                <a:latin typeface="Arial Nova Cond Light" panose="020B0306020202020204" pitchFamily="34" charset="0"/>
              </a:rPr>
              <a:t>ng</a:t>
            </a:r>
            <a:r>
              <a:rPr lang="en-US" sz="2400" b="1" dirty="0" err="1">
                <a:latin typeface="Arial Nova Cond Light" panose="020B0306020202020204" pitchFamily="34" charset="0"/>
              </a:rPr>
              <a:t>-maganda</a:t>
            </a:r>
            <a:r>
              <a:rPr lang="en-US" sz="2400" b="1" dirty="0">
                <a:latin typeface="Arial Nova Cond Light" panose="020B0306020202020204" pitchFamily="34" charset="0"/>
              </a:rPr>
              <a:t>			</a:t>
            </a:r>
            <a:r>
              <a:rPr lang="en-US" sz="2400" dirty="0">
                <a:latin typeface="Arial Nova Cond Light" panose="020B0306020202020204" pitchFamily="34" charset="0"/>
              </a:rPr>
              <a:t>very beautiful</a:t>
            </a:r>
            <a:endParaRPr lang="en-PH" sz="2400" dirty="0">
              <a:latin typeface="Arial Nova Cond Light" panose="020B0306020202020204" pitchFamily="34" charset="0"/>
            </a:endParaRPr>
          </a:p>
          <a:p>
            <a:r>
              <a:rPr lang="en-US" sz="2400" b="1" dirty="0">
                <a:latin typeface="Arial Nova Cond Light" panose="020B0306020202020204" pitchFamily="34" charset="0"/>
              </a:rPr>
              <a:t>	</a:t>
            </a:r>
            <a:r>
              <a:rPr lang="en-US" sz="2400" b="1" dirty="0" err="1">
                <a:latin typeface="Arial Nova Cond Light" panose="020B0306020202020204" pitchFamily="34" charset="0"/>
              </a:rPr>
              <a:t>matanda</a:t>
            </a:r>
            <a:r>
              <a:rPr lang="en-US" sz="2400" b="1" dirty="0" err="1">
                <a:solidFill>
                  <a:srgbClr val="FFFF00"/>
                </a:solidFill>
                <a:latin typeface="Arial Nova Cond Light" panose="020B0306020202020204" pitchFamily="34" charset="0"/>
              </a:rPr>
              <a:t>ng</a:t>
            </a:r>
            <a:r>
              <a:rPr lang="en-US" sz="2400" b="1" dirty="0" err="1">
                <a:latin typeface="Arial Nova Cond Light" panose="020B0306020202020204" pitchFamily="34" charset="0"/>
              </a:rPr>
              <a:t>-matanda</a:t>
            </a:r>
            <a:r>
              <a:rPr lang="en-US" sz="2400" b="1" dirty="0">
                <a:latin typeface="Arial Nova Cond Light" panose="020B0306020202020204" pitchFamily="34" charset="0"/>
              </a:rPr>
              <a:t>				</a:t>
            </a:r>
            <a:r>
              <a:rPr lang="en-US" sz="2400" dirty="0">
                <a:latin typeface="Arial Nova Cond Light" panose="020B0306020202020204" pitchFamily="34" charset="0"/>
              </a:rPr>
              <a:t>very old</a:t>
            </a:r>
            <a:endParaRPr lang="en-PH" sz="2400" dirty="0">
              <a:latin typeface="Arial Nova Cond Light" panose="020B0306020202020204" pitchFamily="34" charset="0"/>
            </a:endParaRPr>
          </a:p>
          <a:p>
            <a:r>
              <a:rPr lang="en-US" sz="2400" b="1" dirty="0">
                <a:latin typeface="Arial Nova Cond Light" panose="020B0306020202020204" pitchFamily="34" charset="0"/>
              </a:rPr>
              <a:t>	</a:t>
            </a:r>
            <a:r>
              <a:rPr lang="en-US" sz="2400" b="1" dirty="0" err="1">
                <a:latin typeface="Arial Nova Cond Light" panose="020B0306020202020204" pitchFamily="34" charset="0"/>
              </a:rPr>
              <a:t>pangit</a:t>
            </a:r>
            <a:r>
              <a:rPr lang="en-US" sz="2400" b="1" dirty="0">
                <a:latin typeface="Arial Nova Cond Light" panose="020B0306020202020204" pitchFamily="34" charset="0"/>
              </a:rPr>
              <a:t> </a:t>
            </a:r>
            <a:r>
              <a:rPr lang="en-US" sz="2400" b="1" dirty="0" err="1">
                <a:solidFill>
                  <a:srgbClr val="FFFF00"/>
                </a:solidFill>
                <a:latin typeface="Arial Nova Cond Light" panose="020B0306020202020204" pitchFamily="34" charset="0"/>
              </a:rPr>
              <a:t>na</a:t>
            </a:r>
            <a:r>
              <a:rPr lang="en-US" sz="2400" b="1" dirty="0">
                <a:latin typeface="Arial Nova Cond Light" panose="020B0306020202020204" pitchFamily="34" charset="0"/>
              </a:rPr>
              <a:t> </a:t>
            </a:r>
            <a:r>
              <a:rPr lang="en-US" sz="2400" b="1" dirty="0" err="1">
                <a:latin typeface="Arial Nova Cond Light" panose="020B0306020202020204" pitchFamily="34" charset="0"/>
              </a:rPr>
              <a:t>pangit</a:t>
            </a:r>
            <a:r>
              <a:rPr lang="en-US" sz="2400" b="1" dirty="0">
                <a:latin typeface="Arial Nova Cond Light" panose="020B0306020202020204" pitchFamily="34" charset="0"/>
              </a:rPr>
              <a:t>					</a:t>
            </a:r>
            <a:r>
              <a:rPr lang="en-US" sz="2400" dirty="0">
                <a:latin typeface="Arial Nova Cond Light" panose="020B0306020202020204" pitchFamily="34" charset="0"/>
              </a:rPr>
              <a:t>very ugly</a:t>
            </a:r>
            <a:endParaRPr lang="en-PH" sz="2400" dirty="0">
              <a:latin typeface="Arial Nova Cond Light" panose="020B0306020202020204" pitchFamily="34" charset="0"/>
            </a:endParaRPr>
          </a:p>
          <a:p>
            <a:r>
              <a:rPr lang="en-US" sz="2400" b="1" dirty="0">
                <a:latin typeface="Arial Nova Cond Light" panose="020B0306020202020204" pitchFamily="34" charset="0"/>
              </a:rPr>
              <a:t>	</a:t>
            </a:r>
            <a:r>
              <a:rPr lang="en-US" sz="2400" b="1" dirty="0" err="1">
                <a:latin typeface="Arial Nova Cond Light" panose="020B0306020202020204" pitchFamily="34" charset="0"/>
              </a:rPr>
              <a:t>masipag</a:t>
            </a:r>
            <a:r>
              <a:rPr lang="en-US" sz="2400" b="1" dirty="0">
                <a:latin typeface="Arial Nova Cond Light" panose="020B0306020202020204" pitchFamily="34" charset="0"/>
              </a:rPr>
              <a:t> </a:t>
            </a:r>
            <a:r>
              <a:rPr lang="en-US" sz="2400" b="1" dirty="0" err="1">
                <a:solidFill>
                  <a:srgbClr val="FFFF00"/>
                </a:solidFill>
                <a:latin typeface="Arial Nova Cond Light" panose="020B0306020202020204" pitchFamily="34" charset="0"/>
              </a:rPr>
              <a:t>na</a:t>
            </a:r>
            <a:r>
              <a:rPr lang="en-US" sz="2400" b="1" dirty="0">
                <a:latin typeface="Arial Nova Cond Light" panose="020B0306020202020204" pitchFamily="34" charset="0"/>
              </a:rPr>
              <a:t> </a:t>
            </a:r>
            <a:r>
              <a:rPr lang="en-US" sz="2400" b="1" dirty="0" err="1">
                <a:latin typeface="Arial Nova Cond Light" panose="020B0306020202020204" pitchFamily="34" charset="0"/>
              </a:rPr>
              <a:t>masipag</a:t>
            </a:r>
            <a:r>
              <a:rPr lang="en-US" sz="2400" b="1" dirty="0">
                <a:latin typeface="Arial Nova Cond Light" panose="020B0306020202020204" pitchFamily="34" charset="0"/>
              </a:rPr>
              <a:t>				</a:t>
            </a:r>
            <a:r>
              <a:rPr lang="en-US" sz="2400" dirty="0">
                <a:latin typeface="Arial Nova Cond Light" panose="020B0306020202020204" pitchFamily="34" charset="0"/>
              </a:rPr>
              <a:t>very industrious</a:t>
            </a:r>
          </a:p>
          <a:p>
            <a:r>
              <a:rPr lang="en-US" sz="2400" dirty="0">
                <a:latin typeface="Arial Nova Cond Light" panose="020B0306020202020204" pitchFamily="34" charset="0"/>
              </a:rPr>
              <a:t>	</a:t>
            </a:r>
            <a:r>
              <a:rPr lang="en-US" sz="2400" dirty="0" err="1">
                <a:latin typeface="Arial Nova Cond Light" panose="020B0306020202020204" pitchFamily="34" charset="0"/>
              </a:rPr>
              <a:t>mayaman</a:t>
            </a:r>
            <a:r>
              <a:rPr lang="en-US" sz="2400" b="1" dirty="0" err="1">
                <a:solidFill>
                  <a:srgbClr val="FFFF00"/>
                </a:solidFill>
                <a:latin typeface="Arial Nova Cond Light" panose="020B0306020202020204" pitchFamily="34" charset="0"/>
              </a:rPr>
              <a:t>g</a:t>
            </a:r>
            <a:r>
              <a:rPr lang="en-US" sz="2400" dirty="0" err="1">
                <a:latin typeface="Arial Nova Cond Light" panose="020B0306020202020204" pitchFamily="34" charset="0"/>
              </a:rPr>
              <a:t>-mayaman</a:t>
            </a:r>
            <a:endParaRPr lang="en-PH" sz="2400" dirty="0">
              <a:latin typeface="Arial Nova Cond Light" panose="020B0306020202020204" pitchFamily="34" charset="0"/>
            </a:endParaRPr>
          </a:p>
          <a:p>
            <a:r>
              <a:rPr lang="en-US" sz="2400" dirty="0">
                <a:latin typeface="Arial Nova Cond Light" panose="020B0306020202020204" pitchFamily="34" charset="0"/>
              </a:rPr>
              <a:t> </a:t>
            </a:r>
            <a:endParaRPr lang="en-PH" sz="2400" dirty="0">
              <a:latin typeface="Arial Nova Cond Light" panose="020B0306020202020204" pitchFamily="34" charset="0"/>
            </a:endParaRPr>
          </a:p>
          <a:p>
            <a:pPr lvl="1"/>
            <a:r>
              <a:rPr lang="en-US" sz="2400" dirty="0">
                <a:latin typeface="Arial Nova Cond Light" panose="020B0306020202020204" pitchFamily="34" charset="0"/>
              </a:rPr>
              <a:t>2. By attaching the prefix </a:t>
            </a:r>
            <a:r>
              <a:rPr lang="en-US" sz="2400" b="1" dirty="0" err="1">
                <a:solidFill>
                  <a:srgbClr val="FFFF00"/>
                </a:solidFill>
                <a:latin typeface="Arial Nova Cond Light" panose="020B0306020202020204" pitchFamily="34" charset="0"/>
              </a:rPr>
              <a:t>napaka</a:t>
            </a:r>
            <a:r>
              <a:rPr lang="en-US" sz="2400" b="1" dirty="0">
                <a:latin typeface="Arial Nova Cond Light" panose="020B0306020202020204" pitchFamily="34" charset="0"/>
              </a:rPr>
              <a:t>- </a:t>
            </a:r>
            <a:r>
              <a:rPr lang="en-US" sz="2400" dirty="0">
                <a:latin typeface="Arial Nova Cond Light" panose="020B0306020202020204" pitchFamily="34" charset="0"/>
              </a:rPr>
              <a:t>(which means </a:t>
            </a:r>
            <a:r>
              <a:rPr lang="en-US" sz="2400" i="1" dirty="0">
                <a:latin typeface="Arial Nova Cond Light" panose="020B0306020202020204" pitchFamily="34" charset="0"/>
              </a:rPr>
              <a:t>very) </a:t>
            </a:r>
            <a:r>
              <a:rPr lang="en-US" sz="2400" dirty="0">
                <a:latin typeface="Arial Nova Cond Light" panose="020B0306020202020204" pitchFamily="34" charset="0"/>
              </a:rPr>
              <a:t>to the adjective:</a:t>
            </a:r>
            <a:endParaRPr lang="en-PH" sz="2400" dirty="0">
              <a:latin typeface="Arial Nova Cond Light" panose="020B0306020202020204" pitchFamily="34" charset="0"/>
            </a:endParaRPr>
          </a:p>
          <a:p>
            <a:r>
              <a:rPr lang="en-US" sz="2400" b="1" dirty="0">
                <a:latin typeface="Arial Nova Cond Light" panose="020B0306020202020204" pitchFamily="34" charset="0"/>
              </a:rPr>
              <a:t>	</a:t>
            </a:r>
            <a:r>
              <a:rPr lang="en-US" sz="2400" b="1" dirty="0" err="1">
                <a:latin typeface="Arial Nova Cond Light" panose="020B0306020202020204" pitchFamily="34" charset="0"/>
              </a:rPr>
              <a:t>napakapangit</a:t>
            </a:r>
            <a:r>
              <a:rPr lang="en-US" sz="2400" b="1" dirty="0">
                <a:latin typeface="Arial Nova Cond Light" panose="020B0306020202020204" pitchFamily="34" charset="0"/>
              </a:rPr>
              <a:t>					</a:t>
            </a:r>
            <a:r>
              <a:rPr lang="en-US" sz="2400" dirty="0">
                <a:latin typeface="Arial Nova Cond Light" panose="020B0306020202020204" pitchFamily="34" charset="0"/>
              </a:rPr>
              <a:t>very ugly</a:t>
            </a:r>
            <a:endParaRPr lang="en-PH" sz="2400" dirty="0">
              <a:latin typeface="Arial Nova Cond Light" panose="020B0306020202020204" pitchFamily="34" charset="0"/>
            </a:endParaRPr>
          </a:p>
          <a:p>
            <a:r>
              <a:rPr lang="en-US" sz="2400" b="1" dirty="0">
                <a:latin typeface="Arial Nova Cond Light" panose="020B0306020202020204" pitchFamily="34" charset="0"/>
              </a:rPr>
              <a:t>	</a:t>
            </a:r>
            <a:r>
              <a:rPr lang="en-US" sz="2400" b="1" dirty="0" err="1">
                <a:latin typeface="Arial Nova Cond Light" panose="020B0306020202020204" pitchFamily="34" charset="0"/>
              </a:rPr>
              <a:t>napakasipag</a:t>
            </a:r>
            <a:r>
              <a:rPr lang="en-US" sz="2400" b="1" dirty="0">
                <a:latin typeface="Arial Nova Cond Light" panose="020B0306020202020204" pitchFamily="34" charset="0"/>
              </a:rPr>
              <a:t>					</a:t>
            </a:r>
            <a:r>
              <a:rPr lang="en-US" sz="2400" dirty="0">
                <a:latin typeface="Arial Nova Cond Light" panose="020B0306020202020204" pitchFamily="34" charset="0"/>
              </a:rPr>
              <a:t>very industrious</a:t>
            </a:r>
            <a:endParaRPr lang="en-PH" sz="2400" dirty="0">
              <a:latin typeface="Arial Nova Cond Light" panose="020B0306020202020204" pitchFamily="34" charset="0"/>
            </a:endParaRPr>
          </a:p>
          <a:p>
            <a:r>
              <a:rPr lang="en-US" sz="2400" b="1" dirty="0">
                <a:latin typeface="Arial Nova Cond Light" panose="020B0306020202020204" pitchFamily="34" charset="0"/>
              </a:rPr>
              <a:t>	</a:t>
            </a:r>
            <a:r>
              <a:rPr lang="en-US" sz="2400" b="1" dirty="0" err="1">
                <a:latin typeface="Arial Nova Cond Light" panose="020B0306020202020204" pitchFamily="34" charset="0"/>
              </a:rPr>
              <a:t>napakatanda</a:t>
            </a:r>
            <a:r>
              <a:rPr lang="en-US" sz="2400" b="1" dirty="0">
                <a:latin typeface="Arial Nova Cond Light" panose="020B0306020202020204" pitchFamily="34" charset="0"/>
              </a:rPr>
              <a:t>					</a:t>
            </a:r>
            <a:r>
              <a:rPr lang="en-US" sz="2400" dirty="0">
                <a:latin typeface="Arial Nova Cond Light" panose="020B0306020202020204" pitchFamily="34" charset="0"/>
              </a:rPr>
              <a:t>very old</a:t>
            </a:r>
            <a:endParaRPr lang="en-PH" sz="2400" dirty="0">
              <a:latin typeface="Arial Nova Cond Light" panose="020B0306020202020204" pitchFamily="34" charset="0"/>
            </a:endParaRPr>
          </a:p>
          <a:p>
            <a:r>
              <a:rPr lang="en-US" sz="2400" b="1" dirty="0">
                <a:latin typeface="Arial Nova Cond Light" panose="020B0306020202020204" pitchFamily="34" charset="0"/>
              </a:rPr>
              <a:t>	</a:t>
            </a:r>
            <a:r>
              <a:rPr lang="en-US" sz="2400" b="1" dirty="0" err="1">
                <a:latin typeface="Arial Nova Cond Light" panose="020B0306020202020204" pitchFamily="34" charset="0"/>
              </a:rPr>
              <a:t>napakaganda</a:t>
            </a:r>
            <a:r>
              <a:rPr lang="en-US" sz="2400" b="1" dirty="0">
                <a:latin typeface="Arial Nova Cond Light" panose="020B0306020202020204" pitchFamily="34" charset="0"/>
              </a:rPr>
              <a:t>					</a:t>
            </a:r>
            <a:r>
              <a:rPr lang="en-US" sz="2400" dirty="0">
                <a:latin typeface="Arial Nova Cond Light" panose="020B0306020202020204" pitchFamily="34" charset="0"/>
              </a:rPr>
              <a:t>very beautiful</a:t>
            </a:r>
            <a:endParaRPr lang="en-PH" sz="2400" dirty="0">
              <a:latin typeface="Arial Nova Cond Light" panose="020B0306020202020204" pitchFamily="34" charset="0"/>
            </a:endParaRPr>
          </a:p>
          <a:p>
            <a:endParaRPr lang="en-US" sz="2400" dirty="0">
              <a:latin typeface="Arial Nova Cond Light" panose="020B0306020202020204" pitchFamily="34" charset="0"/>
            </a:endParaRPr>
          </a:p>
        </p:txBody>
      </p:sp>
    </p:spTree>
    <p:extLst>
      <p:ext uri="{BB962C8B-B14F-4D97-AF65-F5344CB8AC3E}">
        <p14:creationId xmlns:p14="http://schemas.microsoft.com/office/powerpoint/2010/main" val="1433527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348C1-9F43-42E4-F8E9-A82539DCC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A313F-6CC6-FD32-4501-8C676DE211DD}"/>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83AD538B-2385-D9A7-AA47-DCF6B1A59F94}"/>
              </a:ext>
            </a:extLst>
          </p:cNvPr>
          <p:cNvSpPr>
            <a:spLocks noGrp="1"/>
          </p:cNvSpPr>
          <p:nvPr>
            <p:ph idx="1"/>
          </p:nvPr>
        </p:nvSpPr>
        <p:spPr>
          <a:xfrm>
            <a:off x="0" y="0"/>
            <a:ext cx="12191999" cy="6176865"/>
          </a:xfrm>
        </p:spPr>
        <p:txBody>
          <a:bodyPr>
            <a:noAutofit/>
          </a:bodyPr>
          <a:lstStyle/>
          <a:p>
            <a:pPr marL="0" lvl="0" indent="0">
              <a:buNone/>
            </a:pPr>
            <a:r>
              <a:rPr lang="en-US" sz="3200" b="1" dirty="0">
                <a:solidFill>
                  <a:srgbClr val="FFFF00"/>
                </a:solidFill>
                <a:latin typeface="Arial Nova Cond Light" panose="020B0306020202020204" pitchFamily="34" charset="0"/>
              </a:rPr>
              <a:t>IV. SUPERLATIVES: A </a:t>
            </a:r>
            <a:r>
              <a:rPr lang="en-US" sz="3200" b="1" dirty="0">
                <a:latin typeface="Arial Nova Cond Light" panose="020B0306020202020204" pitchFamily="34" charset="0"/>
              </a:rPr>
              <a:t>IS THE MOST [ADJECTIVE]</a:t>
            </a:r>
            <a:endParaRPr lang="en-PH" sz="3200" b="1" dirty="0">
              <a:latin typeface="Arial Nova Cond Light" panose="020B0306020202020204" pitchFamily="34" charset="0"/>
            </a:endParaRPr>
          </a:p>
          <a:p>
            <a:pPr marL="0" indent="0">
              <a:buNone/>
            </a:pPr>
            <a:r>
              <a:rPr lang="en-US" sz="3200" dirty="0">
                <a:latin typeface="Arial Nova Cond Light" panose="020B0306020202020204" pitchFamily="34" charset="0"/>
              </a:rPr>
              <a:t>Superlatives express the quality of something to the highest degree (the greatest, the best, the most). It uses the prefix</a:t>
            </a:r>
            <a:r>
              <a:rPr lang="en-US" sz="3200" dirty="0">
                <a:solidFill>
                  <a:srgbClr val="FFFF00"/>
                </a:solidFill>
                <a:latin typeface="Arial Nova Cond Light" panose="020B0306020202020204" pitchFamily="34" charset="0"/>
              </a:rPr>
              <a:t> </a:t>
            </a:r>
            <a:r>
              <a:rPr lang="en-US" sz="3200" b="1" dirty="0" err="1">
                <a:solidFill>
                  <a:srgbClr val="FFFF00"/>
                </a:solidFill>
                <a:latin typeface="Arial Nova Cond Light" panose="020B0306020202020204" pitchFamily="34" charset="0"/>
              </a:rPr>
              <a:t>pinaka</a:t>
            </a:r>
            <a:r>
              <a:rPr lang="en-US" sz="3200" b="1" dirty="0">
                <a:solidFill>
                  <a:srgbClr val="FFFF00"/>
                </a:solidFill>
                <a:latin typeface="Arial Nova Cond Light" panose="020B0306020202020204" pitchFamily="34" charset="0"/>
              </a:rPr>
              <a:t>- </a:t>
            </a:r>
            <a:r>
              <a:rPr lang="en-US" sz="3200" dirty="0">
                <a:latin typeface="Arial Nova Cond Light" panose="020B0306020202020204" pitchFamily="34" charset="0"/>
              </a:rPr>
              <a:t>(which means </a:t>
            </a:r>
            <a:r>
              <a:rPr lang="en-US" sz="3200" i="1" dirty="0">
                <a:latin typeface="Arial Nova Cond Light" panose="020B0306020202020204" pitchFamily="34" charset="0"/>
              </a:rPr>
              <a:t>most) </a:t>
            </a:r>
            <a:r>
              <a:rPr lang="en-US" sz="3200" dirty="0">
                <a:latin typeface="Arial Nova Cond Light" panose="020B0306020202020204" pitchFamily="34" charset="0"/>
              </a:rPr>
              <a:t>attached to adjectives, resulting in such words as the following:</a:t>
            </a:r>
            <a:br>
              <a:rPr lang="en-US" sz="3200" dirty="0">
                <a:latin typeface="Arial Nova Cond Light" panose="020B0306020202020204" pitchFamily="34" charset="0"/>
              </a:rPr>
            </a:br>
            <a:r>
              <a:rPr lang="en-US" sz="3200" b="1" dirty="0" err="1">
                <a:latin typeface="Arial Nova Cond Light" panose="020B0306020202020204" pitchFamily="34" charset="0"/>
              </a:rPr>
              <a:t>pinakapangit</a:t>
            </a:r>
            <a:r>
              <a:rPr lang="en-US" sz="3200" b="1" dirty="0">
                <a:latin typeface="Arial Nova Cond Light" panose="020B0306020202020204" pitchFamily="34" charset="0"/>
              </a:rPr>
              <a:t>						</a:t>
            </a:r>
            <a:r>
              <a:rPr lang="en-US" sz="3200" dirty="0">
                <a:latin typeface="Arial Nova Cond Light" panose="020B0306020202020204" pitchFamily="34" charset="0"/>
              </a:rPr>
              <a:t> the ugliest </a:t>
            </a:r>
            <a:endParaRPr lang="en-US" sz="3200" b="1" dirty="0">
              <a:latin typeface="Arial Nova Cond Light" panose="020B0306020202020204" pitchFamily="34" charset="0"/>
            </a:endParaRPr>
          </a:p>
          <a:p>
            <a:pPr marL="0" indent="0">
              <a:buNone/>
            </a:pPr>
            <a:r>
              <a:rPr lang="en-US" sz="3200" b="1" dirty="0" err="1">
                <a:latin typeface="Arial Nova Cond Light" panose="020B0306020202020204" pitchFamily="34" charset="0"/>
              </a:rPr>
              <a:t>pinakamalinis</a:t>
            </a:r>
            <a:r>
              <a:rPr lang="en-US" sz="3200" b="1" dirty="0">
                <a:latin typeface="Arial Nova Cond Light" panose="020B0306020202020204" pitchFamily="34" charset="0"/>
              </a:rPr>
              <a:t> 					 </a:t>
            </a:r>
            <a:r>
              <a:rPr lang="en-US" sz="3200" dirty="0">
                <a:latin typeface="Arial Nova Cond Light" panose="020B0306020202020204" pitchFamily="34" charset="0"/>
              </a:rPr>
              <a:t>cleanest</a:t>
            </a:r>
            <a:br>
              <a:rPr lang="en-US" sz="3200" b="1" dirty="0">
                <a:latin typeface="Arial Nova Cond Light" panose="020B0306020202020204" pitchFamily="34" charset="0"/>
              </a:rPr>
            </a:br>
            <a:r>
              <a:rPr lang="en-US" sz="3200" b="1" dirty="0" err="1">
                <a:latin typeface="Arial Nova Cond Light" panose="020B0306020202020204" pitchFamily="34" charset="0"/>
              </a:rPr>
              <a:t>pinakamasipag</a:t>
            </a:r>
            <a:r>
              <a:rPr lang="en-US" sz="3200" b="1" dirty="0">
                <a:latin typeface="Arial Nova Cond Light" panose="020B0306020202020204" pitchFamily="34" charset="0"/>
              </a:rPr>
              <a:t> 					</a:t>
            </a:r>
            <a:r>
              <a:rPr lang="en-US" sz="3200" dirty="0">
                <a:latin typeface="Arial Nova Cond Light" panose="020B0306020202020204" pitchFamily="34" charset="0"/>
              </a:rPr>
              <a:t> most industrious </a:t>
            </a:r>
            <a:endParaRPr lang="en-US" sz="3200" b="1" dirty="0">
              <a:latin typeface="Arial Nova Cond Light" panose="020B0306020202020204" pitchFamily="34" charset="0"/>
            </a:endParaRPr>
          </a:p>
          <a:p>
            <a:pPr marL="0" indent="0">
              <a:buNone/>
            </a:pPr>
            <a:r>
              <a:rPr lang="en-US" sz="3200" b="1" dirty="0" err="1">
                <a:latin typeface="Arial Nova Cond Light" panose="020B0306020202020204" pitchFamily="34" charset="0"/>
              </a:rPr>
              <a:t>Pinakamatanda</a:t>
            </a:r>
            <a:r>
              <a:rPr lang="en-US" sz="3200" b="1" dirty="0">
                <a:latin typeface="Arial Nova Cond Light" panose="020B0306020202020204" pitchFamily="34" charset="0"/>
              </a:rPr>
              <a:t>				 	 </a:t>
            </a:r>
            <a:r>
              <a:rPr lang="en-US" sz="3200" dirty="0">
                <a:latin typeface="Arial Nova Cond Light" panose="020B0306020202020204" pitchFamily="34" charset="0"/>
              </a:rPr>
              <a:t>oldest</a:t>
            </a:r>
            <a:endParaRPr lang="en-US" sz="3200" b="1" dirty="0">
              <a:latin typeface="Arial Nova Cond Light" panose="020B0306020202020204" pitchFamily="34" charset="0"/>
            </a:endParaRPr>
          </a:p>
          <a:p>
            <a:pPr marL="0" indent="0">
              <a:buNone/>
            </a:pPr>
            <a:r>
              <a:rPr lang="en-US" sz="3200" b="1" dirty="0" err="1">
                <a:latin typeface="Arial Nova Cond Light" panose="020B0306020202020204" pitchFamily="34" charset="0"/>
              </a:rPr>
              <a:t>pinakamaganda</a:t>
            </a:r>
            <a:r>
              <a:rPr lang="en-US" sz="3200" b="1" dirty="0">
                <a:latin typeface="Arial Nova Cond Light" panose="020B0306020202020204" pitchFamily="34" charset="0"/>
              </a:rPr>
              <a:t>					 </a:t>
            </a:r>
            <a:r>
              <a:rPr lang="en-US" sz="3200" dirty="0">
                <a:latin typeface="Arial Nova Cond Light" panose="020B0306020202020204" pitchFamily="34" charset="0"/>
              </a:rPr>
              <a:t>most beautiful</a:t>
            </a:r>
            <a:endParaRPr lang="en-PH" sz="3200" dirty="0">
              <a:latin typeface="Arial Nova Cond Light" panose="020B0306020202020204" pitchFamily="34" charset="0"/>
            </a:endParaRPr>
          </a:p>
          <a:p>
            <a:pPr marL="0" indent="0">
              <a:buNone/>
            </a:pPr>
            <a:endParaRPr lang="en-PH" dirty="0">
              <a:latin typeface="Arial Nova Cond Light" panose="020B0306020202020204" pitchFamily="34" charset="0"/>
            </a:endParaRPr>
          </a:p>
          <a:p>
            <a:pPr marL="0" indent="0">
              <a:buNone/>
            </a:pPr>
            <a:endParaRPr lang="en-PH" dirty="0">
              <a:latin typeface="Arial Nova Cond Light" panose="020B0306020202020204" pitchFamily="34" charset="0"/>
            </a:endParaRPr>
          </a:p>
        </p:txBody>
      </p:sp>
    </p:spTree>
    <p:extLst>
      <p:ext uri="{BB962C8B-B14F-4D97-AF65-F5344CB8AC3E}">
        <p14:creationId xmlns:p14="http://schemas.microsoft.com/office/powerpoint/2010/main" val="2739966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F0997-8936-2F1C-E054-DCC85D5FBD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E7B05-5AFC-153C-6C0D-67AD5BB42A75}"/>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0B614C0A-D640-D36A-C2EA-41602AC86F03}"/>
              </a:ext>
            </a:extLst>
          </p:cNvPr>
          <p:cNvSpPr>
            <a:spLocks noGrp="1"/>
          </p:cNvSpPr>
          <p:nvPr>
            <p:ph idx="1"/>
          </p:nvPr>
        </p:nvSpPr>
        <p:spPr>
          <a:xfrm>
            <a:off x="84666" y="67735"/>
            <a:ext cx="12107333" cy="6087532"/>
          </a:xfrm>
        </p:spPr>
        <p:txBody>
          <a:bodyPr>
            <a:noAutofit/>
          </a:bodyPr>
          <a:lstStyle/>
          <a:p>
            <a:pPr marL="0" indent="0">
              <a:buNone/>
            </a:pPr>
            <a:r>
              <a:rPr lang="en-US" sz="2400" dirty="0">
                <a:latin typeface="Arial Nova Cond Light" panose="020B0306020202020204" pitchFamily="34" charset="0"/>
              </a:rPr>
              <a:t>Describe a quality or feature of the following nouns, using the </a:t>
            </a:r>
            <a:r>
              <a:rPr lang="en-US" sz="2400" b="1" dirty="0">
                <a:solidFill>
                  <a:srgbClr val="FFFF00"/>
                </a:solidFill>
                <a:latin typeface="Arial Nova Cond Light" panose="020B0306020202020204" pitchFamily="34" charset="0"/>
              </a:rPr>
              <a:t>superlative form</a:t>
            </a:r>
            <a:r>
              <a:rPr lang="en-US" sz="2400" dirty="0">
                <a:solidFill>
                  <a:srgbClr val="FFFF00"/>
                </a:solidFill>
                <a:latin typeface="Arial Nova Cond Light" panose="020B0306020202020204" pitchFamily="34" charset="0"/>
              </a:rPr>
              <a:t>.</a:t>
            </a:r>
          </a:p>
          <a:p>
            <a:pPr marL="0" indent="0">
              <a:buNone/>
            </a:pPr>
            <a:r>
              <a:rPr lang="en-PH" sz="2400" dirty="0">
                <a:latin typeface="Arial Nova Cond Light" panose="020B0306020202020204" pitchFamily="34" charset="0"/>
              </a:rPr>
              <a:t> 1.	</a:t>
            </a:r>
            <a:r>
              <a:rPr lang="en-PH" sz="2400" dirty="0" err="1">
                <a:latin typeface="Arial Nova Cond Light" panose="020B0306020202020204" pitchFamily="34" charset="0"/>
              </a:rPr>
              <a:t>bahay</a:t>
            </a:r>
            <a:r>
              <a:rPr lang="en-PH" sz="2400" dirty="0">
                <a:latin typeface="Arial Nova Cond Light" panose="020B0306020202020204" pitchFamily="34" charset="0"/>
              </a:rPr>
              <a:t>		house 	 		6. </a:t>
            </a:r>
            <a:r>
              <a:rPr lang="en-PH" sz="2400" dirty="0" err="1">
                <a:latin typeface="Arial Nova Cond Light" panose="020B0306020202020204" pitchFamily="34" charset="0"/>
              </a:rPr>
              <a:t>yelo</a:t>
            </a:r>
            <a:r>
              <a:rPr lang="en-PH" sz="2400" dirty="0">
                <a:latin typeface="Arial Nova Cond Light" panose="020B0306020202020204" pitchFamily="34" charset="0"/>
              </a:rPr>
              <a:t>		Ice </a:t>
            </a:r>
          </a:p>
          <a:p>
            <a:pPr marL="0" indent="0">
              <a:buNone/>
            </a:pPr>
            <a:r>
              <a:rPr lang="en-PH" sz="2400" dirty="0">
                <a:latin typeface="Arial Nova Cond Light" panose="020B0306020202020204" pitchFamily="34" charset="0"/>
              </a:rPr>
              <a:t>2	</a:t>
            </a:r>
            <a:r>
              <a:rPr lang="en-PH" sz="2400" dirty="0" err="1">
                <a:latin typeface="Arial Nova Cond Light" panose="020B0306020202020204" pitchFamily="34" charset="0"/>
              </a:rPr>
              <a:t>babae</a:t>
            </a:r>
            <a:r>
              <a:rPr lang="en-PH" sz="2400" dirty="0">
                <a:latin typeface="Arial Nova Cond Light" panose="020B0306020202020204" pitchFamily="34" charset="0"/>
              </a:rPr>
              <a:t>		woman			7. </a:t>
            </a:r>
            <a:r>
              <a:rPr lang="en-PH" sz="2400" dirty="0" err="1">
                <a:latin typeface="Arial Nova Cond Light" panose="020B0306020202020204" pitchFamily="34" charset="0"/>
              </a:rPr>
              <a:t>bundok</a:t>
            </a:r>
            <a:r>
              <a:rPr lang="en-PH" sz="2400" dirty="0">
                <a:latin typeface="Arial Nova Cond Light" panose="020B0306020202020204" pitchFamily="34" charset="0"/>
              </a:rPr>
              <a:t>	mountain</a:t>
            </a:r>
          </a:p>
          <a:p>
            <a:pPr marL="0" indent="0">
              <a:buNone/>
            </a:pPr>
            <a:r>
              <a:rPr lang="en-PH" sz="2400" dirty="0">
                <a:latin typeface="Arial Nova Cond Light" panose="020B0306020202020204" pitchFamily="34" charset="0"/>
              </a:rPr>
              <a:t>3.	</a:t>
            </a:r>
            <a:r>
              <a:rPr lang="en-PH" sz="2400" dirty="0" err="1">
                <a:latin typeface="Arial Nova Cond Light" panose="020B0306020202020204" pitchFamily="34" charset="0"/>
              </a:rPr>
              <a:t>araw</a:t>
            </a:r>
            <a:r>
              <a:rPr lang="en-PH" sz="2400" dirty="0">
                <a:latin typeface="Arial Nova Cond Light" panose="020B0306020202020204" pitchFamily="34" charset="0"/>
              </a:rPr>
              <a:t>		sun			 8. </a:t>
            </a:r>
            <a:r>
              <a:rPr lang="en-PH" sz="2400" dirty="0" err="1">
                <a:latin typeface="Arial Nova Cond Light" panose="020B0306020202020204" pitchFamily="34" charset="0"/>
              </a:rPr>
              <a:t>ilog</a:t>
            </a:r>
            <a:r>
              <a:rPr lang="en-PH" sz="2400" dirty="0">
                <a:latin typeface="Arial Nova Cond Light" panose="020B0306020202020204" pitchFamily="34" charset="0"/>
              </a:rPr>
              <a:t>		 river</a:t>
            </a:r>
          </a:p>
          <a:p>
            <a:pPr marL="0" indent="0">
              <a:buNone/>
            </a:pPr>
            <a:r>
              <a:rPr lang="en-PH" sz="2400" dirty="0">
                <a:latin typeface="Arial Nova Cond Light" panose="020B0306020202020204" pitchFamily="34" charset="0"/>
              </a:rPr>
              <a:t>4 	gabi		night			9. </a:t>
            </a:r>
            <a:r>
              <a:rPr lang="en-PH" sz="2400" dirty="0" err="1">
                <a:latin typeface="Arial Nova Cond Light" panose="020B0306020202020204" pitchFamily="34" charset="0"/>
              </a:rPr>
              <a:t>radyo</a:t>
            </a:r>
            <a:r>
              <a:rPr lang="en-PH" sz="2400" dirty="0">
                <a:latin typeface="Arial Nova Cond Light" panose="020B0306020202020204" pitchFamily="34" charset="0"/>
              </a:rPr>
              <a:t>		radio 	</a:t>
            </a:r>
          </a:p>
          <a:p>
            <a:pPr marL="0" indent="0">
              <a:buNone/>
            </a:pPr>
            <a:r>
              <a:rPr lang="en-PH" sz="2400" dirty="0">
                <a:latin typeface="Arial Nova Cond Light" panose="020B0306020202020204" pitchFamily="34" charset="0"/>
              </a:rPr>
              <a:t>5. 	</a:t>
            </a:r>
            <a:r>
              <a:rPr lang="en-PH" sz="2400" dirty="0" err="1">
                <a:latin typeface="Arial Nova Cond Light" panose="020B0306020202020204" pitchFamily="34" charset="0"/>
              </a:rPr>
              <a:t>simbahan</a:t>
            </a:r>
            <a:r>
              <a:rPr lang="en-PH" sz="2400" dirty="0">
                <a:latin typeface="Arial Nova Cond Light" panose="020B0306020202020204" pitchFamily="34" charset="0"/>
              </a:rPr>
              <a:t>	church			10. </a:t>
            </a:r>
            <a:r>
              <a:rPr lang="en-PH" sz="2400" dirty="0" err="1">
                <a:latin typeface="Arial Nova Cond Light" panose="020B0306020202020204" pitchFamily="34" charset="0"/>
              </a:rPr>
              <a:t>langit</a:t>
            </a:r>
            <a:r>
              <a:rPr lang="en-PH" sz="2400" dirty="0">
                <a:latin typeface="Arial Nova Cond Light" panose="020B0306020202020204" pitchFamily="34" charset="0"/>
              </a:rPr>
              <a:t>	 sky</a:t>
            </a:r>
            <a:br>
              <a:rPr lang="en-PH" sz="2400" dirty="0">
                <a:latin typeface="Arial Nova Cond Light" panose="020B0306020202020204" pitchFamily="34" charset="0"/>
              </a:rPr>
            </a:br>
            <a:br>
              <a:rPr lang="en-PH" sz="2400" dirty="0">
                <a:latin typeface="Arial Nova Cond Light" panose="020B0306020202020204" pitchFamily="34" charset="0"/>
              </a:rPr>
            </a:br>
            <a:r>
              <a:rPr lang="en-PH" sz="2400" dirty="0">
                <a:latin typeface="Arial Nova Cond Light" panose="020B0306020202020204" pitchFamily="34" charset="0"/>
              </a:rPr>
              <a:t>1. </a:t>
            </a:r>
            <a:r>
              <a:rPr lang="en-PH" sz="2400" dirty="0" err="1">
                <a:latin typeface="Arial Nova Cond Light" panose="020B0306020202020204" pitchFamily="34" charset="0"/>
              </a:rPr>
              <a:t>Pinakamalaking</a:t>
            </a:r>
            <a:r>
              <a:rPr lang="en-PH" sz="2400" dirty="0">
                <a:latin typeface="Arial Nova Cond Light" panose="020B0306020202020204" pitchFamily="34" charset="0"/>
              </a:rPr>
              <a:t> </a:t>
            </a:r>
            <a:r>
              <a:rPr lang="en-PH" sz="2400" dirty="0" err="1">
                <a:latin typeface="Arial Nova Cond Light" panose="020B0306020202020204" pitchFamily="34" charset="0"/>
              </a:rPr>
              <a:t>bahay</a:t>
            </a:r>
            <a:r>
              <a:rPr lang="en-PH" sz="2400" dirty="0">
                <a:latin typeface="Arial Nova Cond Light" panose="020B0306020202020204" pitchFamily="34" charset="0"/>
              </a:rPr>
              <a:t>				6. Pinakamalamig </a:t>
            </a:r>
            <a:r>
              <a:rPr lang="en-PH" sz="2400" dirty="0" err="1">
                <a:latin typeface="Arial Nova Cond Light" panose="020B0306020202020204" pitchFamily="34" charset="0"/>
              </a:rPr>
              <a:t>na</a:t>
            </a:r>
            <a:r>
              <a:rPr lang="en-PH" sz="2400" dirty="0">
                <a:latin typeface="Arial Nova Cond Light" panose="020B0306020202020204" pitchFamily="34" charset="0"/>
              </a:rPr>
              <a:t> </a:t>
            </a:r>
            <a:r>
              <a:rPr lang="en-PH" sz="2400" dirty="0" err="1">
                <a:latin typeface="Arial Nova Cond Light" panose="020B0306020202020204" pitchFamily="34" charset="0"/>
              </a:rPr>
              <a:t>yelo</a:t>
            </a:r>
            <a:endParaRPr lang="en-PH" sz="2400" dirty="0">
              <a:latin typeface="Arial Nova Cond Light" panose="020B0306020202020204" pitchFamily="34" charset="0"/>
            </a:endParaRPr>
          </a:p>
          <a:p>
            <a:pPr marL="0" indent="0">
              <a:buNone/>
            </a:pPr>
            <a:r>
              <a:rPr lang="en-PH" sz="2400" dirty="0">
                <a:latin typeface="Arial Nova Cond Light" panose="020B0306020202020204" pitchFamily="34" charset="0"/>
              </a:rPr>
              <a:t>2. </a:t>
            </a:r>
            <a:r>
              <a:rPr lang="en-PH" sz="2400" dirty="0" err="1">
                <a:latin typeface="Arial Nova Cond Light" panose="020B0306020202020204" pitchFamily="34" charset="0"/>
              </a:rPr>
              <a:t>Pinakamagandang</a:t>
            </a:r>
            <a:r>
              <a:rPr lang="en-PH" sz="2400" dirty="0">
                <a:latin typeface="Arial Nova Cond Light" panose="020B0306020202020204" pitchFamily="34" charset="0"/>
              </a:rPr>
              <a:t> </a:t>
            </a:r>
            <a:r>
              <a:rPr lang="en-PH" sz="2400" dirty="0" err="1">
                <a:latin typeface="Arial Nova Cond Light" panose="020B0306020202020204" pitchFamily="34" charset="0"/>
              </a:rPr>
              <a:t>babae</a:t>
            </a:r>
            <a:r>
              <a:rPr lang="en-PH" sz="2400" dirty="0">
                <a:latin typeface="Arial Nova Cond Light" panose="020B0306020202020204" pitchFamily="34" charset="0"/>
              </a:rPr>
              <a:t>			7. </a:t>
            </a:r>
            <a:r>
              <a:rPr lang="en-PH" sz="2400" dirty="0" err="1">
                <a:latin typeface="Arial Nova Cond Light" panose="020B0306020202020204" pitchFamily="34" charset="0"/>
              </a:rPr>
              <a:t>Pinakamataas</a:t>
            </a:r>
            <a:r>
              <a:rPr lang="en-PH" sz="2400" dirty="0">
                <a:latin typeface="Arial Nova Cond Light" panose="020B0306020202020204" pitchFamily="34" charset="0"/>
              </a:rPr>
              <a:t> </a:t>
            </a:r>
            <a:r>
              <a:rPr lang="en-PH" sz="2400" dirty="0" err="1">
                <a:latin typeface="Arial Nova Cond Light" panose="020B0306020202020204" pitchFamily="34" charset="0"/>
              </a:rPr>
              <a:t>na</a:t>
            </a:r>
            <a:r>
              <a:rPr lang="en-PH" sz="2400" dirty="0">
                <a:latin typeface="Arial Nova Cond Light" panose="020B0306020202020204" pitchFamily="34" charset="0"/>
              </a:rPr>
              <a:t> </a:t>
            </a:r>
            <a:r>
              <a:rPr lang="en-PH" sz="2400" dirty="0" err="1">
                <a:latin typeface="Arial Nova Cond Light" panose="020B0306020202020204" pitchFamily="34" charset="0"/>
              </a:rPr>
              <a:t>bundok</a:t>
            </a:r>
            <a:endParaRPr lang="en-PH" sz="2400" dirty="0">
              <a:latin typeface="Arial Nova Cond Light" panose="020B0306020202020204" pitchFamily="34" charset="0"/>
            </a:endParaRPr>
          </a:p>
          <a:p>
            <a:pPr marL="0" indent="0">
              <a:buNone/>
            </a:pPr>
            <a:r>
              <a:rPr lang="en-PH" sz="2400" dirty="0">
                <a:latin typeface="Arial Nova Cond Light" panose="020B0306020202020204" pitchFamily="34" charset="0"/>
              </a:rPr>
              <a:t>3. </a:t>
            </a:r>
            <a:r>
              <a:rPr lang="en-PH" sz="2400" dirty="0" err="1">
                <a:latin typeface="Arial Nova Cond Light" panose="020B0306020202020204" pitchFamily="34" charset="0"/>
              </a:rPr>
              <a:t>Pinakamainit</a:t>
            </a:r>
            <a:r>
              <a:rPr lang="en-PH" sz="2400" dirty="0">
                <a:latin typeface="Arial Nova Cond Light" panose="020B0306020202020204" pitchFamily="34" charset="0"/>
              </a:rPr>
              <a:t> </a:t>
            </a:r>
            <a:r>
              <a:rPr lang="en-PH" sz="2400" dirty="0" err="1">
                <a:latin typeface="Arial Nova Cond Light" panose="020B0306020202020204" pitchFamily="34" charset="0"/>
              </a:rPr>
              <a:t>na</a:t>
            </a:r>
            <a:r>
              <a:rPr lang="en-PH" sz="2400" dirty="0">
                <a:latin typeface="Arial Nova Cond Light" panose="020B0306020202020204" pitchFamily="34" charset="0"/>
              </a:rPr>
              <a:t> </a:t>
            </a:r>
            <a:r>
              <a:rPr lang="en-PH" sz="2400" dirty="0" err="1">
                <a:latin typeface="Arial Nova Cond Light" panose="020B0306020202020204" pitchFamily="34" charset="0"/>
              </a:rPr>
              <a:t>araw</a:t>
            </a:r>
            <a:r>
              <a:rPr lang="en-PH" sz="2400" dirty="0">
                <a:latin typeface="Arial Nova Cond Light" panose="020B0306020202020204" pitchFamily="34" charset="0"/>
              </a:rPr>
              <a:t>				8. </a:t>
            </a:r>
            <a:r>
              <a:rPr lang="en-PH" sz="2400" dirty="0" err="1">
                <a:latin typeface="Arial Nova Cond Light" panose="020B0306020202020204" pitchFamily="34" charset="0"/>
              </a:rPr>
              <a:t>Pinakamalinaw</a:t>
            </a:r>
            <a:r>
              <a:rPr lang="en-PH" sz="2400" dirty="0">
                <a:latin typeface="Arial Nova Cond Light" panose="020B0306020202020204" pitchFamily="34" charset="0"/>
              </a:rPr>
              <a:t> </a:t>
            </a:r>
            <a:r>
              <a:rPr lang="en-PH" sz="2400" dirty="0" err="1">
                <a:latin typeface="Arial Nova Cond Light" panose="020B0306020202020204" pitchFamily="34" charset="0"/>
              </a:rPr>
              <a:t>na</a:t>
            </a:r>
            <a:r>
              <a:rPr lang="en-PH" sz="2400" dirty="0">
                <a:latin typeface="Arial Nova Cond Light" panose="020B0306020202020204" pitchFamily="34" charset="0"/>
              </a:rPr>
              <a:t> </a:t>
            </a:r>
            <a:r>
              <a:rPr lang="en-PH" sz="2400" dirty="0" err="1">
                <a:latin typeface="Arial Nova Cond Light" panose="020B0306020202020204" pitchFamily="34" charset="0"/>
              </a:rPr>
              <a:t>ilog</a:t>
            </a:r>
            <a:endParaRPr lang="en-PH" sz="2400" dirty="0">
              <a:latin typeface="Arial Nova Cond Light" panose="020B0306020202020204" pitchFamily="34" charset="0"/>
            </a:endParaRPr>
          </a:p>
          <a:p>
            <a:pPr marL="0" indent="0">
              <a:buNone/>
            </a:pPr>
            <a:r>
              <a:rPr lang="en-PH" sz="2400" dirty="0">
                <a:latin typeface="Arial Nova Cond Light" panose="020B0306020202020204" pitchFamily="34" charset="0"/>
              </a:rPr>
              <a:t>4. Pinakamalamig </a:t>
            </a:r>
            <a:r>
              <a:rPr lang="en-PH" sz="2400" dirty="0" err="1">
                <a:latin typeface="Arial Nova Cond Light" panose="020B0306020202020204" pitchFamily="34" charset="0"/>
              </a:rPr>
              <a:t>na</a:t>
            </a:r>
            <a:r>
              <a:rPr lang="en-PH" sz="2400" dirty="0">
                <a:latin typeface="Arial Nova Cond Light" panose="020B0306020202020204" pitchFamily="34" charset="0"/>
              </a:rPr>
              <a:t> gabi				9. </a:t>
            </a:r>
            <a:r>
              <a:rPr lang="en-PH" sz="2400" dirty="0" err="1">
                <a:latin typeface="Arial Nova Cond Light" panose="020B0306020202020204" pitchFamily="34" charset="0"/>
              </a:rPr>
              <a:t>Pinakamaingay</a:t>
            </a:r>
            <a:r>
              <a:rPr lang="en-PH" sz="2400" dirty="0">
                <a:latin typeface="Arial Nova Cond Light" panose="020B0306020202020204" pitchFamily="34" charset="0"/>
              </a:rPr>
              <a:t> </a:t>
            </a:r>
            <a:r>
              <a:rPr lang="en-PH" sz="2400" dirty="0" err="1">
                <a:latin typeface="Arial Nova Cond Light" panose="020B0306020202020204" pitchFamily="34" charset="0"/>
              </a:rPr>
              <a:t>na</a:t>
            </a:r>
            <a:r>
              <a:rPr lang="en-PH" sz="2400" dirty="0">
                <a:latin typeface="Arial Nova Cond Light" panose="020B0306020202020204" pitchFamily="34" charset="0"/>
              </a:rPr>
              <a:t> </a:t>
            </a:r>
            <a:r>
              <a:rPr lang="en-PH" sz="2400" dirty="0" err="1">
                <a:latin typeface="Arial Nova Cond Light" panose="020B0306020202020204" pitchFamily="34" charset="0"/>
              </a:rPr>
              <a:t>radyo</a:t>
            </a:r>
            <a:endParaRPr lang="en-PH" sz="2400" dirty="0">
              <a:latin typeface="Arial Nova Cond Light" panose="020B0306020202020204" pitchFamily="34" charset="0"/>
            </a:endParaRPr>
          </a:p>
          <a:p>
            <a:pPr marL="0" indent="0">
              <a:buNone/>
            </a:pPr>
            <a:r>
              <a:rPr lang="en-PH" sz="2400" dirty="0">
                <a:latin typeface="Arial Nova Cond Light" panose="020B0306020202020204" pitchFamily="34" charset="0"/>
              </a:rPr>
              <a:t>5. </a:t>
            </a:r>
            <a:r>
              <a:rPr lang="en-PH" sz="2400" dirty="0" err="1">
                <a:latin typeface="Arial Nova Cond Light" panose="020B0306020202020204" pitchFamily="34" charset="0"/>
              </a:rPr>
              <a:t>Pinakatahimik</a:t>
            </a:r>
            <a:r>
              <a:rPr lang="en-PH" sz="2400" dirty="0">
                <a:latin typeface="Arial Nova Cond Light" panose="020B0306020202020204" pitchFamily="34" charset="0"/>
              </a:rPr>
              <a:t> </a:t>
            </a:r>
            <a:r>
              <a:rPr lang="en-PH" sz="2400" dirty="0" err="1">
                <a:latin typeface="Arial Nova Cond Light" panose="020B0306020202020204" pitchFamily="34" charset="0"/>
              </a:rPr>
              <a:t>na</a:t>
            </a:r>
            <a:r>
              <a:rPr lang="en-PH" sz="2400" dirty="0">
                <a:latin typeface="Arial Nova Cond Light" panose="020B0306020202020204" pitchFamily="34" charset="0"/>
              </a:rPr>
              <a:t> </a:t>
            </a:r>
            <a:r>
              <a:rPr lang="en-PH" sz="2400" dirty="0" err="1">
                <a:latin typeface="Arial Nova Cond Light" panose="020B0306020202020204" pitchFamily="34" charset="0"/>
              </a:rPr>
              <a:t>simbahan</a:t>
            </a:r>
            <a:r>
              <a:rPr lang="en-PH" sz="2400" dirty="0">
                <a:latin typeface="Arial Nova Cond Light" panose="020B0306020202020204" pitchFamily="34" charset="0"/>
              </a:rPr>
              <a:t>			10. </a:t>
            </a:r>
            <a:r>
              <a:rPr lang="en-PH" sz="2400" dirty="0" err="1">
                <a:latin typeface="Arial Nova Cond Light" panose="020B0306020202020204" pitchFamily="34" charset="0"/>
              </a:rPr>
              <a:t>Pinakabughaw</a:t>
            </a:r>
            <a:r>
              <a:rPr lang="en-PH" sz="2400" dirty="0">
                <a:latin typeface="Arial Nova Cond Light" panose="020B0306020202020204" pitchFamily="34" charset="0"/>
              </a:rPr>
              <a:t> </a:t>
            </a:r>
            <a:r>
              <a:rPr lang="en-PH" sz="2400" dirty="0" err="1">
                <a:latin typeface="Arial Nova Cond Light" panose="020B0306020202020204" pitchFamily="34" charset="0"/>
              </a:rPr>
              <a:t>na</a:t>
            </a:r>
            <a:r>
              <a:rPr lang="en-PH" sz="2400" dirty="0">
                <a:latin typeface="Arial Nova Cond Light" panose="020B0306020202020204" pitchFamily="34" charset="0"/>
              </a:rPr>
              <a:t> </a:t>
            </a:r>
            <a:r>
              <a:rPr lang="en-PH" sz="2400" dirty="0" err="1">
                <a:latin typeface="Arial Nova Cond Light" panose="020B0306020202020204" pitchFamily="34" charset="0"/>
              </a:rPr>
              <a:t>langit</a:t>
            </a:r>
            <a:endParaRPr lang="en-PH" sz="2400" dirty="0">
              <a:latin typeface="Arial Nova Cond Light" panose="020B0306020202020204" pitchFamily="34" charset="0"/>
            </a:endParaRPr>
          </a:p>
        </p:txBody>
      </p:sp>
    </p:spTree>
    <p:extLst>
      <p:ext uri="{BB962C8B-B14F-4D97-AF65-F5344CB8AC3E}">
        <p14:creationId xmlns:p14="http://schemas.microsoft.com/office/powerpoint/2010/main" val="3355340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08AB9-1AE3-8D49-2977-0318EDA28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79E564-C4DC-3887-FD59-037C40C93DCF}"/>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92DF3C96-0F29-DB55-EDC9-743F78692A0A}"/>
              </a:ext>
            </a:extLst>
          </p:cNvPr>
          <p:cNvSpPr>
            <a:spLocks noGrp="1"/>
          </p:cNvSpPr>
          <p:nvPr>
            <p:ph idx="1"/>
          </p:nvPr>
        </p:nvSpPr>
        <p:spPr>
          <a:xfrm>
            <a:off x="0" y="0"/>
            <a:ext cx="12191999" cy="6128951"/>
          </a:xfrm>
        </p:spPr>
        <p:txBody>
          <a:bodyPr>
            <a:noAutofit/>
          </a:bodyPr>
          <a:lstStyle/>
          <a:p>
            <a:pPr marL="0" indent="0">
              <a:buNone/>
            </a:pPr>
            <a:r>
              <a:rPr lang="en-US" sz="2400" dirty="0">
                <a:latin typeface="Arial Nova Cond Light" panose="020B0306020202020204" pitchFamily="34" charset="0"/>
              </a:rPr>
              <a:t>Use the following adjectives and write down examples for each of the levels discussed in this lesson. </a:t>
            </a:r>
          </a:p>
          <a:p>
            <a:pPr marL="0" indent="0">
              <a:buNone/>
            </a:pPr>
            <a:r>
              <a:rPr lang="en-US" sz="2400" dirty="0">
                <a:latin typeface="Arial Nova Cond Light" panose="020B0306020202020204" pitchFamily="34" charset="0"/>
              </a:rPr>
              <a:t> 1.  bait		Si Bonifacio ay </a:t>
            </a:r>
            <a:r>
              <a:rPr lang="en-US" sz="2400" dirty="0" err="1">
                <a:latin typeface="Arial Nova Cond Light" panose="020B0306020202020204" pitchFamily="34" charset="0"/>
              </a:rPr>
              <a:t>kasingbait</a:t>
            </a:r>
            <a:r>
              <a:rPr lang="en-US" sz="2400" dirty="0">
                <a:latin typeface="Arial Nova Cond Light" panose="020B0306020202020204" pitchFamily="34" charset="0"/>
              </a:rPr>
              <a:t> </a:t>
            </a:r>
            <a:r>
              <a:rPr lang="en-US" sz="2400" dirty="0" err="1">
                <a:latin typeface="Arial Nova Cond Light" panose="020B0306020202020204" pitchFamily="34" charset="0"/>
              </a:rPr>
              <a:t>ni</a:t>
            </a:r>
            <a:r>
              <a:rPr lang="en-US" sz="2400" dirty="0">
                <a:latin typeface="Arial Nova Cond Light" panose="020B0306020202020204" pitchFamily="34" charset="0"/>
              </a:rPr>
              <a:t> Jose Rizal. </a:t>
            </a:r>
          </a:p>
          <a:p>
            <a:pPr marL="0" indent="0">
              <a:buNone/>
            </a:pPr>
            <a:r>
              <a:rPr lang="en-US" sz="2400" dirty="0">
                <a:latin typeface="Arial Nova Cond Light" panose="020B0306020202020204" pitchFamily="34" charset="0"/>
              </a:rPr>
              <a:t>2.  </a:t>
            </a:r>
            <a:r>
              <a:rPr lang="en-US" sz="2400" dirty="0" err="1">
                <a:latin typeface="Arial Nova Cond Light" panose="020B0306020202020204" pitchFamily="34" charset="0"/>
              </a:rPr>
              <a:t>taba</a:t>
            </a:r>
            <a:r>
              <a:rPr lang="en-US" sz="2400" dirty="0">
                <a:latin typeface="Arial Nova Cond Light" panose="020B0306020202020204" pitchFamily="34" charset="0"/>
              </a:rPr>
              <a:t>		Ang </a:t>
            </a:r>
            <a:r>
              <a:rPr lang="en-US" sz="2400" dirty="0" err="1">
                <a:latin typeface="Arial Nova Cond Light" panose="020B0306020202020204" pitchFamily="34" charset="0"/>
              </a:rPr>
              <a:t>aking</a:t>
            </a:r>
            <a:r>
              <a:rPr lang="en-US" sz="2400" dirty="0">
                <a:latin typeface="Arial Nova Cond Light" panose="020B0306020202020204" pitchFamily="34" charset="0"/>
              </a:rPr>
              <a:t> </a:t>
            </a:r>
            <a:r>
              <a:rPr lang="en-US" sz="2400" dirty="0" err="1">
                <a:latin typeface="Arial Nova Cond Light" panose="020B0306020202020204" pitchFamily="34" charset="0"/>
              </a:rPr>
              <a:t>babae</a:t>
            </a:r>
            <a:r>
              <a:rPr lang="en-US" sz="2400" dirty="0">
                <a:latin typeface="Arial Nova Cond Light" panose="020B0306020202020204" pitchFamily="34" charset="0"/>
              </a:rPr>
              <a:t> ay </a:t>
            </a:r>
            <a:r>
              <a:rPr lang="en-US" sz="2400" dirty="0" err="1">
                <a:latin typeface="Arial Nova Cond Light" panose="020B0306020202020204" pitchFamily="34" charset="0"/>
              </a:rPr>
              <a:t>kasingtaba</a:t>
            </a:r>
            <a:r>
              <a:rPr lang="en-US" sz="2400" dirty="0">
                <a:latin typeface="Arial Nova Cond Light" panose="020B0306020202020204" pitchFamily="34" charset="0"/>
              </a:rPr>
              <a:t> ko. </a:t>
            </a:r>
          </a:p>
          <a:p>
            <a:pPr marL="0" indent="0">
              <a:buNone/>
            </a:pPr>
            <a:r>
              <a:rPr lang="en-US" sz="2400" dirty="0">
                <a:latin typeface="Arial Nova Cond Light" panose="020B0306020202020204" pitchFamily="34" charset="0"/>
              </a:rPr>
              <a:t>3. </a:t>
            </a:r>
            <a:r>
              <a:rPr lang="en-US" sz="2400" dirty="0" err="1">
                <a:latin typeface="Arial Nova Cond Light" panose="020B0306020202020204" pitchFamily="34" charset="0"/>
              </a:rPr>
              <a:t>runong</a:t>
            </a:r>
            <a:r>
              <a:rPr lang="en-US" sz="2400" dirty="0">
                <a:latin typeface="Arial Nova Cond Light" panose="020B0306020202020204" pitchFamily="34" charset="0"/>
              </a:rPr>
              <a:t>	Ako at </a:t>
            </a:r>
            <a:r>
              <a:rPr lang="en-US" sz="2400" dirty="0" err="1">
                <a:latin typeface="Arial Nova Cond Light" panose="020B0306020202020204" pitchFamily="34" charset="0"/>
              </a:rPr>
              <a:t>siya</a:t>
            </a:r>
            <a:r>
              <a:rPr lang="en-US" sz="2400" dirty="0">
                <a:latin typeface="Arial Nova Cond Light" panose="020B0306020202020204" pitchFamily="34" charset="0"/>
              </a:rPr>
              <a:t> ay </a:t>
            </a:r>
            <a:r>
              <a:rPr lang="en-US" sz="2400" dirty="0" err="1">
                <a:latin typeface="Arial Nova Cond Light" panose="020B0306020202020204" pitchFamily="34" charset="0"/>
              </a:rPr>
              <a:t>magkasingrunong</a:t>
            </a:r>
            <a:r>
              <a:rPr lang="en-US" sz="2400" dirty="0">
                <a:latin typeface="Arial Nova Cond Light" panose="020B0306020202020204" pitchFamily="34" charset="0"/>
              </a:rPr>
              <a:t>. </a:t>
            </a:r>
          </a:p>
          <a:p>
            <a:pPr marL="0" indent="0">
              <a:buNone/>
            </a:pPr>
            <a:r>
              <a:rPr lang="en-US" sz="2400" dirty="0">
                <a:latin typeface="Arial Nova Cond Light" panose="020B0306020202020204" pitchFamily="34" charset="0"/>
              </a:rPr>
              <a:t>4. </a:t>
            </a:r>
            <a:r>
              <a:rPr lang="en-US" sz="2400" dirty="0" err="1">
                <a:latin typeface="Arial Nova Cond Light" panose="020B0306020202020204" pitchFamily="34" charset="0"/>
              </a:rPr>
              <a:t>masama</a:t>
            </a:r>
            <a:r>
              <a:rPr lang="en-US" sz="2400" dirty="0">
                <a:latin typeface="Arial Nova Cond Light" panose="020B0306020202020204" pitchFamily="34" charset="0"/>
              </a:rPr>
              <a:t>	</a:t>
            </a:r>
          </a:p>
          <a:p>
            <a:pPr marL="0" indent="0">
              <a:buNone/>
            </a:pPr>
            <a:r>
              <a:rPr lang="en-US" sz="2400" dirty="0">
                <a:latin typeface="Arial Nova Cond Light" panose="020B0306020202020204" pitchFamily="34" charset="0"/>
              </a:rPr>
              <a:t>5. </a:t>
            </a:r>
            <a:r>
              <a:rPr lang="en-US" sz="2400" dirty="0" err="1">
                <a:latin typeface="Arial Nova Cond Light" panose="020B0306020202020204" pitchFamily="34" charset="0"/>
              </a:rPr>
              <a:t>malaki</a:t>
            </a:r>
            <a:r>
              <a:rPr lang="en-US" sz="2400" dirty="0">
                <a:latin typeface="Arial Nova Cond Light" panose="020B0306020202020204" pitchFamily="34" charset="0"/>
              </a:rPr>
              <a:t>	</a:t>
            </a:r>
          </a:p>
          <a:p>
            <a:pPr marL="0" indent="0">
              <a:buNone/>
            </a:pPr>
            <a:r>
              <a:rPr lang="en-US" sz="2400" dirty="0">
                <a:latin typeface="Arial Nova Cond Light" panose="020B0306020202020204" pitchFamily="34" charset="0"/>
              </a:rPr>
              <a:t>6. </a:t>
            </a:r>
            <a:r>
              <a:rPr lang="en-US" sz="2400" dirty="0" err="1">
                <a:latin typeface="Arial Nova Cond Light" panose="020B0306020202020204" pitchFamily="34" charset="0"/>
              </a:rPr>
              <a:t>mahirap</a:t>
            </a:r>
            <a:r>
              <a:rPr lang="en-US" sz="2400" dirty="0">
                <a:latin typeface="Arial Nova Cond Light" panose="020B0306020202020204" pitchFamily="34" charset="0"/>
              </a:rPr>
              <a:t> 	</a:t>
            </a:r>
          </a:p>
          <a:p>
            <a:pPr marL="0" indent="0">
              <a:buNone/>
            </a:pPr>
            <a:r>
              <a:rPr lang="en-US" sz="2400" dirty="0">
                <a:latin typeface="Arial Nova Cond Light" panose="020B0306020202020204" pitchFamily="34" charset="0"/>
              </a:rPr>
              <a:t>7. </a:t>
            </a:r>
            <a:r>
              <a:rPr lang="en-US" sz="2400" dirty="0" err="1">
                <a:latin typeface="Arial Nova Cond Light" panose="020B0306020202020204" pitchFamily="34" charset="0"/>
              </a:rPr>
              <a:t>sipag</a:t>
            </a:r>
            <a:r>
              <a:rPr lang="en-US" sz="2400" dirty="0">
                <a:latin typeface="Arial Nova Cond Light" panose="020B0306020202020204" pitchFamily="34" charset="0"/>
              </a:rPr>
              <a:t>		</a:t>
            </a:r>
          </a:p>
          <a:p>
            <a:pPr marL="0" indent="0">
              <a:buNone/>
            </a:pPr>
            <a:r>
              <a:rPr lang="en-US" sz="2400" dirty="0">
                <a:latin typeface="Arial Nova Cond Light" panose="020B0306020202020204" pitchFamily="34" charset="0"/>
              </a:rPr>
              <a:t>8. </a:t>
            </a:r>
            <a:r>
              <a:rPr lang="en-US" sz="2400" dirty="0" err="1">
                <a:latin typeface="Arial Nova Cond Light" panose="020B0306020202020204" pitchFamily="34" charset="0"/>
              </a:rPr>
              <a:t>yaman</a:t>
            </a:r>
            <a:r>
              <a:rPr lang="en-US" sz="2400" dirty="0">
                <a:latin typeface="Arial Nova Cond Light" panose="020B0306020202020204" pitchFamily="34" charset="0"/>
              </a:rPr>
              <a:t> 	</a:t>
            </a:r>
          </a:p>
          <a:p>
            <a:pPr marL="0" indent="0">
              <a:buNone/>
            </a:pPr>
            <a:r>
              <a:rPr lang="en-US" sz="2400" dirty="0">
                <a:latin typeface="Arial Nova Cond Light" panose="020B0306020202020204" pitchFamily="34" charset="0"/>
              </a:rPr>
              <a:t>9. </a:t>
            </a:r>
            <a:r>
              <a:rPr lang="en-US" sz="2400" dirty="0" err="1">
                <a:latin typeface="Arial Nova Cond Light" panose="020B0306020202020204" pitchFamily="34" charset="0"/>
              </a:rPr>
              <a:t>ayos</a:t>
            </a:r>
            <a:r>
              <a:rPr lang="en-US" sz="2400" dirty="0">
                <a:latin typeface="Arial Nova Cond Light" panose="020B0306020202020204" pitchFamily="34" charset="0"/>
              </a:rPr>
              <a:t> 		</a:t>
            </a:r>
            <a:endParaRPr lang="en-PH" sz="2400" dirty="0">
              <a:latin typeface="Arial Nova Cond Light" panose="020B0306020202020204" pitchFamily="34" charset="0"/>
            </a:endParaRPr>
          </a:p>
        </p:txBody>
      </p:sp>
    </p:spTree>
    <p:extLst>
      <p:ext uri="{BB962C8B-B14F-4D97-AF65-F5344CB8AC3E}">
        <p14:creationId xmlns:p14="http://schemas.microsoft.com/office/powerpoint/2010/main" val="1051402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B54A2-9E7F-5DDC-4BB4-42EA8F0A7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E45566-A099-257C-03D6-7ACBFEE7B897}"/>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A7907E0C-20B7-E8BD-5156-25A27363B05A}"/>
              </a:ext>
            </a:extLst>
          </p:cNvPr>
          <p:cNvSpPr>
            <a:spLocks noGrp="1"/>
          </p:cNvSpPr>
          <p:nvPr>
            <p:ph idx="1"/>
          </p:nvPr>
        </p:nvSpPr>
        <p:spPr>
          <a:xfrm>
            <a:off x="0" y="0"/>
            <a:ext cx="12192000" cy="6128951"/>
          </a:xfrm>
        </p:spPr>
        <p:txBody>
          <a:bodyPr>
            <a:noAutofit/>
          </a:bodyPr>
          <a:lstStyle/>
          <a:p>
            <a:pPr marL="0" indent="0">
              <a:buNone/>
            </a:pPr>
            <a:r>
              <a:rPr lang="en-US" dirty="0">
                <a:latin typeface="Arial Nova Cond Light" panose="020B0306020202020204" pitchFamily="34" charset="0"/>
              </a:rPr>
              <a:t>Exercises</a:t>
            </a:r>
          </a:p>
          <a:p>
            <a:pPr marL="0" indent="0">
              <a:buNone/>
            </a:pPr>
            <a:r>
              <a:rPr lang="en-US" dirty="0">
                <a:latin typeface="Arial Nova Cond Light" panose="020B0306020202020204" pitchFamily="34" charset="0"/>
              </a:rPr>
              <a:t>Compare the singing skills of two famous singers you like based on the following criteria using the  different degrees of adjectives you have just learned. Use the adjectives given for each category to  describe the similarity of or the differences in their skills.</a:t>
            </a:r>
          </a:p>
          <a:p>
            <a:pPr marL="0" indent="0">
              <a:buNone/>
            </a:pPr>
            <a:r>
              <a:rPr lang="en-US" dirty="0">
                <a:latin typeface="Arial Nova Cond Light" panose="020B0306020202020204" pitchFamily="34" charset="0"/>
              </a:rPr>
              <a:t>1. rhythm (</a:t>
            </a:r>
            <a:r>
              <a:rPr lang="en-US" dirty="0" err="1">
                <a:latin typeface="Arial Nova Cond Light" panose="020B0306020202020204" pitchFamily="34" charset="0"/>
              </a:rPr>
              <a:t>indayog</a:t>
            </a:r>
            <a:r>
              <a:rPr lang="en-US" dirty="0">
                <a:latin typeface="Arial Nova Cond Light" panose="020B0306020202020204" pitchFamily="34" charset="0"/>
              </a:rPr>
              <a:t>)			</a:t>
            </a:r>
            <a:r>
              <a:rPr lang="en-US" dirty="0" err="1">
                <a:latin typeface="Arial Nova Cond Light" panose="020B0306020202020204" pitchFamily="34" charset="0"/>
              </a:rPr>
              <a:t>mabilis</a:t>
            </a:r>
            <a:r>
              <a:rPr lang="en-US" dirty="0">
                <a:latin typeface="Arial Nova Cond Light" panose="020B0306020202020204" pitchFamily="34" charset="0"/>
              </a:rPr>
              <a:t> 					fast</a:t>
            </a:r>
          </a:p>
          <a:p>
            <a:pPr marL="0" indent="0">
              <a:buNone/>
            </a:pPr>
            <a:r>
              <a:rPr lang="en-US" dirty="0">
                <a:latin typeface="Arial Nova Cond Light" panose="020B0306020202020204" pitchFamily="34" charset="0"/>
              </a:rPr>
              <a:t>2. style (</a:t>
            </a:r>
            <a:r>
              <a:rPr lang="en-US" dirty="0" err="1">
                <a:latin typeface="Arial Nova Cond Light" panose="020B0306020202020204" pitchFamily="34" charset="0"/>
              </a:rPr>
              <a:t>istilo</a:t>
            </a:r>
            <a:r>
              <a:rPr lang="en-US" dirty="0">
                <a:latin typeface="Arial Nova Cond Light" panose="020B0306020202020204" pitchFamily="34" charset="0"/>
              </a:rPr>
              <a:t>)			</a:t>
            </a:r>
            <a:r>
              <a:rPr lang="en-US" dirty="0" err="1">
                <a:latin typeface="Arial Nova Cond Light" panose="020B0306020202020204" pitchFamily="34" charset="0"/>
              </a:rPr>
              <a:t>makabago</a:t>
            </a:r>
            <a:r>
              <a:rPr lang="en-US" dirty="0">
                <a:latin typeface="Arial Nova Cond Light" panose="020B0306020202020204" pitchFamily="34" charset="0"/>
              </a:rPr>
              <a:t>					modern </a:t>
            </a:r>
          </a:p>
          <a:p>
            <a:pPr marL="0" indent="0">
              <a:buNone/>
            </a:pPr>
            <a:r>
              <a:rPr lang="en-US" dirty="0">
                <a:latin typeface="Arial Nova Cond Light" panose="020B0306020202020204" pitchFamily="34" charset="0"/>
              </a:rPr>
              <a:t>3. voice (</a:t>
            </a:r>
            <a:r>
              <a:rPr lang="en-US" dirty="0" err="1">
                <a:latin typeface="Arial Nova Cond Light" panose="020B0306020202020204" pitchFamily="34" charset="0"/>
              </a:rPr>
              <a:t>boses</a:t>
            </a:r>
            <a:r>
              <a:rPr lang="en-US" dirty="0">
                <a:latin typeface="Arial Nova Cond Light" panose="020B0306020202020204" pitchFamily="34" charset="0"/>
              </a:rPr>
              <a:t> or </a:t>
            </a:r>
            <a:r>
              <a:rPr lang="en-US" dirty="0" err="1">
                <a:latin typeface="Arial Nova Cond Light" panose="020B0306020202020204" pitchFamily="34" charset="0"/>
              </a:rPr>
              <a:t>tono</a:t>
            </a:r>
            <a:r>
              <a:rPr lang="en-US" dirty="0">
                <a:latin typeface="Arial Nova Cond Light" panose="020B0306020202020204" pitchFamily="34" charset="0"/>
              </a:rPr>
              <a:t>)		</a:t>
            </a:r>
            <a:r>
              <a:rPr lang="en-US" dirty="0" err="1">
                <a:latin typeface="Arial Nova Cond Light" panose="020B0306020202020204" pitchFamily="34" charset="0"/>
              </a:rPr>
              <a:t>malawak</a:t>
            </a:r>
            <a:r>
              <a:rPr lang="en-US" dirty="0">
                <a:latin typeface="Arial Nova Cond Light" panose="020B0306020202020204" pitchFamily="34" charset="0"/>
              </a:rPr>
              <a:t>					broad</a:t>
            </a:r>
          </a:p>
          <a:p>
            <a:pPr marL="0" indent="0">
              <a:buNone/>
            </a:pPr>
            <a:r>
              <a:rPr lang="en-US" dirty="0">
                <a:latin typeface="Arial Nova Cond Light" panose="020B0306020202020204" pitchFamily="34" charset="0"/>
              </a:rPr>
              <a:t>4. kind of music (</a:t>
            </a:r>
            <a:r>
              <a:rPr lang="en-US" dirty="0" err="1">
                <a:latin typeface="Arial Nova Cond Light" panose="020B0306020202020204" pitchFamily="34" charset="0"/>
              </a:rPr>
              <a:t>uri</a:t>
            </a:r>
            <a:r>
              <a:rPr lang="en-US" dirty="0">
                <a:latin typeface="Arial Nova Cond Light" panose="020B0306020202020204" pitchFamily="34" charset="0"/>
              </a:rPr>
              <a:t> ng </a:t>
            </a:r>
            <a:r>
              <a:rPr lang="en-US" dirty="0" err="1">
                <a:latin typeface="Arial Nova Cond Light" panose="020B0306020202020204" pitchFamily="34" charset="0"/>
              </a:rPr>
              <a:t>tugtugin</a:t>
            </a:r>
            <a:r>
              <a:rPr lang="en-US" dirty="0">
                <a:latin typeface="Arial Nova Cond Light" panose="020B0306020202020204" pitchFamily="34" charset="0"/>
              </a:rPr>
              <a:t>)	</a:t>
            </a:r>
            <a:r>
              <a:rPr lang="en-US" dirty="0" err="1">
                <a:latin typeface="Arial Nova Cond Light" panose="020B0306020202020204" pitchFamily="34" charset="0"/>
              </a:rPr>
              <a:t>maganda</a:t>
            </a:r>
            <a:r>
              <a:rPr lang="en-US" dirty="0">
                <a:latin typeface="Arial Nova Cond Light" panose="020B0306020202020204" pitchFamily="34" charset="0"/>
              </a:rPr>
              <a:t>					Beautiful</a:t>
            </a:r>
            <a:endParaRPr lang="en-US" sz="2400" dirty="0">
              <a:latin typeface="Arial Nova Cond Light" panose="020B0306020202020204" pitchFamily="34" charset="0"/>
            </a:endParaRPr>
          </a:p>
          <a:p>
            <a:pPr marL="0" indent="0">
              <a:buNone/>
            </a:pPr>
            <a:endParaRPr lang="en-PH" sz="2400" dirty="0">
              <a:latin typeface="Arial Nova Cond Light" panose="020B0306020202020204" pitchFamily="34" charset="0"/>
            </a:endParaRPr>
          </a:p>
        </p:txBody>
      </p:sp>
    </p:spTree>
    <p:extLst>
      <p:ext uri="{BB962C8B-B14F-4D97-AF65-F5344CB8AC3E}">
        <p14:creationId xmlns:p14="http://schemas.microsoft.com/office/powerpoint/2010/main" val="801209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A35C8-794B-F8D6-3B4E-F0FC5AC16D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F5456-22A4-9918-943C-3C1233932A69}"/>
              </a:ext>
            </a:extLst>
          </p:cNvPr>
          <p:cNvSpPr>
            <a:spLocks noGrp="1"/>
          </p:cNvSpPr>
          <p:nvPr>
            <p:ph type="ctrTitle"/>
          </p:nvPr>
        </p:nvSpPr>
        <p:spPr>
          <a:xfrm>
            <a:off x="810956" y="2158284"/>
            <a:ext cx="10959554" cy="2541431"/>
          </a:xfrm>
        </p:spPr>
        <p:txBody>
          <a:bodyPr>
            <a:noAutofit/>
          </a:bodyPr>
          <a:lstStyle/>
          <a:p>
            <a:r>
              <a:rPr lang="en-PH" sz="9600" cap="none" dirty="0">
                <a:latin typeface="Arial Narrow" panose="020B0606020202030204" pitchFamily="34" charset="0"/>
              </a:rPr>
              <a:t>Great job!</a:t>
            </a:r>
            <a:br>
              <a:rPr lang="en-PH" sz="9600" cap="none" dirty="0">
                <a:latin typeface="Arial Narrow" panose="020B0606020202030204" pitchFamily="34" charset="0"/>
              </a:rPr>
            </a:br>
            <a:r>
              <a:rPr lang="en-PH" sz="9600" cap="none" dirty="0">
                <a:latin typeface="Arial Narrow" panose="020B0606020202030204" pitchFamily="34" charset="0"/>
              </a:rPr>
              <a:t>We just ended our lesson!</a:t>
            </a:r>
          </a:p>
        </p:txBody>
      </p:sp>
    </p:spTree>
    <p:extLst>
      <p:ext uri="{BB962C8B-B14F-4D97-AF65-F5344CB8AC3E}">
        <p14:creationId xmlns:p14="http://schemas.microsoft.com/office/powerpoint/2010/main" val="2268009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48B93-72EF-D205-8960-BBC1F5B2E5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528393-84F5-C65C-5FA2-C513B482F2D8}"/>
              </a:ext>
            </a:extLst>
          </p:cNvPr>
          <p:cNvSpPr>
            <a:spLocks noGrp="1"/>
          </p:cNvSpPr>
          <p:nvPr>
            <p:ph type="ctrTitle"/>
          </p:nvPr>
        </p:nvSpPr>
        <p:spPr>
          <a:xfrm>
            <a:off x="1105446" y="1293365"/>
            <a:ext cx="10959554" cy="2541431"/>
          </a:xfrm>
        </p:spPr>
        <p:txBody>
          <a:bodyPr>
            <a:normAutofit/>
          </a:bodyPr>
          <a:lstStyle/>
          <a:p>
            <a:r>
              <a:rPr lang="en-PH" sz="14900" dirty="0">
                <a:latin typeface="Arial Narrow" panose="020B0606020202030204" pitchFamily="34" charset="0"/>
              </a:rPr>
              <a:t>Thank you!</a:t>
            </a:r>
          </a:p>
        </p:txBody>
      </p:sp>
    </p:spTree>
    <p:extLst>
      <p:ext uri="{BB962C8B-B14F-4D97-AF65-F5344CB8AC3E}">
        <p14:creationId xmlns:p14="http://schemas.microsoft.com/office/powerpoint/2010/main" val="370515515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themeOverride>
</file>

<file path=ppt/theme/themeOverride2.xml><?xml version="1.0" encoding="utf-8"?>
<a:themeOverride xmlns:a="http://schemas.openxmlformats.org/drawingml/2006/main">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themeOverride>
</file>

<file path=docProps/app.xml><?xml version="1.0" encoding="utf-8"?>
<Properties xmlns="http://schemas.openxmlformats.org/officeDocument/2006/extended-properties" xmlns:vt="http://schemas.openxmlformats.org/officeDocument/2006/docPropsVTypes">
  <Template/>
  <TotalTime>2654</TotalTime>
  <Words>1624</Words>
  <Application>Microsoft Office PowerPoint</Application>
  <PresentationFormat>Widescreen</PresentationFormat>
  <Paragraphs>126</Paragraphs>
  <Slides>19</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Arial Narrow</vt:lpstr>
      <vt:lpstr>Arial Nova Cond Light</vt:lpstr>
      <vt:lpstr>Berlin Sans FB Demi</vt:lpstr>
      <vt:lpstr>Calibri</vt:lpstr>
      <vt:lpstr>Rockwell</vt:lpstr>
      <vt:lpstr>Gallery</vt:lpstr>
      <vt:lpstr>WELCOME back Pablo! </vt:lpstr>
      <vt:lpstr>Lesson 08 </vt:lpstr>
      <vt:lpstr> Making Comparisons   </vt:lpstr>
      <vt:lpstr>People and things have qualities or attributes that may be compared to one another. These qualities are expressed by an adjective, which can indicate if two people or things are equal or not equal, or if a person or thing has a high degree of a certain quality-if not the highest among all others. In the Tagalog language, as in English, there are various ways of comparing things according to the different levels or degrees. </vt:lpstr>
      <vt:lpstr>express equality </vt:lpstr>
      <vt:lpstr> </vt:lpstr>
      <vt:lpstr> </vt:lpstr>
      <vt:lpstr> Note how the following prefixes are attached to the adjectives:  a. Kasing- or magkasing- is attached to roots that begin in a, e, i, o, u, k, g, h, m, n, w, and y (for example: kasingkulot meaning as curly as) B. kasin- or magkasin- is attached to roots that begin with d, I, r, s, and t (for example: kasindumi meaning as dirty as) c.kasim- or magkasim- is attached to roots that begins with b and p (for example: magkasimbaho meaning as faul-smelling as)   remember also that names of people must be preceded by the articles ni/nina and si/sina while names of things or places use the articles ng/ng mga. </vt:lpstr>
      <vt:lpstr> </vt:lpstr>
      <vt:lpstr>II. INEQUALITY (A B) </vt:lpstr>
      <vt:lpstr> </vt:lpstr>
      <vt:lpstr> </vt:lpstr>
      <vt:lpstr> </vt:lpstr>
      <vt:lpstr> </vt:lpstr>
      <vt:lpstr> </vt:lpstr>
      <vt:lpstr> </vt:lpstr>
      <vt:lpstr> </vt:lpstr>
      <vt:lpstr>Great job! We just ended our lesson!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Charine Labao</dc:creator>
  <cp:lastModifiedBy>Charine Labao</cp:lastModifiedBy>
  <cp:revision>9</cp:revision>
  <dcterms:created xsi:type="dcterms:W3CDTF">2025-07-09T10:16:11Z</dcterms:created>
  <dcterms:modified xsi:type="dcterms:W3CDTF">2026-08-20T02:51:46Z</dcterms:modified>
</cp:coreProperties>
</file>