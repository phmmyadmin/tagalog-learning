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75" r:id="rId3"/>
    <p:sldId id="279" r:id="rId4"/>
    <p:sldId id="292" r:id="rId5"/>
    <p:sldId id="282" r:id="rId6"/>
    <p:sldId id="284" r:id="rId7"/>
    <p:sldId id="293" r:id="rId8"/>
    <p:sldId id="294" r:id="rId9"/>
    <p:sldId id="296" r:id="rId10"/>
    <p:sldId id="297" r:id="rId11"/>
    <p:sldId id="298" r:id="rId12"/>
    <p:sldId id="302" r:id="rId13"/>
    <p:sldId id="299" r:id="rId14"/>
    <p:sldId id="300" r:id="rId15"/>
    <p:sldId id="301" r:id="rId16"/>
    <p:sldId id="304" r:id="rId17"/>
    <p:sldId id="307" r:id="rId18"/>
    <p:sldId id="306" r:id="rId19"/>
    <p:sldId id="305" r:id="rId20"/>
    <p:sldId id="26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30" autoAdjust="0"/>
    <p:restoredTop sz="94660"/>
  </p:normalViewPr>
  <p:slideViewPr>
    <p:cSldViewPr snapToGrid="0">
      <p:cViewPr varScale="1">
        <p:scale>
          <a:sx n="98" d="100"/>
          <a:sy n="98" d="100"/>
        </p:scale>
        <p:origin x="2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ne Labao" userId="d49f38c7da5d9737" providerId="LiveId" clId="{74BAE539-5A96-4830-AD90-F51E8ECC701B}"/>
    <pc:docChg chg="undo custSel addSld delSld modSld">
      <pc:chgData name="Charine Labao" userId="d49f38c7da5d9737" providerId="LiveId" clId="{74BAE539-5A96-4830-AD90-F51E8ECC701B}" dt="2026-02-19T18:04:32.158" v="1359" actId="27636"/>
      <pc:docMkLst>
        <pc:docMk/>
      </pc:docMkLst>
      <pc:sldChg chg="modSp mod">
        <pc:chgData name="Charine Labao" userId="d49f38c7da5d9737" providerId="LiveId" clId="{74BAE539-5A96-4830-AD90-F51E8ECC701B}" dt="2026-02-19T18:02:15.223" v="1357" actId="20577"/>
        <pc:sldMkLst>
          <pc:docMk/>
          <pc:sldMk cId="4101661442" sldId="256"/>
        </pc:sldMkLst>
        <pc:spChg chg="mod">
          <ac:chgData name="Charine Labao" userId="d49f38c7da5d9737" providerId="LiveId" clId="{74BAE539-5A96-4830-AD90-F51E8ECC701B}" dt="2026-02-19T18:02:15.223" v="1357" actId="20577"/>
          <ac:spMkLst>
            <pc:docMk/>
            <pc:sldMk cId="4101661442" sldId="256"/>
            <ac:spMk id="2" creationId="{00BCFF50-8CD8-2A55-F5E3-38E524DAEEFB}"/>
          </ac:spMkLst>
        </pc:spChg>
      </pc:sldChg>
      <pc:sldChg chg="modSp mod">
        <pc:chgData name="Charine Labao" userId="d49f38c7da5d9737" providerId="LiveId" clId="{74BAE539-5A96-4830-AD90-F51E8ECC701B}" dt="2026-02-12T19:50:49.462" v="1347" actId="122"/>
        <pc:sldMkLst>
          <pc:docMk/>
          <pc:sldMk cId="3705155157" sldId="268"/>
        </pc:sldMkLst>
        <pc:spChg chg="mod">
          <ac:chgData name="Charine Labao" userId="d49f38c7da5d9737" providerId="LiveId" clId="{74BAE539-5A96-4830-AD90-F51E8ECC701B}" dt="2026-02-12T19:50:49.462" v="1347" actId="122"/>
          <ac:spMkLst>
            <pc:docMk/>
            <pc:sldMk cId="3705155157" sldId="268"/>
            <ac:spMk id="2" creationId="{1F528393-84F5-C65C-5FA2-C513B482F2D8}"/>
          </ac:spMkLst>
        </pc:spChg>
      </pc:sldChg>
      <pc:sldChg chg="modSp mod">
        <pc:chgData name="Charine Labao" userId="d49f38c7da5d9737" providerId="LiveId" clId="{74BAE539-5A96-4830-AD90-F51E8ECC701B}" dt="2026-02-19T18:04:32.158" v="1359" actId="27636"/>
        <pc:sldMkLst>
          <pc:docMk/>
          <pc:sldMk cId="2376342597" sldId="300"/>
        </pc:sldMkLst>
        <pc:spChg chg="mod">
          <ac:chgData name="Charine Labao" userId="d49f38c7da5d9737" providerId="LiveId" clId="{74BAE539-5A96-4830-AD90-F51E8ECC701B}" dt="2026-02-19T18:04:32.158" v="1359" actId="27636"/>
          <ac:spMkLst>
            <pc:docMk/>
            <pc:sldMk cId="2376342597" sldId="300"/>
            <ac:spMk id="3" creationId="{BAEEE825-8099-46BB-457B-91488E0D690B}"/>
          </ac:spMkLst>
        </pc:spChg>
      </pc:sldChg>
      <pc:sldChg chg="modSp mod">
        <pc:chgData name="Charine Labao" userId="d49f38c7da5d9737" providerId="LiveId" clId="{74BAE539-5A96-4830-AD90-F51E8ECC701B}" dt="2026-02-12T19:37:57.460" v="1313" actId="20577"/>
        <pc:sldMkLst>
          <pc:docMk/>
          <pc:sldMk cId="3055042036" sldId="301"/>
        </pc:sldMkLst>
        <pc:spChg chg="mod">
          <ac:chgData name="Charine Labao" userId="d49f38c7da5d9737" providerId="LiveId" clId="{74BAE539-5A96-4830-AD90-F51E8ECC701B}" dt="2026-02-12T19:37:57.460" v="1313" actId="20577"/>
          <ac:spMkLst>
            <pc:docMk/>
            <pc:sldMk cId="3055042036" sldId="301"/>
            <ac:spMk id="3" creationId="{93B8B3E6-07C7-94A1-CE43-25E5D53EED47}"/>
          </ac:spMkLst>
        </pc:spChg>
      </pc:sldChg>
      <pc:sldChg chg="modSp mod">
        <pc:chgData name="Charine Labao" userId="d49f38c7da5d9737" providerId="LiveId" clId="{74BAE539-5A96-4830-AD90-F51E8ECC701B}" dt="2026-02-12T19:46:53.183" v="1335" actId="20577"/>
        <pc:sldMkLst>
          <pc:docMk/>
          <pc:sldMk cId="1081453730" sldId="304"/>
        </pc:sldMkLst>
        <pc:spChg chg="mod">
          <ac:chgData name="Charine Labao" userId="d49f38c7da5d9737" providerId="LiveId" clId="{74BAE539-5A96-4830-AD90-F51E8ECC701B}" dt="2026-02-12T19:46:53.183" v="1335" actId="20577"/>
          <ac:spMkLst>
            <pc:docMk/>
            <pc:sldMk cId="1081453730" sldId="304"/>
            <ac:spMk id="3" creationId="{F309559D-2C99-2E6D-2B8B-AEFA122123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9E4C6-9EB3-473B-A1C2-288F1938347A}" type="datetimeFigureOut">
              <a:rPr lang="en-PH" smtClean="0"/>
              <a:t>7/28/2026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AE25A-5D24-4004-A82D-A9BE88A40641}" type="slidenum">
              <a:rPr lang="en-PH" smtClean="0"/>
              <a:t>‹#›</a:t>
            </a:fld>
            <a:endParaRPr lang="en-PH"/>
          </a:p>
        </p:txBody>
      </p:sp>
    </p:spTree>
    <p:extLst>
      <p:ext uri="{BB962C8B-B14F-4D97-AF65-F5344CB8AC3E}">
        <p14:creationId xmlns:p14="http://schemas.microsoft.com/office/powerpoint/2010/main" val="60060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7/28/2026</a:t>
            </a:fld>
            <a:endParaRPr lang="en-PH"/>
          </a:p>
        </p:txBody>
      </p:sp>
      <p:sp>
        <p:nvSpPr>
          <p:cNvPr id="5" name="Footer Placeholder 4"/>
          <p:cNvSpPr>
            <a:spLocks noGrp="1"/>
          </p:cNvSpPr>
          <p:nvPr>
            <p:ph type="ftr" sz="quarter" idx="11"/>
          </p:nvPr>
        </p:nvSpPr>
        <p:spPr>
          <a:xfrm>
            <a:off x="2416500" y="329307"/>
            <a:ext cx="4973915" cy="309201"/>
          </a:xfrm>
        </p:spPr>
        <p:txBody>
          <a:bodyPr/>
          <a:lstStyle/>
          <a:p>
            <a:endParaRPr lang="en-PH"/>
          </a:p>
        </p:txBody>
      </p:sp>
      <p:sp>
        <p:nvSpPr>
          <p:cNvPr id="6" name="Slide Number Placeholder 5"/>
          <p:cNvSpPr>
            <a:spLocks noGrp="1"/>
          </p:cNvSpPr>
          <p:nvPr>
            <p:ph type="sldNum" sz="quarter" idx="12"/>
          </p:nvPr>
        </p:nvSpPr>
        <p:spPr>
          <a:xfrm>
            <a:off x="1437664" y="798973"/>
            <a:ext cx="811019" cy="503578"/>
          </a:xfrm>
        </p:spPr>
        <p:txBody>
          <a:bodyPr/>
          <a:lstStyle/>
          <a:p>
            <a:fld id="{4DD131BB-748F-41AA-A188-03FFE40F9EE7}" type="slidenum">
              <a:rPr lang="en-PH" smtClean="0"/>
              <a:t>‹#›</a:t>
            </a:fld>
            <a:endParaRPr lang="en-PH"/>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1032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7/28/2026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75334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710144-C51D-4F13-8FAF-CC827A160CBB}" type="datetimeFigureOut">
              <a:rPr lang="en-PH" smtClean="0"/>
              <a:t>7/28/2026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2133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710144-C51D-4F13-8FAF-CC827A160CBB}" type="datetimeFigureOut">
              <a:rPr lang="en-PH" smtClean="0"/>
              <a:t>7/28/2026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4990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710144-C51D-4F13-8FAF-CC827A160CBB}" type="datetimeFigureOut">
              <a:rPr lang="en-PH" smtClean="0"/>
              <a:t>7/28/2026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4DD131BB-748F-41AA-A188-03FFE40F9EE7}" type="slidenum">
              <a:rPr lang="en-PH" smtClean="0"/>
              <a:t>‹#›</a:t>
            </a:fld>
            <a:endParaRPr lang="en-PH"/>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024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710144-C51D-4F13-8FAF-CC827A160CBB}" type="datetimeFigureOut">
              <a:rPr lang="en-PH" smtClean="0"/>
              <a:t>7/28/2026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4DD131BB-748F-41AA-A188-03FFE40F9EE7}" type="slidenum">
              <a:rPr lang="en-PH" smtClean="0"/>
              <a:t>‹#›</a:t>
            </a:fld>
            <a:endParaRPr lang="en-PH"/>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477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10144-C51D-4F13-8FAF-CC827A160CBB}" type="datetimeFigureOut">
              <a:rPr lang="en-PH" smtClean="0"/>
              <a:t>7/28/2026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1812237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710144-C51D-4F13-8FAF-CC827A160CBB}" type="datetimeFigureOut">
              <a:rPr lang="en-PH" smtClean="0"/>
              <a:t>7/28/2026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2160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710144-C51D-4F13-8FAF-CC827A160CBB}" type="datetimeFigureOut">
              <a:rPr lang="en-PH" smtClean="0"/>
              <a:t>7/28/2026</a:t>
            </a:fld>
            <a:endParaRPr lang="en-PH"/>
          </a:p>
        </p:txBody>
      </p:sp>
      <p:sp>
        <p:nvSpPr>
          <p:cNvPr id="6" name="Footer Placeholder 5"/>
          <p:cNvSpPr>
            <a:spLocks noGrp="1"/>
          </p:cNvSpPr>
          <p:nvPr>
            <p:ph type="ftr" sz="quarter" idx="11"/>
          </p:nvPr>
        </p:nvSpPr>
        <p:spPr>
          <a:xfrm>
            <a:off x="1447382" y="318640"/>
            <a:ext cx="5541004" cy="320931"/>
          </a:xfrm>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2359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7/28/2026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2694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7/28/2026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2191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710144-C51D-4F13-8FAF-CC827A160CBB}" type="datetimeFigureOut">
              <a:rPr lang="en-PH" smtClean="0"/>
              <a:t>7/28/2026</a:t>
            </a:fld>
            <a:endParaRPr lang="en-PH"/>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DD131BB-748F-41AA-A188-03FFE40F9EE7}" type="slidenum">
              <a:rPr lang="en-PH" smtClean="0"/>
              <a:t>‹#›</a:t>
            </a:fld>
            <a:endParaRPr lang="en-PH"/>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812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FF50-8CD8-2A55-F5E3-38E524DAEEFB}"/>
              </a:ext>
            </a:extLst>
          </p:cNvPr>
          <p:cNvSpPr>
            <a:spLocks noGrp="1"/>
          </p:cNvSpPr>
          <p:nvPr>
            <p:ph type="ctrTitle"/>
          </p:nvPr>
        </p:nvSpPr>
        <p:spPr>
          <a:xfrm>
            <a:off x="-124287" y="2627588"/>
            <a:ext cx="12316287" cy="2541431"/>
          </a:xfrm>
        </p:spPr>
        <p:txBody>
          <a:bodyPr>
            <a:noAutofit/>
          </a:bodyPr>
          <a:lstStyle/>
          <a:p>
            <a:pPr algn="ctr"/>
            <a:r>
              <a:rPr lang="en-PH" sz="11200" b="1" dirty="0">
                <a:latin typeface="Arial Nova Cond Light" panose="020B0306020202020204" pitchFamily="34" charset="0"/>
              </a:rPr>
              <a:t>WELCOME back </a:t>
            </a:r>
            <a:br>
              <a:rPr lang="en-PH" sz="11200" b="1" dirty="0">
                <a:latin typeface="Arial Nova Cond Light" panose="020B0306020202020204" pitchFamily="34" charset="0"/>
              </a:rPr>
            </a:br>
            <a:r>
              <a:rPr lang="en-PH" sz="11200" b="1" dirty="0">
                <a:latin typeface="Arial Nova Cond Light" panose="020B0306020202020204" pitchFamily="34" charset="0"/>
              </a:rPr>
              <a:t>Pablo!</a:t>
            </a:r>
            <a:br>
              <a:rPr lang="en-PH" sz="11200" b="1" dirty="0">
                <a:latin typeface="Arial Nova Cond Light" panose="020B0306020202020204" pitchFamily="34" charset="0"/>
              </a:rPr>
            </a:br>
            <a:endParaRPr lang="en-PH" sz="11200" b="1" dirty="0">
              <a:latin typeface="Arial Nova Cond Light" panose="020B0306020202020204" pitchFamily="34" charset="0"/>
            </a:endParaRPr>
          </a:p>
        </p:txBody>
      </p:sp>
    </p:spTree>
    <p:extLst>
      <p:ext uri="{BB962C8B-B14F-4D97-AF65-F5344CB8AC3E}">
        <p14:creationId xmlns:p14="http://schemas.microsoft.com/office/powerpoint/2010/main" val="4101661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24FC-36EF-BF32-1929-243486991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4469B-D37F-D990-E189-D913B41EB93D}"/>
              </a:ext>
            </a:extLst>
          </p:cNvPr>
          <p:cNvSpPr>
            <a:spLocks noGrp="1"/>
          </p:cNvSpPr>
          <p:nvPr>
            <p:ph type="ctrTitle"/>
          </p:nvPr>
        </p:nvSpPr>
        <p:spPr>
          <a:xfrm>
            <a:off x="1718733" y="3708400"/>
            <a:ext cx="9264377" cy="1380068"/>
          </a:xfrm>
        </p:spPr>
        <p:txBody>
          <a:bodyPr>
            <a:normAutofit fontScale="90000"/>
          </a:bodyPr>
          <a:lstStyle/>
          <a:p>
            <a:pPr algn="ctr"/>
            <a:r>
              <a:rPr lang="en-PH" sz="14900" dirty="0">
                <a:latin typeface="Arial Nova Cond Light" panose="020B0306020202020204" pitchFamily="34" charset="0"/>
              </a:rPr>
              <a:t>Lesson 03</a:t>
            </a:r>
            <a:br>
              <a:rPr lang="en-PH" dirty="0">
                <a:latin typeface="Arial Nova Cond Light" panose="020B0306020202020204" pitchFamily="34" charset="0"/>
              </a:rPr>
            </a:br>
            <a:endParaRPr lang="en-PH" sz="14900" dirty="0">
              <a:latin typeface="Arial Nova Cond Light" panose="020B0306020202020204" pitchFamily="34" charset="0"/>
            </a:endParaRPr>
          </a:p>
        </p:txBody>
      </p:sp>
    </p:spTree>
    <p:extLst>
      <p:ext uri="{BB962C8B-B14F-4D97-AF65-F5344CB8AC3E}">
        <p14:creationId xmlns:p14="http://schemas.microsoft.com/office/powerpoint/2010/main" val="368522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669E8-08F4-6070-927A-12410692BC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C36DA1-5346-98C9-8321-1D5E117E63A9}"/>
              </a:ext>
            </a:extLst>
          </p:cNvPr>
          <p:cNvSpPr>
            <a:spLocks noGrp="1"/>
          </p:cNvSpPr>
          <p:nvPr>
            <p:ph idx="1"/>
          </p:nvPr>
        </p:nvSpPr>
        <p:spPr>
          <a:xfrm>
            <a:off x="1" y="1066800"/>
            <a:ext cx="12192000" cy="4512733"/>
          </a:xfrm>
        </p:spPr>
        <p:txBody>
          <a:bodyPr>
            <a:normAutofit/>
          </a:bodyPr>
          <a:lstStyle/>
          <a:p>
            <a:pPr marL="0" indent="0">
              <a:buNone/>
            </a:pPr>
            <a:r>
              <a:rPr lang="en-PH" sz="4000" dirty="0">
                <a:latin typeface="Arial Nova Cond Light" panose="020B0306020202020204" pitchFamily="34" charset="0"/>
              </a:rPr>
              <a:t>IN THE END OF THIS LESSON, WE WILL LEARN:</a:t>
            </a:r>
          </a:p>
          <a:p>
            <a:pPr marL="0" indent="0">
              <a:buNone/>
            </a:pPr>
            <a:r>
              <a:rPr lang="en-PH" sz="4400" b="1" dirty="0">
                <a:latin typeface="Arial Nova Cond Light" panose="020B0306020202020204" pitchFamily="34" charset="0"/>
              </a:rPr>
              <a:t>1.Personal pronoun</a:t>
            </a:r>
            <a:endParaRPr lang="en-PH" sz="4400" b="1" dirty="0">
              <a:solidFill>
                <a:srgbClr val="FF0000"/>
              </a:solidFill>
              <a:latin typeface="Arial Nova Cond Light" panose="020B0306020202020204" pitchFamily="34" charset="0"/>
              <a:ea typeface="+mj-ea"/>
              <a:cs typeface="+mj-cs"/>
            </a:endParaRPr>
          </a:p>
        </p:txBody>
      </p:sp>
    </p:spTree>
    <p:extLst>
      <p:ext uri="{BB962C8B-B14F-4D97-AF65-F5344CB8AC3E}">
        <p14:creationId xmlns:p14="http://schemas.microsoft.com/office/powerpoint/2010/main" val="4241467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6C064-E6A1-0C8B-08BE-53FCB195A6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08528-4FF3-8BEB-C315-2094F4120720}"/>
              </a:ext>
            </a:extLst>
          </p:cNvPr>
          <p:cNvSpPr>
            <a:spLocks noGrp="1"/>
          </p:cNvSpPr>
          <p:nvPr>
            <p:ph idx="1"/>
          </p:nvPr>
        </p:nvSpPr>
        <p:spPr>
          <a:xfrm>
            <a:off x="1" y="1728787"/>
            <a:ext cx="12191999" cy="4409545"/>
          </a:xfrm>
        </p:spPr>
        <p:txBody>
          <a:bodyPr>
            <a:normAutofit fontScale="92500" lnSpcReduction="20000"/>
          </a:bodyPr>
          <a:lstStyle/>
          <a:p>
            <a:pPr marL="0" indent="0">
              <a:buNone/>
            </a:pPr>
            <a:r>
              <a:rPr lang="en-PH" sz="4400" dirty="0">
                <a:latin typeface="Arial Nova Cond Light" panose="020B0306020202020204" pitchFamily="34" charset="0"/>
                <a:ea typeface="+mj-ea"/>
                <a:cs typeface="+mj-cs"/>
              </a:rPr>
              <a:t>A pronoun replace a noun in Tagalog sentence to make the sentence less repetitive. Two important types of </a:t>
            </a:r>
            <a:r>
              <a:rPr lang="en-PH" sz="4400" dirty="0" err="1">
                <a:solidFill>
                  <a:srgbClr val="FF0000"/>
                </a:solidFill>
                <a:latin typeface="Arial Nova Cond Light" panose="020B0306020202020204" pitchFamily="34" charset="0"/>
                <a:ea typeface="+mj-ea"/>
                <a:cs typeface="+mj-cs"/>
              </a:rPr>
              <a:t>tagalog</a:t>
            </a:r>
            <a:r>
              <a:rPr lang="en-PH" sz="4400" dirty="0">
                <a:solidFill>
                  <a:srgbClr val="FF0000"/>
                </a:solidFill>
                <a:latin typeface="Arial Nova Cond Light" panose="020B0306020202020204" pitchFamily="34" charset="0"/>
                <a:ea typeface="+mj-ea"/>
                <a:cs typeface="+mj-cs"/>
              </a:rPr>
              <a:t> pronoun </a:t>
            </a:r>
            <a:r>
              <a:rPr lang="en-PH" sz="4400" dirty="0">
                <a:latin typeface="Arial Nova Cond Light" panose="020B0306020202020204" pitchFamily="34" charset="0"/>
                <a:ea typeface="+mj-ea"/>
                <a:cs typeface="+mj-cs"/>
              </a:rPr>
              <a:t>that are often used </a:t>
            </a:r>
          </a:p>
          <a:p>
            <a:pPr marL="0" indent="0">
              <a:buNone/>
            </a:pPr>
            <a:r>
              <a:rPr lang="en-PH" sz="4400" b="1" dirty="0">
                <a:latin typeface="Arial Nova Cond Light" panose="020B0306020202020204" pitchFamily="34" charset="0"/>
                <a:ea typeface="+mj-ea"/>
                <a:cs typeface="+mj-cs"/>
              </a:rPr>
              <a:t>personal pronouns </a:t>
            </a:r>
            <a:r>
              <a:rPr lang="en-PH" sz="4400" dirty="0">
                <a:latin typeface="Arial Nova Cond Light" panose="020B0306020202020204" pitchFamily="34" charset="0"/>
                <a:ea typeface="+mj-ea"/>
                <a:cs typeface="+mj-cs"/>
              </a:rPr>
              <a:t>(</a:t>
            </a:r>
            <a:r>
              <a:rPr lang="en-PH" sz="4400" dirty="0" err="1">
                <a:solidFill>
                  <a:srgbClr val="FF0000"/>
                </a:solidFill>
                <a:latin typeface="Arial Nova Cond Light" panose="020B0306020202020204" pitchFamily="34" charset="0"/>
                <a:ea typeface="+mj-ea"/>
                <a:cs typeface="+mj-cs"/>
              </a:rPr>
              <a:t>ako,kami,tayo,ikaw,kayo,siya</a:t>
            </a:r>
            <a:r>
              <a:rPr lang="en-PH" sz="4400" dirty="0">
                <a:solidFill>
                  <a:srgbClr val="FF0000"/>
                </a:solidFill>
                <a:latin typeface="Arial Nova Cond Light" panose="020B0306020202020204" pitchFamily="34" charset="0"/>
                <a:ea typeface="+mj-ea"/>
                <a:cs typeface="+mj-cs"/>
              </a:rPr>
              <a:t> and </a:t>
            </a:r>
            <a:r>
              <a:rPr lang="en-PH" sz="4400" dirty="0" err="1">
                <a:solidFill>
                  <a:srgbClr val="FF0000"/>
                </a:solidFill>
                <a:latin typeface="Arial Nova Cond Light" panose="020B0306020202020204" pitchFamily="34" charset="0"/>
                <a:ea typeface="+mj-ea"/>
                <a:cs typeface="+mj-cs"/>
              </a:rPr>
              <a:t>sila</a:t>
            </a:r>
            <a:r>
              <a:rPr lang="en-PH" sz="4400" dirty="0">
                <a:latin typeface="Arial Nova Cond Light" panose="020B0306020202020204" pitchFamily="34" charset="0"/>
                <a:ea typeface="+mj-ea"/>
                <a:cs typeface="+mj-cs"/>
              </a:rPr>
              <a:t>) and</a:t>
            </a:r>
          </a:p>
          <a:p>
            <a:pPr marL="0" indent="0">
              <a:buNone/>
            </a:pPr>
            <a:r>
              <a:rPr lang="en-PH" sz="4400" b="1" dirty="0">
                <a:latin typeface="Arial Nova Cond Light" panose="020B0306020202020204" pitchFamily="34" charset="0"/>
                <a:ea typeface="+mj-ea"/>
                <a:cs typeface="+mj-cs"/>
              </a:rPr>
              <a:t>demonstrative pronouns </a:t>
            </a:r>
            <a:r>
              <a:rPr lang="en-PH" sz="4400" dirty="0">
                <a:latin typeface="Arial Nova Cond Light" panose="020B0306020202020204" pitchFamily="34" charset="0"/>
                <a:ea typeface="+mj-ea"/>
                <a:cs typeface="+mj-cs"/>
              </a:rPr>
              <a:t>(</a:t>
            </a:r>
            <a:r>
              <a:rPr lang="en-PH" sz="4400" dirty="0" err="1">
                <a:solidFill>
                  <a:srgbClr val="FF0000"/>
                </a:solidFill>
                <a:latin typeface="Arial Nova Cond Light" panose="020B0306020202020204" pitchFamily="34" charset="0"/>
                <a:ea typeface="+mj-ea"/>
                <a:cs typeface="+mj-cs"/>
              </a:rPr>
              <a:t>ito,iyan</a:t>
            </a:r>
            <a:r>
              <a:rPr lang="en-PH" sz="4400" dirty="0">
                <a:solidFill>
                  <a:srgbClr val="FF0000"/>
                </a:solidFill>
                <a:latin typeface="Arial Nova Cond Light" panose="020B0306020202020204" pitchFamily="34" charset="0"/>
                <a:ea typeface="+mj-ea"/>
                <a:cs typeface="+mj-cs"/>
              </a:rPr>
              <a:t> and </a:t>
            </a:r>
            <a:r>
              <a:rPr lang="en-PH" sz="4400" dirty="0" err="1">
                <a:solidFill>
                  <a:srgbClr val="FF0000"/>
                </a:solidFill>
                <a:latin typeface="Arial Nova Cond Light" panose="020B0306020202020204" pitchFamily="34" charset="0"/>
                <a:ea typeface="+mj-ea"/>
                <a:cs typeface="+mj-cs"/>
              </a:rPr>
              <a:t>iyon</a:t>
            </a:r>
            <a:r>
              <a:rPr lang="en-PH" sz="4400" dirty="0">
                <a:latin typeface="Arial Nova Cond Light" panose="020B0306020202020204" pitchFamily="34" charset="0"/>
                <a:ea typeface="+mj-ea"/>
                <a:cs typeface="+mj-cs"/>
              </a:rPr>
              <a:t>).</a:t>
            </a:r>
            <a:br>
              <a:rPr lang="en-PH" sz="4400" dirty="0">
                <a:latin typeface="Arial Nova Cond Light" panose="020B0306020202020204" pitchFamily="34" charset="0"/>
                <a:ea typeface="+mj-ea"/>
                <a:cs typeface="+mj-cs"/>
              </a:rPr>
            </a:br>
            <a:endParaRPr lang="en-PH" sz="4400" dirty="0">
              <a:latin typeface="Arial Nova Cond Light" panose="020B0306020202020204" pitchFamily="34" charset="0"/>
              <a:ea typeface="+mj-ea"/>
              <a:cs typeface="+mj-cs"/>
            </a:endParaRPr>
          </a:p>
        </p:txBody>
      </p:sp>
    </p:spTree>
    <p:extLst>
      <p:ext uri="{BB962C8B-B14F-4D97-AF65-F5344CB8AC3E}">
        <p14:creationId xmlns:p14="http://schemas.microsoft.com/office/powerpoint/2010/main" val="1098120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D9DA4-7F3E-CDF8-22A0-B0D318D1F8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41AD2-7C20-9EA3-5D9A-DC26D0AB614B}"/>
              </a:ext>
            </a:extLst>
          </p:cNvPr>
          <p:cNvSpPr>
            <a:spLocks noGrp="1"/>
          </p:cNvSpPr>
          <p:nvPr>
            <p:ph idx="1"/>
          </p:nvPr>
        </p:nvSpPr>
        <p:spPr>
          <a:xfrm>
            <a:off x="147485" y="795867"/>
            <a:ext cx="12432889" cy="4986866"/>
          </a:xfrm>
        </p:spPr>
        <p:txBody>
          <a:bodyPr>
            <a:normAutofit/>
          </a:bodyPr>
          <a:lstStyle/>
          <a:p>
            <a:pPr marL="514350" indent="-514350">
              <a:buAutoNum type="arabicPeriod"/>
            </a:pPr>
            <a:r>
              <a:rPr lang="en-PH" sz="2700" dirty="0">
                <a:solidFill>
                  <a:srgbClr val="FF0000"/>
                </a:solidFill>
                <a:latin typeface="Arial Nova Cond Light" panose="020B0306020202020204" pitchFamily="34" charset="0"/>
                <a:ea typeface="+mj-ea"/>
                <a:cs typeface="+mj-cs"/>
              </a:rPr>
              <a:t>PERSONAL PRONOUNS</a:t>
            </a:r>
          </a:p>
          <a:p>
            <a:pPr marL="0" indent="0">
              <a:buNone/>
            </a:pPr>
            <a:br>
              <a:rPr lang="en-PH" sz="2700" dirty="0">
                <a:solidFill>
                  <a:srgbClr val="FF0000"/>
                </a:solidFill>
                <a:latin typeface="Arial Nova Cond Light" panose="020B0306020202020204" pitchFamily="34" charset="0"/>
                <a:ea typeface="+mj-ea"/>
                <a:cs typeface="+mj-cs"/>
              </a:rPr>
            </a:br>
            <a:r>
              <a:rPr lang="en-PH" sz="2700" dirty="0">
                <a:latin typeface="Arial Nova Cond Light" panose="020B0306020202020204" pitchFamily="34" charset="0"/>
                <a:ea typeface="+mj-ea"/>
                <a:cs typeface="+mj-cs"/>
              </a:rPr>
              <a:t>The ff. Pronouns are nominative in form and can only be used as the subject of a verb</a:t>
            </a:r>
          </a:p>
          <a:p>
            <a:pPr marL="0" indent="0">
              <a:buNone/>
            </a:pPr>
            <a:r>
              <a:rPr lang="en-PH" sz="2700" dirty="0">
                <a:latin typeface="Arial Nova Cond Light" panose="020B0306020202020204" pitchFamily="34" charset="0"/>
                <a:ea typeface="+mj-ea"/>
                <a:cs typeface="+mj-cs"/>
              </a:rPr>
              <a:t> in a sentence.</a:t>
            </a:r>
            <a:endParaRPr lang="en-PH" sz="2700" dirty="0">
              <a:solidFill>
                <a:srgbClr val="FF0000"/>
              </a:solidFill>
              <a:latin typeface="Arial Nova Cond Light" panose="020B0306020202020204" pitchFamily="34" charset="0"/>
              <a:ea typeface="+mj-ea"/>
              <a:cs typeface="+mj-cs"/>
            </a:endParaRPr>
          </a:p>
        </p:txBody>
      </p:sp>
    </p:spTree>
    <p:extLst>
      <p:ext uri="{BB962C8B-B14F-4D97-AF65-F5344CB8AC3E}">
        <p14:creationId xmlns:p14="http://schemas.microsoft.com/office/powerpoint/2010/main" val="385781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7426C-B1D2-E970-9337-34BD52D294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156F5D-6312-0772-B581-5FF149C50729}"/>
              </a:ext>
            </a:extLst>
          </p:cNvPr>
          <p:cNvSpPr>
            <a:spLocks noGrp="1"/>
          </p:cNvSpPr>
          <p:nvPr>
            <p:ph idx="1"/>
          </p:nvPr>
        </p:nvSpPr>
        <p:spPr>
          <a:xfrm>
            <a:off x="135467" y="1270000"/>
            <a:ext cx="11899217" cy="4570361"/>
          </a:xfrm>
        </p:spPr>
        <p:txBody>
          <a:bodyPr>
            <a:normAutofit fontScale="92500" lnSpcReduction="10000"/>
          </a:bodyPr>
          <a:lstStyle/>
          <a:p>
            <a:pPr marL="0" lvl="0" indent="0">
              <a:buNone/>
            </a:pPr>
            <a:r>
              <a:rPr lang="en-PH" sz="3500" dirty="0">
                <a:latin typeface="+mj-lt"/>
                <a:ea typeface="+mj-ea"/>
                <a:cs typeface="+mj-cs"/>
              </a:rPr>
              <a:t>	</a:t>
            </a:r>
            <a:r>
              <a:rPr lang="en-US" sz="2200" dirty="0">
                <a:latin typeface="Arial Nova Cond Light" panose="020B0306020202020204" pitchFamily="34" charset="0"/>
              </a:rPr>
              <a:t>THE PERSONAL PRONOUN </a:t>
            </a:r>
            <a:r>
              <a:rPr lang="en-US" sz="2200" b="1" dirty="0">
                <a:solidFill>
                  <a:srgbClr val="FF0000"/>
                </a:solidFill>
                <a:latin typeface="Arial Nova Cond Light" panose="020B0306020202020204" pitchFamily="34" charset="0"/>
              </a:rPr>
              <a:t>AKO</a:t>
            </a:r>
            <a:r>
              <a:rPr lang="en-US" sz="2200" b="1" dirty="0">
                <a:latin typeface="Arial Nova Cond Light" panose="020B0306020202020204" pitchFamily="34" charset="0"/>
              </a:rPr>
              <a:t> </a:t>
            </a:r>
            <a:r>
              <a:rPr lang="en-US" sz="2200" dirty="0">
                <a:latin typeface="Arial Nova Cond Light" panose="020B0306020202020204" pitchFamily="34" charset="0"/>
              </a:rPr>
              <a:t>(MEANING </a:t>
            </a:r>
            <a:r>
              <a:rPr lang="en-US" sz="2200" b="1" dirty="0">
                <a:solidFill>
                  <a:srgbClr val="FF0000"/>
                </a:solidFill>
                <a:latin typeface="Arial Nova Cond Light" panose="020B0306020202020204" pitchFamily="34" charset="0"/>
              </a:rPr>
              <a:t>I</a:t>
            </a:r>
            <a:r>
              <a:rPr lang="en-US" sz="2200" i="1" dirty="0">
                <a:latin typeface="Arial Nova Cond Light" panose="020B0306020202020204" pitchFamily="34" charset="0"/>
              </a:rPr>
              <a:t>)</a:t>
            </a:r>
            <a:endParaRPr lang="en-PH" sz="2200" dirty="0">
              <a:latin typeface="Arial Nova Cond Light" panose="020B0306020202020204" pitchFamily="34" charset="0"/>
            </a:endParaRPr>
          </a:p>
          <a:p>
            <a:pPr marL="0" indent="0">
              <a:buNone/>
            </a:pPr>
            <a:r>
              <a:rPr lang="en-US" sz="2200" dirty="0">
                <a:latin typeface="Arial Nova Cond Light" panose="020B0306020202020204" pitchFamily="34" charset="0"/>
              </a:rPr>
              <a:t>The pronoun </a:t>
            </a:r>
            <a:r>
              <a:rPr lang="en-US" sz="2200" b="1" dirty="0" err="1">
                <a:latin typeface="Arial Nova Cond Light" panose="020B0306020202020204" pitchFamily="34" charset="0"/>
              </a:rPr>
              <a:t>ako</a:t>
            </a:r>
            <a:r>
              <a:rPr lang="en-US" sz="2200" b="1" dirty="0">
                <a:latin typeface="Arial Nova Cond Light" panose="020B0306020202020204" pitchFamily="34" charset="0"/>
              </a:rPr>
              <a:t> </a:t>
            </a:r>
            <a:r>
              <a:rPr lang="en-US" sz="2200" dirty="0">
                <a:latin typeface="Arial Nova Cond Light" panose="020B0306020202020204" pitchFamily="34" charset="0"/>
              </a:rPr>
              <a:t>is the equivalent of the English pronoun / and, when used as a subject, can come at the beginning of the sentence before the verb or, in the inverted word order, after the predicate, as in the following examples:</a:t>
            </a:r>
            <a:endParaRPr lang="en-PH" sz="2200" dirty="0">
              <a:latin typeface="Arial Nova Cond Light" panose="020B0306020202020204" pitchFamily="34" charset="0"/>
            </a:endParaRPr>
          </a:p>
          <a:p>
            <a:pPr marL="0" indent="0">
              <a:buNone/>
            </a:pPr>
            <a:br>
              <a:rPr lang="en-US" sz="2200" dirty="0">
                <a:latin typeface="Arial Nova Cond Light" panose="020B0306020202020204" pitchFamily="34" charset="0"/>
              </a:rPr>
            </a:br>
            <a:r>
              <a:rPr lang="en-US" sz="2200" b="1" dirty="0">
                <a:latin typeface="Arial Nova Cond Light" panose="020B0306020202020204" pitchFamily="34" charset="0"/>
              </a:rPr>
              <a:t>Ako ay </a:t>
            </a:r>
            <a:r>
              <a:rPr lang="en-US" sz="2200" b="1" dirty="0" err="1">
                <a:latin typeface="Arial Nova Cond Light" panose="020B0306020202020204" pitchFamily="34" charset="0"/>
              </a:rPr>
              <a:t>si</a:t>
            </a:r>
            <a:r>
              <a:rPr lang="en-US" sz="2200" b="1" dirty="0">
                <a:latin typeface="Arial Nova Cond Light" panose="020B0306020202020204" pitchFamily="34" charset="0"/>
              </a:rPr>
              <a:t> John. 				</a:t>
            </a:r>
            <a:r>
              <a:rPr lang="en-US" sz="2200" dirty="0">
                <a:latin typeface="Arial Nova Cond Light" panose="020B0306020202020204" pitchFamily="34" charset="0"/>
              </a:rPr>
              <a:t> I am John. </a:t>
            </a:r>
            <a:r>
              <a:rPr lang="en-US" sz="2200" b="1" dirty="0">
                <a:latin typeface="Arial Nova Cond Light" panose="020B0306020202020204" pitchFamily="34" charset="0"/>
              </a:rPr>
              <a:t>	</a:t>
            </a:r>
          </a:p>
          <a:p>
            <a:pPr marL="0" indent="0">
              <a:buNone/>
            </a:pPr>
            <a:r>
              <a:rPr lang="en-US" sz="2200" b="1" dirty="0">
                <a:latin typeface="Arial Nova Cond Light" panose="020B0306020202020204" pitchFamily="34" charset="0"/>
              </a:rPr>
              <a:t>Ako ay </a:t>
            </a:r>
            <a:r>
              <a:rPr lang="en-US" sz="2200" b="1" dirty="0" err="1">
                <a:latin typeface="Arial Nova Cond Light" panose="020B0306020202020204" pitchFamily="34" charset="0"/>
              </a:rPr>
              <a:t>lalaki</a:t>
            </a:r>
            <a:r>
              <a:rPr lang="en-US" sz="2200" b="1" dirty="0">
                <a:latin typeface="Arial Nova Cond Light" panose="020B0306020202020204" pitchFamily="34" charset="0"/>
              </a:rPr>
              <a:t>.				 </a:t>
            </a:r>
            <a:r>
              <a:rPr lang="en-US" sz="2200" dirty="0">
                <a:latin typeface="Arial Nova Cond Light" panose="020B0306020202020204" pitchFamily="34" charset="0"/>
              </a:rPr>
              <a:t>I am a man.</a:t>
            </a:r>
          </a:p>
          <a:p>
            <a:pPr marL="0" indent="0">
              <a:buNone/>
            </a:pPr>
            <a:r>
              <a:rPr lang="en-US" sz="2200" b="1" dirty="0" err="1">
                <a:latin typeface="Arial Nova Cond Light" panose="020B0306020202020204" pitchFamily="34" charset="0"/>
              </a:rPr>
              <a:t>Masipag</a:t>
            </a:r>
            <a:r>
              <a:rPr lang="en-US" sz="2200" b="1" dirty="0">
                <a:latin typeface="Arial Nova Cond Light" panose="020B0306020202020204" pitchFamily="34" charset="0"/>
              </a:rPr>
              <a:t> </a:t>
            </a:r>
            <a:r>
              <a:rPr lang="en-US" sz="2200" b="1" dirty="0" err="1">
                <a:latin typeface="Arial Nova Cond Light" panose="020B0306020202020204" pitchFamily="34" charset="0"/>
              </a:rPr>
              <a:t>ako</a:t>
            </a:r>
            <a:r>
              <a:rPr lang="en-US" sz="2200" b="1" dirty="0">
                <a:latin typeface="Arial Nova Cond Light" panose="020B0306020202020204" pitchFamily="34" charset="0"/>
              </a:rPr>
              <a:t>.				</a:t>
            </a:r>
            <a:r>
              <a:rPr lang="en-US" sz="2200" dirty="0">
                <a:latin typeface="Arial Nova Cond Light" panose="020B0306020202020204" pitchFamily="34" charset="0"/>
              </a:rPr>
              <a:t> I am industrious. </a:t>
            </a:r>
            <a:r>
              <a:rPr lang="en-US" sz="2200" b="1" dirty="0">
                <a:latin typeface="Arial Nova Cond Light" panose="020B0306020202020204" pitchFamily="34" charset="0"/>
              </a:rPr>
              <a:t>	</a:t>
            </a:r>
          </a:p>
          <a:p>
            <a:pPr marL="0" indent="0">
              <a:buNone/>
            </a:pPr>
            <a:r>
              <a:rPr lang="en-US" sz="2200" b="1" dirty="0" err="1">
                <a:latin typeface="Arial Nova Cond Light" panose="020B0306020202020204" pitchFamily="34" charset="0"/>
              </a:rPr>
              <a:t>Malusog</a:t>
            </a:r>
            <a:r>
              <a:rPr lang="en-US" sz="2200" b="1" dirty="0">
                <a:latin typeface="Arial Nova Cond Light" panose="020B0306020202020204" pitchFamily="34" charset="0"/>
              </a:rPr>
              <a:t> </a:t>
            </a:r>
            <a:r>
              <a:rPr lang="en-US" sz="2200" b="1" dirty="0" err="1">
                <a:latin typeface="Arial Nova Cond Light" panose="020B0306020202020204" pitchFamily="34" charset="0"/>
              </a:rPr>
              <a:t>ako</a:t>
            </a:r>
            <a:r>
              <a:rPr lang="en-US" sz="2200" b="1" dirty="0">
                <a:latin typeface="Arial Nova Cond Light" panose="020B0306020202020204" pitchFamily="34" charset="0"/>
              </a:rPr>
              <a:t>.				 </a:t>
            </a:r>
            <a:r>
              <a:rPr lang="en-US" sz="2200" dirty="0">
                <a:latin typeface="Arial Nova Cond Light" panose="020B0306020202020204" pitchFamily="34" charset="0"/>
              </a:rPr>
              <a:t>I am healthy.</a:t>
            </a:r>
            <a:endParaRPr lang="en-PH" sz="2200" dirty="0">
              <a:latin typeface="Arial Nova Cond Light" panose="020B0306020202020204" pitchFamily="34" charset="0"/>
            </a:endParaRPr>
          </a:p>
          <a:p>
            <a:pPr marL="0" indent="0">
              <a:buNone/>
            </a:pPr>
            <a:br>
              <a:rPr lang="en-US" dirty="0">
                <a:latin typeface="Arial Nova Cond Light" panose="020B0306020202020204" pitchFamily="34" charset="0"/>
              </a:rPr>
            </a:br>
            <a:r>
              <a:rPr lang="en-US" dirty="0">
                <a:latin typeface="Arial Nova Cond Light" panose="020B0306020202020204" pitchFamily="34" charset="0"/>
              </a:rPr>
              <a:t>	</a:t>
            </a:r>
            <a:endParaRPr lang="en-PH" sz="2400" dirty="0">
              <a:solidFill>
                <a:srgbClr val="FF0000"/>
              </a:solidFill>
              <a:latin typeface="Arial Nova Cond Light" panose="020B0306020202020204" pitchFamily="34" charset="0"/>
              <a:ea typeface="+mj-ea"/>
              <a:cs typeface="+mj-cs"/>
            </a:endParaRPr>
          </a:p>
        </p:txBody>
      </p:sp>
    </p:spTree>
    <p:extLst>
      <p:ext uri="{BB962C8B-B14F-4D97-AF65-F5344CB8AC3E}">
        <p14:creationId xmlns:p14="http://schemas.microsoft.com/office/powerpoint/2010/main" val="3838615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8FF5-F36F-8BA6-8E11-382523C40B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73EE00-661E-BA66-B186-3932EEB9E4EF}"/>
              </a:ext>
            </a:extLst>
          </p:cNvPr>
          <p:cNvSpPr>
            <a:spLocks noGrp="1"/>
          </p:cNvSpPr>
          <p:nvPr>
            <p:ph idx="1"/>
          </p:nvPr>
        </p:nvSpPr>
        <p:spPr>
          <a:xfrm>
            <a:off x="135467" y="1270000"/>
            <a:ext cx="12056533" cy="4570361"/>
          </a:xfrm>
        </p:spPr>
        <p:txBody>
          <a:bodyPr>
            <a:normAutofit lnSpcReduction="10000"/>
          </a:bodyPr>
          <a:lstStyle/>
          <a:p>
            <a:pPr marL="0" lvl="0" indent="0" algn="ctr">
              <a:buNone/>
            </a:pPr>
            <a:r>
              <a:rPr lang="en-PH" sz="3600" dirty="0">
                <a:latin typeface="Arial Nova Cond Light" panose="020B0306020202020204" pitchFamily="34" charset="0"/>
                <a:ea typeface="+mj-ea"/>
                <a:cs typeface="+mj-cs"/>
              </a:rPr>
              <a:t>	</a:t>
            </a:r>
            <a:r>
              <a:rPr lang="en-US" sz="2400" dirty="0">
                <a:latin typeface="Arial Nova Cond Light" panose="020B0306020202020204" pitchFamily="34" charset="0"/>
              </a:rPr>
              <a:t>	</a:t>
            </a:r>
            <a:r>
              <a:rPr lang="en-US" sz="3200" b="1" dirty="0">
                <a:solidFill>
                  <a:srgbClr val="FF0000"/>
                </a:solidFill>
                <a:latin typeface="Arial Nova Cond Light" panose="020B0306020202020204" pitchFamily="34" charset="0"/>
              </a:rPr>
              <a:t>AKO</a:t>
            </a:r>
            <a:r>
              <a:rPr lang="en-US" sz="3200" b="1" dirty="0">
                <a:solidFill>
                  <a:srgbClr val="FF0000"/>
                </a:solidFill>
                <a:highlight>
                  <a:srgbClr val="FF0000"/>
                </a:highlight>
                <a:latin typeface="Arial Nova Cond Light" panose="020B0306020202020204" pitchFamily="34" charset="0"/>
              </a:rPr>
              <a:t> </a:t>
            </a:r>
            <a:br>
              <a:rPr lang="en-US" sz="2400" dirty="0">
                <a:latin typeface="Arial Nova Cond Light" panose="020B0306020202020204" pitchFamily="34" charset="0"/>
              </a:rPr>
            </a:br>
            <a:r>
              <a:rPr lang="en-US" sz="2400" dirty="0">
                <a:latin typeface="Arial Nova Cond Light" panose="020B0306020202020204" pitchFamily="34" charset="0"/>
              </a:rPr>
              <a:t>is linked by </a:t>
            </a:r>
            <a:r>
              <a:rPr lang="en-US" sz="2400" dirty="0">
                <a:solidFill>
                  <a:srgbClr val="FF0000"/>
                </a:solidFill>
                <a:latin typeface="Arial Nova Cond Light" panose="020B0306020202020204" pitchFamily="34" charset="0"/>
              </a:rPr>
              <a:t>AY</a:t>
            </a:r>
            <a:r>
              <a:rPr lang="en-US" sz="2400" dirty="0">
                <a:latin typeface="Arial Nova Cond Light" panose="020B0306020202020204" pitchFamily="34" charset="0"/>
              </a:rPr>
              <a:t> to the predicate in the first two sentences above using the subject-predicate word order. Note chat in this type of sentence, ay may be shortened to </a:t>
            </a:r>
            <a:r>
              <a:rPr lang="en-US" sz="2400" b="1" dirty="0">
                <a:solidFill>
                  <a:srgbClr val="FF0000"/>
                </a:solidFill>
                <a:latin typeface="Arial Nova Cond Light" panose="020B0306020202020204" pitchFamily="34" charset="0"/>
              </a:rPr>
              <a:t>'y</a:t>
            </a:r>
            <a:r>
              <a:rPr lang="en-US" sz="2400" dirty="0">
                <a:solidFill>
                  <a:srgbClr val="FF0000"/>
                </a:solidFill>
                <a:latin typeface="Arial Nova Cond Light" panose="020B0306020202020204" pitchFamily="34" charset="0"/>
              </a:rPr>
              <a:t> </a:t>
            </a:r>
            <a:r>
              <a:rPr lang="en-US" sz="2400" dirty="0">
                <a:latin typeface="Arial Nova Cond Light" panose="020B0306020202020204" pitchFamily="34" charset="0"/>
              </a:rPr>
              <a:t>when the preceding word </a:t>
            </a:r>
            <a:r>
              <a:rPr lang="en-US" sz="2400" dirty="0">
                <a:solidFill>
                  <a:srgbClr val="FF0000"/>
                </a:solidFill>
                <a:latin typeface="Arial Nova Cond Light" panose="020B0306020202020204" pitchFamily="34" charset="0"/>
              </a:rPr>
              <a:t>ends in a vowel</a:t>
            </a:r>
            <a:r>
              <a:rPr lang="en-US" sz="2400" dirty="0">
                <a:latin typeface="Arial Nova Cond Light" panose="020B0306020202020204" pitchFamily="34" charset="0"/>
              </a:rPr>
              <a:t>. The shortened form </a:t>
            </a:r>
            <a:r>
              <a:rPr lang="en-US" sz="2400" dirty="0">
                <a:solidFill>
                  <a:srgbClr val="FF0000"/>
                </a:solidFill>
                <a:latin typeface="Arial Nova Cond Light" panose="020B0306020202020204" pitchFamily="34" charset="0"/>
              </a:rPr>
              <a:t>'y</a:t>
            </a:r>
            <a:r>
              <a:rPr lang="en-US" sz="2400" dirty="0">
                <a:latin typeface="Arial Nova Cond Light" panose="020B0306020202020204" pitchFamily="34" charset="0"/>
              </a:rPr>
              <a:t> is also used after kami (we including he/she, and), tayo (we including you, he/she, and /), and other pronouns ending in vowels.</a:t>
            </a:r>
          </a:p>
          <a:p>
            <a:pPr marL="0" lvl="0" indent="0">
              <a:buNone/>
            </a:pPr>
            <a:r>
              <a:rPr lang="en-US" sz="2400" dirty="0" err="1">
                <a:latin typeface="Arial Nova Cond Light" panose="020B0306020202020204" pitchFamily="34" charset="0"/>
              </a:rPr>
              <a:t>Ako'y</a:t>
            </a:r>
            <a:r>
              <a:rPr lang="en-US" sz="2400" dirty="0">
                <a:latin typeface="Arial Nova Cond Light" panose="020B0306020202020204" pitchFamily="34" charset="0"/>
              </a:rPr>
              <a:t> </a:t>
            </a:r>
            <a:r>
              <a:rPr lang="en-US" sz="2400" dirty="0" err="1">
                <a:latin typeface="Arial Nova Cond Light" panose="020B0306020202020204" pitchFamily="34" charset="0"/>
              </a:rPr>
              <a:t>si</a:t>
            </a:r>
            <a:r>
              <a:rPr lang="en-US" sz="2400" dirty="0">
                <a:latin typeface="Arial Nova Cond Light" panose="020B0306020202020204" pitchFamily="34" charset="0"/>
              </a:rPr>
              <a:t> John.		I am John.</a:t>
            </a:r>
          </a:p>
          <a:p>
            <a:pPr marL="0" lvl="0" indent="0">
              <a:buNone/>
            </a:pPr>
            <a:r>
              <a:rPr lang="en-US" sz="2400" dirty="0" err="1">
                <a:latin typeface="Arial Nova Cond Light" panose="020B0306020202020204" pitchFamily="34" charset="0"/>
              </a:rPr>
              <a:t>Ako'y</a:t>
            </a:r>
            <a:r>
              <a:rPr lang="en-US" sz="2400" dirty="0">
                <a:latin typeface="Arial Nova Cond Light" panose="020B0306020202020204" pitchFamily="34" charset="0"/>
              </a:rPr>
              <a:t> </a:t>
            </a:r>
            <a:r>
              <a:rPr lang="en-US" sz="2400" dirty="0" err="1">
                <a:latin typeface="Arial Nova Cond Light" panose="020B0306020202020204" pitchFamily="34" charset="0"/>
              </a:rPr>
              <a:t>lalaki</a:t>
            </a:r>
            <a:r>
              <a:rPr lang="en-US" sz="2400" dirty="0">
                <a:latin typeface="Arial Nova Cond Light" panose="020B0306020202020204" pitchFamily="34" charset="0"/>
              </a:rPr>
              <a:t>.		I am a man.</a:t>
            </a:r>
          </a:p>
          <a:p>
            <a:pPr marL="0" lvl="0" indent="0">
              <a:buNone/>
            </a:pPr>
            <a:r>
              <a:rPr lang="en-US" sz="2400" dirty="0" err="1">
                <a:latin typeface="Arial Nova Cond Light" panose="020B0306020202020204" pitchFamily="34" charset="0"/>
              </a:rPr>
              <a:t>Ako'y</a:t>
            </a:r>
            <a:r>
              <a:rPr lang="en-US" sz="2400" dirty="0">
                <a:latin typeface="Arial Nova Cond Light" panose="020B0306020202020204" pitchFamily="34" charset="0"/>
              </a:rPr>
              <a:t> nag-</a:t>
            </a:r>
            <a:r>
              <a:rPr lang="en-US" sz="2400" dirty="0" err="1">
                <a:latin typeface="Arial Nova Cond Light" panose="020B0306020202020204" pitchFamily="34" charset="0"/>
              </a:rPr>
              <a:t>aaral</a:t>
            </a:r>
            <a:r>
              <a:rPr lang="en-US" sz="2400" dirty="0">
                <a:latin typeface="Arial Nova Cond Light" panose="020B0306020202020204" pitchFamily="34" charset="0"/>
              </a:rPr>
              <a:t>.		I am studying.</a:t>
            </a:r>
            <a:br>
              <a:rPr lang="en-US" sz="2400" dirty="0">
                <a:latin typeface="Arial Nova Cond Light" panose="020B0306020202020204" pitchFamily="34" charset="0"/>
              </a:rPr>
            </a:br>
            <a:r>
              <a:rPr lang="en-US" sz="2400" dirty="0">
                <a:latin typeface="Arial Nova Cond Light" panose="020B0306020202020204" pitchFamily="34" charset="0"/>
              </a:rPr>
              <a:t>Kami’y nag </a:t>
            </a:r>
            <a:r>
              <a:rPr lang="en-US" sz="2400" dirty="0" err="1">
                <a:latin typeface="Arial Nova Cond Light" panose="020B0306020202020204" pitchFamily="34" charset="0"/>
              </a:rPr>
              <a:t>aaral</a:t>
            </a:r>
            <a:r>
              <a:rPr lang="en-US" sz="2400" dirty="0">
                <a:latin typeface="Arial Nova Cond Light" panose="020B0306020202020204" pitchFamily="34" charset="0"/>
              </a:rPr>
              <a:t> 		We are studying</a:t>
            </a:r>
          </a:p>
          <a:p>
            <a:pPr marL="0" lvl="0" indent="0">
              <a:buNone/>
            </a:pPr>
            <a:endParaRPr lang="en-US" dirty="0">
              <a:latin typeface="Arial Nova Cond Light" panose="020B0306020202020204" pitchFamily="34" charset="0"/>
            </a:endParaRPr>
          </a:p>
          <a:p>
            <a:pPr marL="0" lvl="0" indent="0">
              <a:buNone/>
            </a:pPr>
            <a:endParaRPr lang="en-PH" sz="2400" dirty="0">
              <a:solidFill>
                <a:srgbClr val="FF0000"/>
              </a:solidFill>
              <a:latin typeface="Arial Nova Cond Light" panose="020B0306020202020204" pitchFamily="34" charset="0"/>
              <a:ea typeface="+mj-ea"/>
              <a:cs typeface="+mj-cs"/>
            </a:endParaRPr>
          </a:p>
        </p:txBody>
      </p:sp>
    </p:spTree>
    <p:extLst>
      <p:ext uri="{BB962C8B-B14F-4D97-AF65-F5344CB8AC3E}">
        <p14:creationId xmlns:p14="http://schemas.microsoft.com/office/powerpoint/2010/main" val="795243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7ECB2-B74C-EA65-6A67-3287594D20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6CCDE-E5B9-E853-F525-74C3A75A8D54}"/>
              </a:ext>
            </a:extLst>
          </p:cNvPr>
          <p:cNvSpPr>
            <a:spLocks noGrp="1"/>
          </p:cNvSpPr>
          <p:nvPr>
            <p:ph idx="1"/>
          </p:nvPr>
        </p:nvSpPr>
        <p:spPr>
          <a:xfrm>
            <a:off x="135467" y="1270000"/>
            <a:ext cx="12056533" cy="4570361"/>
          </a:xfrm>
        </p:spPr>
        <p:txBody>
          <a:bodyPr>
            <a:normAutofit fontScale="85000" lnSpcReduction="20000"/>
          </a:bodyPr>
          <a:lstStyle/>
          <a:p>
            <a:pPr marL="0" lvl="0" indent="0">
              <a:buNone/>
            </a:pPr>
            <a:r>
              <a:rPr lang="en-PH" sz="3600" dirty="0">
                <a:latin typeface="+mj-lt"/>
                <a:ea typeface="+mj-ea"/>
                <a:cs typeface="+mj-cs"/>
              </a:rPr>
              <a:t>	</a:t>
            </a:r>
            <a:r>
              <a:rPr lang="en-US" sz="3600" dirty="0">
                <a:solidFill>
                  <a:srgbClr val="FF0000"/>
                </a:solidFill>
                <a:latin typeface="+mj-lt"/>
                <a:ea typeface="+mj-ea"/>
                <a:cs typeface="+mj-cs"/>
              </a:rPr>
              <a:t>2</a:t>
            </a:r>
            <a:r>
              <a:rPr lang="en-US" sz="3600" dirty="0">
                <a:solidFill>
                  <a:srgbClr val="FF0000"/>
                </a:solidFill>
                <a:latin typeface="Arial Nova Cond Light" panose="020B0306020202020204" pitchFamily="34" charset="0"/>
                <a:ea typeface="+mj-ea"/>
                <a:cs typeface="+mj-cs"/>
              </a:rPr>
              <a:t>.THE PERSONAL PRONOUNS </a:t>
            </a:r>
            <a:r>
              <a:rPr lang="en-US" sz="3600" dirty="0">
                <a:latin typeface="Arial Nova Cond Light" panose="020B0306020202020204" pitchFamily="34" charset="0"/>
                <a:ea typeface="+mj-ea"/>
                <a:cs typeface="+mj-cs"/>
              </a:rPr>
              <a:t>KAMI </a:t>
            </a:r>
            <a:r>
              <a:rPr lang="en-US" sz="3600" dirty="0">
                <a:solidFill>
                  <a:srgbClr val="FF0000"/>
                </a:solidFill>
                <a:latin typeface="Arial Nova Cond Light" panose="020B0306020202020204" pitchFamily="34" charset="0"/>
                <a:ea typeface="+mj-ea"/>
                <a:cs typeface="+mj-cs"/>
              </a:rPr>
              <a:t>AND </a:t>
            </a:r>
            <a:r>
              <a:rPr lang="en-US" sz="3600" dirty="0">
                <a:latin typeface="Arial Nova Cond Light" panose="020B0306020202020204" pitchFamily="34" charset="0"/>
                <a:ea typeface="+mj-ea"/>
                <a:cs typeface="+mj-cs"/>
              </a:rPr>
              <a:t>TAYO</a:t>
            </a:r>
            <a:r>
              <a:rPr lang="en-US" sz="3600" dirty="0">
                <a:solidFill>
                  <a:srgbClr val="FF0000"/>
                </a:solidFill>
                <a:latin typeface="Arial Nova Cond Light" panose="020B0306020202020204" pitchFamily="34" charset="0"/>
                <a:ea typeface="+mj-ea"/>
                <a:cs typeface="+mj-cs"/>
              </a:rPr>
              <a:t> (MEANING WE)</a:t>
            </a:r>
          </a:p>
          <a:p>
            <a:pPr marL="0" lvl="0" indent="0">
              <a:buNone/>
            </a:pPr>
            <a:r>
              <a:rPr lang="en-US" sz="3600" dirty="0">
                <a:latin typeface="Arial Nova Cond Light" panose="020B0306020202020204" pitchFamily="34" charset="0"/>
                <a:ea typeface="+mj-ea"/>
                <a:cs typeface="+mj-cs"/>
              </a:rPr>
              <a:t>The pronoun we is expressed by </a:t>
            </a:r>
            <a:r>
              <a:rPr lang="en-US" sz="3600" b="1" dirty="0">
                <a:solidFill>
                  <a:srgbClr val="FF0000"/>
                </a:solidFill>
                <a:latin typeface="Arial Nova Cond Light" panose="020B0306020202020204" pitchFamily="34" charset="0"/>
                <a:ea typeface="+mj-ea"/>
                <a:cs typeface="+mj-cs"/>
              </a:rPr>
              <a:t>KAMI</a:t>
            </a:r>
            <a:r>
              <a:rPr lang="en-US" sz="3600" dirty="0">
                <a:solidFill>
                  <a:srgbClr val="FF0000"/>
                </a:solidFill>
                <a:latin typeface="Arial Nova Cond Light" panose="020B0306020202020204" pitchFamily="34" charset="0"/>
                <a:ea typeface="+mj-ea"/>
                <a:cs typeface="+mj-cs"/>
              </a:rPr>
              <a:t> </a:t>
            </a:r>
            <a:r>
              <a:rPr lang="en-US" sz="3600" dirty="0">
                <a:latin typeface="Arial Nova Cond Light" panose="020B0306020202020204" pitchFamily="34" charset="0"/>
                <a:ea typeface="+mj-ea"/>
                <a:cs typeface="+mj-cs"/>
              </a:rPr>
              <a:t>and </a:t>
            </a:r>
            <a:r>
              <a:rPr lang="en-US" sz="3600" b="1" dirty="0">
                <a:solidFill>
                  <a:srgbClr val="FF0000"/>
                </a:solidFill>
                <a:latin typeface="Arial Nova Cond Light" panose="020B0306020202020204" pitchFamily="34" charset="0"/>
                <a:ea typeface="+mj-ea"/>
                <a:cs typeface="+mj-cs"/>
              </a:rPr>
              <a:t>TAYO</a:t>
            </a:r>
            <a:r>
              <a:rPr lang="en-US" sz="3600" dirty="0">
                <a:solidFill>
                  <a:srgbClr val="FF0000"/>
                </a:solidFill>
                <a:latin typeface="Arial Nova Cond Light" panose="020B0306020202020204" pitchFamily="34" charset="0"/>
                <a:ea typeface="+mj-ea"/>
                <a:cs typeface="+mj-cs"/>
              </a:rPr>
              <a:t> </a:t>
            </a:r>
            <a:r>
              <a:rPr lang="en-US" sz="3600" dirty="0">
                <a:latin typeface="Arial Nova Cond Light" panose="020B0306020202020204" pitchFamily="34" charset="0"/>
                <a:ea typeface="+mj-ea"/>
                <a:cs typeface="+mj-cs"/>
              </a:rPr>
              <a:t>in Tagalog. </a:t>
            </a:r>
          </a:p>
          <a:p>
            <a:pPr marL="0" lvl="0" indent="0">
              <a:buNone/>
            </a:pPr>
            <a:r>
              <a:rPr lang="en-US" sz="3600" dirty="0">
                <a:solidFill>
                  <a:srgbClr val="FF0000"/>
                </a:solidFill>
                <a:latin typeface="Arial Nova Cond Light" panose="020B0306020202020204" pitchFamily="34" charset="0"/>
                <a:ea typeface="+mj-ea"/>
                <a:cs typeface="+mj-cs"/>
              </a:rPr>
              <a:t>Kam</a:t>
            </a:r>
            <a:r>
              <a:rPr lang="en-US" sz="3600" dirty="0">
                <a:latin typeface="Arial Nova Cond Light" panose="020B0306020202020204" pitchFamily="34" charset="0"/>
                <a:ea typeface="+mj-ea"/>
                <a:cs typeface="+mj-cs"/>
              </a:rPr>
              <a:t>i means we in the sense of </a:t>
            </a:r>
            <a:r>
              <a:rPr lang="en-US" sz="3600" dirty="0">
                <a:solidFill>
                  <a:srgbClr val="FF0000"/>
                </a:solidFill>
                <a:latin typeface="Arial Nova Cond Light" panose="020B0306020202020204" pitchFamily="34" charset="0"/>
                <a:ea typeface="+mj-ea"/>
                <a:cs typeface="+mj-cs"/>
              </a:rPr>
              <a:t>he/she </a:t>
            </a:r>
            <a:r>
              <a:rPr lang="en-US" sz="3600" dirty="0">
                <a:latin typeface="Arial Nova Cond Light" panose="020B0306020202020204" pitchFamily="34" charset="0"/>
                <a:ea typeface="+mj-ea"/>
                <a:cs typeface="+mj-cs"/>
              </a:rPr>
              <a:t>and</a:t>
            </a:r>
            <a:r>
              <a:rPr lang="en-US" sz="3600" dirty="0">
                <a:solidFill>
                  <a:srgbClr val="FF0000"/>
                </a:solidFill>
                <a:latin typeface="Arial Nova Cond Light" panose="020B0306020202020204" pitchFamily="34" charset="0"/>
                <a:ea typeface="+mj-ea"/>
                <a:cs typeface="+mj-cs"/>
              </a:rPr>
              <a:t> I excluding the person spoken to</a:t>
            </a:r>
            <a:r>
              <a:rPr lang="en-US" sz="3600" dirty="0">
                <a:latin typeface="Arial Nova Cond Light" panose="020B0306020202020204" pitchFamily="34" charset="0"/>
                <a:ea typeface="+mj-ea"/>
                <a:cs typeface="+mj-cs"/>
              </a:rPr>
              <a:t>, whereas Tayo means we in </a:t>
            </a:r>
            <a:r>
              <a:rPr lang="en-US" sz="3600" dirty="0">
                <a:solidFill>
                  <a:srgbClr val="FF0000"/>
                </a:solidFill>
                <a:latin typeface="Arial Nova Cond Light" panose="020B0306020202020204" pitchFamily="34" charset="0"/>
                <a:ea typeface="+mj-ea"/>
                <a:cs typeface="+mj-cs"/>
              </a:rPr>
              <a:t>the sense of you, he/she,</a:t>
            </a:r>
            <a:r>
              <a:rPr lang="en-US" sz="3600" dirty="0">
                <a:latin typeface="Arial Nova Cond Light" panose="020B0306020202020204" pitchFamily="34" charset="0"/>
                <a:ea typeface="+mj-ea"/>
                <a:cs typeface="+mj-cs"/>
              </a:rPr>
              <a:t> and </a:t>
            </a:r>
            <a:r>
              <a:rPr lang="en-US" sz="3600" dirty="0">
                <a:solidFill>
                  <a:srgbClr val="FF0000"/>
                </a:solidFill>
                <a:latin typeface="Arial Nova Cond Light" panose="020B0306020202020204" pitchFamily="34" charset="0"/>
                <a:ea typeface="+mj-ea"/>
                <a:cs typeface="+mj-cs"/>
              </a:rPr>
              <a:t>I, or you (the person spoken to) </a:t>
            </a:r>
            <a:r>
              <a:rPr lang="en-US" sz="3600" dirty="0">
                <a:latin typeface="Arial Nova Cond Light" panose="020B0306020202020204" pitchFamily="34" charset="0"/>
                <a:ea typeface="+mj-ea"/>
                <a:cs typeface="+mj-cs"/>
              </a:rPr>
              <a:t>and I.</a:t>
            </a:r>
          </a:p>
          <a:p>
            <a:pPr marL="0" lvl="0" indent="0" algn="ctr">
              <a:buNone/>
            </a:pPr>
            <a:r>
              <a:rPr lang="en-US" sz="3600" dirty="0">
                <a:latin typeface="Arial Nova Cond Light" panose="020B0306020202020204" pitchFamily="34" charset="0"/>
                <a:ea typeface="+mj-ea"/>
                <a:cs typeface="+mj-cs"/>
              </a:rPr>
              <a:t> </a:t>
            </a:r>
          </a:p>
          <a:p>
            <a:pPr marL="0" lvl="0" indent="0">
              <a:buNone/>
            </a:pPr>
            <a:r>
              <a:rPr lang="en-US" sz="3600" dirty="0">
                <a:latin typeface="Arial Nova Cond Light" panose="020B0306020202020204" pitchFamily="34" charset="0"/>
                <a:ea typeface="+mj-ea"/>
                <a:cs typeface="+mj-cs"/>
              </a:rPr>
              <a:t>Kami ay </a:t>
            </a:r>
            <a:r>
              <a:rPr lang="en-US" sz="3600" dirty="0" err="1">
                <a:latin typeface="Arial Nova Cond Light" panose="020B0306020202020204" pitchFamily="34" charset="0"/>
                <a:ea typeface="+mj-ea"/>
                <a:cs typeface="+mj-cs"/>
              </a:rPr>
              <a:t>sina</a:t>
            </a:r>
            <a:r>
              <a:rPr lang="en-US" sz="3600" dirty="0">
                <a:latin typeface="Arial Nova Cond Light" panose="020B0306020202020204" pitchFamily="34" charset="0"/>
                <a:ea typeface="+mj-ea"/>
                <a:cs typeface="+mj-cs"/>
              </a:rPr>
              <a:t> John at Lisa. 			</a:t>
            </a:r>
            <a:r>
              <a:rPr lang="en-US" sz="3600" dirty="0">
                <a:latin typeface="Arial Nova Cond Light" panose="020B0306020202020204" pitchFamily="34" charset="0"/>
              </a:rPr>
              <a:t> We are John and Lisa. </a:t>
            </a:r>
            <a:endParaRPr lang="en-US" sz="3600" dirty="0">
              <a:latin typeface="Arial Nova Cond Light" panose="020B0306020202020204" pitchFamily="34" charset="0"/>
              <a:ea typeface="+mj-ea"/>
              <a:cs typeface="+mj-cs"/>
            </a:endParaRPr>
          </a:p>
          <a:p>
            <a:pPr marL="0" indent="0">
              <a:buNone/>
            </a:pPr>
            <a:r>
              <a:rPr lang="en-US" sz="3600" dirty="0">
                <a:latin typeface="Arial Nova Cond Light" panose="020B0306020202020204" pitchFamily="34" charset="0"/>
                <a:ea typeface="+mj-ea"/>
                <a:cs typeface="+mj-cs"/>
              </a:rPr>
              <a:t>Kami'y </a:t>
            </a:r>
            <a:r>
              <a:rPr lang="en-US" sz="3600" dirty="0" err="1">
                <a:latin typeface="Arial Nova Cond Light" panose="020B0306020202020204" pitchFamily="34" charset="0"/>
                <a:ea typeface="+mj-ea"/>
                <a:cs typeface="+mj-cs"/>
              </a:rPr>
              <a:t>magkapatid</a:t>
            </a:r>
            <a:r>
              <a:rPr lang="en-US" sz="3600" dirty="0">
                <a:latin typeface="Arial Nova Cond Light" panose="020B0306020202020204" pitchFamily="34" charset="0"/>
                <a:ea typeface="+mj-ea"/>
                <a:cs typeface="+mj-cs"/>
              </a:rPr>
              <a:t>. 			 	 </a:t>
            </a:r>
            <a:r>
              <a:rPr lang="en-US" sz="3600" dirty="0">
                <a:latin typeface="Arial Nova Cond Light" panose="020B0306020202020204" pitchFamily="34" charset="0"/>
              </a:rPr>
              <a:t>We are brothers and sisters.</a:t>
            </a:r>
          </a:p>
          <a:p>
            <a:pPr marL="0" lvl="0" indent="0">
              <a:buNone/>
            </a:pPr>
            <a:endParaRPr lang="en-US" sz="3600" dirty="0">
              <a:latin typeface="Arial Nova Cond Light" panose="020B0306020202020204" pitchFamily="34" charset="0"/>
              <a:ea typeface="+mj-ea"/>
              <a:cs typeface="+mj-cs"/>
            </a:endParaRPr>
          </a:p>
          <a:p>
            <a:pPr marL="0" lvl="0" indent="0" algn="ctr">
              <a:buNone/>
            </a:pPr>
            <a:endParaRPr lang="en-US" dirty="0"/>
          </a:p>
          <a:p>
            <a:pPr marL="0" lvl="0" indent="0">
              <a:buNone/>
            </a:pPr>
            <a:endParaRPr lang="en-PH" sz="2400" dirty="0">
              <a:solidFill>
                <a:srgbClr val="FF0000"/>
              </a:solidFill>
              <a:latin typeface="+mj-lt"/>
              <a:ea typeface="+mj-ea"/>
              <a:cs typeface="+mj-cs"/>
            </a:endParaRPr>
          </a:p>
        </p:txBody>
      </p:sp>
    </p:spTree>
    <p:extLst>
      <p:ext uri="{BB962C8B-B14F-4D97-AF65-F5344CB8AC3E}">
        <p14:creationId xmlns:p14="http://schemas.microsoft.com/office/powerpoint/2010/main" val="1131364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4B9F-CC86-D611-B5A1-78ECEC2FAC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462B6-EB07-6740-B073-88560BCCB445}"/>
              </a:ext>
            </a:extLst>
          </p:cNvPr>
          <p:cNvSpPr>
            <a:spLocks noGrp="1"/>
          </p:cNvSpPr>
          <p:nvPr>
            <p:ph idx="1"/>
          </p:nvPr>
        </p:nvSpPr>
        <p:spPr>
          <a:xfrm>
            <a:off x="93133" y="1041400"/>
            <a:ext cx="11941551" cy="4798961"/>
          </a:xfrm>
        </p:spPr>
        <p:txBody>
          <a:bodyPr>
            <a:normAutofit/>
          </a:bodyPr>
          <a:lstStyle/>
          <a:p>
            <a:pPr marL="0" lvl="0" indent="0" algn="ctr">
              <a:buNone/>
            </a:pPr>
            <a:r>
              <a:rPr lang="en-PH" sz="3600" dirty="0">
                <a:latin typeface="Arial Nova Cond Light" panose="020B0306020202020204" pitchFamily="34" charset="0"/>
                <a:ea typeface="+mj-ea"/>
                <a:cs typeface="+mj-cs"/>
              </a:rPr>
              <a:t>	</a:t>
            </a:r>
            <a:r>
              <a:rPr lang="en-PH" sz="3600" b="1" dirty="0">
                <a:latin typeface="Arial Nova Cond Light" panose="020B0306020202020204" pitchFamily="34" charset="0"/>
                <a:ea typeface="+mj-ea"/>
                <a:cs typeface="+mj-cs"/>
              </a:rPr>
              <a:t>Vocabulary List</a:t>
            </a:r>
          </a:p>
          <a:p>
            <a:pPr marL="0" lvl="0" indent="0">
              <a:buNone/>
            </a:pPr>
            <a:r>
              <a:rPr lang="en-PH" sz="2400" dirty="0" err="1">
                <a:latin typeface="Arial Nova Cond Light" panose="020B0306020202020204" pitchFamily="34" charset="0"/>
                <a:ea typeface="+mj-ea"/>
                <a:cs typeface="+mj-cs"/>
              </a:rPr>
              <a:t>Masipag</a:t>
            </a:r>
            <a:r>
              <a:rPr lang="en-PH" sz="2400" dirty="0">
                <a:latin typeface="Arial Nova Cond Light" panose="020B0306020202020204" pitchFamily="34" charset="0"/>
                <a:ea typeface="+mj-ea"/>
                <a:cs typeface="+mj-cs"/>
              </a:rPr>
              <a:t>			Industrious/Hardworking</a:t>
            </a:r>
          </a:p>
          <a:p>
            <a:pPr marL="0" lvl="0" indent="0">
              <a:buNone/>
            </a:pPr>
            <a:r>
              <a:rPr lang="en-PH" sz="2400" dirty="0" err="1">
                <a:latin typeface="Arial Nova Cond Light" panose="020B0306020202020204" pitchFamily="34" charset="0"/>
                <a:ea typeface="+mj-ea"/>
                <a:cs typeface="+mj-cs"/>
              </a:rPr>
              <a:t>Magkaibigan</a:t>
            </a:r>
            <a:r>
              <a:rPr lang="en-PH" sz="2400" dirty="0">
                <a:latin typeface="Arial Nova Cond Light" panose="020B0306020202020204" pitchFamily="34" charset="0"/>
                <a:ea typeface="+mj-ea"/>
                <a:cs typeface="+mj-cs"/>
              </a:rPr>
              <a:t>		Friends </a:t>
            </a:r>
          </a:p>
          <a:p>
            <a:pPr marL="0" lvl="0" indent="0">
              <a:buNone/>
            </a:pPr>
            <a:r>
              <a:rPr lang="en-PH" sz="2400" dirty="0" err="1">
                <a:latin typeface="Arial Nova Cond Light" panose="020B0306020202020204" pitchFamily="34" charset="0"/>
                <a:ea typeface="+mj-ea"/>
                <a:cs typeface="+mj-cs"/>
              </a:rPr>
              <a:t>Magkapatid</a:t>
            </a:r>
            <a:r>
              <a:rPr lang="en-PH" sz="2400" dirty="0">
                <a:latin typeface="Arial Nova Cond Light" panose="020B0306020202020204" pitchFamily="34" charset="0"/>
                <a:ea typeface="+mj-ea"/>
                <a:cs typeface="+mj-cs"/>
              </a:rPr>
              <a:t>		Siblings</a:t>
            </a:r>
          </a:p>
          <a:p>
            <a:pPr marL="0" lvl="0" indent="0">
              <a:buNone/>
            </a:pPr>
            <a:r>
              <a:rPr lang="en-PH" sz="2400" dirty="0" err="1">
                <a:latin typeface="Arial Nova Cond Light" panose="020B0306020202020204" pitchFamily="34" charset="0"/>
                <a:ea typeface="+mj-ea"/>
                <a:cs typeface="+mj-cs"/>
              </a:rPr>
              <a:t>Mahirap</a:t>
            </a:r>
            <a:r>
              <a:rPr lang="en-PH" sz="2400" dirty="0">
                <a:latin typeface="Arial Nova Cond Light" panose="020B0306020202020204" pitchFamily="34" charset="0"/>
                <a:ea typeface="+mj-ea"/>
                <a:cs typeface="+mj-cs"/>
              </a:rPr>
              <a:t>			Poor; difficult</a:t>
            </a:r>
          </a:p>
          <a:p>
            <a:pPr marL="0" lvl="0" indent="0">
              <a:buNone/>
            </a:pPr>
            <a:r>
              <a:rPr lang="en-PH" sz="2400" dirty="0">
                <a:latin typeface="Arial Nova Cond Light" panose="020B0306020202020204" pitchFamily="34" charset="0"/>
                <a:ea typeface="+mj-ea"/>
                <a:cs typeface="+mj-cs"/>
              </a:rPr>
              <a:t>Marami			Plenty</a:t>
            </a:r>
            <a:br>
              <a:rPr lang="en-PH" sz="2400" dirty="0">
                <a:latin typeface="Arial Nova Cond Light" panose="020B0306020202020204" pitchFamily="34" charset="0"/>
                <a:ea typeface="+mj-ea"/>
                <a:cs typeface="+mj-cs"/>
              </a:rPr>
            </a:br>
            <a:r>
              <a:rPr lang="en-PH" sz="2400" dirty="0" err="1">
                <a:latin typeface="Arial Nova Cond Light" panose="020B0306020202020204" pitchFamily="34" charset="0"/>
                <a:ea typeface="+mj-ea"/>
                <a:cs typeface="+mj-cs"/>
              </a:rPr>
              <a:t>Maniwala</a:t>
            </a:r>
            <a:r>
              <a:rPr lang="en-PH" sz="2400" dirty="0">
                <a:latin typeface="Arial Nova Cond Light" panose="020B0306020202020204" pitchFamily="34" charset="0"/>
                <a:ea typeface="+mj-ea"/>
                <a:cs typeface="+mj-cs"/>
              </a:rPr>
              <a:t>		Believe</a:t>
            </a:r>
          </a:p>
        </p:txBody>
      </p:sp>
    </p:spTree>
    <p:extLst>
      <p:ext uri="{BB962C8B-B14F-4D97-AF65-F5344CB8AC3E}">
        <p14:creationId xmlns:p14="http://schemas.microsoft.com/office/powerpoint/2010/main" val="530743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5F9B9-6798-167C-19BF-DB919595B7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CDD6D-812D-FF1E-70FC-C002C4001375}"/>
              </a:ext>
            </a:extLst>
          </p:cNvPr>
          <p:cNvSpPr>
            <a:spLocks noGrp="1"/>
          </p:cNvSpPr>
          <p:nvPr>
            <p:ph idx="1"/>
          </p:nvPr>
        </p:nvSpPr>
        <p:spPr>
          <a:xfrm>
            <a:off x="135467" y="1270000"/>
            <a:ext cx="11899217" cy="4570361"/>
          </a:xfrm>
        </p:spPr>
        <p:txBody>
          <a:bodyPr>
            <a:normAutofit fontScale="92500" lnSpcReduction="10000"/>
          </a:bodyPr>
          <a:lstStyle/>
          <a:p>
            <a:pPr marL="0" lvl="0" indent="0" algn="ctr">
              <a:buNone/>
            </a:pPr>
            <a:endParaRPr lang="en-US" sz="2400" dirty="0">
              <a:solidFill>
                <a:srgbClr val="FF0000"/>
              </a:solidFill>
              <a:latin typeface="+mj-lt"/>
              <a:ea typeface="+mj-ea"/>
              <a:cs typeface="+mj-cs"/>
            </a:endParaRPr>
          </a:p>
          <a:p>
            <a:pPr marL="0" lvl="0" indent="0">
              <a:buNone/>
            </a:pPr>
            <a:r>
              <a:rPr lang="en-US" sz="2400" dirty="0" err="1">
                <a:latin typeface="Arial Nova Cond Light" panose="020B0306020202020204" pitchFamily="34" charset="0"/>
                <a:ea typeface="+mj-ea"/>
                <a:cs typeface="+mj-cs"/>
              </a:rPr>
              <a:t>Mababait</a:t>
            </a:r>
            <a:r>
              <a:rPr lang="en-US" sz="2400" dirty="0">
                <a:latin typeface="Arial Nova Cond Light" panose="020B0306020202020204" pitchFamily="34" charset="0"/>
                <a:ea typeface="+mj-ea"/>
                <a:cs typeface="+mj-cs"/>
              </a:rPr>
              <a:t> kami		</a:t>
            </a:r>
            <a:r>
              <a:rPr lang="en-US" sz="2400" dirty="0">
                <a:latin typeface="Arial Nova Cond Light" panose="020B0306020202020204" pitchFamily="34" charset="0"/>
              </a:rPr>
              <a:t> We are good.</a:t>
            </a:r>
            <a:endParaRPr lang="en-US" sz="2400" dirty="0">
              <a:latin typeface="Arial Nova Cond Light" panose="020B0306020202020204" pitchFamily="34" charset="0"/>
              <a:ea typeface="+mj-ea"/>
              <a:cs typeface="+mj-cs"/>
            </a:endParaRPr>
          </a:p>
          <a:p>
            <a:pPr marL="0" indent="0">
              <a:buNone/>
            </a:pPr>
            <a:r>
              <a:rPr lang="en-US" sz="2400" dirty="0" err="1">
                <a:latin typeface="Arial Nova Cond Light" panose="020B0306020202020204" pitchFamily="34" charset="0"/>
                <a:ea typeface="+mj-ea"/>
                <a:cs typeface="+mj-cs"/>
              </a:rPr>
              <a:t>Mahirap</a:t>
            </a:r>
            <a:r>
              <a:rPr lang="en-US" sz="2400" dirty="0">
                <a:latin typeface="Arial Nova Cond Light" panose="020B0306020202020204" pitchFamily="34" charset="0"/>
                <a:ea typeface="+mj-ea"/>
                <a:cs typeface="+mj-cs"/>
              </a:rPr>
              <a:t> kami.		</a:t>
            </a:r>
            <a:r>
              <a:rPr lang="en-US" sz="2400" dirty="0">
                <a:latin typeface="Arial Nova Cond Light" panose="020B0306020202020204" pitchFamily="34" charset="0"/>
              </a:rPr>
              <a:t>We are poor.</a:t>
            </a:r>
            <a:endParaRPr lang="en-US" sz="2400" dirty="0">
              <a:latin typeface="Arial Nova Cond Light" panose="020B0306020202020204" pitchFamily="34" charset="0"/>
              <a:ea typeface="+mj-ea"/>
              <a:cs typeface="+mj-cs"/>
            </a:endParaRPr>
          </a:p>
          <a:p>
            <a:pPr marL="0" lvl="0" indent="0">
              <a:buNone/>
            </a:pPr>
            <a:r>
              <a:rPr lang="en-US" sz="2400" dirty="0">
                <a:latin typeface="Arial Nova Cond Light" panose="020B0306020202020204" pitchFamily="34" charset="0"/>
                <a:ea typeface="+mj-ea"/>
                <a:cs typeface="+mj-cs"/>
              </a:rPr>
              <a:t>It is important to remember that pronouns may come at the beginning of the sentence before the verb or at the end of the sentence after the predicate depending on the word order.</a:t>
            </a:r>
          </a:p>
          <a:p>
            <a:pPr marL="0" lvl="0" indent="0">
              <a:buNone/>
            </a:pPr>
            <a:r>
              <a:rPr lang="en-US" sz="2400" dirty="0">
                <a:latin typeface="Arial Nova Cond Light" panose="020B0306020202020204" pitchFamily="34" charset="0"/>
                <a:ea typeface="+mj-ea"/>
                <a:cs typeface="+mj-cs"/>
              </a:rPr>
              <a:t>Tayo ay </a:t>
            </a:r>
            <a:r>
              <a:rPr lang="en-US" sz="2400" dirty="0" err="1">
                <a:latin typeface="Arial Nova Cond Light" panose="020B0306020202020204" pitchFamily="34" charset="0"/>
                <a:ea typeface="+mj-ea"/>
                <a:cs typeface="+mj-cs"/>
              </a:rPr>
              <a:t>sina</a:t>
            </a:r>
            <a:r>
              <a:rPr lang="en-US" sz="2400" dirty="0">
                <a:latin typeface="Arial Nova Cond Light" panose="020B0306020202020204" pitchFamily="34" charset="0"/>
                <a:ea typeface="+mj-ea"/>
                <a:cs typeface="+mj-cs"/>
              </a:rPr>
              <a:t> John at Mary.		We are John and Mary.</a:t>
            </a:r>
          </a:p>
          <a:p>
            <a:pPr marL="0" lvl="0" indent="0">
              <a:buNone/>
            </a:pPr>
            <a:r>
              <a:rPr lang="en-US" sz="2400" dirty="0" err="1">
                <a:latin typeface="Arial Nova Cond Light" panose="020B0306020202020204" pitchFamily="34" charset="0"/>
                <a:ea typeface="+mj-ea"/>
                <a:cs typeface="+mj-cs"/>
              </a:rPr>
              <a:t>Tayo'y</a:t>
            </a:r>
            <a:r>
              <a:rPr lang="en-US" sz="2400" dirty="0">
                <a:latin typeface="Arial Nova Cond Light" panose="020B0306020202020204" pitchFamily="34" charset="0"/>
                <a:ea typeface="+mj-ea"/>
                <a:cs typeface="+mj-cs"/>
              </a:rPr>
              <a:t> </a:t>
            </a:r>
            <a:r>
              <a:rPr lang="en-US" sz="2400" dirty="0" err="1">
                <a:latin typeface="Arial Nova Cond Light" panose="020B0306020202020204" pitchFamily="34" charset="0"/>
                <a:ea typeface="+mj-ea"/>
                <a:cs typeface="+mj-cs"/>
              </a:rPr>
              <a:t>magkaibigan</a:t>
            </a:r>
            <a:r>
              <a:rPr lang="en-US" sz="2400" dirty="0">
                <a:latin typeface="Arial Nova Cond Light" panose="020B0306020202020204" pitchFamily="34" charset="0"/>
                <a:ea typeface="+mj-ea"/>
                <a:cs typeface="+mj-cs"/>
              </a:rPr>
              <a:t>.		We are friends.</a:t>
            </a:r>
          </a:p>
          <a:p>
            <a:pPr marL="0" lvl="0" indent="0">
              <a:buNone/>
            </a:pPr>
            <a:r>
              <a:rPr lang="en-US" sz="2400" dirty="0" err="1">
                <a:latin typeface="Arial Nova Cond Light" panose="020B0306020202020204" pitchFamily="34" charset="0"/>
                <a:ea typeface="+mj-ea"/>
                <a:cs typeface="+mj-cs"/>
              </a:rPr>
              <a:t>Mababait</a:t>
            </a:r>
            <a:r>
              <a:rPr lang="en-US" sz="2400" dirty="0">
                <a:latin typeface="Arial Nova Cond Light" panose="020B0306020202020204" pitchFamily="34" charset="0"/>
                <a:ea typeface="+mj-ea"/>
                <a:cs typeface="+mj-cs"/>
              </a:rPr>
              <a:t> tayo.			We are good.</a:t>
            </a:r>
          </a:p>
          <a:p>
            <a:pPr marL="0" lvl="0" indent="0">
              <a:buNone/>
            </a:pPr>
            <a:r>
              <a:rPr lang="en-US" sz="2400" dirty="0" err="1">
                <a:latin typeface="Arial Nova Cond Light" panose="020B0306020202020204" pitchFamily="34" charset="0"/>
                <a:ea typeface="+mj-ea"/>
                <a:cs typeface="+mj-cs"/>
              </a:rPr>
              <a:t>Masisipag</a:t>
            </a:r>
            <a:r>
              <a:rPr lang="en-US" sz="2400" dirty="0">
                <a:latin typeface="Arial Nova Cond Light" panose="020B0306020202020204" pitchFamily="34" charset="0"/>
                <a:ea typeface="+mj-ea"/>
                <a:cs typeface="+mj-cs"/>
              </a:rPr>
              <a:t> tayo.			We are industrious.</a:t>
            </a:r>
          </a:p>
          <a:p>
            <a:pPr marL="0" lvl="0" indent="0" algn="ctr">
              <a:buNone/>
            </a:pPr>
            <a:endParaRPr lang="en-US" sz="2400" dirty="0">
              <a:solidFill>
                <a:srgbClr val="FF0000"/>
              </a:solidFill>
              <a:latin typeface="Arial Nova Cond Light" panose="020B0306020202020204" pitchFamily="34" charset="0"/>
              <a:ea typeface="+mj-ea"/>
              <a:cs typeface="+mj-cs"/>
            </a:endParaRPr>
          </a:p>
          <a:p>
            <a:pPr marL="0" lvl="0" indent="0" algn="ctr">
              <a:buNone/>
            </a:pPr>
            <a:endParaRPr lang="en-PH" sz="2400" dirty="0">
              <a:solidFill>
                <a:srgbClr val="FF0000"/>
              </a:solidFill>
              <a:latin typeface="+mj-lt"/>
              <a:ea typeface="+mj-ea"/>
              <a:cs typeface="+mj-cs"/>
            </a:endParaRPr>
          </a:p>
        </p:txBody>
      </p:sp>
    </p:spTree>
    <p:extLst>
      <p:ext uri="{BB962C8B-B14F-4D97-AF65-F5344CB8AC3E}">
        <p14:creationId xmlns:p14="http://schemas.microsoft.com/office/powerpoint/2010/main" val="940986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D167D-906D-BC12-B3E6-13D023975F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8ECCFD-9B39-2C26-5AD9-9E744A22DED2}"/>
              </a:ext>
            </a:extLst>
          </p:cNvPr>
          <p:cNvSpPr>
            <a:spLocks noGrp="1"/>
          </p:cNvSpPr>
          <p:nvPr>
            <p:ph idx="1"/>
          </p:nvPr>
        </p:nvSpPr>
        <p:spPr>
          <a:xfrm>
            <a:off x="76200" y="1270000"/>
            <a:ext cx="12115800" cy="4570361"/>
          </a:xfrm>
        </p:spPr>
        <p:txBody>
          <a:bodyPr>
            <a:normAutofit/>
          </a:bodyPr>
          <a:lstStyle/>
          <a:p>
            <a:pPr marL="0" lvl="0" indent="0">
              <a:buNone/>
            </a:pPr>
            <a:r>
              <a:rPr lang="en-US" sz="2400" dirty="0">
                <a:solidFill>
                  <a:srgbClr val="FF0000"/>
                </a:solidFill>
                <a:latin typeface="Arial Nova Cond Light" panose="020B0306020202020204" pitchFamily="34" charset="0"/>
                <a:ea typeface="+mj-ea"/>
                <a:cs typeface="+mj-cs"/>
              </a:rPr>
              <a:t>3.</a:t>
            </a:r>
            <a:r>
              <a:rPr lang="en-US" sz="2400" dirty="0">
                <a:latin typeface="Arial Nova Cond Light" panose="020B0306020202020204" pitchFamily="34" charset="0"/>
                <a:ea typeface="+mj-ea"/>
                <a:cs typeface="+mj-cs"/>
              </a:rPr>
              <a:t>The personal pronouns </a:t>
            </a:r>
            <a:r>
              <a:rPr lang="en-US" sz="2400" dirty="0">
                <a:solidFill>
                  <a:srgbClr val="FF0000"/>
                </a:solidFill>
                <a:latin typeface="Arial Nova Cond Light" panose="020B0306020202020204" pitchFamily="34" charset="0"/>
                <a:ea typeface="+mj-ea"/>
                <a:cs typeface="+mj-cs"/>
              </a:rPr>
              <a:t>IKAW </a:t>
            </a:r>
            <a:r>
              <a:rPr lang="en-US" sz="2400" dirty="0">
                <a:latin typeface="Arial Nova Cond Light" panose="020B0306020202020204" pitchFamily="34" charset="0"/>
                <a:ea typeface="+mj-ea"/>
                <a:cs typeface="+mj-cs"/>
              </a:rPr>
              <a:t>and</a:t>
            </a:r>
            <a:r>
              <a:rPr lang="en-US" sz="2400" dirty="0">
                <a:solidFill>
                  <a:srgbClr val="FF0000"/>
                </a:solidFill>
                <a:latin typeface="Arial Nova Cond Light" panose="020B0306020202020204" pitchFamily="34" charset="0"/>
                <a:ea typeface="+mj-ea"/>
                <a:cs typeface="+mj-cs"/>
              </a:rPr>
              <a:t> KAYO (meaning you)</a:t>
            </a:r>
          </a:p>
          <a:p>
            <a:pPr marL="0" lvl="0" indent="0">
              <a:buNone/>
            </a:pPr>
            <a:endParaRPr lang="en-US" sz="2400" dirty="0">
              <a:solidFill>
                <a:srgbClr val="FF0000"/>
              </a:solidFill>
              <a:latin typeface="Arial Nova Cond Light" panose="020B0306020202020204" pitchFamily="34" charset="0"/>
              <a:ea typeface="+mj-ea"/>
              <a:cs typeface="+mj-cs"/>
            </a:endParaRPr>
          </a:p>
          <a:p>
            <a:pPr marL="0" lvl="0" indent="0">
              <a:buNone/>
            </a:pPr>
            <a:r>
              <a:rPr lang="en-US" sz="2400" dirty="0">
                <a:latin typeface="Arial Nova Cond Light" panose="020B0306020202020204" pitchFamily="34" charset="0"/>
                <a:ea typeface="+mj-ea"/>
                <a:cs typeface="+mj-cs"/>
              </a:rPr>
              <a:t>The pronoun </a:t>
            </a:r>
            <a:r>
              <a:rPr lang="en-US" sz="2400" dirty="0">
                <a:solidFill>
                  <a:srgbClr val="FF0000"/>
                </a:solidFill>
                <a:latin typeface="Arial Nova Cond Light" panose="020B0306020202020204" pitchFamily="34" charset="0"/>
                <a:ea typeface="+mj-ea"/>
                <a:cs typeface="+mj-cs"/>
              </a:rPr>
              <a:t>IKAW </a:t>
            </a:r>
            <a:r>
              <a:rPr lang="en-US" sz="2400" dirty="0">
                <a:latin typeface="Arial Nova Cond Light" panose="020B0306020202020204" pitchFamily="34" charset="0"/>
                <a:ea typeface="+mj-ea"/>
                <a:cs typeface="+mj-cs"/>
              </a:rPr>
              <a:t>is used to express </a:t>
            </a:r>
            <a:r>
              <a:rPr lang="en-US" sz="2400" dirty="0">
                <a:solidFill>
                  <a:srgbClr val="FF0000"/>
                </a:solidFill>
                <a:latin typeface="Arial Nova Cond Light" panose="020B0306020202020204" pitchFamily="34" charset="0"/>
                <a:ea typeface="+mj-ea"/>
                <a:cs typeface="+mj-cs"/>
              </a:rPr>
              <a:t>YOU</a:t>
            </a:r>
            <a:r>
              <a:rPr lang="en-US" sz="2400" dirty="0">
                <a:latin typeface="Arial Nova Cond Light" panose="020B0306020202020204" pitchFamily="34" charset="0"/>
                <a:ea typeface="+mj-ea"/>
                <a:cs typeface="+mj-cs"/>
              </a:rPr>
              <a:t> when it is used at the </a:t>
            </a:r>
            <a:r>
              <a:rPr lang="en-US" sz="2400" dirty="0">
                <a:solidFill>
                  <a:srgbClr val="FF0000"/>
                </a:solidFill>
                <a:latin typeface="Arial Nova Cond Light" panose="020B0306020202020204" pitchFamily="34" charset="0"/>
                <a:ea typeface="+mj-ea"/>
                <a:cs typeface="+mj-cs"/>
              </a:rPr>
              <a:t>beginning of the sentence</a:t>
            </a:r>
            <a:r>
              <a:rPr lang="en-US" sz="2400" dirty="0">
                <a:latin typeface="Arial Nova Cond Light" panose="020B0306020202020204" pitchFamily="34" charset="0"/>
                <a:ea typeface="+mj-ea"/>
                <a:cs typeface="+mj-cs"/>
              </a:rPr>
              <a:t>, however in the inverted word order where the subject comes after the predicate, it is shortened to </a:t>
            </a:r>
            <a:r>
              <a:rPr lang="en-US" sz="2400" dirty="0">
                <a:solidFill>
                  <a:srgbClr val="FF0000"/>
                </a:solidFill>
                <a:latin typeface="Arial Nova Cond Light" panose="020B0306020202020204" pitchFamily="34" charset="0"/>
                <a:ea typeface="+mj-ea"/>
                <a:cs typeface="+mj-cs"/>
              </a:rPr>
              <a:t>ka.</a:t>
            </a:r>
          </a:p>
          <a:p>
            <a:pPr marL="0" lvl="0" indent="0">
              <a:buNone/>
            </a:pPr>
            <a:r>
              <a:rPr lang="en-US" sz="2400" dirty="0" err="1">
                <a:latin typeface="Arial Nova Cond Light" panose="020B0306020202020204" pitchFamily="34" charset="0"/>
                <a:ea typeface="+mj-ea"/>
                <a:cs typeface="+mj-cs"/>
              </a:rPr>
              <a:t>lkaw</a:t>
            </a:r>
            <a:r>
              <a:rPr lang="en-US" sz="2400" dirty="0">
                <a:latin typeface="Arial Nova Cond Light" panose="020B0306020202020204" pitchFamily="34" charset="0"/>
                <a:ea typeface="+mj-ea"/>
                <a:cs typeface="+mj-cs"/>
              </a:rPr>
              <a:t> ay </a:t>
            </a:r>
            <a:r>
              <a:rPr lang="en-US" sz="2400" dirty="0" err="1">
                <a:latin typeface="Arial Nova Cond Light" panose="020B0306020202020204" pitchFamily="34" charset="0"/>
                <a:ea typeface="+mj-ea"/>
                <a:cs typeface="+mj-cs"/>
              </a:rPr>
              <a:t>si</a:t>
            </a:r>
            <a:r>
              <a:rPr lang="en-US" sz="2400" dirty="0">
                <a:latin typeface="Arial Nova Cond Light" panose="020B0306020202020204" pitchFamily="34" charset="0"/>
                <a:ea typeface="+mj-ea"/>
                <a:cs typeface="+mj-cs"/>
              </a:rPr>
              <a:t> Mary.		You are Mary.		Si Mary ka. </a:t>
            </a:r>
          </a:p>
          <a:p>
            <a:pPr marL="0" lvl="0" indent="0">
              <a:buNone/>
            </a:pPr>
            <a:r>
              <a:rPr lang="en-US" sz="2400" dirty="0" err="1">
                <a:latin typeface="Arial Nova Cond Light" panose="020B0306020202020204" pitchFamily="34" charset="0"/>
                <a:ea typeface="+mj-ea"/>
                <a:cs typeface="+mj-cs"/>
              </a:rPr>
              <a:t>lkaw</a:t>
            </a:r>
            <a:r>
              <a:rPr lang="en-US" sz="2400" dirty="0">
                <a:latin typeface="Arial Nova Cond Light" panose="020B0306020202020204" pitchFamily="34" charset="0"/>
                <a:ea typeface="+mj-ea"/>
                <a:cs typeface="+mj-cs"/>
              </a:rPr>
              <a:t> ay </a:t>
            </a:r>
            <a:r>
              <a:rPr lang="en-US" sz="2400" dirty="0" err="1">
                <a:latin typeface="Arial Nova Cond Light" panose="020B0306020202020204" pitchFamily="34" charset="0"/>
                <a:ea typeface="+mj-ea"/>
                <a:cs typeface="+mj-cs"/>
              </a:rPr>
              <a:t>babae</a:t>
            </a:r>
            <a:r>
              <a:rPr lang="en-US" sz="2400" dirty="0">
                <a:latin typeface="Arial Nova Cond Light" panose="020B0306020202020204" pitchFamily="34" charset="0"/>
                <a:ea typeface="+mj-ea"/>
                <a:cs typeface="+mj-cs"/>
              </a:rPr>
              <a:t>.		You are a woman.	Babae ka. </a:t>
            </a:r>
          </a:p>
          <a:p>
            <a:pPr marL="0" lvl="0" indent="0">
              <a:buNone/>
            </a:pPr>
            <a:r>
              <a:rPr lang="en-US" sz="2400" dirty="0" err="1">
                <a:latin typeface="Arial Nova Cond Light" panose="020B0306020202020204" pitchFamily="34" charset="0"/>
                <a:ea typeface="+mj-ea"/>
                <a:cs typeface="+mj-cs"/>
              </a:rPr>
              <a:t>Masipag</a:t>
            </a:r>
            <a:r>
              <a:rPr lang="en-US" sz="2400" dirty="0">
                <a:latin typeface="Arial Nova Cond Light" panose="020B0306020202020204" pitchFamily="34" charset="0"/>
                <a:ea typeface="+mj-ea"/>
                <a:cs typeface="+mj-cs"/>
              </a:rPr>
              <a:t> ka.		You are industrious.	Ikaw ay </a:t>
            </a:r>
            <a:r>
              <a:rPr lang="en-US" sz="2400" dirty="0" err="1">
                <a:latin typeface="Arial Nova Cond Light" panose="020B0306020202020204" pitchFamily="34" charset="0"/>
                <a:ea typeface="+mj-ea"/>
                <a:cs typeface="+mj-cs"/>
              </a:rPr>
              <a:t>masipag</a:t>
            </a:r>
            <a:r>
              <a:rPr lang="en-US" sz="2400" dirty="0">
                <a:latin typeface="Arial Nova Cond Light" panose="020B0306020202020204" pitchFamily="34" charset="0"/>
                <a:ea typeface="+mj-ea"/>
                <a:cs typeface="+mj-cs"/>
              </a:rPr>
              <a:t>.</a:t>
            </a:r>
          </a:p>
          <a:p>
            <a:pPr marL="0" lvl="0" indent="0">
              <a:buNone/>
            </a:pPr>
            <a:r>
              <a:rPr lang="en-US" sz="2400" dirty="0" err="1">
                <a:latin typeface="Arial Nova Cond Light" panose="020B0306020202020204" pitchFamily="34" charset="0"/>
                <a:ea typeface="+mj-ea"/>
                <a:cs typeface="+mj-cs"/>
              </a:rPr>
              <a:t>Malusog</a:t>
            </a:r>
            <a:r>
              <a:rPr lang="en-US" sz="2400" dirty="0">
                <a:latin typeface="Arial Nova Cond Light" panose="020B0306020202020204" pitchFamily="34" charset="0"/>
                <a:ea typeface="+mj-ea"/>
                <a:cs typeface="+mj-cs"/>
              </a:rPr>
              <a:t> ka.		You are healthy		Ikaw </a:t>
            </a:r>
            <a:r>
              <a:rPr lang="en-US" sz="2400" dirty="0" err="1">
                <a:latin typeface="Arial Nova Cond Light" panose="020B0306020202020204" pitchFamily="34" charset="0"/>
                <a:ea typeface="+mj-ea"/>
                <a:cs typeface="+mj-cs"/>
              </a:rPr>
              <a:t>malusog</a:t>
            </a:r>
            <a:r>
              <a:rPr lang="en-US" sz="2400" dirty="0">
                <a:latin typeface="Arial Nova Cond Light" panose="020B0306020202020204" pitchFamily="34" charset="0"/>
                <a:ea typeface="+mj-ea"/>
                <a:cs typeface="+mj-cs"/>
              </a:rPr>
              <a:t>. </a:t>
            </a:r>
          </a:p>
          <a:p>
            <a:pPr marL="0" lvl="0" indent="0" algn="ctr">
              <a:buNone/>
            </a:pPr>
            <a:endParaRPr lang="en-PH" sz="2400" dirty="0">
              <a:solidFill>
                <a:srgbClr val="FF0000"/>
              </a:solidFill>
              <a:latin typeface="Arial Nova Cond Light" panose="020B0306020202020204" pitchFamily="34" charset="0"/>
              <a:ea typeface="+mj-ea"/>
              <a:cs typeface="+mj-cs"/>
            </a:endParaRPr>
          </a:p>
        </p:txBody>
      </p:sp>
    </p:spTree>
    <p:extLst>
      <p:ext uri="{BB962C8B-B14F-4D97-AF65-F5344CB8AC3E}">
        <p14:creationId xmlns:p14="http://schemas.microsoft.com/office/powerpoint/2010/main" val="21525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DBEC-BEB6-B077-5A97-A6E466BA63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1ACFD-301F-19DC-69EE-EF424D62D963}"/>
              </a:ext>
            </a:extLst>
          </p:cNvPr>
          <p:cNvSpPr>
            <a:spLocks noGrp="1"/>
          </p:cNvSpPr>
          <p:nvPr>
            <p:ph idx="1"/>
          </p:nvPr>
        </p:nvSpPr>
        <p:spPr>
          <a:xfrm>
            <a:off x="0" y="1210733"/>
            <a:ext cx="12251267" cy="4834467"/>
          </a:xfrm>
        </p:spPr>
        <p:txBody>
          <a:bodyPr>
            <a:normAutofit/>
          </a:bodyPr>
          <a:lstStyle/>
          <a:p>
            <a:pPr marL="0" lvl="0" indent="0">
              <a:buNone/>
            </a:pPr>
            <a:r>
              <a:rPr lang="en-PH" sz="2400" b="1" dirty="0">
                <a:solidFill>
                  <a:srgbClr val="FF0000"/>
                </a:solidFill>
                <a:latin typeface="Arial Nova Cond Light" panose="020B0306020202020204" pitchFamily="34" charset="0"/>
              </a:rPr>
              <a:t>KAYO</a:t>
            </a:r>
            <a:r>
              <a:rPr lang="en-PH" sz="2400" dirty="0">
                <a:latin typeface="Arial Nova Cond Light" panose="020B0306020202020204" pitchFamily="34" charset="0"/>
              </a:rPr>
              <a:t> is the plural form of </a:t>
            </a:r>
            <a:r>
              <a:rPr lang="en-PH" sz="2400" b="1" dirty="0">
                <a:latin typeface="Arial Nova Cond Light" panose="020B0306020202020204" pitchFamily="34" charset="0"/>
              </a:rPr>
              <a:t>IKAW</a:t>
            </a:r>
            <a:r>
              <a:rPr lang="en-PH" sz="2400" dirty="0">
                <a:latin typeface="Arial Nova Cond Light" panose="020B0306020202020204" pitchFamily="34" charset="0"/>
              </a:rPr>
              <a:t> </a:t>
            </a:r>
            <a:r>
              <a:rPr lang="en-PH" sz="2400" dirty="0">
                <a:solidFill>
                  <a:srgbClr val="FF0000"/>
                </a:solidFill>
                <a:latin typeface="Arial Nova Cond Light" panose="020B0306020202020204" pitchFamily="34" charset="0"/>
              </a:rPr>
              <a:t>excluding the speaker</a:t>
            </a:r>
            <a:r>
              <a:rPr lang="en-PH" sz="2400" dirty="0">
                <a:latin typeface="Arial Nova Cond Light" panose="020B0306020202020204" pitchFamily="34" charset="0"/>
              </a:rPr>
              <a:t>.</a:t>
            </a:r>
            <a:br>
              <a:rPr lang="en-US" sz="2400" dirty="0">
                <a:latin typeface="Arial Nova Cond Light" panose="020B0306020202020204" pitchFamily="34" charset="0"/>
                <a:ea typeface="+mj-ea"/>
                <a:cs typeface="+mj-cs"/>
              </a:rPr>
            </a:br>
            <a:br>
              <a:rPr lang="en-PH" sz="2400" dirty="0">
                <a:solidFill>
                  <a:srgbClr val="FF0000"/>
                </a:solidFill>
                <a:latin typeface="Arial Nova Cond Light" panose="020B0306020202020204" pitchFamily="34" charset="0"/>
                <a:ea typeface="+mj-ea"/>
                <a:cs typeface="+mj-cs"/>
              </a:rPr>
            </a:br>
            <a:r>
              <a:rPr lang="en-PH" sz="2400" dirty="0">
                <a:latin typeface="Arial Nova Cond Light" panose="020B0306020202020204" pitchFamily="34" charset="0"/>
                <a:ea typeface="+mj-ea"/>
                <a:cs typeface="+mj-cs"/>
              </a:rPr>
              <a:t>Kayo ay </a:t>
            </a:r>
            <a:r>
              <a:rPr lang="en-PH" sz="2400" dirty="0" err="1">
                <a:latin typeface="Arial Nova Cond Light" panose="020B0306020202020204" pitchFamily="34" charset="0"/>
                <a:ea typeface="+mj-ea"/>
                <a:cs typeface="+mj-cs"/>
              </a:rPr>
              <a:t>sina</a:t>
            </a:r>
            <a:r>
              <a:rPr lang="en-PH" sz="2400" dirty="0">
                <a:latin typeface="Arial Nova Cond Light" panose="020B0306020202020204" pitchFamily="34" charset="0"/>
                <a:ea typeface="+mj-ea"/>
                <a:cs typeface="+mj-cs"/>
              </a:rPr>
              <a:t> John at Lisa		You are John and Lisa</a:t>
            </a:r>
            <a:br>
              <a:rPr lang="en-PH" sz="2400" dirty="0">
                <a:latin typeface="Arial Nova Cond Light" panose="020B0306020202020204" pitchFamily="34" charset="0"/>
                <a:ea typeface="+mj-ea"/>
                <a:cs typeface="+mj-cs"/>
              </a:rPr>
            </a:br>
            <a:r>
              <a:rPr lang="en-PH" sz="2400" dirty="0">
                <a:latin typeface="Arial Nova Cond Light" panose="020B0306020202020204" pitchFamily="34" charset="0"/>
                <a:ea typeface="+mj-ea"/>
                <a:cs typeface="+mj-cs"/>
              </a:rPr>
              <a:t>Kayo ay </a:t>
            </a:r>
            <a:r>
              <a:rPr lang="en-PH" sz="2400" dirty="0" err="1">
                <a:latin typeface="Arial Nova Cond Light" panose="020B0306020202020204" pitchFamily="34" charset="0"/>
                <a:ea typeface="+mj-ea"/>
                <a:cs typeface="+mj-cs"/>
              </a:rPr>
              <a:t>magkakapatid</a:t>
            </a:r>
            <a:r>
              <a:rPr lang="en-PH" sz="2400" dirty="0">
                <a:latin typeface="Arial Nova Cond Light" panose="020B0306020202020204" pitchFamily="34" charset="0"/>
                <a:ea typeface="+mj-ea"/>
                <a:cs typeface="+mj-cs"/>
              </a:rPr>
              <a:t>.		You are brother and sister (siblings)</a:t>
            </a:r>
          </a:p>
          <a:p>
            <a:pPr marL="0" lvl="0" indent="0">
              <a:buNone/>
            </a:pPr>
            <a:r>
              <a:rPr lang="en-PH" sz="2400" dirty="0" err="1">
                <a:latin typeface="Arial Nova Cond Light" panose="020B0306020202020204" pitchFamily="34" charset="0"/>
                <a:ea typeface="+mj-ea"/>
                <a:cs typeface="+mj-cs"/>
              </a:rPr>
              <a:t>Malulusog</a:t>
            </a:r>
            <a:r>
              <a:rPr lang="en-PH" sz="2400" dirty="0">
                <a:latin typeface="Arial Nova Cond Light" panose="020B0306020202020204" pitchFamily="34" charset="0"/>
                <a:ea typeface="+mj-ea"/>
                <a:cs typeface="+mj-cs"/>
              </a:rPr>
              <a:t> kayo			You are heathy</a:t>
            </a:r>
            <a:endParaRPr lang="en-US" sz="2400" dirty="0">
              <a:latin typeface="Arial Nova Cond Light" panose="020B0306020202020204" pitchFamily="34" charset="0"/>
              <a:ea typeface="+mj-ea"/>
              <a:cs typeface="+mj-cs"/>
            </a:endParaRPr>
          </a:p>
        </p:txBody>
      </p:sp>
    </p:spTree>
    <p:extLst>
      <p:ext uri="{BB962C8B-B14F-4D97-AF65-F5344CB8AC3E}">
        <p14:creationId xmlns:p14="http://schemas.microsoft.com/office/powerpoint/2010/main" val="2158835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D231-A204-7588-13B9-824E8FA385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43414-4044-321E-5C49-BDBEA5656E8C}"/>
              </a:ext>
            </a:extLst>
          </p:cNvPr>
          <p:cNvSpPr>
            <a:spLocks noGrp="1"/>
          </p:cNvSpPr>
          <p:nvPr>
            <p:ph idx="1"/>
          </p:nvPr>
        </p:nvSpPr>
        <p:spPr>
          <a:xfrm>
            <a:off x="135467" y="1270000"/>
            <a:ext cx="12056533" cy="4570361"/>
          </a:xfrm>
        </p:spPr>
        <p:txBody>
          <a:bodyPr>
            <a:normAutofit fontScale="25000" lnSpcReduction="20000"/>
          </a:bodyPr>
          <a:lstStyle/>
          <a:p>
            <a:pPr marL="0" lvl="0" indent="0">
              <a:buNone/>
            </a:pPr>
            <a:r>
              <a:rPr lang="en-US" sz="9600" dirty="0">
                <a:latin typeface="+mj-lt"/>
                <a:ea typeface="+mj-ea"/>
                <a:cs typeface="+mj-cs"/>
              </a:rPr>
              <a:t>4</a:t>
            </a:r>
            <a:r>
              <a:rPr lang="en-US" sz="9600" dirty="0">
                <a:latin typeface="Arial Nova Cond Light" panose="020B0306020202020204" pitchFamily="34" charset="0"/>
                <a:ea typeface="+mj-ea"/>
                <a:cs typeface="+mj-cs"/>
              </a:rPr>
              <a:t>. The personal pronouns </a:t>
            </a:r>
            <a:r>
              <a:rPr lang="en-US" sz="9600" b="1" dirty="0" err="1">
                <a:solidFill>
                  <a:srgbClr val="FF0000"/>
                </a:solidFill>
                <a:latin typeface="Arial Nova Cond Light" panose="020B0306020202020204" pitchFamily="34" charset="0"/>
                <a:ea typeface="+mj-ea"/>
                <a:cs typeface="+mj-cs"/>
              </a:rPr>
              <a:t>siya</a:t>
            </a:r>
            <a:r>
              <a:rPr lang="en-US" sz="9600" dirty="0">
                <a:latin typeface="Arial Nova Cond Light" panose="020B0306020202020204" pitchFamily="34" charset="0"/>
                <a:ea typeface="+mj-ea"/>
                <a:cs typeface="+mj-cs"/>
              </a:rPr>
              <a:t> and </a:t>
            </a:r>
            <a:r>
              <a:rPr lang="en-US" sz="9600" b="1" dirty="0" err="1">
                <a:solidFill>
                  <a:srgbClr val="FF0000"/>
                </a:solidFill>
                <a:latin typeface="Arial Nova Cond Light" panose="020B0306020202020204" pitchFamily="34" charset="0"/>
                <a:ea typeface="+mj-ea"/>
                <a:cs typeface="+mj-cs"/>
              </a:rPr>
              <a:t>sila</a:t>
            </a:r>
            <a:r>
              <a:rPr lang="en-US" sz="9600" dirty="0">
                <a:latin typeface="Arial Nova Cond Light" panose="020B0306020202020204" pitchFamily="34" charset="0"/>
                <a:ea typeface="+mj-ea"/>
                <a:cs typeface="+mj-cs"/>
              </a:rPr>
              <a:t> (meaning </a:t>
            </a:r>
            <a:r>
              <a:rPr lang="en-US" sz="9600" dirty="0">
                <a:solidFill>
                  <a:srgbClr val="FF0000"/>
                </a:solidFill>
                <a:latin typeface="Arial Nova Cond Light" panose="020B0306020202020204" pitchFamily="34" charset="0"/>
                <a:ea typeface="+mj-ea"/>
                <a:cs typeface="+mj-cs"/>
              </a:rPr>
              <a:t>he/she </a:t>
            </a:r>
            <a:r>
              <a:rPr lang="en-US" sz="9600" dirty="0">
                <a:latin typeface="Arial Nova Cond Light" panose="020B0306020202020204" pitchFamily="34" charset="0"/>
                <a:ea typeface="+mj-ea"/>
                <a:cs typeface="+mj-cs"/>
              </a:rPr>
              <a:t>and </a:t>
            </a:r>
            <a:r>
              <a:rPr lang="en-US" sz="9600" dirty="0">
                <a:solidFill>
                  <a:srgbClr val="FF0000"/>
                </a:solidFill>
                <a:latin typeface="Arial Nova Cond Light" panose="020B0306020202020204" pitchFamily="34" charset="0"/>
                <a:ea typeface="+mj-ea"/>
                <a:cs typeface="+mj-cs"/>
              </a:rPr>
              <a:t>they</a:t>
            </a:r>
            <a:r>
              <a:rPr lang="en-US" sz="9600" dirty="0">
                <a:latin typeface="Arial Nova Cond Light" panose="020B0306020202020204" pitchFamily="34" charset="0"/>
                <a:ea typeface="+mj-ea"/>
                <a:cs typeface="+mj-cs"/>
              </a:rPr>
              <a:t>)</a:t>
            </a:r>
          </a:p>
          <a:p>
            <a:pPr marL="0" lvl="0" indent="0">
              <a:buNone/>
            </a:pPr>
            <a:r>
              <a:rPr lang="en-US" sz="9600" dirty="0">
                <a:latin typeface="Arial Nova Cond Light" panose="020B0306020202020204" pitchFamily="34" charset="0"/>
                <a:ea typeface="+mj-ea"/>
                <a:cs typeface="+mj-cs"/>
              </a:rPr>
              <a:t>The pronoun</a:t>
            </a:r>
            <a:r>
              <a:rPr lang="en-US" sz="9600" dirty="0">
                <a:solidFill>
                  <a:srgbClr val="FF0000"/>
                </a:solidFill>
                <a:latin typeface="Arial Nova Cond Light" panose="020B0306020202020204" pitchFamily="34" charset="0"/>
                <a:ea typeface="+mj-ea"/>
                <a:cs typeface="+mj-cs"/>
              </a:rPr>
              <a:t> </a:t>
            </a:r>
            <a:r>
              <a:rPr lang="en-US" sz="9600" b="1" dirty="0">
                <a:solidFill>
                  <a:srgbClr val="FF0000"/>
                </a:solidFill>
                <a:latin typeface="Arial Nova Cond Light" panose="020B0306020202020204" pitchFamily="34" charset="0"/>
                <a:ea typeface="+mj-ea"/>
                <a:cs typeface="+mj-cs"/>
              </a:rPr>
              <a:t>SIYA</a:t>
            </a:r>
            <a:r>
              <a:rPr lang="en-US" sz="9600" dirty="0">
                <a:solidFill>
                  <a:srgbClr val="FF0000"/>
                </a:solidFill>
                <a:latin typeface="Arial Nova Cond Light" panose="020B0306020202020204" pitchFamily="34" charset="0"/>
                <a:ea typeface="+mj-ea"/>
                <a:cs typeface="+mj-cs"/>
              </a:rPr>
              <a:t> </a:t>
            </a:r>
            <a:r>
              <a:rPr lang="en-US" sz="9600" dirty="0">
                <a:latin typeface="Arial Nova Cond Light" panose="020B0306020202020204" pitchFamily="34" charset="0"/>
                <a:ea typeface="+mj-ea"/>
                <a:cs typeface="+mj-cs"/>
              </a:rPr>
              <a:t>is singular meaning </a:t>
            </a:r>
            <a:r>
              <a:rPr lang="en-US" sz="9600" dirty="0">
                <a:solidFill>
                  <a:srgbClr val="FF0000"/>
                </a:solidFill>
                <a:latin typeface="Arial Nova Cond Light" panose="020B0306020202020204" pitchFamily="34" charset="0"/>
                <a:ea typeface="+mj-ea"/>
                <a:cs typeface="+mj-cs"/>
              </a:rPr>
              <a:t>he or she</a:t>
            </a:r>
            <a:r>
              <a:rPr lang="en-US" sz="9600" dirty="0">
                <a:latin typeface="Arial Nova Cond Light" panose="020B0306020202020204" pitchFamily="34" charset="0"/>
                <a:ea typeface="+mj-ea"/>
                <a:cs typeface="+mj-cs"/>
              </a:rPr>
              <a:t>.</a:t>
            </a:r>
          </a:p>
          <a:p>
            <a:pPr marL="0" lvl="0" indent="0">
              <a:buNone/>
            </a:pPr>
            <a:r>
              <a:rPr lang="en-US" sz="9600" dirty="0">
                <a:latin typeface="Arial Nova Cond Light" panose="020B0306020202020204" pitchFamily="34" charset="0"/>
                <a:ea typeface="+mj-ea"/>
                <a:cs typeface="+mj-cs"/>
              </a:rPr>
              <a:t>Siya ay </a:t>
            </a:r>
            <a:r>
              <a:rPr lang="en-US" sz="9600" dirty="0" err="1">
                <a:latin typeface="Arial Nova Cond Light" panose="020B0306020202020204" pitchFamily="34" charset="0"/>
                <a:ea typeface="+mj-ea"/>
                <a:cs typeface="+mj-cs"/>
              </a:rPr>
              <a:t>si</a:t>
            </a:r>
            <a:r>
              <a:rPr lang="en-US" sz="9600" dirty="0">
                <a:latin typeface="Arial Nova Cond Light" panose="020B0306020202020204" pitchFamily="34" charset="0"/>
                <a:ea typeface="+mj-ea"/>
                <a:cs typeface="+mj-cs"/>
              </a:rPr>
              <a:t> Peter.		He is Peter.</a:t>
            </a:r>
          </a:p>
          <a:p>
            <a:pPr marL="0" lvl="0" indent="0">
              <a:buNone/>
            </a:pPr>
            <a:r>
              <a:rPr lang="en-US" sz="9600" dirty="0" err="1">
                <a:latin typeface="Arial Nova Cond Light" panose="020B0306020202020204" pitchFamily="34" charset="0"/>
                <a:ea typeface="+mj-ea"/>
                <a:cs typeface="+mj-cs"/>
              </a:rPr>
              <a:t>Siya’y</a:t>
            </a:r>
            <a:r>
              <a:rPr lang="en-US" sz="9600" dirty="0">
                <a:latin typeface="Arial Nova Cond Light" panose="020B0306020202020204" pitchFamily="34" charset="0"/>
                <a:ea typeface="+mj-ea"/>
                <a:cs typeface="+mj-cs"/>
              </a:rPr>
              <a:t> </a:t>
            </a:r>
            <a:r>
              <a:rPr lang="en-US" sz="9600" dirty="0" err="1">
                <a:latin typeface="Arial Nova Cond Light" panose="020B0306020202020204" pitchFamily="34" charset="0"/>
                <a:ea typeface="+mj-ea"/>
                <a:cs typeface="+mj-cs"/>
              </a:rPr>
              <a:t>isang</a:t>
            </a:r>
            <a:r>
              <a:rPr lang="en-US" sz="9600" dirty="0">
                <a:latin typeface="Arial Nova Cond Light" panose="020B0306020202020204" pitchFamily="34" charset="0"/>
                <a:ea typeface="+mj-ea"/>
                <a:cs typeface="+mj-cs"/>
              </a:rPr>
              <a:t> bata.		He is a child.</a:t>
            </a:r>
          </a:p>
          <a:p>
            <a:pPr marL="0" lvl="0" indent="0">
              <a:buNone/>
            </a:pPr>
            <a:r>
              <a:rPr lang="en-US" sz="9600" dirty="0" err="1">
                <a:latin typeface="Arial Nova Cond Light" panose="020B0306020202020204" pitchFamily="34" charset="0"/>
                <a:ea typeface="+mj-ea"/>
                <a:cs typeface="+mj-cs"/>
              </a:rPr>
              <a:t>Marunong</a:t>
            </a:r>
            <a:r>
              <a:rPr lang="en-US" sz="9600" dirty="0">
                <a:latin typeface="Arial Nova Cond Light" panose="020B0306020202020204" pitchFamily="34" charset="0"/>
                <a:ea typeface="+mj-ea"/>
                <a:cs typeface="+mj-cs"/>
              </a:rPr>
              <a:t> </a:t>
            </a:r>
            <a:r>
              <a:rPr lang="en-US" sz="9600" dirty="0" err="1">
                <a:latin typeface="Arial Nova Cond Light" panose="020B0306020202020204" pitchFamily="34" charset="0"/>
                <a:ea typeface="+mj-ea"/>
                <a:cs typeface="+mj-cs"/>
              </a:rPr>
              <a:t>siya</a:t>
            </a:r>
            <a:r>
              <a:rPr lang="en-US" sz="9600" dirty="0">
                <a:latin typeface="Arial Nova Cond Light" panose="020B0306020202020204" pitchFamily="34" charset="0"/>
                <a:ea typeface="+mj-ea"/>
                <a:cs typeface="+mj-cs"/>
              </a:rPr>
              <a:t>.		He is intelligent.</a:t>
            </a:r>
          </a:p>
          <a:p>
            <a:pPr marL="0" lvl="0" indent="0">
              <a:buNone/>
            </a:pPr>
            <a:r>
              <a:rPr lang="en-US" sz="9600" dirty="0" err="1">
                <a:latin typeface="Arial Nova Cond Light" panose="020B0306020202020204" pitchFamily="34" charset="0"/>
                <a:ea typeface="+mj-ea"/>
                <a:cs typeface="+mj-cs"/>
              </a:rPr>
              <a:t>Mabait</a:t>
            </a:r>
            <a:r>
              <a:rPr lang="en-US" sz="9600" dirty="0">
                <a:latin typeface="Arial Nova Cond Light" panose="020B0306020202020204" pitchFamily="34" charset="0"/>
                <a:ea typeface="+mj-ea"/>
                <a:cs typeface="+mj-cs"/>
              </a:rPr>
              <a:t> </a:t>
            </a:r>
            <a:r>
              <a:rPr lang="en-US" sz="9600" dirty="0" err="1">
                <a:latin typeface="Arial Nova Cond Light" panose="020B0306020202020204" pitchFamily="34" charset="0"/>
                <a:ea typeface="+mj-ea"/>
                <a:cs typeface="+mj-cs"/>
              </a:rPr>
              <a:t>siya</a:t>
            </a:r>
            <a:r>
              <a:rPr lang="en-US" sz="9600" dirty="0">
                <a:latin typeface="Arial Nova Cond Light" panose="020B0306020202020204" pitchFamily="34" charset="0"/>
                <a:ea typeface="+mj-ea"/>
                <a:cs typeface="+mj-cs"/>
              </a:rPr>
              <a:t>.		She is good.</a:t>
            </a:r>
          </a:p>
          <a:p>
            <a:pPr marL="0" lvl="0" indent="0">
              <a:buNone/>
            </a:pPr>
            <a:r>
              <a:rPr lang="en-US" sz="9600" dirty="0">
                <a:latin typeface="Arial Nova Cond Light" panose="020B0306020202020204" pitchFamily="34" charset="0"/>
                <a:ea typeface="+mj-ea"/>
                <a:cs typeface="+mj-cs"/>
              </a:rPr>
              <a:t>The plural form of </a:t>
            </a:r>
            <a:r>
              <a:rPr lang="en-US" sz="9600" dirty="0">
                <a:solidFill>
                  <a:srgbClr val="FF0000"/>
                </a:solidFill>
                <a:latin typeface="Arial Nova Cond Light" panose="020B0306020202020204" pitchFamily="34" charset="0"/>
                <a:ea typeface="+mj-ea"/>
                <a:cs typeface="+mj-cs"/>
              </a:rPr>
              <a:t>SIYA </a:t>
            </a:r>
            <a:r>
              <a:rPr lang="en-US" sz="9600" dirty="0">
                <a:latin typeface="Arial Nova Cond Light" panose="020B0306020202020204" pitchFamily="34" charset="0"/>
                <a:ea typeface="+mj-ea"/>
                <a:cs typeface="+mj-cs"/>
              </a:rPr>
              <a:t>is </a:t>
            </a:r>
            <a:r>
              <a:rPr lang="en-US" sz="9600" dirty="0">
                <a:solidFill>
                  <a:srgbClr val="FF0000"/>
                </a:solidFill>
                <a:latin typeface="Arial Nova Cond Light" panose="020B0306020202020204" pitchFamily="34" charset="0"/>
                <a:ea typeface="+mj-ea"/>
                <a:cs typeface="+mj-cs"/>
              </a:rPr>
              <a:t>SILA </a:t>
            </a:r>
            <a:r>
              <a:rPr lang="en-US" sz="9600" dirty="0">
                <a:latin typeface="Arial Nova Cond Light" panose="020B0306020202020204" pitchFamily="34" charset="0"/>
                <a:ea typeface="+mj-ea"/>
                <a:cs typeface="+mj-cs"/>
              </a:rPr>
              <a:t>meaning </a:t>
            </a:r>
            <a:r>
              <a:rPr lang="en-US" sz="9600" dirty="0">
                <a:solidFill>
                  <a:srgbClr val="FF0000"/>
                </a:solidFill>
                <a:latin typeface="Arial Nova Cond Light" panose="020B0306020202020204" pitchFamily="34" charset="0"/>
                <a:ea typeface="+mj-ea"/>
                <a:cs typeface="+mj-cs"/>
              </a:rPr>
              <a:t>they</a:t>
            </a:r>
            <a:r>
              <a:rPr lang="en-US" sz="9600" dirty="0">
                <a:latin typeface="Arial Nova Cond Light" panose="020B0306020202020204" pitchFamily="34" charset="0"/>
                <a:ea typeface="+mj-ea"/>
                <a:cs typeface="+mj-cs"/>
              </a:rPr>
              <a:t>.</a:t>
            </a:r>
          </a:p>
          <a:p>
            <a:pPr marL="0" lvl="0" indent="0">
              <a:buNone/>
            </a:pPr>
            <a:r>
              <a:rPr lang="en-US" sz="9600" dirty="0">
                <a:latin typeface="Arial Nova Cond Light" panose="020B0306020202020204" pitchFamily="34" charset="0"/>
                <a:ea typeface="+mj-ea"/>
                <a:cs typeface="+mj-cs"/>
              </a:rPr>
              <a:t>Sila ay </a:t>
            </a:r>
            <a:r>
              <a:rPr lang="en-US" sz="9600" dirty="0" err="1">
                <a:latin typeface="Arial Nova Cond Light" panose="020B0306020202020204" pitchFamily="34" charset="0"/>
                <a:ea typeface="+mj-ea"/>
                <a:cs typeface="+mj-cs"/>
              </a:rPr>
              <a:t>sina</a:t>
            </a:r>
            <a:r>
              <a:rPr lang="en-US" sz="9600" dirty="0">
                <a:latin typeface="Arial Nova Cond Light" panose="020B0306020202020204" pitchFamily="34" charset="0"/>
                <a:ea typeface="+mj-ea"/>
                <a:cs typeface="+mj-cs"/>
              </a:rPr>
              <a:t> John at Mary.		</a:t>
            </a:r>
            <a:r>
              <a:rPr lang="en-US" sz="9600" dirty="0">
                <a:latin typeface="Arial Nova Cond Light" panose="020B0306020202020204" pitchFamily="34" charset="0"/>
              </a:rPr>
              <a:t> They are John and Mary. </a:t>
            </a:r>
            <a:endParaRPr lang="en-US" sz="9600" dirty="0">
              <a:latin typeface="Arial Nova Cond Light" panose="020B0306020202020204" pitchFamily="34" charset="0"/>
              <a:ea typeface="+mj-ea"/>
              <a:cs typeface="+mj-cs"/>
            </a:endParaRPr>
          </a:p>
          <a:p>
            <a:pPr marL="0" indent="0">
              <a:buNone/>
            </a:pPr>
            <a:r>
              <a:rPr lang="en-US" sz="9600" dirty="0">
                <a:latin typeface="Arial Nova Cond Light" panose="020B0306020202020204" pitchFamily="34" charset="0"/>
                <a:ea typeface="+mj-ea"/>
                <a:cs typeface="+mj-cs"/>
              </a:rPr>
              <a:t>Sila ay </a:t>
            </a:r>
            <a:r>
              <a:rPr lang="en-US" sz="9600" dirty="0" err="1">
                <a:latin typeface="Arial Nova Cond Light" panose="020B0306020202020204" pitchFamily="34" charset="0"/>
                <a:ea typeface="+mj-ea"/>
                <a:cs typeface="+mj-cs"/>
              </a:rPr>
              <a:t>magkaibigan</a:t>
            </a:r>
            <a:r>
              <a:rPr lang="en-US" sz="9600" dirty="0">
                <a:latin typeface="Arial Nova Cond Light" panose="020B0306020202020204" pitchFamily="34" charset="0"/>
                <a:ea typeface="+mj-ea"/>
                <a:cs typeface="+mj-cs"/>
              </a:rPr>
              <a:t>.		 </a:t>
            </a:r>
            <a:r>
              <a:rPr lang="en-US" sz="9600" dirty="0">
                <a:latin typeface="Arial Nova Cond Light" panose="020B0306020202020204" pitchFamily="34" charset="0"/>
              </a:rPr>
              <a:t>They are friends.</a:t>
            </a:r>
            <a:endParaRPr lang="en-US" sz="9600" dirty="0">
              <a:latin typeface="Arial Nova Cond Light" panose="020B0306020202020204" pitchFamily="34" charset="0"/>
              <a:ea typeface="+mj-ea"/>
              <a:cs typeface="+mj-cs"/>
            </a:endParaRPr>
          </a:p>
          <a:p>
            <a:pPr marL="0" indent="0">
              <a:buNone/>
            </a:pPr>
            <a:r>
              <a:rPr lang="en-US" sz="9600" dirty="0" err="1">
                <a:latin typeface="Arial Nova Cond Light" panose="020B0306020202020204" pitchFamily="34" charset="0"/>
                <a:ea typeface="+mj-ea"/>
                <a:cs typeface="+mj-cs"/>
              </a:rPr>
              <a:t>Marurunong</a:t>
            </a:r>
            <a:r>
              <a:rPr lang="en-US" sz="9600" dirty="0">
                <a:latin typeface="Arial Nova Cond Light" panose="020B0306020202020204" pitchFamily="34" charset="0"/>
                <a:ea typeface="+mj-ea"/>
                <a:cs typeface="+mj-cs"/>
              </a:rPr>
              <a:t> </a:t>
            </a:r>
            <a:r>
              <a:rPr lang="en-US" sz="9600" dirty="0" err="1">
                <a:latin typeface="Arial Nova Cond Light" panose="020B0306020202020204" pitchFamily="34" charset="0"/>
                <a:ea typeface="+mj-ea"/>
                <a:cs typeface="+mj-cs"/>
              </a:rPr>
              <a:t>sila</a:t>
            </a:r>
            <a:r>
              <a:rPr lang="en-US" sz="9600" dirty="0">
                <a:latin typeface="Arial Nova Cond Light" panose="020B0306020202020204" pitchFamily="34" charset="0"/>
                <a:ea typeface="+mj-ea"/>
                <a:cs typeface="+mj-cs"/>
              </a:rPr>
              <a:t>.			</a:t>
            </a:r>
            <a:r>
              <a:rPr lang="en-US" sz="9600" dirty="0">
                <a:latin typeface="Arial Nova Cond Light" panose="020B0306020202020204" pitchFamily="34" charset="0"/>
              </a:rPr>
              <a:t>They are intelligent</a:t>
            </a:r>
            <a:r>
              <a:rPr lang="en-US" sz="9600" dirty="0"/>
              <a:t>.</a:t>
            </a:r>
          </a:p>
          <a:p>
            <a:pPr marL="0" lvl="0" indent="0">
              <a:buNone/>
            </a:pPr>
            <a:endParaRPr lang="en-US" sz="9600" dirty="0">
              <a:solidFill>
                <a:srgbClr val="FF0000"/>
              </a:solidFill>
              <a:latin typeface="+mj-lt"/>
              <a:ea typeface="+mj-ea"/>
              <a:cs typeface="+mj-cs"/>
            </a:endParaRPr>
          </a:p>
          <a:p>
            <a:pPr marL="0" lvl="0" indent="0">
              <a:buNone/>
            </a:pPr>
            <a:endParaRPr lang="en-US" sz="9600" dirty="0">
              <a:solidFill>
                <a:srgbClr val="FF0000"/>
              </a:solidFill>
              <a:latin typeface="+mj-lt"/>
              <a:ea typeface="+mj-ea"/>
              <a:cs typeface="+mj-cs"/>
            </a:endParaRPr>
          </a:p>
          <a:p>
            <a:pPr marL="0" lvl="0" indent="0">
              <a:buNone/>
            </a:pPr>
            <a:endParaRPr lang="en-PH" sz="2400" dirty="0">
              <a:solidFill>
                <a:srgbClr val="FF0000"/>
              </a:solidFill>
              <a:latin typeface="+mj-lt"/>
              <a:ea typeface="+mj-ea"/>
              <a:cs typeface="+mj-cs"/>
            </a:endParaRPr>
          </a:p>
        </p:txBody>
      </p:sp>
    </p:spTree>
    <p:extLst>
      <p:ext uri="{BB962C8B-B14F-4D97-AF65-F5344CB8AC3E}">
        <p14:creationId xmlns:p14="http://schemas.microsoft.com/office/powerpoint/2010/main" val="1710692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EA0C-A8DA-6BBF-9091-CA69DB2DB1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EEE825-8099-46BB-457B-91488E0D690B}"/>
              </a:ext>
            </a:extLst>
          </p:cNvPr>
          <p:cNvSpPr>
            <a:spLocks noGrp="1"/>
          </p:cNvSpPr>
          <p:nvPr>
            <p:ph idx="1"/>
          </p:nvPr>
        </p:nvSpPr>
        <p:spPr>
          <a:xfrm>
            <a:off x="0" y="1270000"/>
            <a:ext cx="12191999" cy="4570361"/>
          </a:xfrm>
        </p:spPr>
        <p:txBody>
          <a:bodyPr>
            <a:normAutofit fontScale="40000" lnSpcReduction="20000"/>
          </a:bodyPr>
          <a:lstStyle/>
          <a:p>
            <a:pPr marL="0" lvl="0" indent="0">
              <a:buNone/>
            </a:pPr>
            <a:r>
              <a:rPr lang="en-US" sz="9600" dirty="0">
                <a:latin typeface="Arial Nova Cond Light" panose="020B0306020202020204" pitchFamily="34" charset="0"/>
              </a:rPr>
              <a:t>In a polite or formal situation, either one of the plural pronouns </a:t>
            </a:r>
            <a:r>
              <a:rPr lang="en-US" sz="9600" b="1" dirty="0">
                <a:solidFill>
                  <a:srgbClr val="FF0000"/>
                </a:solidFill>
                <a:latin typeface="Arial Nova Cond Light" panose="020B0306020202020204" pitchFamily="34" charset="0"/>
              </a:rPr>
              <a:t>kayo</a:t>
            </a:r>
            <a:r>
              <a:rPr lang="en-US" sz="9600" dirty="0">
                <a:solidFill>
                  <a:srgbClr val="FF0000"/>
                </a:solidFill>
                <a:latin typeface="Arial Nova Cond Light" panose="020B0306020202020204" pitchFamily="34" charset="0"/>
              </a:rPr>
              <a:t> </a:t>
            </a:r>
            <a:r>
              <a:rPr lang="en-US" sz="9600" dirty="0">
                <a:latin typeface="Arial Nova Cond Light" panose="020B0306020202020204" pitchFamily="34" charset="0"/>
              </a:rPr>
              <a:t>and </a:t>
            </a:r>
            <a:r>
              <a:rPr lang="en-US" sz="9600" b="1" dirty="0" err="1">
                <a:solidFill>
                  <a:srgbClr val="FF0000"/>
                </a:solidFill>
                <a:latin typeface="Arial Nova Cond Light" panose="020B0306020202020204" pitchFamily="34" charset="0"/>
              </a:rPr>
              <a:t>sila</a:t>
            </a:r>
            <a:r>
              <a:rPr lang="en-US" sz="9600" dirty="0">
                <a:latin typeface="Arial Nova Cond Light" panose="020B0306020202020204" pitchFamily="34" charset="0"/>
              </a:rPr>
              <a:t> may replace the singular pronoun </a:t>
            </a:r>
            <a:r>
              <a:rPr lang="en-US" sz="9600" dirty="0" err="1">
                <a:solidFill>
                  <a:srgbClr val="FF0000"/>
                </a:solidFill>
                <a:latin typeface="Arial Nova Cond Light" panose="020B0306020202020204" pitchFamily="34" charset="0"/>
              </a:rPr>
              <a:t>ikaw</a:t>
            </a:r>
            <a:r>
              <a:rPr lang="en-US" sz="9600" dirty="0">
                <a:solidFill>
                  <a:srgbClr val="FF0000"/>
                </a:solidFill>
                <a:latin typeface="Arial Nova Cond Light" panose="020B0306020202020204" pitchFamily="34" charset="0"/>
              </a:rPr>
              <a:t> </a:t>
            </a:r>
            <a:r>
              <a:rPr lang="en-US" sz="9600" dirty="0">
                <a:latin typeface="Arial Nova Cond Light" panose="020B0306020202020204" pitchFamily="34" charset="0"/>
              </a:rPr>
              <a:t>or </a:t>
            </a:r>
            <a:r>
              <a:rPr lang="en-US" sz="9600" dirty="0">
                <a:solidFill>
                  <a:srgbClr val="FF0000"/>
                </a:solidFill>
                <a:latin typeface="Arial Nova Cond Light" panose="020B0306020202020204" pitchFamily="34" charset="0"/>
              </a:rPr>
              <a:t>ka </a:t>
            </a:r>
            <a:r>
              <a:rPr lang="en-US" sz="9600" dirty="0">
                <a:latin typeface="Arial Nova Cond Light" panose="020B0306020202020204" pitchFamily="34" charset="0"/>
              </a:rPr>
              <a:t>in sentences and questions to </a:t>
            </a:r>
            <a:r>
              <a:rPr lang="en-US" sz="9600" dirty="0">
                <a:solidFill>
                  <a:srgbClr val="FF0000"/>
                </a:solidFill>
                <a:latin typeface="Arial Nova Cond Light" panose="020B0306020202020204" pitchFamily="34" charset="0"/>
              </a:rPr>
              <a:t>indicate respect.</a:t>
            </a:r>
          </a:p>
          <a:p>
            <a:pPr marL="0" lvl="0" indent="0">
              <a:buNone/>
            </a:pPr>
            <a:r>
              <a:rPr lang="en-US" sz="9600" dirty="0">
                <a:latin typeface="Arial Nova Cond Light" panose="020B0306020202020204" pitchFamily="34" charset="0"/>
              </a:rPr>
              <a:t>Kayo po </a:t>
            </a:r>
            <a:r>
              <a:rPr lang="en-US" sz="9600" dirty="0" err="1">
                <a:latin typeface="Arial Nova Cond Light" panose="020B0306020202020204" pitchFamily="34" charset="0"/>
              </a:rPr>
              <a:t>ba</a:t>
            </a:r>
            <a:r>
              <a:rPr lang="en-US" sz="9600" dirty="0">
                <a:latin typeface="Arial Nova Cond Light" panose="020B0306020202020204" pitchFamily="34" charset="0"/>
              </a:rPr>
              <a:t> ay </a:t>
            </a:r>
            <a:r>
              <a:rPr lang="en-US" sz="9600" dirty="0" err="1">
                <a:latin typeface="Arial Nova Cond Light" panose="020B0306020202020204" pitchFamily="34" charset="0"/>
              </a:rPr>
              <a:t>guro</a:t>
            </a:r>
            <a:r>
              <a:rPr lang="en-US" sz="9600" dirty="0">
                <a:latin typeface="Arial Nova Cond Light" panose="020B0306020202020204" pitchFamily="34" charset="0"/>
              </a:rPr>
              <a:t>? 			 Are you a teacher, sir/madam? </a:t>
            </a:r>
          </a:p>
          <a:p>
            <a:pPr marL="0" lvl="0" indent="0">
              <a:buNone/>
            </a:pPr>
            <a:r>
              <a:rPr lang="en-US" sz="9600" dirty="0">
                <a:latin typeface="Arial Nova Cond Light" panose="020B0306020202020204" pitchFamily="34" charset="0"/>
              </a:rPr>
              <a:t>Sila po </a:t>
            </a:r>
            <a:r>
              <a:rPr lang="en-US" sz="9600" dirty="0" err="1">
                <a:latin typeface="Arial Nova Cond Light" panose="020B0306020202020204" pitchFamily="34" charset="0"/>
              </a:rPr>
              <a:t>ba</a:t>
            </a:r>
            <a:r>
              <a:rPr lang="en-US" sz="9600" dirty="0">
                <a:latin typeface="Arial Nova Cond Light" panose="020B0306020202020204" pitchFamily="34" charset="0"/>
              </a:rPr>
              <a:t> ay </a:t>
            </a:r>
            <a:r>
              <a:rPr lang="en-US" sz="9600" dirty="0" err="1">
                <a:latin typeface="Arial Nova Cond Light" panose="020B0306020202020204" pitchFamily="34" charset="0"/>
              </a:rPr>
              <a:t>guro</a:t>
            </a:r>
            <a:r>
              <a:rPr lang="en-US" sz="9600" dirty="0">
                <a:latin typeface="Arial Nova Cond Light" panose="020B0306020202020204" pitchFamily="34" charset="0"/>
              </a:rPr>
              <a:t>? 			 Are you a teacher, sir/madam? </a:t>
            </a:r>
          </a:p>
          <a:p>
            <a:pPr marL="0" indent="0">
              <a:buNone/>
            </a:pPr>
            <a:r>
              <a:rPr lang="en-US" sz="9600" dirty="0">
                <a:latin typeface="Arial Nova Cond Light" panose="020B0306020202020204" pitchFamily="34" charset="0"/>
              </a:rPr>
              <a:t>Kayo ay </a:t>
            </a:r>
            <a:r>
              <a:rPr lang="en-US" sz="9600" dirty="0" err="1">
                <a:latin typeface="Arial Nova Cond Light" panose="020B0306020202020204" pitchFamily="34" charset="0"/>
              </a:rPr>
              <a:t>mabait</a:t>
            </a:r>
            <a:r>
              <a:rPr lang="en-US" sz="9600" dirty="0">
                <a:latin typeface="Arial Nova Cond Light" panose="020B0306020202020204" pitchFamily="34" charset="0"/>
              </a:rPr>
              <a:t>.				You (plural) are kind.</a:t>
            </a:r>
          </a:p>
          <a:p>
            <a:pPr marL="0" lvl="0" indent="0">
              <a:buNone/>
            </a:pPr>
            <a:endParaRPr lang="en-US" sz="9600" dirty="0">
              <a:solidFill>
                <a:srgbClr val="FF0000"/>
              </a:solidFill>
              <a:latin typeface="Arial Nova Cond Light" panose="020B0306020202020204" pitchFamily="34" charset="0"/>
            </a:endParaRPr>
          </a:p>
          <a:p>
            <a:pPr marL="0" lvl="0" indent="0">
              <a:buNone/>
            </a:pPr>
            <a:endParaRPr lang="en-US" sz="9600" dirty="0">
              <a:solidFill>
                <a:srgbClr val="FF0000"/>
              </a:solidFill>
              <a:latin typeface="+mj-lt"/>
              <a:ea typeface="+mj-ea"/>
              <a:cs typeface="+mj-cs"/>
            </a:endParaRPr>
          </a:p>
          <a:p>
            <a:pPr marL="0" lvl="0" indent="0">
              <a:buNone/>
            </a:pPr>
            <a:endParaRPr lang="en-PH" sz="2400" dirty="0">
              <a:solidFill>
                <a:srgbClr val="FF0000"/>
              </a:solidFill>
              <a:latin typeface="+mj-lt"/>
              <a:ea typeface="+mj-ea"/>
              <a:cs typeface="+mj-cs"/>
            </a:endParaRPr>
          </a:p>
        </p:txBody>
      </p:sp>
    </p:spTree>
    <p:extLst>
      <p:ext uri="{BB962C8B-B14F-4D97-AF65-F5344CB8AC3E}">
        <p14:creationId xmlns:p14="http://schemas.microsoft.com/office/powerpoint/2010/main" val="2376342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CB036-B17E-EF51-BCD1-311DD2C436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8B3E6-07C7-94A1-CE43-25E5D53EED47}"/>
              </a:ext>
            </a:extLst>
          </p:cNvPr>
          <p:cNvSpPr>
            <a:spLocks noGrp="1"/>
          </p:cNvSpPr>
          <p:nvPr>
            <p:ph idx="1"/>
          </p:nvPr>
        </p:nvSpPr>
        <p:spPr>
          <a:xfrm>
            <a:off x="0" y="0"/>
            <a:ext cx="12192000" cy="6273801"/>
          </a:xfrm>
        </p:spPr>
        <p:txBody>
          <a:bodyPr>
            <a:normAutofit/>
          </a:bodyPr>
          <a:lstStyle/>
          <a:p>
            <a:pPr marL="0" lvl="0" indent="0">
              <a:buNone/>
            </a:pPr>
            <a:r>
              <a:rPr lang="en-US" sz="4000" dirty="0">
                <a:latin typeface="Arial Nova Cond Light" panose="020B0306020202020204" pitchFamily="34" charset="0"/>
              </a:rPr>
              <a:t>TRANSLATE THE FOLLOWING SENTENCES INTO TAGALOG:</a:t>
            </a:r>
          </a:p>
          <a:p>
            <a:pPr marL="0" lvl="0" indent="0">
              <a:buNone/>
            </a:pPr>
            <a:r>
              <a:rPr lang="en-US" sz="2400" dirty="0">
                <a:latin typeface="Arial Nova Cond Light" panose="020B0306020202020204" pitchFamily="34" charset="0"/>
              </a:rPr>
              <a:t>1.	</a:t>
            </a:r>
            <a:r>
              <a:rPr lang="en-US" dirty="0">
                <a:latin typeface="Arial Nova Cond Light" panose="020B0306020202020204" pitchFamily="34" charset="0"/>
              </a:rPr>
              <a:t>We (exclusive) are studying Tagalog. Kami ay nag-</a:t>
            </a:r>
            <a:r>
              <a:rPr lang="en-US" dirty="0" err="1">
                <a:latin typeface="Arial Nova Cond Light" panose="020B0306020202020204" pitchFamily="34" charset="0"/>
              </a:rPr>
              <a:t>aaral</a:t>
            </a:r>
            <a:r>
              <a:rPr lang="en-US" dirty="0">
                <a:latin typeface="Arial Nova Cond Light" panose="020B0306020202020204" pitchFamily="34" charset="0"/>
              </a:rPr>
              <a:t> ng Tagalog.   	Nag-</a:t>
            </a:r>
            <a:r>
              <a:rPr lang="en-US" dirty="0" err="1">
                <a:latin typeface="Arial Nova Cond Light" panose="020B0306020202020204" pitchFamily="34" charset="0"/>
              </a:rPr>
              <a:t>aaral</a:t>
            </a:r>
            <a:r>
              <a:rPr lang="en-US" dirty="0">
                <a:latin typeface="Arial Nova Cond Light" panose="020B0306020202020204" pitchFamily="34" charset="0"/>
              </a:rPr>
              <a:t> ng Tagalog kami. </a:t>
            </a:r>
          </a:p>
          <a:p>
            <a:pPr marL="0" lvl="0" indent="0">
              <a:buNone/>
            </a:pPr>
            <a:r>
              <a:rPr lang="en-US" dirty="0">
                <a:latin typeface="Arial Nova Cond Light" panose="020B0306020202020204" pitchFamily="34" charset="0"/>
              </a:rPr>
              <a:t>2.	I am Mary.  He is John. 	         Ako ay </a:t>
            </a:r>
            <a:r>
              <a:rPr lang="en-US" dirty="0" err="1">
                <a:latin typeface="Arial Nova Cond Light" panose="020B0306020202020204" pitchFamily="34" charset="0"/>
              </a:rPr>
              <a:t>si</a:t>
            </a:r>
            <a:r>
              <a:rPr lang="en-US" dirty="0">
                <a:latin typeface="Arial Nova Cond Light" panose="020B0306020202020204" pitchFamily="34" charset="0"/>
              </a:rPr>
              <a:t> Mary. Siya ay </a:t>
            </a:r>
            <a:r>
              <a:rPr lang="en-US" dirty="0" err="1">
                <a:latin typeface="Arial Nova Cond Light" panose="020B0306020202020204" pitchFamily="34" charset="0"/>
              </a:rPr>
              <a:t>si</a:t>
            </a:r>
            <a:r>
              <a:rPr lang="en-US" dirty="0">
                <a:latin typeface="Arial Nova Cond Light" panose="020B0306020202020204" pitchFamily="34" charset="0"/>
              </a:rPr>
              <a:t> John. 	Si Mary </a:t>
            </a:r>
            <a:r>
              <a:rPr lang="en-US" dirty="0" err="1">
                <a:latin typeface="Arial Nova Cond Light" panose="020B0306020202020204" pitchFamily="34" charset="0"/>
              </a:rPr>
              <a:t>ako</a:t>
            </a:r>
            <a:r>
              <a:rPr lang="en-US" dirty="0">
                <a:latin typeface="Arial Nova Cond Light" panose="020B0306020202020204" pitchFamily="34" charset="0"/>
              </a:rPr>
              <a:t>. Si John </a:t>
            </a:r>
            <a:r>
              <a:rPr lang="en-US" dirty="0" err="1">
                <a:latin typeface="Arial Nova Cond Light" panose="020B0306020202020204" pitchFamily="34" charset="0"/>
              </a:rPr>
              <a:t>siya</a:t>
            </a:r>
            <a:r>
              <a:rPr lang="en-US" dirty="0">
                <a:latin typeface="Arial Nova Cond Light" panose="020B0306020202020204" pitchFamily="34" charset="0"/>
              </a:rPr>
              <a:t>.</a:t>
            </a:r>
          </a:p>
          <a:p>
            <a:pPr marL="0" lvl="0" indent="0">
              <a:buNone/>
            </a:pPr>
            <a:r>
              <a:rPr lang="en-US" dirty="0">
                <a:latin typeface="Arial Nova Cond Light" panose="020B0306020202020204" pitchFamily="34" charset="0"/>
              </a:rPr>
              <a:t>3.	We (inclusive) are clean and good.   Tayo ay </a:t>
            </a:r>
            <a:r>
              <a:rPr lang="en-US" dirty="0" err="1">
                <a:latin typeface="Arial Nova Cond Light" panose="020B0306020202020204" pitchFamily="34" charset="0"/>
              </a:rPr>
              <a:t>malilinis</a:t>
            </a:r>
            <a:r>
              <a:rPr lang="en-US" dirty="0">
                <a:latin typeface="Arial Nova Cond Light" panose="020B0306020202020204" pitchFamily="34" charset="0"/>
              </a:rPr>
              <a:t> at </a:t>
            </a:r>
            <a:r>
              <a:rPr lang="en-US" dirty="0" err="1">
                <a:latin typeface="Arial Nova Cond Light" panose="020B0306020202020204" pitchFamily="34" charset="0"/>
              </a:rPr>
              <a:t>mababait</a:t>
            </a:r>
            <a:r>
              <a:rPr lang="en-US" dirty="0">
                <a:latin typeface="Arial Nova Cond Light" panose="020B0306020202020204" pitchFamily="34" charset="0"/>
              </a:rPr>
              <a:t>. 	</a:t>
            </a:r>
            <a:r>
              <a:rPr lang="en-US" dirty="0" err="1">
                <a:latin typeface="Arial Nova Cond Light" panose="020B0306020202020204" pitchFamily="34" charset="0"/>
              </a:rPr>
              <a:t>Malilinis</a:t>
            </a:r>
            <a:r>
              <a:rPr lang="en-US" dirty="0">
                <a:latin typeface="Arial Nova Cond Light" panose="020B0306020202020204" pitchFamily="34" charset="0"/>
              </a:rPr>
              <a:t> at </a:t>
            </a:r>
            <a:r>
              <a:rPr lang="en-US" dirty="0" err="1">
                <a:latin typeface="Arial Nova Cond Light" panose="020B0306020202020204" pitchFamily="34" charset="0"/>
              </a:rPr>
              <a:t>mababait</a:t>
            </a:r>
            <a:r>
              <a:rPr lang="en-US" dirty="0">
                <a:latin typeface="Arial Nova Cond Light" panose="020B0306020202020204" pitchFamily="34" charset="0"/>
              </a:rPr>
              <a:t> tayo		</a:t>
            </a:r>
          </a:p>
          <a:p>
            <a:pPr marL="0" lvl="0" indent="0">
              <a:buNone/>
            </a:pPr>
            <a:r>
              <a:rPr lang="en-US" dirty="0">
                <a:latin typeface="Arial Nova Cond Light" panose="020B0306020202020204" pitchFamily="34" charset="0"/>
              </a:rPr>
              <a:t>4.	They are healthy and intelligent.       Sila ay </a:t>
            </a:r>
            <a:r>
              <a:rPr lang="en-US" dirty="0" err="1">
                <a:latin typeface="Arial Nova Cond Light" panose="020B0306020202020204" pitchFamily="34" charset="0"/>
              </a:rPr>
              <a:t>malulusog</a:t>
            </a:r>
            <a:r>
              <a:rPr lang="en-US" dirty="0">
                <a:latin typeface="Arial Nova Cond Light" panose="020B0306020202020204" pitchFamily="34" charset="0"/>
              </a:rPr>
              <a:t> at </a:t>
            </a:r>
            <a:r>
              <a:rPr lang="en-US" dirty="0" err="1">
                <a:latin typeface="Arial Nova Cond Light" panose="020B0306020202020204" pitchFamily="34" charset="0"/>
              </a:rPr>
              <a:t>marurunong</a:t>
            </a:r>
            <a:r>
              <a:rPr lang="en-US" dirty="0">
                <a:latin typeface="Arial Nova Cond Light" panose="020B0306020202020204" pitchFamily="34" charset="0"/>
              </a:rPr>
              <a:t>. </a:t>
            </a:r>
            <a:r>
              <a:rPr lang="en-US" dirty="0" err="1">
                <a:latin typeface="Arial Nova Cond Light" panose="020B0306020202020204" pitchFamily="34" charset="0"/>
              </a:rPr>
              <a:t>Malulusog</a:t>
            </a:r>
            <a:r>
              <a:rPr lang="en-US" dirty="0">
                <a:latin typeface="Arial Nova Cond Light" panose="020B0306020202020204" pitchFamily="34" charset="0"/>
              </a:rPr>
              <a:t> at </a:t>
            </a:r>
            <a:r>
              <a:rPr lang="en-US" dirty="0" err="1">
                <a:latin typeface="Arial Nova Cond Light" panose="020B0306020202020204" pitchFamily="34" charset="0"/>
              </a:rPr>
              <a:t>marurunong</a:t>
            </a:r>
            <a:r>
              <a:rPr lang="en-US" dirty="0">
                <a:latin typeface="Arial Nova Cond Light" panose="020B0306020202020204" pitchFamily="34" charset="0"/>
              </a:rPr>
              <a:t> </a:t>
            </a:r>
            <a:r>
              <a:rPr lang="en-US" dirty="0" err="1">
                <a:latin typeface="Arial Nova Cond Light" panose="020B0306020202020204" pitchFamily="34" charset="0"/>
              </a:rPr>
              <a:t>sila</a:t>
            </a:r>
            <a:r>
              <a:rPr lang="en-US" dirty="0">
                <a:latin typeface="Arial Nova Cond Light" panose="020B0306020202020204" pitchFamily="34" charset="0"/>
              </a:rPr>
              <a:t>. </a:t>
            </a:r>
            <a:br>
              <a:rPr lang="en-US" dirty="0">
                <a:latin typeface="Arial Nova Cond Light" panose="020B0306020202020204" pitchFamily="34" charset="0"/>
              </a:rPr>
            </a:br>
            <a:r>
              <a:rPr lang="en-US" dirty="0">
                <a:latin typeface="Arial Nova Cond Light" panose="020B0306020202020204" pitchFamily="34" charset="0"/>
              </a:rPr>
              <a:t>5.	You are a teacher. (polite)	         Kayo ay </a:t>
            </a:r>
            <a:r>
              <a:rPr lang="en-US" dirty="0" err="1">
                <a:latin typeface="Arial Nova Cond Light" panose="020B0306020202020204" pitchFamily="34" charset="0"/>
              </a:rPr>
              <a:t>isang</a:t>
            </a:r>
            <a:r>
              <a:rPr lang="en-US" dirty="0">
                <a:latin typeface="Arial Nova Cond Light" panose="020B0306020202020204" pitchFamily="34" charset="0"/>
              </a:rPr>
              <a:t> </a:t>
            </a:r>
            <a:r>
              <a:rPr lang="en-US" dirty="0" err="1">
                <a:latin typeface="Arial Nova Cond Light" panose="020B0306020202020204" pitchFamily="34" charset="0"/>
              </a:rPr>
              <a:t>guro</a:t>
            </a:r>
            <a:r>
              <a:rPr lang="en-US" dirty="0">
                <a:latin typeface="Arial Nova Cond Light" panose="020B0306020202020204" pitchFamily="34" charset="0"/>
              </a:rPr>
              <a:t>. 	      	Isang </a:t>
            </a:r>
            <a:r>
              <a:rPr lang="en-US" dirty="0" err="1">
                <a:latin typeface="Arial Nova Cond Light" panose="020B0306020202020204" pitchFamily="34" charset="0"/>
              </a:rPr>
              <a:t>guro</a:t>
            </a:r>
            <a:r>
              <a:rPr lang="en-US" dirty="0">
                <a:latin typeface="Arial Nova Cond Light" panose="020B0306020202020204" pitchFamily="34" charset="0"/>
              </a:rPr>
              <a:t> kayo. </a:t>
            </a:r>
          </a:p>
          <a:p>
            <a:pPr marL="0" lvl="0" indent="0">
              <a:buNone/>
            </a:pPr>
            <a:r>
              <a:rPr lang="en-US" dirty="0">
                <a:latin typeface="Arial Nova Cond Light" panose="020B0306020202020204" pitchFamily="34" charset="0"/>
              </a:rPr>
              <a:t>6.	You (plural) are Filipinos.	         Kayo ay </a:t>
            </a:r>
            <a:r>
              <a:rPr lang="en-US" dirty="0" err="1">
                <a:latin typeface="Arial Nova Cond Light" panose="020B0306020202020204" pitchFamily="34" charset="0"/>
              </a:rPr>
              <a:t>mga</a:t>
            </a:r>
            <a:r>
              <a:rPr lang="en-US" dirty="0">
                <a:latin typeface="Arial Nova Cond Light" panose="020B0306020202020204" pitchFamily="34" charset="0"/>
              </a:rPr>
              <a:t> Pilipino.		Mga Pilipino kayo</a:t>
            </a:r>
          </a:p>
          <a:p>
            <a:pPr marL="0" lvl="0" indent="0">
              <a:buNone/>
            </a:pPr>
            <a:r>
              <a:rPr lang="en-US" dirty="0">
                <a:latin typeface="Arial Nova Cond Light" panose="020B0306020202020204" pitchFamily="34" charset="0"/>
              </a:rPr>
              <a:t>7.	She is playing. (</a:t>
            </a:r>
            <a:r>
              <a:rPr lang="en-US" dirty="0" err="1">
                <a:latin typeface="Arial Nova Cond Light" panose="020B0306020202020204" pitchFamily="34" charset="0"/>
              </a:rPr>
              <a:t>naglalaro</a:t>
            </a:r>
            <a:r>
              <a:rPr lang="en-US" dirty="0">
                <a:latin typeface="Arial Nova Cond Light" panose="020B0306020202020204" pitchFamily="34" charset="0"/>
              </a:rPr>
              <a:t>)	         Siya ay </a:t>
            </a:r>
            <a:r>
              <a:rPr lang="en-US" dirty="0" err="1">
                <a:latin typeface="Arial Nova Cond Light" panose="020B0306020202020204" pitchFamily="34" charset="0"/>
              </a:rPr>
              <a:t>naglalaro</a:t>
            </a:r>
            <a:r>
              <a:rPr lang="en-US" dirty="0">
                <a:latin typeface="Arial Nova Cond Light" panose="020B0306020202020204" pitchFamily="34" charset="0"/>
              </a:rPr>
              <a:t>. 		</a:t>
            </a:r>
            <a:r>
              <a:rPr lang="en-US" dirty="0" err="1">
                <a:latin typeface="Arial Nova Cond Light" panose="020B0306020202020204" pitchFamily="34" charset="0"/>
              </a:rPr>
              <a:t>Naglalaro</a:t>
            </a:r>
            <a:r>
              <a:rPr lang="en-US" dirty="0">
                <a:latin typeface="Arial Nova Cond Light" panose="020B0306020202020204" pitchFamily="34" charset="0"/>
              </a:rPr>
              <a:t> </a:t>
            </a:r>
            <a:r>
              <a:rPr lang="en-US" dirty="0" err="1">
                <a:latin typeface="Arial Nova Cond Light" panose="020B0306020202020204" pitchFamily="34" charset="0"/>
              </a:rPr>
              <a:t>siya</a:t>
            </a:r>
            <a:r>
              <a:rPr lang="en-US" dirty="0">
                <a:latin typeface="Arial Nova Cond Light" panose="020B0306020202020204" pitchFamily="34" charset="0"/>
              </a:rPr>
              <a:t>. </a:t>
            </a:r>
          </a:p>
          <a:p>
            <a:pPr marL="0" lvl="0" indent="0">
              <a:buNone/>
            </a:pPr>
            <a:r>
              <a:rPr lang="en-US" dirty="0">
                <a:solidFill>
                  <a:srgbClr val="FF0000"/>
                </a:solidFill>
                <a:latin typeface="Arial Nova Cond Light" panose="020B0306020202020204" pitchFamily="34" charset="0"/>
                <a:ea typeface="+mj-ea"/>
                <a:cs typeface="+mj-cs"/>
              </a:rPr>
              <a:t>8. 	You are intelligent.		        Ikaw ay </a:t>
            </a:r>
            <a:r>
              <a:rPr lang="en-US" dirty="0" err="1">
                <a:solidFill>
                  <a:srgbClr val="FF0000"/>
                </a:solidFill>
                <a:latin typeface="Arial Nova Cond Light" panose="020B0306020202020204" pitchFamily="34" charset="0"/>
                <a:ea typeface="+mj-ea"/>
                <a:cs typeface="+mj-cs"/>
              </a:rPr>
              <a:t>marunong</a:t>
            </a:r>
            <a:r>
              <a:rPr lang="en-US" dirty="0">
                <a:solidFill>
                  <a:srgbClr val="FF0000"/>
                </a:solidFill>
                <a:latin typeface="Arial Nova Cond Light" panose="020B0306020202020204" pitchFamily="34" charset="0"/>
                <a:ea typeface="+mj-ea"/>
                <a:cs typeface="+mj-cs"/>
              </a:rPr>
              <a:t>. 		</a:t>
            </a:r>
            <a:r>
              <a:rPr lang="en-US" dirty="0" err="1">
                <a:solidFill>
                  <a:srgbClr val="FF0000"/>
                </a:solidFill>
                <a:latin typeface="Arial Nova Cond Light" panose="020B0306020202020204" pitchFamily="34" charset="0"/>
                <a:ea typeface="+mj-ea"/>
                <a:cs typeface="+mj-cs"/>
              </a:rPr>
              <a:t>Marunong</a:t>
            </a:r>
            <a:r>
              <a:rPr lang="en-US" dirty="0">
                <a:solidFill>
                  <a:srgbClr val="FF0000"/>
                </a:solidFill>
                <a:latin typeface="Arial Nova Cond Light" panose="020B0306020202020204" pitchFamily="34" charset="0"/>
                <a:ea typeface="+mj-ea"/>
                <a:cs typeface="+mj-cs"/>
              </a:rPr>
              <a:t> ka.  		          </a:t>
            </a:r>
          </a:p>
          <a:p>
            <a:pPr marL="0" lvl="0" indent="0">
              <a:buNone/>
            </a:pPr>
            <a:endParaRPr lang="en-PH" sz="700" dirty="0">
              <a:solidFill>
                <a:srgbClr val="FF0000"/>
              </a:solidFill>
              <a:latin typeface="Arial Nova Cond Light" panose="020B0306020202020204" pitchFamily="34" charset="0"/>
              <a:ea typeface="+mj-ea"/>
              <a:cs typeface="+mj-cs"/>
            </a:endParaRPr>
          </a:p>
        </p:txBody>
      </p:sp>
    </p:spTree>
    <p:extLst>
      <p:ext uri="{BB962C8B-B14F-4D97-AF65-F5344CB8AC3E}">
        <p14:creationId xmlns:p14="http://schemas.microsoft.com/office/powerpoint/2010/main" val="3055042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A863D-C998-3777-D24A-480BF4DA47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09559D-2C99-2E6D-2B8B-AEFA122123F5}"/>
              </a:ext>
            </a:extLst>
          </p:cNvPr>
          <p:cNvSpPr>
            <a:spLocks noGrp="1"/>
          </p:cNvSpPr>
          <p:nvPr>
            <p:ph idx="1"/>
          </p:nvPr>
        </p:nvSpPr>
        <p:spPr>
          <a:xfrm>
            <a:off x="82381" y="397933"/>
            <a:ext cx="12109620" cy="5816600"/>
          </a:xfrm>
        </p:spPr>
        <p:txBody>
          <a:bodyPr>
            <a:normAutofit/>
          </a:bodyPr>
          <a:lstStyle/>
          <a:p>
            <a:pPr marL="0" lvl="0" indent="0">
              <a:buNone/>
            </a:pPr>
            <a:r>
              <a:rPr lang="en-PH" sz="2400" b="1" dirty="0">
                <a:latin typeface="Arial Nova Cond Light" panose="020B0306020202020204" pitchFamily="34" charset="0"/>
                <a:ea typeface="+mj-ea"/>
                <a:cs typeface="+mj-cs"/>
              </a:rPr>
              <a:t>Fill in the blanks with the proper pronouns in the third sentence in each set of sentences by combining the pronouns mentioned in the first two sentences. For example, the answering the first set of sentences is the combination of kayo + </a:t>
            </a:r>
            <a:r>
              <a:rPr lang="en-PH" sz="2400" b="1" dirty="0" err="1">
                <a:latin typeface="Arial Nova Cond Light" panose="020B0306020202020204" pitchFamily="34" charset="0"/>
                <a:ea typeface="+mj-ea"/>
                <a:cs typeface="+mj-cs"/>
              </a:rPr>
              <a:t>ako</a:t>
            </a:r>
            <a:r>
              <a:rPr lang="en-PH" sz="2400" b="1" dirty="0">
                <a:latin typeface="Arial Nova Cond Light" panose="020B0306020202020204" pitchFamily="34" charset="0"/>
                <a:ea typeface="+mj-ea"/>
                <a:cs typeface="+mj-cs"/>
              </a:rPr>
              <a:t>.=  </a:t>
            </a:r>
            <a:r>
              <a:rPr lang="en-PH" sz="2400" b="1" dirty="0" err="1">
                <a:latin typeface="Arial Nova Cond Light" panose="020B0306020202020204" pitchFamily="34" charset="0"/>
                <a:ea typeface="+mj-ea"/>
                <a:cs typeface="+mj-cs"/>
              </a:rPr>
              <a:t>You+I</a:t>
            </a:r>
            <a:r>
              <a:rPr lang="en-PH" sz="2400" b="1" dirty="0">
                <a:latin typeface="Arial Nova Cond Light" panose="020B0306020202020204" pitchFamily="34" charset="0"/>
                <a:ea typeface="+mj-ea"/>
                <a:cs typeface="+mj-cs"/>
              </a:rPr>
              <a:t>=We </a:t>
            </a:r>
          </a:p>
          <a:p>
            <a:pPr marL="0" lvl="0" indent="0">
              <a:buNone/>
            </a:pPr>
            <a:r>
              <a:rPr lang="en-PH" sz="2400" dirty="0">
                <a:latin typeface="Arial Nova Cond Light" panose="020B0306020202020204" pitchFamily="34" charset="0"/>
                <a:ea typeface="+mj-ea"/>
                <a:cs typeface="+mj-cs"/>
              </a:rPr>
              <a:t>l . </a:t>
            </a:r>
            <a:r>
              <a:rPr lang="en-PH" sz="2400" dirty="0">
                <a:solidFill>
                  <a:srgbClr val="FF0000"/>
                </a:solidFill>
                <a:latin typeface="Arial Nova Cond Light" panose="020B0306020202020204" pitchFamily="34" charset="0"/>
                <a:ea typeface="+mj-ea"/>
                <a:cs typeface="+mj-cs"/>
              </a:rPr>
              <a:t>Kayo</a:t>
            </a:r>
            <a:r>
              <a:rPr lang="en-PH" sz="2400" dirty="0">
                <a:latin typeface="Arial Nova Cond Light" panose="020B0306020202020204" pitchFamily="34" charset="0"/>
                <a:ea typeface="+mj-ea"/>
                <a:cs typeface="+mj-cs"/>
              </a:rPr>
              <a:t> ay </a:t>
            </a:r>
            <a:r>
              <a:rPr lang="en-PH" sz="2400" dirty="0" err="1">
                <a:latin typeface="Arial Nova Cond Light" panose="020B0306020202020204" pitchFamily="34" charset="0"/>
                <a:ea typeface="+mj-ea"/>
                <a:cs typeface="+mj-cs"/>
              </a:rPr>
              <a:t>bumili</a:t>
            </a:r>
            <a:r>
              <a:rPr lang="en-PH" sz="2400" dirty="0">
                <a:latin typeface="Arial Nova Cond Light" panose="020B0306020202020204" pitchFamily="34" charset="0"/>
                <a:ea typeface="+mj-ea"/>
                <a:cs typeface="+mj-cs"/>
              </a:rPr>
              <a:t> ng </a:t>
            </a:r>
            <a:r>
              <a:rPr lang="en-PH" sz="2400" dirty="0" err="1">
                <a:latin typeface="Arial Nova Cond Light" panose="020B0306020202020204" pitchFamily="34" charset="0"/>
                <a:ea typeface="+mj-ea"/>
                <a:cs typeface="+mj-cs"/>
              </a:rPr>
              <a:t>pagkain</a:t>
            </a:r>
            <a:r>
              <a:rPr lang="en-PH" sz="2400" dirty="0">
                <a:latin typeface="Arial Nova Cond Light" panose="020B0306020202020204" pitchFamily="34" charset="0"/>
                <a:ea typeface="+mj-ea"/>
                <a:cs typeface="+mj-cs"/>
              </a:rPr>
              <a:t>. </a:t>
            </a:r>
            <a:r>
              <a:rPr lang="en-PH" sz="2400" dirty="0">
                <a:solidFill>
                  <a:srgbClr val="FF0000"/>
                </a:solidFill>
                <a:latin typeface="Arial Nova Cond Light" panose="020B0306020202020204" pitchFamily="34" charset="0"/>
                <a:ea typeface="+mj-ea"/>
                <a:cs typeface="+mj-cs"/>
              </a:rPr>
              <a:t>Ako</a:t>
            </a:r>
            <a:r>
              <a:rPr lang="en-PH" sz="2400" dirty="0">
                <a:latin typeface="Arial Nova Cond Light" panose="020B0306020202020204" pitchFamily="34" charset="0"/>
                <a:ea typeface="+mj-ea"/>
                <a:cs typeface="+mj-cs"/>
              </a:rPr>
              <a:t> ay </a:t>
            </a:r>
            <a:r>
              <a:rPr lang="en-PH" sz="2400" dirty="0" err="1">
                <a:latin typeface="Arial Nova Cond Light" panose="020B0306020202020204" pitchFamily="34" charset="0"/>
                <a:ea typeface="+mj-ea"/>
                <a:cs typeface="+mj-cs"/>
              </a:rPr>
              <a:t>bumili</a:t>
            </a:r>
            <a:r>
              <a:rPr lang="en-PH" sz="2400" dirty="0">
                <a:latin typeface="Arial Nova Cond Light" panose="020B0306020202020204" pitchFamily="34" charset="0"/>
                <a:ea typeface="+mj-ea"/>
                <a:cs typeface="+mj-cs"/>
              </a:rPr>
              <a:t> ng </a:t>
            </a:r>
            <a:r>
              <a:rPr lang="en-PH" sz="2400" dirty="0" err="1">
                <a:latin typeface="Arial Nova Cond Light" panose="020B0306020202020204" pitchFamily="34" charset="0"/>
                <a:ea typeface="+mj-ea"/>
                <a:cs typeface="+mj-cs"/>
              </a:rPr>
              <a:t>pagkain</a:t>
            </a:r>
            <a:r>
              <a:rPr lang="en-PH" sz="2400" dirty="0">
                <a:latin typeface="Arial Nova Cond Light" panose="020B0306020202020204" pitchFamily="34" charset="0"/>
                <a:ea typeface="+mj-ea"/>
                <a:cs typeface="+mj-cs"/>
              </a:rPr>
              <a:t>. </a:t>
            </a:r>
            <a:r>
              <a:rPr lang="en-PH" sz="2400" u="sng" dirty="0">
                <a:latin typeface="Arial Nova Cond Light" panose="020B0306020202020204" pitchFamily="34" charset="0"/>
                <a:ea typeface="+mj-ea"/>
                <a:cs typeface="+mj-cs"/>
              </a:rPr>
              <a:t>_'y </a:t>
            </a:r>
            <a:r>
              <a:rPr lang="en-PH" sz="2400" dirty="0" err="1">
                <a:latin typeface="Arial Nova Cond Light" panose="020B0306020202020204" pitchFamily="34" charset="0"/>
                <a:ea typeface="+mj-ea"/>
                <a:cs typeface="+mj-cs"/>
              </a:rPr>
              <a:t>bumili</a:t>
            </a:r>
            <a:r>
              <a:rPr lang="en-PH" sz="2400" dirty="0">
                <a:latin typeface="Arial Nova Cond Light" panose="020B0306020202020204" pitchFamily="34" charset="0"/>
                <a:ea typeface="+mj-ea"/>
                <a:cs typeface="+mj-cs"/>
              </a:rPr>
              <a:t> ng </a:t>
            </a:r>
            <a:r>
              <a:rPr lang="en-PH" sz="2400" dirty="0" err="1">
                <a:latin typeface="Arial Nova Cond Light" panose="020B0306020202020204" pitchFamily="34" charset="0"/>
                <a:ea typeface="+mj-ea"/>
                <a:cs typeface="+mj-cs"/>
              </a:rPr>
              <a:t>pagkain</a:t>
            </a:r>
            <a:r>
              <a:rPr lang="en-PH" sz="2400" dirty="0">
                <a:latin typeface="Arial Nova Cond Light" panose="020B0306020202020204" pitchFamily="34" charset="0"/>
                <a:ea typeface="+mj-ea"/>
                <a:cs typeface="+mj-cs"/>
              </a:rPr>
              <a:t>.</a:t>
            </a:r>
          </a:p>
          <a:p>
            <a:pPr marL="0" lvl="0" indent="0">
              <a:buNone/>
            </a:pPr>
            <a:r>
              <a:rPr lang="en-PH" sz="2400" dirty="0">
                <a:latin typeface="Arial Nova Cond Light" panose="020B0306020202020204" pitchFamily="34" charset="0"/>
                <a:ea typeface="+mj-ea"/>
                <a:cs typeface="+mj-cs"/>
              </a:rPr>
              <a:t>2 </a:t>
            </a:r>
            <a:r>
              <a:rPr lang="en-PH" sz="2400" dirty="0" err="1">
                <a:latin typeface="Arial Nova Cond Light" panose="020B0306020202020204" pitchFamily="34" charset="0"/>
                <a:ea typeface="+mj-ea"/>
                <a:cs typeface="+mj-cs"/>
              </a:rPr>
              <a:t>Mabait</a:t>
            </a:r>
            <a:r>
              <a:rPr lang="en-PH" sz="2400" dirty="0">
                <a:latin typeface="Arial Nova Cond Light" panose="020B0306020202020204" pitchFamily="34" charset="0"/>
                <a:ea typeface="+mj-ea"/>
                <a:cs typeface="+mj-cs"/>
              </a:rPr>
              <a:t> </a:t>
            </a:r>
            <a:r>
              <a:rPr lang="en-PH" sz="2400" dirty="0">
                <a:solidFill>
                  <a:srgbClr val="FF0000"/>
                </a:solidFill>
                <a:latin typeface="Arial Nova Cond Light" panose="020B0306020202020204" pitchFamily="34" charset="0"/>
                <a:ea typeface="+mj-ea"/>
                <a:cs typeface="+mj-cs"/>
              </a:rPr>
              <a:t>ka.</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Mabait</a:t>
            </a:r>
            <a:r>
              <a:rPr lang="en-PH" sz="2400" dirty="0">
                <a:latin typeface="Arial Nova Cond Light" panose="020B0306020202020204" pitchFamily="34" charset="0"/>
                <a:ea typeface="+mj-ea"/>
                <a:cs typeface="+mj-cs"/>
              </a:rPr>
              <a:t> </a:t>
            </a:r>
            <a:r>
              <a:rPr lang="en-PH" sz="2400" dirty="0" err="1">
                <a:solidFill>
                  <a:srgbClr val="FF0000"/>
                </a:solidFill>
                <a:latin typeface="Arial Nova Cond Light" panose="020B0306020202020204" pitchFamily="34" charset="0"/>
                <a:ea typeface="+mj-ea"/>
                <a:cs typeface="+mj-cs"/>
              </a:rPr>
              <a:t>siya</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Mababait</a:t>
            </a:r>
            <a:r>
              <a:rPr lang="en-PH" sz="2400" dirty="0">
                <a:latin typeface="Arial Nova Cond Light" panose="020B0306020202020204" pitchFamily="34" charset="0"/>
                <a:ea typeface="+mj-ea"/>
                <a:cs typeface="+mj-cs"/>
              </a:rPr>
              <a:t>___</a:t>
            </a:r>
            <a:r>
              <a:rPr lang="en-PH" sz="2400" u="sng" dirty="0">
                <a:latin typeface="Arial Nova Cond Light" panose="020B0306020202020204" pitchFamily="34" charset="0"/>
                <a:ea typeface="+mj-ea"/>
                <a:cs typeface="+mj-cs"/>
              </a:rPr>
              <a:t>.</a:t>
            </a:r>
          </a:p>
          <a:p>
            <a:pPr marL="0" lvl="0" indent="0">
              <a:buNone/>
            </a:pPr>
            <a:r>
              <a:rPr lang="en-PH" sz="2400" dirty="0">
                <a:latin typeface="Arial Nova Cond Light" panose="020B0306020202020204" pitchFamily="34" charset="0"/>
                <a:ea typeface="+mj-ea"/>
                <a:cs typeface="+mj-cs"/>
              </a:rPr>
              <a:t>3. Nag-</a:t>
            </a:r>
            <a:r>
              <a:rPr lang="en-PH" sz="2400" dirty="0" err="1">
                <a:latin typeface="Arial Nova Cond Light" panose="020B0306020202020204" pitchFamily="34" charset="0"/>
                <a:ea typeface="+mj-ea"/>
                <a:cs typeface="+mj-cs"/>
              </a:rPr>
              <a:t>aral</a:t>
            </a:r>
            <a:r>
              <a:rPr lang="en-PH" sz="2400" dirty="0">
                <a:latin typeface="Arial Nova Cond Light" panose="020B0306020202020204" pitchFamily="34" charset="0"/>
                <a:ea typeface="+mj-ea"/>
                <a:cs typeface="+mj-cs"/>
              </a:rPr>
              <a:t> </a:t>
            </a:r>
            <a:r>
              <a:rPr lang="en-PH" sz="2400" dirty="0" err="1">
                <a:solidFill>
                  <a:srgbClr val="FF0000"/>
                </a:solidFill>
                <a:latin typeface="Arial Nova Cond Light" panose="020B0306020202020204" pitchFamily="34" charset="0"/>
                <a:ea typeface="+mj-ea"/>
                <a:cs typeface="+mj-cs"/>
              </a:rPr>
              <a:t>si</a:t>
            </a:r>
            <a:r>
              <a:rPr lang="en-PH" sz="2400" dirty="0">
                <a:solidFill>
                  <a:srgbClr val="FF0000"/>
                </a:solidFill>
                <a:latin typeface="Arial Nova Cond Light" panose="020B0306020202020204" pitchFamily="34" charset="0"/>
                <a:ea typeface="+mj-ea"/>
                <a:cs typeface="+mj-cs"/>
              </a:rPr>
              <a:t> Maria</a:t>
            </a:r>
            <a:r>
              <a:rPr lang="en-PH" sz="2400" dirty="0">
                <a:latin typeface="Arial Nova Cond Light" panose="020B0306020202020204" pitchFamily="34" charset="0"/>
                <a:ea typeface="+mj-ea"/>
                <a:cs typeface="+mj-cs"/>
              </a:rPr>
              <a:t>. Nag-</a:t>
            </a:r>
            <a:r>
              <a:rPr lang="en-PH" sz="2400" dirty="0" err="1">
                <a:latin typeface="Arial Nova Cond Light" panose="020B0306020202020204" pitchFamily="34" charset="0"/>
                <a:ea typeface="+mj-ea"/>
                <a:cs typeface="+mj-cs"/>
              </a:rPr>
              <a:t>aral</a:t>
            </a:r>
            <a:r>
              <a:rPr lang="en-PH" sz="2400" dirty="0">
                <a:latin typeface="Arial Nova Cond Light" panose="020B0306020202020204" pitchFamily="34" charset="0"/>
                <a:ea typeface="+mj-ea"/>
                <a:cs typeface="+mj-cs"/>
              </a:rPr>
              <a:t> </a:t>
            </a:r>
            <a:r>
              <a:rPr lang="en-PH" sz="2400" dirty="0" err="1">
                <a:solidFill>
                  <a:srgbClr val="FF0000"/>
                </a:solidFill>
                <a:latin typeface="Arial Nova Cond Light" panose="020B0306020202020204" pitchFamily="34" charset="0"/>
                <a:ea typeface="+mj-ea"/>
                <a:cs typeface="+mj-cs"/>
              </a:rPr>
              <a:t>si</a:t>
            </a:r>
            <a:r>
              <a:rPr lang="en-PH" sz="2400" dirty="0">
                <a:solidFill>
                  <a:srgbClr val="FF0000"/>
                </a:solidFill>
                <a:latin typeface="Arial Nova Cond Light" panose="020B0306020202020204" pitchFamily="34" charset="0"/>
                <a:ea typeface="+mj-ea"/>
                <a:cs typeface="+mj-cs"/>
              </a:rPr>
              <a:t> Tino</a:t>
            </a:r>
            <a:r>
              <a:rPr lang="en-PH" sz="2400" dirty="0">
                <a:latin typeface="Arial Nova Cond Light" panose="020B0306020202020204" pitchFamily="34" charset="0"/>
                <a:ea typeface="+mj-ea"/>
                <a:cs typeface="+mj-cs"/>
              </a:rPr>
              <a:t>. </a:t>
            </a:r>
            <a:r>
              <a:rPr lang="en-PH" sz="2400" u="sng" dirty="0">
                <a:latin typeface="Arial Nova Cond Light" panose="020B0306020202020204" pitchFamily="34" charset="0"/>
                <a:ea typeface="+mj-ea"/>
                <a:cs typeface="+mj-cs"/>
              </a:rPr>
              <a:t>_’y </a:t>
            </a:r>
            <a:r>
              <a:rPr lang="en-PH" sz="2400" dirty="0">
                <a:latin typeface="Arial Nova Cond Light" panose="020B0306020202020204" pitchFamily="34" charset="0"/>
                <a:ea typeface="+mj-ea"/>
                <a:cs typeface="+mj-cs"/>
              </a:rPr>
              <a:t>nag </a:t>
            </a:r>
            <a:r>
              <a:rPr lang="en-PH" sz="2400" dirty="0" err="1">
                <a:latin typeface="Arial Nova Cond Light" panose="020B0306020202020204" pitchFamily="34" charset="0"/>
                <a:ea typeface="+mj-ea"/>
                <a:cs typeface="+mj-cs"/>
              </a:rPr>
              <a:t>aral</a:t>
            </a:r>
            <a:r>
              <a:rPr lang="en-PH" sz="2400" dirty="0">
                <a:latin typeface="Arial Nova Cond Light" panose="020B0306020202020204" pitchFamily="34" charset="0"/>
                <a:ea typeface="+mj-ea"/>
                <a:cs typeface="+mj-cs"/>
              </a:rPr>
              <a:t>.</a:t>
            </a:r>
          </a:p>
          <a:p>
            <a:pPr marL="0" lvl="0" indent="0">
              <a:buNone/>
            </a:pPr>
            <a:r>
              <a:rPr lang="en-PH" sz="2400" dirty="0">
                <a:latin typeface="Arial Nova Cond Light" panose="020B0306020202020204" pitchFamily="34" charset="0"/>
                <a:ea typeface="+mj-ea"/>
                <a:cs typeface="+mj-cs"/>
              </a:rPr>
              <a:t>4. </a:t>
            </a:r>
            <a:r>
              <a:rPr lang="en-PH" sz="2400" dirty="0">
                <a:solidFill>
                  <a:srgbClr val="FF0000"/>
                </a:solidFill>
                <a:latin typeface="Arial Nova Cond Light" panose="020B0306020202020204" pitchFamily="34" charset="0"/>
                <a:ea typeface="+mj-ea"/>
                <a:cs typeface="+mj-cs"/>
              </a:rPr>
              <a:t>Ako </a:t>
            </a:r>
            <a:r>
              <a:rPr lang="en-PH" sz="2400" dirty="0">
                <a:latin typeface="Arial Nova Cond Light" panose="020B0306020202020204" pitchFamily="34" charset="0"/>
                <a:ea typeface="+mj-ea"/>
                <a:cs typeface="+mj-cs"/>
              </a:rPr>
              <a:t>ay </a:t>
            </a:r>
            <a:r>
              <a:rPr lang="en-PH" sz="2400" dirty="0" err="1">
                <a:latin typeface="Arial Nova Cond Light" panose="020B0306020202020204" pitchFamily="34" charset="0"/>
                <a:ea typeface="+mj-ea"/>
                <a:cs typeface="+mj-cs"/>
              </a:rPr>
              <a:t>naniniwala</a:t>
            </a:r>
            <a:r>
              <a:rPr lang="en-PH" sz="2400" dirty="0">
                <a:latin typeface="Arial Nova Cond Light" panose="020B0306020202020204" pitchFamily="34" charset="0"/>
                <a:ea typeface="+mj-ea"/>
                <a:cs typeface="+mj-cs"/>
              </a:rPr>
              <a:t> kay Delia. </a:t>
            </a:r>
            <a:r>
              <a:rPr lang="en-PH" sz="2400" dirty="0" err="1">
                <a:solidFill>
                  <a:srgbClr val="FF0000"/>
                </a:solidFill>
                <a:latin typeface="Arial Nova Cond Light" panose="020B0306020202020204" pitchFamily="34" charset="0"/>
                <a:ea typeface="+mj-ea"/>
                <a:cs typeface="+mj-cs"/>
              </a:rPr>
              <a:t>Sila’y</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naniniwala</a:t>
            </a:r>
            <a:r>
              <a:rPr lang="en-PH" sz="2400" dirty="0">
                <a:latin typeface="Arial Nova Cond Light" panose="020B0306020202020204" pitchFamily="34" charset="0"/>
                <a:ea typeface="+mj-ea"/>
                <a:cs typeface="+mj-cs"/>
              </a:rPr>
              <a:t> kay Delia. </a:t>
            </a:r>
            <a:r>
              <a:rPr lang="en-PH" sz="2400" u="sng" dirty="0">
                <a:latin typeface="Arial Nova Cond Light" panose="020B0306020202020204" pitchFamily="34" charset="0"/>
                <a:ea typeface="+mj-ea"/>
                <a:cs typeface="+mj-cs"/>
              </a:rPr>
              <a:t>_ 'y </a:t>
            </a:r>
            <a:r>
              <a:rPr lang="en-PH" sz="2400" dirty="0" err="1">
                <a:latin typeface="Arial Nova Cond Light" panose="020B0306020202020204" pitchFamily="34" charset="0"/>
                <a:ea typeface="+mj-ea"/>
                <a:cs typeface="+mj-cs"/>
              </a:rPr>
              <a:t>naniniwala</a:t>
            </a:r>
            <a:r>
              <a:rPr lang="en-PH" sz="2400" dirty="0">
                <a:latin typeface="Arial Nova Cond Light" panose="020B0306020202020204" pitchFamily="34" charset="0"/>
                <a:ea typeface="+mj-ea"/>
                <a:cs typeface="+mj-cs"/>
              </a:rPr>
              <a:t> kay Delia.</a:t>
            </a:r>
          </a:p>
          <a:p>
            <a:pPr marL="0" lvl="0" indent="0">
              <a:buNone/>
            </a:pPr>
            <a:r>
              <a:rPr lang="en-PH" sz="2400" dirty="0">
                <a:latin typeface="Arial Nova Cond Light" panose="020B0306020202020204" pitchFamily="34" charset="0"/>
                <a:ea typeface="+mj-ea"/>
                <a:cs typeface="+mj-cs"/>
              </a:rPr>
              <a:t>5. </a:t>
            </a:r>
            <a:r>
              <a:rPr lang="en-PH" sz="2400" dirty="0" err="1">
                <a:latin typeface="Arial Nova Cond Light" panose="020B0306020202020204" pitchFamily="34" charset="0"/>
                <a:ea typeface="+mj-ea"/>
                <a:cs typeface="+mj-cs"/>
              </a:rPr>
              <a:t>Nakakasulat</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na</a:t>
            </a:r>
            <a:r>
              <a:rPr lang="en-PH" sz="2400" dirty="0">
                <a:latin typeface="Arial Nova Cond Light" panose="020B0306020202020204" pitchFamily="34" charset="0"/>
                <a:ea typeface="+mj-ea"/>
                <a:cs typeface="+mj-cs"/>
              </a:rPr>
              <a:t> </a:t>
            </a:r>
            <a:r>
              <a:rPr lang="en-PH" sz="2400" u="sng" dirty="0" err="1">
                <a:latin typeface="Arial Nova Cond Light" panose="020B0306020202020204" pitchFamily="34" charset="0"/>
                <a:ea typeface="+mj-ea"/>
                <a:cs typeface="+mj-cs"/>
              </a:rPr>
              <a:t>si</a:t>
            </a:r>
            <a:r>
              <a:rPr lang="en-PH" sz="2400" u="sng" dirty="0">
                <a:latin typeface="Arial Nova Cond Light" panose="020B0306020202020204" pitchFamily="34" charset="0"/>
                <a:ea typeface="+mj-ea"/>
                <a:cs typeface="+mj-cs"/>
              </a:rPr>
              <a:t> Gizelle</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Nakakasulat</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na</a:t>
            </a:r>
            <a:r>
              <a:rPr lang="en-PH" sz="2400" dirty="0">
                <a:latin typeface="Arial Nova Cond Light" panose="020B0306020202020204" pitchFamily="34" charset="0"/>
                <a:ea typeface="+mj-ea"/>
                <a:cs typeface="+mj-cs"/>
              </a:rPr>
              <a:t> </a:t>
            </a:r>
            <a:r>
              <a:rPr lang="en-PH" sz="2400" u="sng" dirty="0" err="1">
                <a:latin typeface="Arial Nova Cond Light" panose="020B0306020202020204" pitchFamily="34" charset="0"/>
                <a:ea typeface="+mj-ea"/>
                <a:cs typeface="+mj-cs"/>
              </a:rPr>
              <a:t>ako</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Nakakasulat</a:t>
            </a:r>
            <a:r>
              <a:rPr lang="en-PH" sz="2400" dirty="0">
                <a:latin typeface="Arial Nova Cond Light" panose="020B0306020202020204" pitchFamily="34" charset="0"/>
                <a:ea typeface="+mj-ea"/>
                <a:cs typeface="+mj-cs"/>
              </a:rPr>
              <a:t> </a:t>
            </a:r>
            <a:r>
              <a:rPr lang="en-PH" sz="2400" dirty="0" err="1">
                <a:latin typeface="Arial Nova Cond Light" panose="020B0306020202020204" pitchFamily="34" charset="0"/>
                <a:ea typeface="+mj-ea"/>
                <a:cs typeface="+mj-cs"/>
              </a:rPr>
              <a:t>na</a:t>
            </a:r>
            <a:r>
              <a:rPr lang="en-PH" sz="2400" u="sng">
                <a:latin typeface="Arial Nova Cond Light" panose="020B0306020202020204" pitchFamily="34" charset="0"/>
                <a:ea typeface="+mj-ea"/>
                <a:cs typeface="+mj-cs"/>
              </a:rPr>
              <a:t> ___.</a:t>
            </a:r>
            <a:endParaRPr lang="en-PH" sz="2400" u="sng" dirty="0">
              <a:latin typeface="Arial Nova Cond Light" panose="020B0306020202020204" pitchFamily="34" charset="0"/>
              <a:ea typeface="+mj-ea"/>
              <a:cs typeface="+mj-cs"/>
            </a:endParaRPr>
          </a:p>
          <a:p>
            <a:pPr marL="0" lvl="0" indent="0">
              <a:buNone/>
            </a:pPr>
            <a:endParaRPr lang="en-PH" sz="2400" dirty="0">
              <a:latin typeface="Arial Nova Cond Light" panose="020B0306020202020204" pitchFamily="34" charset="0"/>
              <a:ea typeface="+mj-ea"/>
              <a:cs typeface="+mj-cs"/>
            </a:endParaRPr>
          </a:p>
        </p:txBody>
      </p:sp>
    </p:spTree>
    <p:extLst>
      <p:ext uri="{BB962C8B-B14F-4D97-AF65-F5344CB8AC3E}">
        <p14:creationId xmlns:p14="http://schemas.microsoft.com/office/powerpoint/2010/main" val="1081453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777A1-4DD8-7B67-1CDE-6223E7DB1A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1C324-BFE6-5E68-4631-0DEE03B3A882}"/>
              </a:ext>
            </a:extLst>
          </p:cNvPr>
          <p:cNvSpPr>
            <a:spLocks noGrp="1"/>
          </p:cNvSpPr>
          <p:nvPr>
            <p:ph idx="1"/>
          </p:nvPr>
        </p:nvSpPr>
        <p:spPr>
          <a:xfrm>
            <a:off x="774246" y="1939532"/>
            <a:ext cx="9603275" cy="3450613"/>
          </a:xfrm>
        </p:spPr>
        <p:txBody>
          <a:bodyPr>
            <a:normAutofit/>
          </a:bodyPr>
          <a:lstStyle/>
          <a:p>
            <a:pPr marL="0" indent="0">
              <a:buNone/>
            </a:pPr>
            <a:r>
              <a:rPr lang="en-PH" dirty="0">
                <a:latin typeface="Arial Nova Cond Light" panose="020B0306020202020204" pitchFamily="34" charset="0"/>
              </a:rPr>
              <a:t>We (excluding)  are clean. 	Kami ay </a:t>
            </a:r>
            <a:r>
              <a:rPr lang="en-PH" dirty="0" err="1">
                <a:latin typeface="Arial Nova Cond Light" panose="020B0306020202020204" pitchFamily="34" charset="0"/>
              </a:rPr>
              <a:t>malilinis</a:t>
            </a:r>
            <a:r>
              <a:rPr lang="en-PH" dirty="0">
                <a:latin typeface="Arial Nova Cond Light" panose="020B0306020202020204" pitchFamily="34" charset="0"/>
              </a:rPr>
              <a:t>.</a:t>
            </a:r>
          </a:p>
          <a:p>
            <a:pPr marL="0" indent="0">
              <a:buNone/>
            </a:pPr>
            <a:r>
              <a:rPr lang="en-PH" dirty="0">
                <a:latin typeface="Arial Nova Cond Light" panose="020B0306020202020204" pitchFamily="34" charset="0"/>
              </a:rPr>
              <a:t>They are drinking coffee. 	Kayo ay </a:t>
            </a:r>
            <a:r>
              <a:rPr lang="en-PH" dirty="0" err="1">
                <a:latin typeface="Arial Nova Cond Light" panose="020B0306020202020204" pitchFamily="34" charset="0"/>
              </a:rPr>
              <a:t>umiinom</a:t>
            </a:r>
            <a:r>
              <a:rPr lang="en-PH" dirty="0">
                <a:latin typeface="Arial Nova Cond Light" panose="020B0306020202020204" pitchFamily="34" charset="0"/>
              </a:rPr>
              <a:t> ng </a:t>
            </a:r>
            <a:r>
              <a:rPr lang="en-PH" dirty="0" err="1">
                <a:latin typeface="Arial Nova Cond Light" panose="020B0306020202020204" pitchFamily="34" charset="0"/>
              </a:rPr>
              <a:t>kape</a:t>
            </a:r>
            <a:r>
              <a:rPr lang="en-PH" dirty="0">
                <a:latin typeface="Arial Nova Cond Light" panose="020B0306020202020204" pitchFamily="34" charset="0"/>
              </a:rPr>
              <a:t>. </a:t>
            </a:r>
          </a:p>
          <a:p>
            <a:pPr marL="0" indent="0">
              <a:buNone/>
            </a:pPr>
            <a:r>
              <a:rPr lang="en-PH" dirty="0">
                <a:latin typeface="Arial Nova Cond Light" panose="020B0306020202020204" pitchFamily="34" charset="0"/>
              </a:rPr>
              <a:t>She is beautiful.		Siya ay Maganda.</a:t>
            </a:r>
          </a:p>
          <a:p>
            <a:pPr marL="0" indent="0">
              <a:buNone/>
            </a:pPr>
            <a:r>
              <a:rPr lang="en-PH" dirty="0">
                <a:latin typeface="Arial Nova Cond Light" panose="020B0306020202020204" pitchFamily="34" charset="0"/>
              </a:rPr>
              <a:t>You are tall.		</a:t>
            </a:r>
            <a:r>
              <a:rPr lang="en-PH" dirty="0" err="1">
                <a:latin typeface="Arial Nova Cond Light" panose="020B0306020202020204" pitchFamily="34" charset="0"/>
              </a:rPr>
              <a:t>Matangkad</a:t>
            </a:r>
            <a:r>
              <a:rPr lang="en-PH" dirty="0">
                <a:latin typeface="Arial Nova Cond Light" panose="020B0306020202020204" pitchFamily="34" charset="0"/>
              </a:rPr>
              <a:t> ka. </a:t>
            </a:r>
          </a:p>
          <a:p>
            <a:pPr marL="0" indent="0">
              <a:buNone/>
            </a:pPr>
            <a:r>
              <a:rPr lang="en-PH" dirty="0">
                <a:latin typeface="Arial Nova Cond Light" panose="020B0306020202020204" pitchFamily="34" charset="0"/>
              </a:rPr>
              <a:t>You (plural) noisy.		Kayo ay </a:t>
            </a:r>
            <a:r>
              <a:rPr lang="en-PH" dirty="0" err="1">
                <a:latin typeface="Arial Nova Cond Light" panose="020B0306020202020204" pitchFamily="34" charset="0"/>
              </a:rPr>
              <a:t>maingay</a:t>
            </a:r>
            <a:r>
              <a:rPr lang="en-PH" dirty="0">
                <a:latin typeface="Arial Nova Cond Light" panose="020B0306020202020204" pitchFamily="34" charset="0"/>
              </a:rPr>
              <a:t>. </a:t>
            </a:r>
          </a:p>
          <a:p>
            <a:pPr marL="0" indent="0">
              <a:buNone/>
            </a:pPr>
            <a:endParaRPr lang="en-PH" dirty="0">
              <a:latin typeface="Arial Nova Cond Light" panose="020B0306020202020204" pitchFamily="34" charset="0"/>
            </a:endParaRPr>
          </a:p>
        </p:txBody>
      </p:sp>
    </p:spTree>
    <p:extLst>
      <p:ext uri="{BB962C8B-B14F-4D97-AF65-F5344CB8AC3E}">
        <p14:creationId xmlns:p14="http://schemas.microsoft.com/office/powerpoint/2010/main" val="1451206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F909C1-3017-9A37-BF1C-4ABD32C9FD45}"/>
              </a:ext>
            </a:extLst>
          </p:cNvPr>
          <p:cNvSpPr>
            <a:spLocks noGrp="1"/>
          </p:cNvSpPr>
          <p:nvPr>
            <p:ph idx="1"/>
          </p:nvPr>
        </p:nvSpPr>
        <p:spPr>
          <a:xfrm>
            <a:off x="952046" y="1380732"/>
            <a:ext cx="9603275" cy="3450613"/>
          </a:xfrm>
        </p:spPr>
        <p:txBody>
          <a:bodyPr>
            <a:normAutofit fontScale="77500" lnSpcReduction="20000"/>
          </a:bodyPr>
          <a:lstStyle/>
          <a:p>
            <a:pPr marL="0" indent="0">
              <a:buNone/>
            </a:pPr>
            <a:r>
              <a:rPr lang="en-PH" sz="3200" b="1" dirty="0">
                <a:latin typeface="Arial Nova Cond Light" panose="020B0306020202020204" pitchFamily="34" charset="0"/>
              </a:rPr>
              <a:t>Personal pronoun-------</a:t>
            </a:r>
            <a:r>
              <a:rPr lang="en-PH" sz="3200" b="1" dirty="0">
                <a:solidFill>
                  <a:srgbClr val="FF0000"/>
                </a:solidFill>
                <a:latin typeface="Arial Nova Cond Light" panose="020B0306020202020204" pitchFamily="34" charset="0"/>
              </a:rPr>
              <a:t>Nominative in form </a:t>
            </a:r>
            <a:r>
              <a:rPr lang="en-PH" sz="3200" b="1" dirty="0">
                <a:latin typeface="Arial Nova Cond Light" panose="020B0306020202020204" pitchFamily="34" charset="0"/>
              </a:rPr>
              <a:t>can be use as a subject of a sentence</a:t>
            </a:r>
          </a:p>
          <a:p>
            <a:pPr marL="0" indent="0">
              <a:buNone/>
            </a:pPr>
            <a:r>
              <a:rPr lang="en-PH" sz="2400" dirty="0">
                <a:latin typeface="Arial Nova Cond Light" panose="020B0306020202020204" pitchFamily="34" charset="0"/>
              </a:rPr>
              <a:t>Ako----------I</a:t>
            </a:r>
          </a:p>
          <a:p>
            <a:pPr marL="0" indent="0">
              <a:buNone/>
            </a:pPr>
            <a:r>
              <a:rPr lang="en-PH" sz="2400" dirty="0">
                <a:latin typeface="Arial Nova Cond Light" panose="020B0306020202020204" pitchFamily="34" charset="0"/>
              </a:rPr>
              <a:t>Ikaw---------you</a:t>
            </a:r>
          </a:p>
          <a:p>
            <a:pPr marL="0" indent="0">
              <a:buNone/>
            </a:pPr>
            <a:r>
              <a:rPr lang="en-PH" sz="2400" dirty="0">
                <a:latin typeface="Arial Nova Cond Light" panose="020B0306020202020204" pitchFamily="34" charset="0"/>
              </a:rPr>
              <a:t>Kayo---------You (plural)</a:t>
            </a:r>
          </a:p>
          <a:p>
            <a:pPr marL="0" indent="0">
              <a:buNone/>
            </a:pPr>
            <a:r>
              <a:rPr lang="en-PH" sz="2400" dirty="0">
                <a:latin typeface="Arial Nova Cond Light" panose="020B0306020202020204" pitchFamily="34" charset="0"/>
              </a:rPr>
              <a:t>Kami &amp; Tayo- We</a:t>
            </a:r>
          </a:p>
          <a:p>
            <a:pPr marL="0" indent="0">
              <a:buNone/>
            </a:pPr>
            <a:r>
              <a:rPr lang="en-PH" sz="2400" dirty="0">
                <a:latin typeface="Arial Nova Cond Light" panose="020B0306020202020204" pitchFamily="34" charset="0"/>
              </a:rPr>
              <a:t>Siya----------She</a:t>
            </a:r>
          </a:p>
          <a:p>
            <a:pPr marL="0" indent="0">
              <a:buNone/>
            </a:pPr>
            <a:r>
              <a:rPr lang="en-PH" sz="2400" dirty="0">
                <a:latin typeface="Arial Nova Cond Light" panose="020B0306020202020204" pitchFamily="34" charset="0"/>
              </a:rPr>
              <a:t>Sila. ---------They</a:t>
            </a:r>
            <a:endParaRPr lang="en-PH" dirty="0">
              <a:latin typeface="Arial Nova Cond Light" panose="020B0306020202020204" pitchFamily="34" charset="0"/>
            </a:endParaRPr>
          </a:p>
        </p:txBody>
      </p:sp>
    </p:spTree>
    <p:extLst>
      <p:ext uri="{BB962C8B-B14F-4D97-AF65-F5344CB8AC3E}">
        <p14:creationId xmlns:p14="http://schemas.microsoft.com/office/powerpoint/2010/main" val="3295666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670C-CA89-FD7C-E83C-10FB597D16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EED716-17F6-9217-C0B9-301BB1E1B4E1}"/>
              </a:ext>
            </a:extLst>
          </p:cNvPr>
          <p:cNvSpPr>
            <a:spLocks noGrp="1"/>
          </p:cNvSpPr>
          <p:nvPr>
            <p:ph idx="1"/>
          </p:nvPr>
        </p:nvSpPr>
        <p:spPr>
          <a:xfrm>
            <a:off x="0" y="1"/>
            <a:ext cx="12274379" cy="5032824"/>
          </a:xfrm>
        </p:spPr>
        <p:txBody>
          <a:bodyPr>
            <a:normAutofit/>
          </a:bodyPr>
          <a:lstStyle/>
          <a:p>
            <a:pPr marL="0" lvl="0" indent="0" algn="ctr">
              <a:buNone/>
            </a:pPr>
            <a:r>
              <a:rPr lang="en-PH" sz="5400" b="1" dirty="0">
                <a:latin typeface="Arial Narrow" panose="020B0606020202030204" pitchFamily="34" charset="0"/>
                <a:ea typeface="+mj-ea"/>
                <a:cs typeface="+mj-cs"/>
              </a:rPr>
              <a:t>Wrap up Time!</a:t>
            </a:r>
            <a:br>
              <a:rPr lang="en-PH" sz="5400" b="1" dirty="0">
                <a:latin typeface="Arial Narrow" panose="020B0606020202030204" pitchFamily="34" charset="0"/>
                <a:ea typeface="+mj-ea"/>
                <a:cs typeface="+mj-cs"/>
              </a:rPr>
            </a:br>
            <a:r>
              <a:rPr lang="en-PH" sz="5400" b="1" dirty="0">
                <a:latin typeface="Arial Narrow" panose="020B0606020202030204" pitchFamily="34" charset="0"/>
                <a:ea typeface="+mj-ea"/>
                <a:cs typeface="+mj-cs"/>
              </a:rPr>
              <a:t>What did you learn today?</a:t>
            </a:r>
            <a:endParaRPr lang="en-PH" sz="5400" dirty="0">
              <a:latin typeface="Arial Narrow" panose="020B0606020202030204" pitchFamily="34" charset="0"/>
              <a:ea typeface="+mj-ea"/>
              <a:cs typeface="+mj-cs"/>
            </a:endParaRPr>
          </a:p>
        </p:txBody>
      </p:sp>
    </p:spTree>
    <p:extLst>
      <p:ext uri="{BB962C8B-B14F-4D97-AF65-F5344CB8AC3E}">
        <p14:creationId xmlns:p14="http://schemas.microsoft.com/office/powerpoint/2010/main" val="2508970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8B93-72EF-D205-8960-BBC1F5B2E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8393-84F5-C65C-5FA2-C513B482F2D8}"/>
              </a:ext>
            </a:extLst>
          </p:cNvPr>
          <p:cNvSpPr>
            <a:spLocks noGrp="1"/>
          </p:cNvSpPr>
          <p:nvPr>
            <p:ph type="ctrTitle"/>
          </p:nvPr>
        </p:nvSpPr>
        <p:spPr>
          <a:xfrm>
            <a:off x="1105446" y="1293365"/>
            <a:ext cx="10959554" cy="2541431"/>
          </a:xfrm>
        </p:spPr>
        <p:txBody>
          <a:bodyPr>
            <a:normAutofit/>
          </a:bodyPr>
          <a:lstStyle/>
          <a:p>
            <a:pPr algn="ctr"/>
            <a:r>
              <a:rPr lang="en-PH" sz="14900" dirty="0">
                <a:latin typeface="Arial Nova Cond Light" panose="020B0306020202020204" pitchFamily="34" charset="0"/>
              </a:rPr>
              <a:t>Salamat!</a:t>
            </a:r>
          </a:p>
        </p:txBody>
      </p:sp>
    </p:spTree>
    <p:extLst>
      <p:ext uri="{BB962C8B-B14F-4D97-AF65-F5344CB8AC3E}">
        <p14:creationId xmlns:p14="http://schemas.microsoft.com/office/powerpoint/2010/main" val="37051551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1351</TotalTime>
  <Words>1363</Words>
  <Application>Microsoft Office PowerPoint</Application>
  <PresentationFormat>Widescreen</PresentationFormat>
  <Paragraphs>95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Narrow</vt:lpstr>
      <vt:lpstr>Arial Nova Cond Light</vt:lpstr>
      <vt:lpstr>Calibri</vt:lpstr>
      <vt:lpstr>Gill Sans MT</vt:lpstr>
      <vt:lpstr>Gallery</vt:lpstr>
      <vt:lpstr>WELCOME back  Pablo! </vt:lpstr>
      <vt:lpstr>Lesson 03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Salamat!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Charine Labao</dc:creator>
  <cp:lastModifiedBy>Charine Labao</cp:lastModifiedBy>
  <cp:revision>11</cp:revision>
  <dcterms:created xsi:type="dcterms:W3CDTF">2025-07-09T10:16:11Z</dcterms:created>
  <dcterms:modified xsi:type="dcterms:W3CDTF">2026-07-28T14:54:36Z</dcterms:modified>
</cp:coreProperties>
</file>