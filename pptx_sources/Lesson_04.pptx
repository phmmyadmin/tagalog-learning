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1"/>
  </p:notesMasterIdLst>
  <p:sldIdLst>
    <p:sldId id="256" r:id="rId2"/>
    <p:sldId id="275" r:id="rId3"/>
    <p:sldId id="322" r:id="rId4"/>
    <p:sldId id="320" r:id="rId5"/>
    <p:sldId id="344" r:id="rId6"/>
    <p:sldId id="321" r:id="rId7"/>
    <p:sldId id="345" r:id="rId8"/>
    <p:sldId id="346" r:id="rId9"/>
    <p:sldId id="347" r:id="rId10"/>
    <p:sldId id="348" r:id="rId11"/>
    <p:sldId id="349" r:id="rId12"/>
    <p:sldId id="350" r:id="rId13"/>
    <p:sldId id="351" r:id="rId14"/>
    <p:sldId id="352" r:id="rId15"/>
    <p:sldId id="315" r:id="rId16"/>
    <p:sldId id="343" r:id="rId17"/>
    <p:sldId id="317" r:id="rId18"/>
    <p:sldId id="319" r:id="rId19"/>
    <p:sldId id="323" r:id="rId20"/>
    <p:sldId id="324" r:id="rId21"/>
    <p:sldId id="325" r:id="rId22"/>
    <p:sldId id="326" r:id="rId23"/>
    <p:sldId id="332" r:id="rId24"/>
    <p:sldId id="327" r:id="rId25"/>
    <p:sldId id="328" r:id="rId26"/>
    <p:sldId id="329" r:id="rId27"/>
    <p:sldId id="330" r:id="rId28"/>
    <p:sldId id="331" r:id="rId29"/>
    <p:sldId id="334" r:id="rId30"/>
    <p:sldId id="333" r:id="rId31"/>
    <p:sldId id="335" r:id="rId32"/>
    <p:sldId id="336" r:id="rId33"/>
    <p:sldId id="337" r:id="rId34"/>
    <p:sldId id="338" r:id="rId35"/>
    <p:sldId id="339" r:id="rId36"/>
    <p:sldId id="340" r:id="rId37"/>
    <p:sldId id="341" r:id="rId38"/>
    <p:sldId id="342" r:id="rId39"/>
    <p:sldId id="268" r:id="rId4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499" autoAdjust="0"/>
    <p:restoredTop sz="94660"/>
  </p:normalViewPr>
  <p:slideViewPr>
    <p:cSldViewPr snapToGrid="0">
      <p:cViewPr varScale="1">
        <p:scale>
          <a:sx n="97" d="100"/>
          <a:sy n="97" d="100"/>
        </p:scale>
        <p:origin x="86" y="8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harine Labao" userId="d49f38c7da5d9737" providerId="LiveId" clId="{74BAE539-5A96-4830-AD90-F51E8ECC701B}"/>
    <pc:docChg chg="undo custSel addSld delSld modSld sldOrd">
      <pc:chgData name="Charine Labao" userId="d49f38c7da5d9737" providerId="LiveId" clId="{74BAE539-5A96-4830-AD90-F51E8ECC701B}" dt="2026-01-08T09:19:26.437" v="1526" actId="20577"/>
      <pc:docMkLst>
        <pc:docMk/>
      </pc:docMkLst>
      <pc:sldChg chg="modSp mod">
        <pc:chgData name="Charine Labao" userId="d49f38c7da5d9737" providerId="LiveId" clId="{74BAE539-5A96-4830-AD90-F51E8ECC701B}" dt="2025-12-13T09:30:42.453" v="1202" actId="20577"/>
        <pc:sldMkLst>
          <pc:docMk/>
          <pc:sldMk cId="4101661442" sldId="256"/>
        </pc:sldMkLst>
        <pc:spChg chg="mod">
          <ac:chgData name="Charine Labao" userId="d49f38c7da5d9737" providerId="LiveId" clId="{74BAE539-5A96-4830-AD90-F51E8ECC701B}" dt="2025-12-13T09:30:42.453" v="1202" actId="20577"/>
          <ac:spMkLst>
            <pc:docMk/>
            <pc:sldMk cId="4101661442" sldId="256"/>
            <ac:spMk id="2" creationId="{00BCFF50-8CD8-2A55-F5E3-38E524DAEEFB}"/>
          </ac:spMkLst>
        </pc:spChg>
      </pc:sldChg>
      <pc:sldChg chg="modSp mod">
        <pc:chgData name="Charine Labao" userId="d49f38c7da5d9737" providerId="LiveId" clId="{74BAE539-5A96-4830-AD90-F51E8ECC701B}" dt="2025-12-13T09:54:43.921" v="1210" actId="207"/>
        <pc:sldMkLst>
          <pc:docMk/>
          <pc:sldMk cId="1737026159" sldId="315"/>
        </pc:sldMkLst>
        <pc:spChg chg="mod">
          <ac:chgData name="Charine Labao" userId="d49f38c7da5d9737" providerId="LiveId" clId="{74BAE539-5A96-4830-AD90-F51E8ECC701B}" dt="2025-12-13T09:54:08.331" v="1209" actId="14100"/>
          <ac:spMkLst>
            <pc:docMk/>
            <pc:sldMk cId="1737026159" sldId="315"/>
            <ac:spMk id="3" creationId="{0BB223B6-F5FA-EC54-98A9-E70D02BD73F2}"/>
          </ac:spMkLst>
        </pc:spChg>
        <pc:spChg chg="mod">
          <ac:chgData name="Charine Labao" userId="d49f38c7da5d9737" providerId="LiveId" clId="{74BAE539-5A96-4830-AD90-F51E8ECC701B}" dt="2025-12-13T09:54:43.921" v="1210" actId="207"/>
          <ac:spMkLst>
            <pc:docMk/>
            <pc:sldMk cId="1737026159" sldId="315"/>
            <ac:spMk id="13" creationId="{5C36A6C0-6F8D-A6F8-076E-90956B567EDE}"/>
          </ac:spMkLst>
        </pc:spChg>
      </pc:sldChg>
      <pc:sldChg chg="modSp mod ord">
        <pc:chgData name="Charine Labao" userId="d49f38c7da5d9737" providerId="LiveId" clId="{74BAE539-5A96-4830-AD90-F51E8ECC701B}" dt="2025-12-19T10:53:50.051" v="1235" actId="20578"/>
        <pc:sldMkLst>
          <pc:docMk/>
          <pc:sldMk cId="2799871934" sldId="327"/>
        </pc:sldMkLst>
      </pc:sldChg>
      <pc:sldChg chg="delSp modSp mod">
        <pc:chgData name="Charine Labao" userId="d49f38c7da5d9737" providerId="LiveId" clId="{74BAE539-5A96-4830-AD90-F51E8ECC701B}" dt="2025-12-19T11:42:30.404" v="1283" actId="20577"/>
        <pc:sldMkLst>
          <pc:docMk/>
          <pc:sldMk cId="3705623364" sldId="339"/>
        </pc:sldMkLst>
        <pc:spChg chg="mod">
          <ac:chgData name="Charine Labao" userId="d49f38c7da5d9737" providerId="LiveId" clId="{74BAE539-5A96-4830-AD90-F51E8ECC701B}" dt="2025-12-19T11:42:30.404" v="1283" actId="20577"/>
          <ac:spMkLst>
            <pc:docMk/>
            <pc:sldMk cId="3705623364" sldId="339"/>
            <ac:spMk id="3" creationId="{302CB995-5ABB-FE8D-D003-E2F0D7890820}"/>
          </ac:spMkLst>
        </pc:spChg>
      </pc:sldChg>
      <pc:sldChg chg="modSp mod">
        <pc:chgData name="Charine Labao" userId="d49f38c7da5d9737" providerId="LiveId" clId="{74BAE539-5A96-4830-AD90-F51E8ECC701B}" dt="2025-12-19T11:43:44.156" v="1297" actId="21"/>
        <pc:sldMkLst>
          <pc:docMk/>
          <pc:sldMk cId="1722964347" sldId="340"/>
        </pc:sldMkLst>
        <pc:spChg chg="mod">
          <ac:chgData name="Charine Labao" userId="d49f38c7da5d9737" providerId="LiveId" clId="{74BAE539-5A96-4830-AD90-F51E8ECC701B}" dt="2025-12-19T11:43:44.156" v="1297" actId="21"/>
          <ac:spMkLst>
            <pc:docMk/>
            <pc:sldMk cId="1722964347" sldId="340"/>
            <ac:spMk id="3" creationId="{C7A0F90D-CBF3-8967-1828-EBC4A415C51B}"/>
          </ac:spMkLst>
        </pc:spChg>
      </pc:sldChg>
      <pc:sldChg chg="modSp mod">
        <pc:chgData name="Charine Labao" userId="d49f38c7da5d9737" providerId="LiveId" clId="{74BAE539-5A96-4830-AD90-F51E8ECC701B}" dt="2025-12-19T11:45:51.058" v="1310" actId="20577"/>
        <pc:sldMkLst>
          <pc:docMk/>
          <pc:sldMk cId="2261354231" sldId="341"/>
        </pc:sldMkLst>
        <pc:spChg chg="mod">
          <ac:chgData name="Charine Labao" userId="d49f38c7da5d9737" providerId="LiveId" clId="{74BAE539-5A96-4830-AD90-F51E8ECC701B}" dt="2025-12-19T11:45:51.058" v="1310" actId="20577"/>
          <ac:spMkLst>
            <pc:docMk/>
            <pc:sldMk cId="2261354231" sldId="341"/>
            <ac:spMk id="3" creationId="{D960F40A-6043-667F-2418-99B3827B941C}"/>
          </ac:spMkLst>
        </pc:spChg>
      </pc:sldChg>
      <pc:sldChg chg="addSp delSp modSp add mod">
        <pc:chgData name="Charine Labao" userId="d49f38c7da5d9737" providerId="LiveId" clId="{74BAE539-5A96-4830-AD90-F51E8ECC701B}" dt="2026-01-08T09:19:26.437" v="1526" actId="20577"/>
        <pc:sldMkLst>
          <pc:docMk/>
          <pc:sldMk cId="3196004610" sldId="342"/>
        </pc:sldMkLst>
        <pc:spChg chg="add mod">
          <ac:chgData name="Charine Labao" userId="d49f38c7da5d9737" providerId="LiveId" clId="{74BAE539-5A96-4830-AD90-F51E8ECC701B}" dt="2026-01-08T09:19:26.437" v="1526" actId="20577"/>
          <ac:spMkLst>
            <pc:docMk/>
            <pc:sldMk cId="3196004610" sldId="342"/>
            <ac:spMk id="5" creationId="{C98D4C54-FAE7-2444-0008-3BDF23C130D9}"/>
          </ac:spMkLst>
        </pc:spChg>
      </pc:sldChg>
      <pc:sldChg chg="modSp add mod">
        <pc:chgData name="Charine Labao" userId="d49f38c7da5d9737" providerId="LiveId" clId="{74BAE539-5A96-4830-AD90-F51E8ECC701B}" dt="2025-12-13T09:57:47.664" v="1232" actId="20577"/>
        <pc:sldMkLst>
          <pc:docMk/>
          <pc:sldMk cId="1898912977" sldId="343"/>
        </pc:sldMkLst>
        <pc:spChg chg="mod">
          <ac:chgData name="Charine Labao" userId="d49f38c7da5d9737" providerId="LiveId" clId="{74BAE539-5A96-4830-AD90-F51E8ECC701B}" dt="2025-12-13T09:57:47.664" v="1232" actId="20577"/>
          <ac:spMkLst>
            <pc:docMk/>
            <pc:sldMk cId="1898912977" sldId="343"/>
            <ac:spMk id="3" creationId="{A1F0722A-FF24-8B27-CB07-097816F759A0}"/>
          </ac:spMkLst>
        </pc:spChg>
      </pc:sldChg>
      <pc:sldChg chg="modSp add mod ord">
        <pc:chgData name="Charine Labao" userId="d49f38c7da5d9737" providerId="LiveId" clId="{74BAE539-5A96-4830-AD90-F51E8ECC701B}" dt="2025-12-13T09:43:41.562" v="1206" actId="207"/>
        <pc:sldMkLst>
          <pc:docMk/>
          <pc:sldMk cId="3977694302" sldId="349"/>
        </pc:sldMkLst>
        <pc:spChg chg="mod">
          <ac:chgData name="Charine Labao" userId="d49f38c7da5d9737" providerId="LiveId" clId="{74BAE539-5A96-4830-AD90-F51E8ECC701B}" dt="2025-12-13T09:43:41.562" v="1206" actId="207"/>
          <ac:spMkLst>
            <pc:docMk/>
            <pc:sldMk cId="3977694302" sldId="349"/>
            <ac:spMk id="4" creationId="{06D817FE-CBC4-184B-22BE-7EC786D96BD3}"/>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49E4C6-9EB3-473B-A1C2-288F1938347A}" type="datetimeFigureOut">
              <a:rPr lang="en-PH" smtClean="0"/>
              <a:t>8/4/2026</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BAE25A-5D24-4004-A82D-A9BE88A40641}" type="slidenum">
              <a:rPr lang="en-PH" smtClean="0"/>
              <a:t>‹#›</a:t>
            </a:fld>
            <a:endParaRPr lang="en-PH"/>
          </a:p>
        </p:txBody>
      </p:sp>
    </p:spTree>
    <p:extLst>
      <p:ext uri="{BB962C8B-B14F-4D97-AF65-F5344CB8AC3E}">
        <p14:creationId xmlns:p14="http://schemas.microsoft.com/office/powerpoint/2010/main" val="600600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H" dirty="0"/>
          </a:p>
        </p:txBody>
      </p:sp>
      <p:sp>
        <p:nvSpPr>
          <p:cNvPr id="4" name="Slide Number Placeholder 3"/>
          <p:cNvSpPr>
            <a:spLocks noGrp="1"/>
          </p:cNvSpPr>
          <p:nvPr>
            <p:ph type="sldNum" sz="quarter" idx="5"/>
          </p:nvPr>
        </p:nvSpPr>
        <p:spPr/>
        <p:txBody>
          <a:bodyPr/>
          <a:lstStyle/>
          <a:p>
            <a:fld id="{F7BAE25A-5D24-4004-A82D-A9BE88A40641}" type="slidenum">
              <a:rPr lang="en-PH" smtClean="0"/>
              <a:t>4</a:t>
            </a:fld>
            <a:endParaRPr lang="en-PH"/>
          </a:p>
        </p:txBody>
      </p:sp>
    </p:spTree>
    <p:extLst>
      <p:ext uri="{BB962C8B-B14F-4D97-AF65-F5344CB8AC3E}">
        <p14:creationId xmlns:p14="http://schemas.microsoft.com/office/powerpoint/2010/main" val="41105186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DC962-A37C-BAD7-0DAD-A25F4531E69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86C7BB-9176-3FDE-BCD1-1324A23585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FCD04B-563B-1D9A-2341-FD1CBD96F4F4}"/>
              </a:ext>
            </a:extLst>
          </p:cNvPr>
          <p:cNvSpPr>
            <a:spLocks noGrp="1"/>
          </p:cNvSpPr>
          <p:nvPr>
            <p:ph type="body" idx="1"/>
          </p:nvPr>
        </p:nvSpPr>
        <p:spPr/>
        <p:txBody>
          <a:bodyPr/>
          <a:lstStyle/>
          <a:p>
            <a:endParaRPr lang="en-PH" dirty="0"/>
          </a:p>
        </p:txBody>
      </p:sp>
      <p:sp>
        <p:nvSpPr>
          <p:cNvPr id="4" name="Slide Number Placeholder 3">
            <a:extLst>
              <a:ext uri="{FF2B5EF4-FFF2-40B4-BE49-F238E27FC236}">
                <a16:creationId xmlns:a16="http://schemas.microsoft.com/office/drawing/2014/main" id="{7B654ABD-CE8A-50F2-3CFB-8F1B73BB6241}"/>
              </a:ext>
            </a:extLst>
          </p:cNvPr>
          <p:cNvSpPr>
            <a:spLocks noGrp="1"/>
          </p:cNvSpPr>
          <p:nvPr>
            <p:ph type="sldNum" sz="quarter" idx="5"/>
          </p:nvPr>
        </p:nvSpPr>
        <p:spPr/>
        <p:txBody>
          <a:bodyPr/>
          <a:lstStyle/>
          <a:p>
            <a:fld id="{F7BAE25A-5D24-4004-A82D-A9BE88A40641}" type="slidenum">
              <a:rPr lang="en-PH" smtClean="0"/>
              <a:t>5</a:t>
            </a:fld>
            <a:endParaRPr lang="en-PH"/>
          </a:p>
        </p:txBody>
      </p:sp>
    </p:spTree>
    <p:extLst>
      <p:ext uri="{BB962C8B-B14F-4D97-AF65-F5344CB8AC3E}">
        <p14:creationId xmlns:p14="http://schemas.microsoft.com/office/powerpoint/2010/main" val="73216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8/4/2026</a:t>
            </a:fld>
            <a:endParaRPr lang="en-PH"/>
          </a:p>
        </p:txBody>
      </p:sp>
      <p:sp>
        <p:nvSpPr>
          <p:cNvPr id="5" name="Footer Placeholder 4"/>
          <p:cNvSpPr>
            <a:spLocks noGrp="1"/>
          </p:cNvSpPr>
          <p:nvPr>
            <p:ph type="ftr" sz="quarter" idx="11"/>
          </p:nvPr>
        </p:nvSpPr>
        <p:spPr>
          <a:xfrm>
            <a:off x="2416500" y="329307"/>
            <a:ext cx="4973915" cy="309201"/>
          </a:xfrm>
        </p:spPr>
        <p:txBody>
          <a:bodyPr/>
          <a:lstStyle/>
          <a:p>
            <a:endParaRPr lang="en-PH"/>
          </a:p>
        </p:txBody>
      </p:sp>
      <p:sp>
        <p:nvSpPr>
          <p:cNvPr id="6" name="Slide Number Placeholder 5"/>
          <p:cNvSpPr>
            <a:spLocks noGrp="1"/>
          </p:cNvSpPr>
          <p:nvPr>
            <p:ph type="sldNum" sz="quarter" idx="12"/>
          </p:nvPr>
        </p:nvSpPr>
        <p:spPr>
          <a:xfrm>
            <a:off x="1437664" y="798973"/>
            <a:ext cx="811019" cy="503578"/>
          </a:xfrm>
        </p:spPr>
        <p:txBody>
          <a:bodyPr/>
          <a:lstStyle/>
          <a:p>
            <a:fld id="{4DD131BB-748F-41AA-A188-03FFE40F9EE7}" type="slidenum">
              <a:rPr lang="en-PH" smtClean="0"/>
              <a:t>‹#›</a:t>
            </a:fld>
            <a:endParaRPr lang="en-PH"/>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6210321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8/4/2026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753349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710144-C51D-4F13-8FAF-CC827A160CBB}" type="datetimeFigureOut">
              <a:rPr lang="en-PH" smtClean="0"/>
              <a:t>8/4/2026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0021336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710144-C51D-4F13-8FAF-CC827A160CBB}" type="datetimeFigureOut">
              <a:rPr lang="en-PH" smtClean="0"/>
              <a:t>8/4/2026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14990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710144-C51D-4F13-8FAF-CC827A160CBB}" type="datetimeFigureOut">
              <a:rPr lang="en-PH" smtClean="0"/>
              <a:t>8/4/2026</a:t>
            </a:fld>
            <a:endParaRPr lang="en-PH"/>
          </a:p>
        </p:txBody>
      </p:sp>
      <p:sp>
        <p:nvSpPr>
          <p:cNvPr id="8" name="Footer Placeholder 7"/>
          <p:cNvSpPr>
            <a:spLocks noGrp="1"/>
          </p:cNvSpPr>
          <p:nvPr>
            <p:ph type="ftr" sz="quarter" idx="11"/>
          </p:nvPr>
        </p:nvSpPr>
        <p:spPr/>
        <p:txBody>
          <a:bodyPr/>
          <a:lstStyle/>
          <a:p>
            <a:endParaRPr lang="en-PH"/>
          </a:p>
        </p:txBody>
      </p:sp>
      <p:sp>
        <p:nvSpPr>
          <p:cNvPr id="9" name="Slide Number Placeholder 8"/>
          <p:cNvSpPr>
            <a:spLocks noGrp="1"/>
          </p:cNvSpPr>
          <p:nvPr>
            <p:ph type="sldNum" sz="quarter" idx="12"/>
          </p:nvPr>
        </p:nvSpPr>
        <p:spPr/>
        <p:txBody>
          <a:bodyPr/>
          <a:lstStyle/>
          <a:p>
            <a:fld id="{4DD131BB-748F-41AA-A188-03FFE40F9EE7}" type="slidenum">
              <a:rPr lang="en-PH" smtClean="0"/>
              <a:t>‹#›</a:t>
            </a:fld>
            <a:endParaRPr lang="en-PH"/>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5024667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710144-C51D-4F13-8FAF-CC827A160CBB}" type="datetimeFigureOut">
              <a:rPr lang="en-PH" smtClean="0"/>
              <a:t>8/4/2026</a:t>
            </a:fld>
            <a:endParaRPr lang="en-PH"/>
          </a:p>
        </p:txBody>
      </p:sp>
      <p:sp>
        <p:nvSpPr>
          <p:cNvPr id="4" name="Footer Placeholder 3"/>
          <p:cNvSpPr>
            <a:spLocks noGrp="1"/>
          </p:cNvSpPr>
          <p:nvPr>
            <p:ph type="ftr" sz="quarter" idx="11"/>
          </p:nvPr>
        </p:nvSpPr>
        <p:spPr/>
        <p:txBody>
          <a:bodyPr/>
          <a:lstStyle/>
          <a:p>
            <a:endParaRPr lang="en-PH"/>
          </a:p>
        </p:txBody>
      </p:sp>
      <p:sp>
        <p:nvSpPr>
          <p:cNvPr id="5" name="Slide Number Placeholder 4"/>
          <p:cNvSpPr>
            <a:spLocks noGrp="1"/>
          </p:cNvSpPr>
          <p:nvPr>
            <p:ph type="sldNum" sz="quarter" idx="12"/>
          </p:nvPr>
        </p:nvSpPr>
        <p:spPr/>
        <p:txBody>
          <a:bodyPr/>
          <a:lstStyle/>
          <a:p>
            <a:fld id="{4DD131BB-748F-41AA-A188-03FFE40F9EE7}" type="slidenum">
              <a:rPr lang="en-PH" smtClean="0"/>
              <a:t>‹#›</a:t>
            </a:fld>
            <a:endParaRPr lang="en-PH"/>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8947704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710144-C51D-4F13-8FAF-CC827A160CBB}" type="datetimeFigureOut">
              <a:rPr lang="en-PH" smtClean="0"/>
              <a:t>8/4/2026</a:t>
            </a:fld>
            <a:endParaRPr lang="en-PH"/>
          </a:p>
        </p:txBody>
      </p:sp>
      <p:sp>
        <p:nvSpPr>
          <p:cNvPr id="3" name="Footer Placeholder 2"/>
          <p:cNvSpPr>
            <a:spLocks noGrp="1"/>
          </p:cNvSpPr>
          <p:nvPr>
            <p:ph type="ftr" sz="quarter" idx="11"/>
          </p:nvPr>
        </p:nvSpPr>
        <p:spPr/>
        <p:txBody>
          <a:bodyPr/>
          <a:lstStyle/>
          <a:p>
            <a:endParaRPr lang="en-PH"/>
          </a:p>
        </p:txBody>
      </p:sp>
      <p:sp>
        <p:nvSpPr>
          <p:cNvPr id="4" name="Slide Number Placeholder 3"/>
          <p:cNvSpPr>
            <a:spLocks noGrp="1"/>
          </p:cNvSpPr>
          <p:nvPr>
            <p:ph type="sldNum" sz="quarter" idx="12"/>
          </p:nvPr>
        </p:nvSpPr>
        <p:spPr/>
        <p:txBody>
          <a:bodyPr/>
          <a:lstStyle/>
          <a:p>
            <a:fld id="{4DD131BB-748F-41AA-A188-03FFE40F9EE7}" type="slidenum">
              <a:rPr lang="en-PH" smtClean="0"/>
              <a:t>‹#›</a:t>
            </a:fld>
            <a:endParaRPr lang="en-PH"/>
          </a:p>
        </p:txBody>
      </p:sp>
    </p:spTree>
    <p:extLst>
      <p:ext uri="{BB962C8B-B14F-4D97-AF65-F5344CB8AC3E}">
        <p14:creationId xmlns:p14="http://schemas.microsoft.com/office/powerpoint/2010/main" val="18122371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710144-C51D-4F13-8FAF-CC827A160CBB}" type="datetimeFigureOut">
              <a:rPr lang="en-PH" smtClean="0"/>
              <a:t>8/4/2026</a:t>
            </a:fld>
            <a:endParaRPr lang="en-PH"/>
          </a:p>
        </p:txBody>
      </p:sp>
      <p:sp>
        <p:nvSpPr>
          <p:cNvPr id="6" name="Footer Placeholder 5"/>
          <p:cNvSpPr>
            <a:spLocks noGrp="1"/>
          </p:cNvSpPr>
          <p:nvPr>
            <p:ph type="ftr" sz="quarter" idx="11"/>
          </p:nvPr>
        </p:nvSpPr>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6621601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710144-C51D-4F13-8FAF-CC827A160CBB}" type="datetimeFigureOut">
              <a:rPr lang="en-PH" smtClean="0"/>
              <a:t>8/4/2026</a:t>
            </a:fld>
            <a:endParaRPr lang="en-PH"/>
          </a:p>
        </p:txBody>
      </p:sp>
      <p:sp>
        <p:nvSpPr>
          <p:cNvPr id="6" name="Footer Placeholder 5"/>
          <p:cNvSpPr>
            <a:spLocks noGrp="1"/>
          </p:cNvSpPr>
          <p:nvPr>
            <p:ph type="ftr" sz="quarter" idx="11"/>
          </p:nvPr>
        </p:nvSpPr>
        <p:spPr>
          <a:xfrm>
            <a:off x="1447382" y="318640"/>
            <a:ext cx="5541004" cy="320931"/>
          </a:xfrm>
        </p:spPr>
        <p:txBody>
          <a:bodyPr/>
          <a:lstStyle/>
          <a:p>
            <a:endParaRPr lang="en-PH"/>
          </a:p>
        </p:txBody>
      </p:sp>
      <p:sp>
        <p:nvSpPr>
          <p:cNvPr id="7" name="Slide Number Placeholder 6"/>
          <p:cNvSpPr>
            <a:spLocks noGrp="1"/>
          </p:cNvSpPr>
          <p:nvPr>
            <p:ph type="sldNum" sz="quarter" idx="12"/>
          </p:nvPr>
        </p:nvSpPr>
        <p:spPr/>
        <p:txBody>
          <a:bodyPr/>
          <a:lstStyle/>
          <a:p>
            <a:fld id="{4DD131BB-748F-41AA-A188-03FFE40F9EE7}" type="slidenum">
              <a:rPr lang="en-PH" smtClean="0"/>
              <a:t>‹#›</a:t>
            </a:fld>
            <a:endParaRPr lang="en-PH"/>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48235935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8/4/2026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9126946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710144-C51D-4F13-8FAF-CC827A160CBB}" type="datetimeFigureOut">
              <a:rPr lang="en-PH" smtClean="0"/>
              <a:t>8/4/2026</a:t>
            </a:fld>
            <a:endParaRPr lang="en-PH"/>
          </a:p>
        </p:txBody>
      </p:sp>
      <p:sp>
        <p:nvSpPr>
          <p:cNvPr id="5" name="Footer Placeholder 4"/>
          <p:cNvSpPr>
            <a:spLocks noGrp="1"/>
          </p:cNvSpPr>
          <p:nvPr>
            <p:ph type="ftr" sz="quarter" idx="11"/>
          </p:nvPr>
        </p:nvSpPr>
        <p:spPr/>
        <p:txBody>
          <a:bodyPr/>
          <a:lstStyle/>
          <a:p>
            <a:endParaRPr lang="en-PH"/>
          </a:p>
        </p:txBody>
      </p:sp>
      <p:sp>
        <p:nvSpPr>
          <p:cNvPr id="6" name="Slide Number Placeholder 5"/>
          <p:cNvSpPr>
            <a:spLocks noGrp="1"/>
          </p:cNvSpPr>
          <p:nvPr>
            <p:ph type="sldNum" sz="quarter" idx="12"/>
          </p:nvPr>
        </p:nvSpPr>
        <p:spPr/>
        <p:txBody>
          <a:bodyPr/>
          <a:lstStyle/>
          <a:p>
            <a:fld id="{4DD131BB-748F-41AA-A188-03FFE40F9EE7}" type="slidenum">
              <a:rPr lang="en-PH" smtClean="0"/>
              <a:t>‹#›</a:t>
            </a:fld>
            <a:endParaRPr lang="en-PH"/>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2191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710144-C51D-4F13-8FAF-CC827A160CBB}" type="datetimeFigureOut">
              <a:rPr lang="en-PH" smtClean="0"/>
              <a:t>8/4/2026</a:t>
            </a:fld>
            <a:endParaRPr lang="en-PH"/>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PH"/>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DD131BB-748F-41AA-A188-03FFE40F9EE7}" type="slidenum">
              <a:rPr lang="en-PH" smtClean="0"/>
              <a:t>‹#›</a:t>
            </a:fld>
            <a:endParaRPr lang="en-PH"/>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82812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BCFF50-8CD8-2A55-F5E3-38E524DAEEFB}"/>
              </a:ext>
            </a:extLst>
          </p:cNvPr>
          <p:cNvSpPr>
            <a:spLocks noGrp="1"/>
          </p:cNvSpPr>
          <p:nvPr>
            <p:ph type="ctrTitle"/>
          </p:nvPr>
        </p:nvSpPr>
        <p:spPr>
          <a:xfrm>
            <a:off x="0" y="3943432"/>
            <a:ext cx="12191999" cy="2541431"/>
          </a:xfrm>
        </p:spPr>
        <p:txBody>
          <a:bodyPr>
            <a:noAutofit/>
          </a:bodyPr>
          <a:lstStyle/>
          <a:p>
            <a:pPr algn="ctr"/>
            <a:r>
              <a:rPr lang="en-PH" sz="11200" dirty="0">
                <a:latin typeface="Arial Nova Cond Light" panose="020B0306020202020204" pitchFamily="34" charset="0"/>
              </a:rPr>
              <a:t>WELCOME back Pablo!</a:t>
            </a:r>
            <a:br>
              <a:rPr lang="en-PH" sz="11200" dirty="0">
                <a:latin typeface="Arial Nova Cond Light" panose="020B0306020202020204" pitchFamily="34" charset="0"/>
              </a:rPr>
            </a:br>
            <a:endParaRPr lang="en-PH" sz="11200" dirty="0">
              <a:latin typeface="Arial Nova Cond Light" panose="020B0306020202020204" pitchFamily="34" charset="0"/>
            </a:endParaRPr>
          </a:p>
        </p:txBody>
      </p:sp>
    </p:spTree>
    <p:extLst>
      <p:ext uri="{BB962C8B-B14F-4D97-AF65-F5344CB8AC3E}">
        <p14:creationId xmlns:p14="http://schemas.microsoft.com/office/powerpoint/2010/main" val="410166144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A24FC-36EF-BF32-1929-2434869911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34469B-D37F-D990-E189-D913B41EB93D}"/>
              </a:ext>
            </a:extLst>
          </p:cNvPr>
          <p:cNvSpPr>
            <a:spLocks noGrp="1"/>
          </p:cNvSpPr>
          <p:nvPr>
            <p:ph type="ctrTitle"/>
          </p:nvPr>
        </p:nvSpPr>
        <p:spPr>
          <a:xfrm>
            <a:off x="0" y="4842934"/>
            <a:ext cx="12191999" cy="1380068"/>
          </a:xfrm>
        </p:spPr>
        <p:txBody>
          <a:bodyPr>
            <a:normAutofit fontScale="90000"/>
          </a:bodyPr>
          <a:lstStyle/>
          <a:p>
            <a:pPr algn="ctr"/>
            <a:r>
              <a:rPr lang="en-PH" sz="4900" b="1" dirty="0">
                <a:latin typeface="Arial Nova Cond Light" panose="020B0306020202020204" pitchFamily="34" charset="0"/>
              </a:rPr>
              <a:t>Lesson 04</a:t>
            </a:r>
            <a:br>
              <a:rPr lang="en-US" dirty="0">
                <a:latin typeface="Arial Nova Cond Light" panose="020B0306020202020204" pitchFamily="34" charset="0"/>
              </a:rPr>
            </a:br>
            <a:r>
              <a:rPr lang="en-US" b="1" dirty="0">
                <a:latin typeface="Arial Nova Cond Light" panose="020B0306020202020204" pitchFamily="34" charset="0"/>
              </a:rPr>
              <a:t>THE DEMONSTRATIVES 	PRONOUNS </a:t>
            </a:r>
            <a:r>
              <a:rPr lang="en-US" b="1" dirty="0">
                <a:solidFill>
                  <a:srgbClr val="FF0000"/>
                </a:solidFill>
                <a:latin typeface="Arial Nova Cond Light" panose="020B0306020202020204" pitchFamily="34" charset="0"/>
              </a:rPr>
              <a:t>ITO, IYAN </a:t>
            </a:r>
            <a:r>
              <a:rPr lang="en-US" b="1" dirty="0">
                <a:latin typeface="Arial Nova Cond Light" panose="020B0306020202020204" pitchFamily="34" charset="0"/>
              </a:rPr>
              <a:t>AND </a:t>
            </a:r>
            <a:r>
              <a:rPr lang="en-US" b="1" dirty="0">
                <a:solidFill>
                  <a:srgbClr val="FF0000"/>
                </a:solidFill>
                <a:latin typeface="Arial Nova Cond Light" panose="020B0306020202020204" pitchFamily="34" charset="0"/>
              </a:rPr>
              <a:t>IYON</a:t>
            </a:r>
            <a:br>
              <a:rPr lang="en-US" b="1" dirty="0">
                <a:solidFill>
                  <a:srgbClr val="FF0000"/>
                </a:solidFill>
                <a:latin typeface="Arial Nova Cond Light" panose="020B0306020202020204" pitchFamily="34" charset="0"/>
              </a:rPr>
            </a:br>
            <a:r>
              <a:rPr lang="en-US" b="1" dirty="0">
                <a:solidFill>
                  <a:srgbClr val="FF0000"/>
                </a:solidFill>
                <a:latin typeface="Arial Nova Cond Light" panose="020B0306020202020204" pitchFamily="34" charset="0"/>
              </a:rPr>
              <a:t>&amp; </a:t>
            </a:r>
            <a:br>
              <a:rPr lang="en-US" b="1" dirty="0">
                <a:solidFill>
                  <a:srgbClr val="FF0000"/>
                </a:solidFill>
                <a:latin typeface="Arial Nova Cond Light" panose="020B0306020202020204" pitchFamily="34" charset="0"/>
              </a:rPr>
            </a:br>
            <a:r>
              <a:rPr lang="en-US" b="1" dirty="0">
                <a:latin typeface="Arial Nova Cond Light" panose="020B0306020202020204" pitchFamily="34" charset="0"/>
              </a:rPr>
              <a:t>WORDS THAT LINK AND DESCRIBE</a:t>
            </a:r>
            <a:br>
              <a:rPr lang="en-US" dirty="0"/>
            </a:br>
            <a:endParaRPr lang="en-PH" sz="14900" dirty="0"/>
          </a:p>
        </p:txBody>
      </p:sp>
    </p:spTree>
    <p:extLst>
      <p:ext uri="{BB962C8B-B14F-4D97-AF65-F5344CB8AC3E}">
        <p14:creationId xmlns:p14="http://schemas.microsoft.com/office/powerpoint/2010/main" val="36852241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25380-63AB-5022-0777-7F860885B9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D232C5-3052-C8AA-5D16-1A4719F5F6D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2572CAD-4AEA-0755-CB6F-808BB6F7AA24}"/>
              </a:ext>
            </a:extLst>
          </p:cNvPr>
          <p:cNvSpPr>
            <a:spLocks noGrp="1"/>
          </p:cNvSpPr>
          <p:nvPr>
            <p:ph idx="1"/>
          </p:nvPr>
        </p:nvSpPr>
        <p:spPr>
          <a:xfrm>
            <a:off x="0" y="1831736"/>
            <a:ext cx="12192000" cy="4052597"/>
          </a:xfrm>
        </p:spPr>
        <p:txBody>
          <a:bodyPr>
            <a:noAutofit/>
          </a:bodyPr>
          <a:lstStyle/>
          <a:p>
            <a:pPr marL="0" indent="0">
              <a:buNone/>
            </a:pPr>
            <a:r>
              <a:rPr lang="en-US" sz="3200" dirty="0" err="1">
                <a:latin typeface="Arial Nova Cond Light" panose="020B0306020202020204" pitchFamily="34" charset="0"/>
              </a:rPr>
              <a:t>Mapagbigay</a:t>
            </a:r>
            <a:r>
              <a:rPr lang="en-US" sz="3200" dirty="0">
                <a:latin typeface="Arial Nova Cond Light" panose="020B0306020202020204" pitchFamily="34" charset="0"/>
              </a:rPr>
              <a:t> = generous				</a:t>
            </a:r>
            <a:r>
              <a:rPr lang="en-PH" sz="3200" dirty="0" err="1">
                <a:latin typeface="Arial Nova Cond Light" panose="020B0306020202020204" pitchFamily="34" charset="0"/>
              </a:rPr>
              <a:t>tahimik</a:t>
            </a:r>
            <a:r>
              <a:rPr lang="en-PH" sz="3200" dirty="0">
                <a:latin typeface="Arial Nova Cond Light" panose="020B0306020202020204" pitchFamily="34" charset="0"/>
              </a:rPr>
              <a:t> = quiet </a:t>
            </a:r>
          </a:p>
          <a:p>
            <a:pPr marL="0" indent="0">
              <a:buNone/>
            </a:pPr>
            <a:r>
              <a:rPr lang="en-US" sz="3200" dirty="0">
                <a:latin typeface="Arial Nova Cond Light" panose="020B0306020202020204" pitchFamily="34" charset="0"/>
              </a:rPr>
              <a:t>Hangal = fool 					</a:t>
            </a:r>
            <a:r>
              <a:rPr lang="en-PH" sz="3200" dirty="0" err="1">
                <a:latin typeface="Arial Nova Cond Light" panose="020B0306020202020204" pitchFamily="34" charset="0"/>
              </a:rPr>
              <a:t>malinaw</a:t>
            </a:r>
            <a:r>
              <a:rPr lang="en-PH" sz="3200" dirty="0">
                <a:latin typeface="Arial Nova Cond Light" panose="020B0306020202020204" pitchFamily="34" charset="0"/>
              </a:rPr>
              <a:t> = clear</a:t>
            </a:r>
            <a:endParaRPr lang="en-US" sz="3200" dirty="0">
              <a:latin typeface="Arial Nova Cond Light" panose="020B0306020202020204" pitchFamily="34" charset="0"/>
            </a:endParaRPr>
          </a:p>
          <a:p>
            <a:pPr marL="0" indent="0">
              <a:buNone/>
            </a:pPr>
            <a:r>
              <a:rPr lang="en-US" sz="3200" dirty="0">
                <a:latin typeface="Arial Nova Cond Light" panose="020B0306020202020204" pitchFamily="34" charset="0"/>
              </a:rPr>
              <a:t>Pagod = tired 					</a:t>
            </a:r>
            <a:r>
              <a:rPr lang="en-US" sz="3200" dirty="0" err="1">
                <a:latin typeface="Arial Nova Cond Light" panose="020B0306020202020204" pitchFamily="34" charset="0"/>
              </a:rPr>
              <a:t>matapang</a:t>
            </a:r>
            <a:r>
              <a:rPr lang="en-US" sz="3200" dirty="0">
                <a:latin typeface="Arial Nova Cond Light" panose="020B0306020202020204" pitchFamily="34" charset="0"/>
              </a:rPr>
              <a:t> = brave</a:t>
            </a:r>
            <a:endParaRPr lang="en-PH" sz="3200" dirty="0">
              <a:latin typeface="Arial Nova Cond Light" panose="020B0306020202020204" pitchFamily="34" charset="0"/>
            </a:endParaRPr>
          </a:p>
          <a:p>
            <a:pPr marL="0" indent="0">
              <a:buNone/>
            </a:pPr>
            <a:r>
              <a:rPr lang="en-US" sz="3200" dirty="0" err="1">
                <a:latin typeface="Arial Nova Cond Light" panose="020B0306020202020204" pitchFamily="34" charset="0"/>
              </a:rPr>
              <a:t>Inapi</a:t>
            </a:r>
            <a:r>
              <a:rPr lang="en-US" sz="3200" dirty="0">
                <a:latin typeface="Arial Nova Cond Light" panose="020B0306020202020204" pitchFamily="34" charset="0"/>
              </a:rPr>
              <a:t> = maltreated					</a:t>
            </a:r>
            <a:r>
              <a:rPr lang="en-US" sz="3200" dirty="0" err="1">
                <a:latin typeface="Arial Nova Cond Light" panose="020B0306020202020204" pitchFamily="34" charset="0"/>
              </a:rPr>
              <a:t>bundok</a:t>
            </a:r>
            <a:r>
              <a:rPr lang="en-US" sz="3200" dirty="0">
                <a:latin typeface="Arial Nova Cond Light" panose="020B0306020202020204" pitchFamily="34" charset="0"/>
              </a:rPr>
              <a:t> = mountain</a:t>
            </a:r>
          </a:p>
          <a:p>
            <a:pPr marL="0" indent="0">
              <a:buNone/>
            </a:pPr>
            <a:r>
              <a:rPr lang="en-PH" sz="3200" dirty="0" err="1">
                <a:latin typeface="Arial Nova Cond Light" panose="020B0306020202020204" pitchFamily="34" charset="0"/>
              </a:rPr>
              <a:t>Sariwa</a:t>
            </a:r>
            <a:r>
              <a:rPr lang="en-PH" sz="3200" dirty="0">
                <a:latin typeface="Arial Nova Cond Light" panose="020B0306020202020204" pitchFamily="34" charset="0"/>
              </a:rPr>
              <a:t> = fresh</a:t>
            </a:r>
          </a:p>
          <a:p>
            <a:pPr marL="0" indent="0">
              <a:buNone/>
            </a:pPr>
            <a:r>
              <a:rPr lang="en-PH" sz="3200" dirty="0" err="1">
                <a:latin typeface="Arial Nova Cond Light" panose="020B0306020202020204" pitchFamily="34" charset="0"/>
              </a:rPr>
              <a:t>Maasim</a:t>
            </a:r>
            <a:r>
              <a:rPr lang="en-PH" sz="3200" dirty="0">
                <a:latin typeface="Arial Nova Cond Light" panose="020B0306020202020204" pitchFamily="34" charset="0"/>
              </a:rPr>
              <a:t>= sour</a:t>
            </a:r>
          </a:p>
          <a:p>
            <a:pPr marL="0" indent="0">
              <a:buNone/>
            </a:pPr>
            <a:r>
              <a:rPr lang="en-PH" sz="3200" dirty="0">
                <a:latin typeface="Arial Nova Cond Light" panose="020B0306020202020204" pitchFamily="34" charset="0"/>
              </a:rPr>
              <a:t> </a:t>
            </a:r>
          </a:p>
        </p:txBody>
      </p:sp>
      <p:sp>
        <p:nvSpPr>
          <p:cNvPr id="13" name="TextBox 12">
            <a:extLst>
              <a:ext uri="{FF2B5EF4-FFF2-40B4-BE49-F238E27FC236}">
                <a16:creationId xmlns:a16="http://schemas.microsoft.com/office/drawing/2014/main" id="{2EB370B8-EAED-C6F5-8D66-7B87204FE07C}"/>
              </a:ext>
            </a:extLst>
          </p:cNvPr>
          <p:cNvSpPr txBox="1"/>
          <p:nvPr/>
        </p:nvSpPr>
        <p:spPr>
          <a:xfrm>
            <a:off x="0" y="1180808"/>
            <a:ext cx="12192000" cy="861774"/>
          </a:xfrm>
          <a:prstGeom prst="rect">
            <a:avLst/>
          </a:prstGeom>
          <a:noFill/>
        </p:spPr>
        <p:txBody>
          <a:bodyPr wrap="square">
            <a:spAutoFit/>
          </a:bodyPr>
          <a:lstStyle/>
          <a:p>
            <a:pPr algn="just"/>
            <a:r>
              <a:rPr lang="en-US" sz="3200" b="1" dirty="0"/>
              <a:t>							</a:t>
            </a:r>
            <a:r>
              <a:rPr lang="en-US" sz="3200" b="1" dirty="0">
                <a:latin typeface="Arial Nova Cond Light" panose="020B0306020202020204" pitchFamily="34" charset="0"/>
              </a:rPr>
              <a:t>VOCABULARY LIST</a:t>
            </a:r>
          </a:p>
          <a:p>
            <a:endParaRPr lang="en-PH" dirty="0"/>
          </a:p>
        </p:txBody>
      </p:sp>
    </p:spTree>
    <p:extLst>
      <p:ext uri="{BB962C8B-B14F-4D97-AF65-F5344CB8AC3E}">
        <p14:creationId xmlns:p14="http://schemas.microsoft.com/office/powerpoint/2010/main" val="4609372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C6509E-F380-C808-6E0C-36742655B39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DE9F536A-E5DA-C094-2B67-A02576FE3678}"/>
              </a:ext>
            </a:extLst>
          </p:cNvPr>
          <p:cNvSpPr txBox="1"/>
          <p:nvPr/>
        </p:nvSpPr>
        <p:spPr>
          <a:xfrm>
            <a:off x="1" y="522514"/>
            <a:ext cx="12192000" cy="3477875"/>
          </a:xfrm>
          <a:prstGeom prst="rect">
            <a:avLst/>
          </a:prstGeom>
          <a:noFill/>
        </p:spPr>
        <p:txBody>
          <a:bodyPr wrap="square">
            <a:spAutoFit/>
          </a:bodyPr>
          <a:lstStyle/>
          <a:p>
            <a:pPr algn="ctr"/>
            <a:r>
              <a:rPr lang="en-US" sz="6000" b="1" dirty="0">
                <a:latin typeface="Arial Narrow" panose="020B0606020202030204" pitchFamily="34" charset="0"/>
              </a:rPr>
              <a:t>THE DEMONSTRATIVES 	PRONOUNS </a:t>
            </a:r>
          </a:p>
          <a:p>
            <a:pPr algn="ctr"/>
            <a:r>
              <a:rPr lang="en-US" sz="6000" b="1" dirty="0">
                <a:solidFill>
                  <a:srgbClr val="FF0000"/>
                </a:solidFill>
                <a:latin typeface="Arial Narrow" panose="020B0606020202030204" pitchFamily="34" charset="0"/>
              </a:rPr>
              <a:t>	ITO, IYAN </a:t>
            </a:r>
            <a:r>
              <a:rPr lang="en-US" sz="6000" b="1" dirty="0">
                <a:latin typeface="Arial Narrow" panose="020B0606020202030204" pitchFamily="34" charset="0"/>
              </a:rPr>
              <a:t>&amp; </a:t>
            </a:r>
            <a:r>
              <a:rPr lang="en-US" sz="6000" b="1" dirty="0">
                <a:solidFill>
                  <a:srgbClr val="FF0000"/>
                </a:solidFill>
                <a:latin typeface="Arial Narrow" panose="020B0606020202030204" pitchFamily="34" charset="0"/>
              </a:rPr>
              <a:t>IYON </a:t>
            </a:r>
          </a:p>
          <a:p>
            <a:pPr algn="ctr"/>
            <a:r>
              <a:rPr lang="en-US" sz="6000" dirty="0">
                <a:latin typeface="Arial Narrow" panose="020B0606020202030204" pitchFamily="34" charset="0"/>
              </a:rPr>
              <a:t> </a:t>
            </a:r>
          </a:p>
          <a:p>
            <a:endParaRPr lang="en-US" sz="4000" dirty="0">
              <a:latin typeface="Arial Narrow" panose="020B0606020202030204" pitchFamily="34" charset="0"/>
            </a:endParaRPr>
          </a:p>
        </p:txBody>
      </p:sp>
    </p:spTree>
    <p:extLst>
      <p:ext uri="{BB962C8B-B14F-4D97-AF65-F5344CB8AC3E}">
        <p14:creationId xmlns:p14="http://schemas.microsoft.com/office/powerpoint/2010/main" val="29932882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6B6AB9-1F45-10F2-4241-9E6ABEAC4EE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9F160C97-3C8E-506C-E394-79B1437723EF}"/>
              </a:ext>
            </a:extLst>
          </p:cNvPr>
          <p:cNvSpPr txBox="1"/>
          <p:nvPr/>
        </p:nvSpPr>
        <p:spPr>
          <a:xfrm>
            <a:off x="135466" y="355600"/>
            <a:ext cx="12302067" cy="6247864"/>
          </a:xfrm>
          <a:prstGeom prst="rect">
            <a:avLst/>
          </a:prstGeom>
          <a:noFill/>
        </p:spPr>
        <p:txBody>
          <a:bodyPr wrap="square">
            <a:spAutoFit/>
          </a:bodyPr>
          <a:lstStyle/>
          <a:p>
            <a:r>
              <a:rPr lang="en-US" sz="4000" b="1" dirty="0">
                <a:latin typeface="Arial Narrow" panose="020B0606020202030204" pitchFamily="34" charset="0"/>
              </a:rPr>
              <a:t>l. The demonstrative </a:t>
            </a:r>
            <a:r>
              <a:rPr lang="en-US" sz="4000" b="1" dirty="0" err="1">
                <a:solidFill>
                  <a:srgbClr val="FF0000"/>
                </a:solidFill>
                <a:latin typeface="Arial Narrow" panose="020B0606020202030204" pitchFamily="34" charset="0"/>
              </a:rPr>
              <a:t>ito</a:t>
            </a:r>
            <a:r>
              <a:rPr lang="en-US" sz="4000" b="1" dirty="0">
                <a:latin typeface="Arial Narrow" panose="020B0606020202030204" pitchFamily="34" charset="0"/>
              </a:rPr>
              <a:t> (</a:t>
            </a:r>
            <a:r>
              <a:rPr lang="en-US" sz="4000" b="1" dirty="0">
                <a:solidFill>
                  <a:srgbClr val="FF0000"/>
                </a:solidFill>
                <a:latin typeface="Arial Narrow" panose="020B0606020202030204" pitchFamily="34" charset="0"/>
              </a:rPr>
              <a:t>this</a:t>
            </a:r>
            <a:r>
              <a:rPr lang="en-US" sz="4000" b="1" dirty="0">
                <a:latin typeface="Arial Narrow" panose="020B0606020202030204" pitchFamily="34" charset="0"/>
              </a:rPr>
              <a:t>)</a:t>
            </a:r>
          </a:p>
          <a:p>
            <a:r>
              <a:rPr lang="en-US" sz="4000" dirty="0">
                <a:latin typeface="Arial Narrow" panose="020B0606020202030204" pitchFamily="34" charset="0"/>
              </a:rPr>
              <a:t>The demonstrative Ito (pronounced </a:t>
            </a:r>
            <a:r>
              <a:rPr lang="en-US" sz="4000" dirty="0" err="1">
                <a:latin typeface="Arial Narrow" panose="020B0606020202030204" pitchFamily="34" charset="0"/>
              </a:rPr>
              <a:t>i</a:t>
            </a:r>
            <a:r>
              <a:rPr lang="en-US" sz="4000" dirty="0">
                <a:latin typeface="Arial Narrow" panose="020B0606020202030204" pitchFamily="34" charset="0"/>
              </a:rPr>
              <a:t>-to) is used to refer to a thing that is very near or close to the person speaking. It is followed by the linking verb </a:t>
            </a:r>
            <a:r>
              <a:rPr lang="en-US" sz="4000" b="1" dirty="0">
                <a:solidFill>
                  <a:srgbClr val="FF0000"/>
                </a:solidFill>
                <a:latin typeface="Arial Narrow" panose="020B0606020202030204" pitchFamily="34" charset="0"/>
              </a:rPr>
              <a:t>ay</a:t>
            </a:r>
            <a:r>
              <a:rPr lang="en-US" sz="4000" dirty="0">
                <a:latin typeface="Arial Narrow" panose="020B0606020202030204" pitchFamily="34" charset="0"/>
              </a:rPr>
              <a:t> in a subject-predicate sentence word order. The linking verb ay may be shortened to </a:t>
            </a:r>
            <a:r>
              <a:rPr lang="en-US" sz="4000" b="1" dirty="0">
                <a:solidFill>
                  <a:srgbClr val="FF0000"/>
                </a:solidFill>
                <a:latin typeface="Arial Narrow" panose="020B0606020202030204" pitchFamily="34" charset="0"/>
              </a:rPr>
              <a:t>'y</a:t>
            </a:r>
            <a:r>
              <a:rPr lang="en-US" sz="4000" dirty="0">
                <a:latin typeface="Arial Narrow" panose="020B0606020202030204" pitchFamily="34" charset="0"/>
              </a:rPr>
              <a:t> as it follows the word </a:t>
            </a:r>
            <a:r>
              <a:rPr lang="en-US" sz="4000" dirty="0" err="1">
                <a:latin typeface="Arial Narrow" panose="020B0606020202030204" pitchFamily="34" charset="0"/>
              </a:rPr>
              <a:t>ito</a:t>
            </a:r>
            <a:r>
              <a:rPr lang="en-US" sz="4000" dirty="0">
                <a:latin typeface="Arial Narrow" panose="020B0606020202030204" pitchFamily="34" charset="0"/>
              </a:rPr>
              <a:t>. ln an inverted word order sentence where the predicate comes at the beginning, such as the sentence “</a:t>
            </a:r>
            <a:r>
              <a:rPr lang="en-US" sz="4000" dirty="0" err="1">
                <a:latin typeface="Arial Narrow" panose="020B0606020202030204" pitchFamily="34" charset="0"/>
              </a:rPr>
              <a:t>maliit</a:t>
            </a:r>
            <a:r>
              <a:rPr lang="en-US" sz="4000" dirty="0">
                <a:latin typeface="Arial Narrow" panose="020B0606020202030204" pitchFamily="34" charset="0"/>
              </a:rPr>
              <a:t> </a:t>
            </a:r>
            <a:r>
              <a:rPr lang="en-US" sz="4000" dirty="0" err="1">
                <a:latin typeface="Arial Narrow" panose="020B0606020202030204" pitchFamily="34" charset="0"/>
              </a:rPr>
              <a:t>ito</a:t>
            </a:r>
            <a:r>
              <a:rPr lang="en-US" sz="4000" dirty="0">
                <a:latin typeface="Arial Narrow" panose="020B0606020202030204" pitchFamily="34" charset="0"/>
              </a:rPr>
              <a:t>,” the linking verb </a:t>
            </a:r>
            <a:r>
              <a:rPr lang="en-US" sz="4000" dirty="0">
                <a:solidFill>
                  <a:srgbClr val="FF0000"/>
                </a:solidFill>
                <a:latin typeface="Arial Narrow" panose="020B0606020202030204" pitchFamily="34" charset="0"/>
              </a:rPr>
              <a:t>ay</a:t>
            </a:r>
            <a:r>
              <a:rPr lang="en-US" sz="4000" dirty="0">
                <a:latin typeface="Arial Narrow" panose="020B0606020202030204" pitchFamily="34" charset="0"/>
              </a:rPr>
              <a:t> is dropped.</a:t>
            </a:r>
          </a:p>
          <a:p>
            <a:r>
              <a:rPr lang="en-US" sz="4000" dirty="0">
                <a:latin typeface="Arial Narrow" panose="020B0606020202030204" pitchFamily="34" charset="0"/>
              </a:rPr>
              <a:t> </a:t>
            </a:r>
          </a:p>
          <a:p>
            <a:endParaRPr lang="en-US" sz="4000" dirty="0">
              <a:latin typeface="Arial Narrow" panose="020B0606020202030204" pitchFamily="34" charset="0"/>
            </a:endParaRPr>
          </a:p>
        </p:txBody>
      </p:sp>
    </p:spTree>
    <p:extLst>
      <p:ext uri="{BB962C8B-B14F-4D97-AF65-F5344CB8AC3E}">
        <p14:creationId xmlns:p14="http://schemas.microsoft.com/office/powerpoint/2010/main" val="22222401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16FEF-537E-664D-65BD-7A68500AC7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821051A-78AC-9F49-0757-4B60611DB69A}"/>
              </a:ext>
            </a:extLst>
          </p:cNvPr>
          <p:cNvSpPr txBox="1"/>
          <p:nvPr/>
        </p:nvSpPr>
        <p:spPr>
          <a:xfrm>
            <a:off x="0" y="920621"/>
            <a:ext cx="12302067" cy="5016758"/>
          </a:xfrm>
          <a:prstGeom prst="rect">
            <a:avLst/>
          </a:prstGeom>
          <a:noFill/>
        </p:spPr>
        <p:txBody>
          <a:bodyPr wrap="square">
            <a:spAutoFit/>
          </a:bodyPr>
          <a:lstStyle/>
          <a:p>
            <a:r>
              <a:rPr lang="en-US" sz="4000" b="1" dirty="0">
                <a:latin typeface="Arial Narrow" panose="020B0606020202030204" pitchFamily="34" charset="0"/>
              </a:rPr>
              <a:t>Example:</a:t>
            </a:r>
            <a:br>
              <a:rPr lang="en-US" sz="4000" dirty="0">
                <a:latin typeface="Arial Narrow" panose="020B0606020202030204" pitchFamily="34" charset="0"/>
              </a:rPr>
            </a:br>
            <a:r>
              <a:rPr lang="en-US" sz="4000" dirty="0">
                <a:latin typeface="Arial Narrow" panose="020B0606020202030204" pitchFamily="34" charset="0"/>
              </a:rPr>
              <a:t>This is John.			</a:t>
            </a:r>
            <a:r>
              <a:rPr lang="en-US" sz="4000" dirty="0" err="1">
                <a:latin typeface="Arial Narrow" panose="020B0606020202030204" pitchFamily="34" charset="0"/>
              </a:rPr>
              <a:t>lto'y</a:t>
            </a:r>
            <a:r>
              <a:rPr lang="en-US" sz="4000" dirty="0">
                <a:latin typeface="Arial Narrow" panose="020B0606020202030204" pitchFamily="34" charset="0"/>
              </a:rPr>
              <a:t> </a:t>
            </a:r>
            <a:r>
              <a:rPr lang="en-US" sz="4000" dirty="0" err="1">
                <a:latin typeface="Arial Narrow" panose="020B0606020202030204" pitchFamily="34" charset="0"/>
              </a:rPr>
              <a:t>si</a:t>
            </a:r>
            <a:r>
              <a:rPr lang="en-US" sz="4000" dirty="0">
                <a:latin typeface="Arial Narrow" panose="020B0606020202030204" pitchFamily="34" charset="0"/>
              </a:rPr>
              <a:t> John. </a:t>
            </a:r>
          </a:p>
          <a:p>
            <a:r>
              <a:rPr lang="en-US" sz="4000" dirty="0">
                <a:latin typeface="Arial Narrow" panose="020B0606020202030204" pitchFamily="34" charset="0"/>
              </a:rPr>
              <a:t>This is a child.			</a:t>
            </a:r>
            <a:r>
              <a:rPr lang="en-US" sz="4000" dirty="0" err="1">
                <a:latin typeface="Arial Narrow" panose="020B0606020202030204" pitchFamily="34" charset="0"/>
              </a:rPr>
              <a:t>lto'y</a:t>
            </a:r>
            <a:r>
              <a:rPr lang="en-US" sz="4000" dirty="0">
                <a:latin typeface="Arial Narrow" panose="020B0606020202030204" pitchFamily="34" charset="0"/>
              </a:rPr>
              <a:t> bata. </a:t>
            </a:r>
          </a:p>
          <a:p>
            <a:r>
              <a:rPr lang="en-US" sz="4000" dirty="0">
                <a:latin typeface="Arial Narrow" panose="020B0606020202030204" pitchFamily="34" charset="0"/>
              </a:rPr>
              <a:t>This is food.				</a:t>
            </a:r>
            <a:r>
              <a:rPr lang="en-US" sz="4000" dirty="0" err="1">
                <a:latin typeface="Arial Narrow" panose="020B0606020202030204" pitchFamily="34" charset="0"/>
              </a:rPr>
              <a:t>Ito’y</a:t>
            </a:r>
            <a:r>
              <a:rPr lang="en-US" sz="4000" dirty="0">
                <a:latin typeface="Arial Narrow" panose="020B0606020202030204" pitchFamily="34" charset="0"/>
              </a:rPr>
              <a:t> </a:t>
            </a:r>
            <a:r>
              <a:rPr lang="en-US" sz="4000" dirty="0" err="1">
                <a:latin typeface="Arial Narrow" panose="020B0606020202030204" pitchFamily="34" charset="0"/>
              </a:rPr>
              <a:t>pagkain</a:t>
            </a:r>
            <a:r>
              <a:rPr lang="en-US" sz="4000" dirty="0">
                <a:latin typeface="Arial Narrow" panose="020B0606020202030204" pitchFamily="34" charset="0"/>
              </a:rPr>
              <a:t>. </a:t>
            </a:r>
          </a:p>
          <a:p>
            <a:r>
              <a:rPr lang="en-US" sz="4000" dirty="0">
                <a:latin typeface="Arial Narrow" panose="020B0606020202030204" pitchFamily="34" charset="0"/>
              </a:rPr>
              <a:t>This is small.			</a:t>
            </a:r>
            <a:r>
              <a:rPr lang="en-US" sz="4000" dirty="0" err="1">
                <a:latin typeface="Arial Narrow" panose="020B0606020202030204" pitchFamily="34" charset="0"/>
              </a:rPr>
              <a:t>Maliit</a:t>
            </a:r>
            <a:r>
              <a:rPr lang="en-US" sz="4000" dirty="0">
                <a:latin typeface="Arial Narrow" panose="020B0606020202030204" pitchFamily="34" charset="0"/>
              </a:rPr>
              <a:t> </a:t>
            </a:r>
            <a:r>
              <a:rPr lang="en-US" sz="4000" dirty="0" err="1">
                <a:latin typeface="Arial Narrow" panose="020B0606020202030204" pitchFamily="34" charset="0"/>
              </a:rPr>
              <a:t>ito</a:t>
            </a:r>
            <a:endParaRPr lang="en-US" sz="4000" dirty="0">
              <a:latin typeface="Arial Narrow" panose="020B0606020202030204" pitchFamily="34" charset="0"/>
            </a:endParaRPr>
          </a:p>
          <a:p>
            <a:r>
              <a:rPr lang="en-US" sz="4000" dirty="0">
                <a:latin typeface="Arial Narrow" panose="020B0606020202030204" pitchFamily="34" charset="0"/>
              </a:rPr>
              <a:t>This is big. 				Malaki </a:t>
            </a:r>
            <a:r>
              <a:rPr lang="en-US" sz="4000" dirty="0" err="1">
                <a:latin typeface="Arial Narrow" panose="020B0606020202030204" pitchFamily="34" charset="0"/>
              </a:rPr>
              <a:t>ito</a:t>
            </a:r>
            <a:r>
              <a:rPr lang="en-US" sz="4000" dirty="0">
                <a:latin typeface="Arial Narrow" panose="020B0606020202030204" pitchFamily="34" charset="0"/>
              </a:rPr>
              <a:t>.</a:t>
            </a:r>
          </a:p>
          <a:p>
            <a:endParaRPr lang="en-US" sz="4000" dirty="0">
              <a:latin typeface="Arial Narrow" panose="020B0606020202030204" pitchFamily="34" charset="0"/>
            </a:endParaRPr>
          </a:p>
          <a:p>
            <a:endParaRPr lang="en-US" sz="4000" dirty="0">
              <a:latin typeface="Arial Narrow" panose="020B0606020202030204" pitchFamily="34" charset="0"/>
            </a:endParaRPr>
          </a:p>
        </p:txBody>
      </p:sp>
    </p:spTree>
    <p:extLst>
      <p:ext uri="{BB962C8B-B14F-4D97-AF65-F5344CB8AC3E}">
        <p14:creationId xmlns:p14="http://schemas.microsoft.com/office/powerpoint/2010/main" val="39772941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2B5C82-6C04-49DF-2745-95B8906DD33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3648335A-8ECE-559B-7B53-8A734A942289}"/>
              </a:ext>
            </a:extLst>
          </p:cNvPr>
          <p:cNvSpPr txBox="1"/>
          <p:nvPr/>
        </p:nvSpPr>
        <p:spPr>
          <a:xfrm>
            <a:off x="118532" y="0"/>
            <a:ext cx="12302067" cy="7048083"/>
          </a:xfrm>
          <a:prstGeom prst="rect">
            <a:avLst/>
          </a:prstGeom>
          <a:noFill/>
        </p:spPr>
        <p:txBody>
          <a:bodyPr wrap="square">
            <a:spAutoFit/>
          </a:bodyPr>
          <a:lstStyle/>
          <a:p>
            <a:r>
              <a:rPr lang="en-US" sz="3200" b="1" dirty="0">
                <a:latin typeface="Arial Narrow" panose="020B0606020202030204" pitchFamily="34" charset="0"/>
              </a:rPr>
              <a:t>2.	</a:t>
            </a:r>
            <a:r>
              <a:rPr lang="en-US" sz="3600" b="1" dirty="0">
                <a:latin typeface="Arial Narrow" panose="020B0606020202030204" pitchFamily="34" charset="0"/>
              </a:rPr>
              <a:t>THE DEMONSTRATIVE </a:t>
            </a:r>
            <a:r>
              <a:rPr lang="en-US" sz="3600" b="1" dirty="0">
                <a:solidFill>
                  <a:srgbClr val="FF0000"/>
                </a:solidFill>
                <a:latin typeface="Arial Narrow" panose="020B0606020202030204" pitchFamily="34" charset="0"/>
              </a:rPr>
              <a:t>IYAN (THAT)</a:t>
            </a:r>
          </a:p>
          <a:p>
            <a:endParaRPr lang="en-US" sz="3200" dirty="0">
              <a:latin typeface="Arial Narrow" panose="020B0606020202030204" pitchFamily="34" charset="0"/>
            </a:endParaRPr>
          </a:p>
          <a:p>
            <a:r>
              <a:rPr lang="en-US" sz="3200" dirty="0">
                <a:latin typeface="Arial Narrow" panose="020B0606020202030204" pitchFamily="34" charset="0"/>
              </a:rPr>
              <a:t>The demonstrative</a:t>
            </a:r>
            <a:r>
              <a:rPr lang="en-US" sz="3200" dirty="0">
                <a:solidFill>
                  <a:srgbClr val="FF0000"/>
                </a:solidFill>
                <a:latin typeface="Arial Narrow" panose="020B0606020202030204" pitchFamily="34" charset="0"/>
              </a:rPr>
              <a:t> </a:t>
            </a:r>
            <a:r>
              <a:rPr lang="en-US" sz="3200" dirty="0" err="1">
                <a:solidFill>
                  <a:srgbClr val="FF0000"/>
                </a:solidFill>
                <a:latin typeface="Arial Narrow" panose="020B0606020202030204" pitchFamily="34" charset="0"/>
              </a:rPr>
              <a:t>iyan</a:t>
            </a:r>
            <a:r>
              <a:rPr lang="en-US" sz="3200" dirty="0">
                <a:solidFill>
                  <a:srgbClr val="FF0000"/>
                </a:solidFill>
                <a:latin typeface="Arial Narrow" panose="020B0606020202030204" pitchFamily="34" charset="0"/>
              </a:rPr>
              <a:t> </a:t>
            </a:r>
            <a:r>
              <a:rPr lang="en-US" sz="3200" dirty="0">
                <a:latin typeface="Arial Narrow" panose="020B0606020202030204" pitchFamily="34" charset="0"/>
              </a:rPr>
              <a:t>(pronounced l-YAN) is used to refer to a thing that is near the person spo­ken to. It is followed by </a:t>
            </a:r>
            <a:r>
              <a:rPr lang="en-US" sz="3200" dirty="0">
                <a:solidFill>
                  <a:srgbClr val="FF0000"/>
                </a:solidFill>
                <a:latin typeface="Arial Narrow" panose="020B0606020202030204" pitchFamily="34" charset="0"/>
              </a:rPr>
              <a:t>ay</a:t>
            </a:r>
            <a:r>
              <a:rPr lang="en-US" sz="3200" dirty="0">
                <a:latin typeface="Arial Narrow" panose="020B0606020202030204" pitchFamily="34" charset="0"/>
              </a:rPr>
              <a:t>.</a:t>
            </a:r>
          </a:p>
          <a:p>
            <a:r>
              <a:rPr lang="en-US" sz="3200" dirty="0">
                <a:latin typeface="Arial Narrow" panose="020B0606020202030204" pitchFamily="34" charset="0"/>
              </a:rPr>
              <a:t>Example:</a:t>
            </a:r>
          </a:p>
          <a:p>
            <a:r>
              <a:rPr lang="en-US" sz="3200" dirty="0">
                <a:latin typeface="Arial Narrow" panose="020B0606020202030204" pitchFamily="34" charset="0"/>
              </a:rPr>
              <a:t>That is Mary.		 			 </a:t>
            </a:r>
            <a:r>
              <a:rPr lang="en-US" sz="3200" dirty="0" err="1">
                <a:latin typeface="Arial Narrow" panose="020B0606020202030204" pitchFamily="34" charset="0"/>
              </a:rPr>
              <a:t>lyan</a:t>
            </a:r>
            <a:r>
              <a:rPr lang="en-US" sz="3200" dirty="0">
                <a:latin typeface="Arial Narrow" panose="020B0606020202030204" pitchFamily="34" charset="0"/>
              </a:rPr>
              <a:t> ay </a:t>
            </a:r>
            <a:r>
              <a:rPr lang="en-US" sz="3200" dirty="0" err="1">
                <a:latin typeface="Arial Narrow" panose="020B0606020202030204" pitchFamily="34" charset="0"/>
              </a:rPr>
              <a:t>si</a:t>
            </a:r>
            <a:r>
              <a:rPr lang="en-US" sz="3200" dirty="0">
                <a:latin typeface="Arial Narrow" panose="020B0606020202030204" pitchFamily="34" charset="0"/>
              </a:rPr>
              <a:t> Mary. </a:t>
            </a:r>
          </a:p>
          <a:p>
            <a:r>
              <a:rPr lang="en-US" sz="3200" dirty="0">
                <a:latin typeface="Arial Narrow" panose="020B0606020202030204" pitchFamily="34" charset="0"/>
              </a:rPr>
              <a:t>That is food.					 </a:t>
            </a:r>
            <a:r>
              <a:rPr lang="en-US" sz="3200" dirty="0" err="1">
                <a:latin typeface="Arial Narrow" panose="020B0606020202030204" pitchFamily="34" charset="0"/>
              </a:rPr>
              <a:t>lyan</a:t>
            </a:r>
            <a:r>
              <a:rPr lang="en-US" sz="3200" dirty="0">
                <a:latin typeface="Arial Narrow" panose="020B0606020202030204" pitchFamily="34" charset="0"/>
              </a:rPr>
              <a:t> ay </a:t>
            </a:r>
            <a:r>
              <a:rPr lang="en-US" sz="3200" dirty="0" err="1">
                <a:latin typeface="Arial Narrow" panose="020B0606020202030204" pitchFamily="34" charset="0"/>
              </a:rPr>
              <a:t>pagkain</a:t>
            </a:r>
            <a:r>
              <a:rPr lang="en-US" sz="3200" dirty="0">
                <a:latin typeface="Arial Narrow" panose="020B0606020202030204" pitchFamily="34" charset="0"/>
              </a:rPr>
              <a:t>.</a:t>
            </a:r>
          </a:p>
          <a:p>
            <a:r>
              <a:rPr lang="en-US" sz="3200" dirty="0">
                <a:latin typeface="Arial Narrow" panose="020B0606020202030204" pitchFamily="34" charset="0"/>
              </a:rPr>
              <a:t>That is Mary's food.			 Iyan ay </a:t>
            </a:r>
            <a:r>
              <a:rPr lang="en-US" sz="3200" dirty="0" err="1">
                <a:latin typeface="Arial Narrow" panose="020B0606020202030204" pitchFamily="34" charset="0"/>
              </a:rPr>
              <a:t>pagkain</a:t>
            </a:r>
            <a:r>
              <a:rPr lang="en-US" sz="3200" dirty="0">
                <a:latin typeface="Arial Narrow" panose="020B0606020202030204" pitchFamily="34" charset="0"/>
              </a:rPr>
              <a:t> </a:t>
            </a:r>
            <a:r>
              <a:rPr lang="en-US" sz="3200" dirty="0" err="1">
                <a:latin typeface="Arial Narrow" panose="020B0606020202030204" pitchFamily="34" charset="0"/>
              </a:rPr>
              <a:t>ni</a:t>
            </a:r>
            <a:r>
              <a:rPr lang="en-US" sz="3200" dirty="0">
                <a:latin typeface="Arial Narrow" panose="020B0606020202030204" pitchFamily="34" charset="0"/>
              </a:rPr>
              <a:t> Mary.</a:t>
            </a:r>
          </a:p>
          <a:p>
            <a:r>
              <a:rPr lang="en-US" sz="3200" dirty="0">
                <a:latin typeface="Arial Narrow" panose="020B0606020202030204" pitchFamily="34" charset="0"/>
              </a:rPr>
              <a:t>That is plenty.				   	 Marami </a:t>
            </a:r>
            <a:r>
              <a:rPr lang="en-US" sz="3200" dirty="0" err="1">
                <a:latin typeface="Arial Narrow" panose="020B0606020202030204" pitchFamily="34" charset="0"/>
              </a:rPr>
              <a:t>iyan</a:t>
            </a:r>
            <a:r>
              <a:rPr lang="en-US" sz="3200" dirty="0">
                <a:latin typeface="Arial Narrow" panose="020B0606020202030204" pitchFamily="34" charset="0"/>
              </a:rPr>
              <a:t>.</a:t>
            </a:r>
          </a:p>
          <a:p>
            <a:r>
              <a:rPr lang="en-US" sz="3200" dirty="0">
                <a:latin typeface="Arial Narrow" panose="020B0606020202030204" pitchFamily="34" charset="0"/>
              </a:rPr>
              <a:t>That is hot.						 </a:t>
            </a:r>
            <a:r>
              <a:rPr lang="en-US" sz="3200" dirty="0" err="1">
                <a:latin typeface="Arial Narrow" panose="020B0606020202030204" pitchFamily="34" charset="0"/>
              </a:rPr>
              <a:t>Mainit</a:t>
            </a:r>
            <a:r>
              <a:rPr lang="en-US" sz="3200" dirty="0">
                <a:latin typeface="Arial Narrow" panose="020B0606020202030204" pitchFamily="34" charset="0"/>
              </a:rPr>
              <a:t> </a:t>
            </a:r>
            <a:r>
              <a:rPr lang="en-US" sz="3200" dirty="0" err="1">
                <a:latin typeface="Arial Narrow" panose="020B0606020202030204" pitchFamily="34" charset="0"/>
              </a:rPr>
              <a:t>iyan</a:t>
            </a:r>
            <a:r>
              <a:rPr lang="en-US" sz="3200" dirty="0">
                <a:latin typeface="Arial Narrow" panose="020B0606020202030204" pitchFamily="34" charset="0"/>
              </a:rPr>
              <a:t>. </a:t>
            </a:r>
          </a:p>
          <a:p>
            <a:endParaRPr lang="en-US" sz="3200" dirty="0">
              <a:latin typeface="Arial Narrow" panose="020B0606020202030204" pitchFamily="34" charset="0"/>
            </a:endParaRPr>
          </a:p>
          <a:p>
            <a:r>
              <a:rPr lang="en-US" sz="3200" dirty="0">
                <a:latin typeface="Arial Narrow" panose="020B0606020202030204" pitchFamily="34" charset="0"/>
              </a:rPr>
              <a:t> </a:t>
            </a:r>
          </a:p>
          <a:p>
            <a:endParaRPr lang="en-US" sz="3200" dirty="0">
              <a:latin typeface="Arial Narrow" panose="020B0606020202030204" pitchFamily="34" charset="0"/>
            </a:endParaRPr>
          </a:p>
          <a:p>
            <a:endParaRPr lang="en-US" sz="3200" dirty="0">
              <a:latin typeface="Arial Narrow" panose="020B0606020202030204" pitchFamily="34" charset="0"/>
            </a:endParaRPr>
          </a:p>
        </p:txBody>
      </p:sp>
    </p:spTree>
    <p:extLst>
      <p:ext uri="{BB962C8B-B14F-4D97-AF65-F5344CB8AC3E}">
        <p14:creationId xmlns:p14="http://schemas.microsoft.com/office/powerpoint/2010/main" val="1915718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6B346-604D-7F3B-838E-F5ACC239CCA3}"/>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4794B35D-7206-7C46-6781-70529386F387}"/>
              </a:ext>
            </a:extLst>
          </p:cNvPr>
          <p:cNvSpPr txBox="1"/>
          <p:nvPr/>
        </p:nvSpPr>
        <p:spPr>
          <a:xfrm>
            <a:off x="1" y="0"/>
            <a:ext cx="12192000" cy="5509200"/>
          </a:xfrm>
          <a:prstGeom prst="rect">
            <a:avLst/>
          </a:prstGeom>
          <a:noFill/>
        </p:spPr>
        <p:txBody>
          <a:bodyPr wrap="square">
            <a:spAutoFit/>
          </a:bodyPr>
          <a:lstStyle/>
          <a:p>
            <a:r>
              <a:rPr lang="en-US" sz="3200" b="1" dirty="0">
                <a:latin typeface="Arial Narrow" panose="020B0606020202030204" pitchFamily="34" charset="0"/>
              </a:rPr>
              <a:t>3.	THE DEMONSTRATIVE IYON (</a:t>
            </a:r>
            <a:r>
              <a:rPr lang="en-US" sz="3200" b="1" dirty="0">
                <a:solidFill>
                  <a:srgbClr val="FF0000"/>
                </a:solidFill>
                <a:latin typeface="Arial Narrow" panose="020B0606020202030204" pitchFamily="34" charset="0"/>
              </a:rPr>
              <a:t>THAT, OVER THERE</a:t>
            </a:r>
            <a:r>
              <a:rPr lang="en-US" sz="3200" b="1" dirty="0">
                <a:latin typeface="Arial Narrow" panose="020B0606020202030204" pitchFamily="34" charset="0"/>
              </a:rPr>
              <a:t>)</a:t>
            </a:r>
          </a:p>
          <a:p>
            <a:endParaRPr lang="en-US" sz="3200" dirty="0">
              <a:latin typeface="Arial Narrow" panose="020B0606020202030204" pitchFamily="34" charset="0"/>
            </a:endParaRPr>
          </a:p>
          <a:p>
            <a:r>
              <a:rPr lang="en-US" sz="3200" dirty="0">
                <a:latin typeface="Arial Narrow" panose="020B0606020202030204" pitchFamily="34" charset="0"/>
              </a:rPr>
              <a:t>The demonstrative </a:t>
            </a:r>
            <a:r>
              <a:rPr lang="en-US" sz="3200" dirty="0" err="1">
                <a:solidFill>
                  <a:srgbClr val="FF0000"/>
                </a:solidFill>
                <a:latin typeface="Arial Narrow" panose="020B0606020202030204" pitchFamily="34" charset="0"/>
              </a:rPr>
              <a:t>iyon</a:t>
            </a:r>
            <a:r>
              <a:rPr lang="en-US" sz="3200" dirty="0">
                <a:latin typeface="Arial Narrow" panose="020B0606020202030204" pitchFamily="34" charset="0"/>
              </a:rPr>
              <a:t> (pronounced I-YON) is used to refer to a thing that is far from both the per­son speaking and the one spoken to.</a:t>
            </a:r>
          </a:p>
          <a:p>
            <a:r>
              <a:rPr lang="en-US" sz="3200" dirty="0">
                <a:latin typeface="Arial Narrow" panose="020B0606020202030204" pitchFamily="34" charset="0"/>
              </a:rPr>
              <a:t>Example:</a:t>
            </a:r>
          </a:p>
          <a:p>
            <a:r>
              <a:rPr lang="en-US" sz="3200" dirty="0">
                <a:latin typeface="Arial Narrow" panose="020B0606020202030204" pitchFamily="34" charset="0"/>
              </a:rPr>
              <a:t>That is Pasig River.				 		</a:t>
            </a:r>
            <a:r>
              <a:rPr lang="en-US" sz="3200" dirty="0" err="1">
                <a:latin typeface="Arial Narrow" panose="020B0606020202030204" pitchFamily="34" charset="0"/>
              </a:rPr>
              <a:t>lyon</a:t>
            </a:r>
            <a:r>
              <a:rPr lang="en-US" sz="3200" dirty="0">
                <a:latin typeface="Arial Narrow" panose="020B0606020202030204" pitchFamily="34" charset="0"/>
              </a:rPr>
              <a:t> ay </a:t>
            </a:r>
            <a:r>
              <a:rPr lang="en-US" sz="3200" dirty="0" err="1">
                <a:latin typeface="Arial Narrow" panose="020B0606020202030204" pitchFamily="34" charset="0"/>
              </a:rPr>
              <a:t>llog</a:t>
            </a:r>
            <a:r>
              <a:rPr lang="en-US" sz="3200" dirty="0">
                <a:latin typeface="Arial Narrow" panose="020B0606020202030204" pitchFamily="34" charset="0"/>
              </a:rPr>
              <a:t> Pasig. </a:t>
            </a:r>
          </a:p>
          <a:p>
            <a:r>
              <a:rPr lang="en-US" sz="3200" dirty="0">
                <a:latin typeface="Arial Narrow" panose="020B0606020202030204" pitchFamily="34" charset="0"/>
              </a:rPr>
              <a:t>That is long.									</a:t>
            </a:r>
            <a:r>
              <a:rPr lang="en-US" sz="3200" dirty="0" err="1">
                <a:latin typeface="Arial Narrow" panose="020B0606020202030204" pitchFamily="34" charset="0"/>
              </a:rPr>
              <a:t>lyon</a:t>
            </a:r>
            <a:r>
              <a:rPr lang="en-US" sz="3200" dirty="0">
                <a:latin typeface="Arial Narrow" panose="020B0606020202030204" pitchFamily="34" charset="0"/>
              </a:rPr>
              <a:t> ay </a:t>
            </a:r>
            <a:r>
              <a:rPr lang="en-US" sz="3200" dirty="0" err="1">
                <a:latin typeface="Arial Narrow" panose="020B0606020202030204" pitchFamily="34" charset="0"/>
              </a:rPr>
              <a:t>mahaba</a:t>
            </a:r>
            <a:r>
              <a:rPr lang="en-US" sz="3200" dirty="0">
                <a:latin typeface="Arial Narrow" panose="020B0606020202030204" pitchFamily="34" charset="0"/>
              </a:rPr>
              <a:t>.</a:t>
            </a:r>
          </a:p>
          <a:p>
            <a:r>
              <a:rPr lang="en-US" sz="3200" dirty="0">
                <a:latin typeface="Arial Narrow" panose="020B0606020202030204" pitchFamily="34" charset="0"/>
              </a:rPr>
              <a:t>That is clean and long. 			 		</a:t>
            </a:r>
            <a:r>
              <a:rPr lang="en-US" sz="3200" dirty="0" err="1">
                <a:latin typeface="Arial Narrow" panose="020B0606020202030204" pitchFamily="34" charset="0"/>
              </a:rPr>
              <a:t>lyon</a:t>
            </a:r>
            <a:r>
              <a:rPr lang="en-US" sz="3200" dirty="0">
                <a:latin typeface="Arial Narrow" panose="020B0606020202030204" pitchFamily="34" charset="0"/>
              </a:rPr>
              <a:t> ay </a:t>
            </a:r>
            <a:r>
              <a:rPr lang="en-US" sz="3200" dirty="0" err="1">
                <a:latin typeface="Arial Narrow" panose="020B0606020202030204" pitchFamily="34" charset="0"/>
              </a:rPr>
              <a:t>malinis</a:t>
            </a:r>
            <a:r>
              <a:rPr lang="en-US" sz="3200" dirty="0">
                <a:latin typeface="Arial Narrow" panose="020B0606020202030204" pitchFamily="34" charset="0"/>
              </a:rPr>
              <a:t> at </a:t>
            </a:r>
            <a:r>
              <a:rPr lang="en-US" sz="3200" dirty="0" err="1">
                <a:latin typeface="Arial Narrow" panose="020B0606020202030204" pitchFamily="34" charset="0"/>
              </a:rPr>
              <a:t>mahaba</a:t>
            </a:r>
            <a:r>
              <a:rPr lang="en-US" sz="3200" dirty="0">
                <a:latin typeface="Arial Narrow" panose="020B0606020202030204" pitchFamily="34" charset="0"/>
              </a:rPr>
              <a:t>. </a:t>
            </a:r>
          </a:p>
          <a:p>
            <a:r>
              <a:rPr lang="en-US" sz="3200" dirty="0">
                <a:latin typeface="Arial Narrow" panose="020B0606020202030204" pitchFamily="34" charset="0"/>
              </a:rPr>
              <a:t>That is clean.								Malinis </a:t>
            </a:r>
            <a:r>
              <a:rPr lang="en-US" sz="3200" dirty="0" err="1">
                <a:latin typeface="Arial Narrow" panose="020B0606020202030204" pitchFamily="34" charset="0"/>
              </a:rPr>
              <a:t>iyon</a:t>
            </a:r>
            <a:r>
              <a:rPr lang="en-US" sz="3200" dirty="0">
                <a:latin typeface="Arial Narrow" panose="020B0606020202030204" pitchFamily="34" charset="0"/>
              </a:rPr>
              <a:t>.</a:t>
            </a:r>
          </a:p>
          <a:p>
            <a:r>
              <a:rPr lang="en-US" sz="3200" dirty="0">
                <a:latin typeface="Arial Narrow" panose="020B0606020202030204" pitchFamily="34" charset="0"/>
              </a:rPr>
              <a:t>That is long.									</a:t>
            </a:r>
            <a:r>
              <a:rPr lang="en-US" sz="3200" dirty="0" err="1">
                <a:latin typeface="Arial Narrow" panose="020B0606020202030204" pitchFamily="34" charset="0"/>
              </a:rPr>
              <a:t>Mahaba</a:t>
            </a:r>
            <a:r>
              <a:rPr lang="en-US" sz="3200" dirty="0">
                <a:latin typeface="Arial Narrow" panose="020B0606020202030204" pitchFamily="34" charset="0"/>
              </a:rPr>
              <a:t> </a:t>
            </a:r>
            <a:r>
              <a:rPr lang="en-US" sz="3200" dirty="0" err="1">
                <a:latin typeface="Arial Narrow" panose="020B0606020202030204" pitchFamily="34" charset="0"/>
              </a:rPr>
              <a:t>iyon</a:t>
            </a:r>
            <a:endParaRPr lang="en-US" sz="3200" dirty="0">
              <a:latin typeface="Arial Narrow" panose="020B0606020202030204" pitchFamily="34" charset="0"/>
            </a:endParaRPr>
          </a:p>
          <a:p>
            <a:endParaRPr lang="en-US" sz="3200" dirty="0">
              <a:latin typeface="Arial Narrow" panose="020B0606020202030204" pitchFamily="34" charset="0"/>
            </a:endParaRPr>
          </a:p>
        </p:txBody>
      </p:sp>
    </p:spTree>
    <p:extLst>
      <p:ext uri="{BB962C8B-B14F-4D97-AF65-F5344CB8AC3E}">
        <p14:creationId xmlns:p14="http://schemas.microsoft.com/office/powerpoint/2010/main" val="9226933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52B5F3-2B37-D39C-2DED-C845696D6C0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F604DB1-FBB9-B269-2961-E30233D869A0}"/>
              </a:ext>
            </a:extLst>
          </p:cNvPr>
          <p:cNvSpPr txBox="1"/>
          <p:nvPr/>
        </p:nvSpPr>
        <p:spPr>
          <a:xfrm>
            <a:off x="1" y="0"/>
            <a:ext cx="12192000" cy="7971413"/>
          </a:xfrm>
          <a:prstGeom prst="rect">
            <a:avLst/>
          </a:prstGeom>
          <a:noFill/>
        </p:spPr>
        <p:txBody>
          <a:bodyPr wrap="square">
            <a:spAutoFit/>
          </a:bodyPr>
          <a:lstStyle/>
          <a:p>
            <a:r>
              <a:rPr lang="en-US" sz="3200" b="1" dirty="0">
                <a:latin typeface="Arial Narrow" panose="020B0606020202030204" pitchFamily="34" charset="0"/>
              </a:rPr>
              <a:t>4.PLURAL FORMS </a:t>
            </a:r>
            <a:r>
              <a:rPr lang="en-US" sz="3200" b="1" dirty="0">
                <a:solidFill>
                  <a:srgbClr val="FF0000"/>
                </a:solidFill>
                <a:latin typeface="Arial Narrow" panose="020B0606020202030204" pitchFamily="34" charset="0"/>
              </a:rPr>
              <a:t>ITO</a:t>
            </a:r>
            <a:r>
              <a:rPr lang="en-US" sz="3200" b="1" dirty="0">
                <a:latin typeface="Arial Narrow" panose="020B0606020202030204" pitchFamily="34" charset="0"/>
              </a:rPr>
              <a:t>, </a:t>
            </a:r>
            <a:r>
              <a:rPr lang="en-US" sz="3200" b="1" dirty="0">
                <a:solidFill>
                  <a:srgbClr val="FF0000"/>
                </a:solidFill>
                <a:latin typeface="Arial Narrow" panose="020B0606020202030204" pitchFamily="34" charset="0"/>
              </a:rPr>
              <a:t>IYAN </a:t>
            </a:r>
            <a:r>
              <a:rPr lang="en-US" sz="3200" b="1" dirty="0">
                <a:latin typeface="Arial Narrow" panose="020B0606020202030204" pitchFamily="34" charset="0"/>
              </a:rPr>
              <a:t>AND</a:t>
            </a:r>
            <a:r>
              <a:rPr lang="en-US" sz="3200" b="1" dirty="0">
                <a:solidFill>
                  <a:srgbClr val="FF0000"/>
                </a:solidFill>
                <a:latin typeface="Arial Narrow" panose="020B0606020202030204" pitchFamily="34" charset="0"/>
              </a:rPr>
              <a:t> IYON</a:t>
            </a:r>
          </a:p>
          <a:p>
            <a:r>
              <a:rPr lang="en-US" sz="3200" dirty="0">
                <a:latin typeface="Arial Narrow" panose="020B0606020202030204" pitchFamily="34" charset="0"/>
              </a:rPr>
              <a:t> </a:t>
            </a:r>
          </a:p>
          <a:p>
            <a:r>
              <a:rPr lang="en-US" sz="3200" dirty="0">
                <a:latin typeface="Arial Narrow" panose="020B0606020202030204" pitchFamily="34" charset="0"/>
              </a:rPr>
              <a:t>Note that since Tagalog sentences follow a plurality rule and either or both the subject or predicate may be made plural, sentences containing the plural forms of </a:t>
            </a:r>
            <a:r>
              <a:rPr lang="en-US" sz="3200" b="1" dirty="0" err="1">
                <a:solidFill>
                  <a:srgbClr val="FF0000"/>
                </a:solidFill>
                <a:latin typeface="Arial Narrow" panose="020B0606020202030204" pitchFamily="34" charset="0"/>
              </a:rPr>
              <a:t>ito</a:t>
            </a:r>
            <a:r>
              <a:rPr lang="en-US" sz="3200" b="1" dirty="0">
                <a:solidFill>
                  <a:srgbClr val="FF0000"/>
                </a:solidFill>
                <a:latin typeface="Arial Narrow" panose="020B0606020202030204" pitchFamily="34" charset="0"/>
              </a:rPr>
              <a:t>, </a:t>
            </a:r>
            <a:r>
              <a:rPr lang="en-US" sz="3200" b="1" dirty="0" err="1">
                <a:solidFill>
                  <a:srgbClr val="FF0000"/>
                </a:solidFill>
                <a:latin typeface="Arial Narrow" panose="020B0606020202030204" pitchFamily="34" charset="0"/>
              </a:rPr>
              <a:t>iyan</a:t>
            </a:r>
            <a:r>
              <a:rPr lang="en-US" sz="3200" dirty="0">
                <a:latin typeface="Arial Narrow" panose="020B0606020202030204" pitchFamily="34" charset="0"/>
              </a:rPr>
              <a:t>, and </a:t>
            </a:r>
            <a:r>
              <a:rPr lang="en-US" sz="3200" b="1" dirty="0" err="1">
                <a:solidFill>
                  <a:srgbClr val="FF0000"/>
                </a:solidFill>
                <a:latin typeface="Arial Narrow" panose="020B0606020202030204" pitchFamily="34" charset="0"/>
              </a:rPr>
              <a:t>iyon</a:t>
            </a:r>
            <a:r>
              <a:rPr lang="en-US" sz="3200" dirty="0">
                <a:latin typeface="Arial Narrow" panose="020B0606020202030204" pitchFamily="34" charset="0"/>
              </a:rPr>
              <a:t> may be marked by the plural marker </a:t>
            </a:r>
            <a:r>
              <a:rPr lang="en-US" sz="3200" b="1" dirty="0">
                <a:solidFill>
                  <a:srgbClr val="FF0000"/>
                </a:solidFill>
                <a:latin typeface="Arial Narrow" panose="020B0606020202030204" pitchFamily="34" charset="0"/>
              </a:rPr>
              <a:t>ang </a:t>
            </a:r>
            <a:r>
              <a:rPr lang="en-US" sz="3200" b="1" dirty="0" err="1">
                <a:solidFill>
                  <a:srgbClr val="FF0000"/>
                </a:solidFill>
                <a:latin typeface="Arial Narrow" panose="020B0606020202030204" pitchFamily="34" charset="0"/>
              </a:rPr>
              <a:t>mga</a:t>
            </a:r>
            <a:r>
              <a:rPr lang="en-US" sz="3200" dirty="0">
                <a:latin typeface="Arial Narrow" panose="020B0606020202030204" pitchFamily="34" charset="0"/>
              </a:rPr>
              <a:t>. The singular forms of </a:t>
            </a:r>
            <a:r>
              <a:rPr lang="en-US" sz="3200" b="1" dirty="0" err="1">
                <a:solidFill>
                  <a:srgbClr val="FF0000"/>
                </a:solidFill>
                <a:latin typeface="Arial Narrow" panose="020B0606020202030204" pitchFamily="34" charset="0"/>
              </a:rPr>
              <a:t>ito</a:t>
            </a:r>
            <a:r>
              <a:rPr lang="en-US" sz="3200" dirty="0">
                <a:latin typeface="Arial Narrow" panose="020B0606020202030204" pitchFamily="34" charset="0"/>
              </a:rPr>
              <a:t>, </a:t>
            </a:r>
            <a:r>
              <a:rPr lang="en-US" sz="3200" b="1" dirty="0" err="1">
                <a:solidFill>
                  <a:srgbClr val="FF0000"/>
                </a:solidFill>
                <a:latin typeface="Arial Narrow" panose="020B0606020202030204" pitchFamily="34" charset="0"/>
              </a:rPr>
              <a:t>iyan</a:t>
            </a:r>
            <a:r>
              <a:rPr lang="en-US" sz="3200" dirty="0">
                <a:latin typeface="Arial Narrow" panose="020B0606020202030204" pitchFamily="34" charset="0"/>
              </a:rPr>
              <a:t>, and </a:t>
            </a:r>
            <a:r>
              <a:rPr lang="en-US" sz="3200" b="1" dirty="0" err="1">
                <a:solidFill>
                  <a:srgbClr val="FF0000"/>
                </a:solidFill>
                <a:latin typeface="Arial Narrow" panose="020B0606020202030204" pitchFamily="34" charset="0"/>
              </a:rPr>
              <a:t>iyon</a:t>
            </a:r>
            <a:r>
              <a:rPr lang="en-US" sz="3200" dirty="0">
                <a:latin typeface="Arial Narrow" panose="020B0606020202030204" pitchFamily="34" charset="0"/>
              </a:rPr>
              <a:t> are not preceded by </a:t>
            </a:r>
            <a:r>
              <a:rPr lang="en-US" sz="3200" b="1" dirty="0">
                <a:solidFill>
                  <a:srgbClr val="FF0000"/>
                </a:solidFill>
                <a:latin typeface="Arial Narrow" panose="020B0606020202030204" pitchFamily="34" charset="0"/>
              </a:rPr>
              <a:t>ang</a:t>
            </a:r>
            <a:r>
              <a:rPr lang="en-US" sz="3200" dirty="0">
                <a:latin typeface="Arial Narrow" panose="020B0606020202030204" pitchFamily="34" charset="0"/>
              </a:rPr>
              <a:t>; but the plural forms of these words are preceded by the plural article </a:t>
            </a:r>
            <a:r>
              <a:rPr lang="en-US" sz="3200" b="1" dirty="0">
                <a:solidFill>
                  <a:srgbClr val="FF0000"/>
                </a:solidFill>
                <a:latin typeface="Arial Narrow" panose="020B0606020202030204" pitchFamily="34" charset="0"/>
              </a:rPr>
              <a:t>ang </a:t>
            </a:r>
            <a:r>
              <a:rPr lang="en-US" sz="3200" b="1" dirty="0" err="1">
                <a:solidFill>
                  <a:srgbClr val="FF0000"/>
                </a:solidFill>
                <a:latin typeface="Arial Narrow" panose="020B0606020202030204" pitchFamily="34" charset="0"/>
              </a:rPr>
              <a:t>mga</a:t>
            </a:r>
            <a:r>
              <a:rPr lang="en-US" sz="3200" dirty="0">
                <a:latin typeface="Arial Narrow" panose="020B0606020202030204" pitchFamily="34" charset="0"/>
              </a:rPr>
              <a:t>. This and that thus become these and those.</a:t>
            </a:r>
            <a:br>
              <a:rPr lang="en-US" sz="3200" dirty="0">
                <a:latin typeface="Arial Narrow" panose="020B0606020202030204" pitchFamily="34" charset="0"/>
              </a:rPr>
            </a:br>
            <a:br>
              <a:rPr lang="en-US" sz="3200" dirty="0">
                <a:latin typeface="Arial Narrow" panose="020B0606020202030204" pitchFamily="34" charset="0"/>
              </a:rPr>
            </a:br>
            <a:r>
              <a:rPr lang="en-US" sz="3200" dirty="0">
                <a:latin typeface="Arial Narrow" panose="020B0606020202030204" pitchFamily="34" charset="0"/>
              </a:rPr>
              <a:t>These are good.				Ang </a:t>
            </a:r>
            <a:r>
              <a:rPr lang="en-US" sz="3200" dirty="0" err="1">
                <a:latin typeface="Arial Narrow" panose="020B0606020202030204" pitchFamily="34" charset="0"/>
              </a:rPr>
              <a:t>mga</a:t>
            </a:r>
            <a:r>
              <a:rPr lang="en-US" sz="3200" dirty="0">
                <a:latin typeface="Arial Narrow" panose="020B0606020202030204" pitchFamily="34" charset="0"/>
              </a:rPr>
              <a:t> </a:t>
            </a:r>
            <a:r>
              <a:rPr lang="en-US" sz="3200" dirty="0" err="1">
                <a:latin typeface="Arial Narrow" panose="020B0606020202030204" pitchFamily="34" charset="0"/>
              </a:rPr>
              <a:t>ito</a:t>
            </a:r>
            <a:r>
              <a:rPr lang="en-US" sz="3200" dirty="0">
                <a:latin typeface="Arial Narrow" panose="020B0606020202030204" pitchFamily="34" charset="0"/>
              </a:rPr>
              <a:t> ay </a:t>
            </a:r>
            <a:r>
              <a:rPr lang="en-US" sz="3200" dirty="0" err="1">
                <a:latin typeface="Arial Narrow" panose="020B0606020202030204" pitchFamily="34" charset="0"/>
              </a:rPr>
              <a:t>mababait</a:t>
            </a:r>
            <a:r>
              <a:rPr lang="en-US" sz="3200" dirty="0">
                <a:latin typeface="Arial Narrow" panose="020B0606020202030204" pitchFamily="34" charset="0"/>
              </a:rPr>
              <a:t>. </a:t>
            </a:r>
          </a:p>
          <a:p>
            <a:r>
              <a:rPr lang="en-US" sz="3200" dirty="0">
                <a:latin typeface="Arial Narrow" panose="020B0606020202030204" pitchFamily="34" charset="0"/>
              </a:rPr>
              <a:t>Those are big.					Ang </a:t>
            </a:r>
            <a:r>
              <a:rPr lang="en-US" sz="3200" dirty="0" err="1">
                <a:latin typeface="Arial Narrow" panose="020B0606020202030204" pitchFamily="34" charset="0"/>
              </a:rPr>
              <a:t>mga</a:t>
            </a:r>
            <a:r>
              <a:rPr lang="en-US" sz="3200" dirty="0">
                <a:latin typeface="Arial Narrow" panose="020B0606020202030204" pitchFamily="34" charset="0"/>
              </a:rPr>
              <a:t> </a:t>
            </a:r>
            <a:r>
              <a:rPr lang="en-US" sz="3200" dirty="0" err="1">
                <a:latin typeface="Arial Narrow" panose="020B0606020202030204" pitchFamily="34" charset="0"/>
              </a:rPr>
              <a:t>iyan</a:t>
            </a:r>
            <a:r>
              <a:rPr lang="en-US" sz="3200" dirty="0">
                <a:latin typeface="Arial Narrow" panose="020B0606020202030204" pitchFamily="34" charset="0"/>
              </a:rPr>
              <a:t> ay </a:t>
            </a:r>
            <a:r>
              <a:rPr lang="en-US" sz="3200" dirty="0" err="1">
                <a:latin typeface="Arial Narrow" panose="020B0606020202030204" pitchFamily="34" charset="0"/>
              </a:rPr>
              <a:t>malalaki</a:t>
            </a:r>
            <a:r>
              <a:rPr lang="en-US" sz="3200" dirty="0">
                <a:latin typeface="Arial Narrow" panose="020B0606020202030204" pitchFamily="34" charset="0"/>
              </a:rPr>
              <a:t>. </a:t>
            </a:r>
          </a:p>
          <a:p>
            <a:r>
              <a:rPr lang="en-US" sz="3200" dirty="0">
                <a:latin typeface="Arial Narrow" panose="020B0606020202030204" pitchFamily="34" charset="0"/>
              </a:rPr>
              <a:t>Those are clean.				Ang </a:t>
            </a:r>
            <a:r>
              <a:rPr lang="en-US" sz="3200" dirty="0" err="1">
                <a:latin typeface="Arial Narrow" panose="020B0606020202030204" pitchFamily="34" charset="0"/>
              </a:rPr>
              <a:t>mga</a:t>
            </a:r>
            <a:r>
              <a:rPr lang="en-US" sz="3200" dirty="0">
                <a:latin typeface="Arial Narrow" panose="020B0606020202030204" pitchFamily="34" charset="0"/>
              </a:rPr>
              <a:t> </a:t>
            </a:r>
            <a:r>
              <a:rPr lang="en-US" sz="3200" dirty="0" err="1">
                <a:latin typeface="Arial Narrow" panose="020B0606020202030204" pitchFamily="34" charset="0"/>
              </a:rPr>
              <a:t>iyon</a:t>
            </a:r>
            <a:r>
              <a:rPr lang="en-US" sz="3200" dirty="0">
                <a:latin typeface="Arial Narrow" panose="020B0606020202030204" pitchFamily="34" charset="0"/>
              </a:rPr>
              <a:t> ay </a:t>
            </a:r>
            <a:r>
              <a:rPr lang="en-US" sz="3200" dirty="0" err="1">
                <a:latin typeface="Arial Narrow" panose="020B0606020202030204" pitchFamily="34" charset="0"/>
              </a:rPr>
              <a:t>malilinis</a:t>
            </a:r>
            <a:r>
              <a:rPr lang="en-US" sz="3200" dirty="0">
                <a:latin typeface="Arial Narrow" panose="020B0606020202030204" pitchFamily="34" charset="0"/>
              </a:rPr>
              <a:t>.</a:t>
            </a:r>
          </a:p>
          <a:p>
            <a:endParaRPr lang="en-US" sz="3200" dirty="0">
              <a:latin typeface="Arial Narrow" panose="020B0606020202030204" pitchFamily="34" charset="0"/>
            </a:endParaRPr>
          </a:p>
          <a:p>
            <a:br>
              <a:rPr lang="en-US" sz="3200" dirty="0">
                <a:latin typeface="Arial Narrow" panose="020B0606020202030204" pitchFamily="34" charset="0"/>
              </a:rPr>
            </a:br>
            <a:r>
              <a:rPr lang="en-US" sz="3200" dirty="0">
                <a:latin typeface="Arial Narrow" panose="020B0606020202030204" pitchFamily="34" charset="0"/>
              </a:rPr>
              <a:t> </a:t>
            </a:r>
          </a:p>
          <a:p>
            <a:endParaRPr lang="en-US" sz="3200" dirty="0">
              <a:latin typeface="Arial Narrow" panose="020B0606020202030204" pitchFamily="34" charset="0"/>
            </a:endParaRPr>
          </a:p>
        </p:txBody>
      </p:sp>
    </p:spTree>
    <p:extLst>
      <p:ext uri="{BB962C8B-B14F-4D97-AF65-F5344CB8AC3E}">
        <p14:creationId xmlns:p14="http://schemas.microsoft.com/office/powerpoint/2010/main" val="9627157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DC036B-9BE0-EBBA-7DE1-EB0F1A47DAB2}"/>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8FB2921F-7388-B993-646E-B82D3E722D0F}"/>
              </a:ext>
            </a:extLst>
          </p:cNvPr>
          <p:cNvSpPr txBox="1"/>
          <p:nvPr/>
        </p:nvSpPr>
        <p:spPr>
          <a:xfrm>
            <a:off x="1" y="0"/>
            <a:ext cx="12192000" cy="4524315"/>
          </a:xfrm>
          <a:prstGeom prst="rect">
            <a:avLst/>
          </a:prstGeom>
          <a:noFill/>
        </p:spPr>
        <p:txBody>
          <a:bodyPr wrap="square">
            <a:spAutoFit/>
          </a:bodyPr>
          <a:lstStyle/>
          <a:p>
            <a:r>
              <a:rPr lang="en-US" sz="3200" b="1" dirty="0">
                <a:solidFill>
                  <a:srgbClr val="FF0000"/>
                </a:solidFill>
                <a:latin typeface="Arial Narrow" panose="020B0606020202030204" pitchFamily="34" charset="0"/>
              </a:rPr>
              <a:t>THIS</a:t>
            </a:r>
            <a:r>
              <a:rPr lang="en-US" sz="3200" b="1" dirty="0">
                <a:latin typeface="Arial Narrow" panose="020B0606020202030204" pitchFamily="34" charset="0"/>
              </a:rPr>
              <a:t> AND </a:t>
            </a:r>
            <a:r>
              <a:rPr lang="en-US" sz="3200" b="1" dirty="0">
                <a:solidFill>
                  <a:srgbClr val="FF0000"/>
                </a:solidFill>
                <a:latin typeface="Arial Narrow" panose="020B0606020202030204" pitchFamily="34" charset="0"/>
              </a:rPr>
              <a:t>THAT </a:t>
            </a:r>
            <a:r>
              <a:rPr lang="en-US" sz="3200" b="1" dirty="0">
                <a:latin typeface="Arial Narrow" panose="020B0606020202030204" pitchFamily="34" charset="0"/>
              </a:rPr>
              <a:t>AS MODIFIERS</a:t>
            </a:r>
          </a:p>
          <a:p>
            <a:r>
              <a:rPr lang="en-US" sz="3200" dirty="0">
                <a:latin typeface="Arial Narrow" panose="020B0606020202030204" pitchFamily="34" charset="0"/>
              </a:rPr>
              <a:t> </a:t>
            </a:r>
          </a:p>
          <a:p>
            <a:r>
              <a:rPr lang="en-US" sz="3200" dirty="0">
                <a:latin typeface="Arial Narrow" panose="020B0606020202030204" pitchFamily="34" charset="0"/>
              </a:rPr>
              <a:t>The demonstratives </a:t>
            </a:r>
            <a:r>
              <a:rPr lang="en-US" sz="3200" b="1" dirty="0" err="1">
                <a:solidFill>
                  <a:srgbClr val="FF0000"/>
                </a:solidFill>
                <a:latin typeface="Arial Narrow" panose="020B0606020202030204" pitchFamily="34" charset="0"/>
              </a:rPr>
              <a:t>ito</a:t>
            </a:r>
            <a:r>
              <a:rPr lang="en-US" sz="3200" b="1" dirty="0">
                <a:solidFill>
                  <a:srgbClr val="FF0000"/>
                </a:solidFill>
                <a:latin typeface="Arial Narrow" panose="020B0606020202030204" pitchFamily="34" charset="0"/>
              </a:rPr>
              <a:t>, </a:t>
            </a:r>
            <a:r>
              <a:rPr lang="en-US" sz="3200" b="1" dirty="0" err="1">
                <a:solidFill>
                  <a:srgbClr val="FF0000"/>
                </a:solidFill>
                <a:latin typeface="Arial Narrow" panose="020B0606020202030204" pitchFamily="34" charset="0"/>
              </a:rPr>
              <a:t>iyan</a:t>
            </a:r>
            <a:r>
              <a:rPr lang="en-US" sz="3200" dirty="0">
                <a:latin typeface="Arial Narrow" panose="020B0606020202030204" pitchFamily="34" charset="0"/>
              </a:rPr>
              <a:t>, and </a:t>
            </a:r>
            <a:r>
              <a:rPr lang="en-US" sz="3200" b="1" dirty="0" err="1">
                <a:solidFill>
                  <a:srgbClr val="FF0000"/>
                </a:solidFill>
                <a:latin typeface="Arial Narrow" panose="020B0606020202030204" pitchFamily="34" charset="0"/>
              </a:rPr>
              <a:t>iyon</a:t>
            </a:r>
            <a:r>
              <a:rPr lang="en-US" sz="3200" dirty="0">
                <a:latin typeface="Arial Narrow" panose="020B0606020202030204" pitchFamily="34" charset="0"/>
              </a:rPr>
              <a:t> can also be used as modifiers to point out or specify the sub­ject of a sentence. It is interesting to note that when used as modifiers, these demonstratives are placed before the noun and may also be repeated for emphasis before the linking verb </a:t>
            </a:r>
            <a:r>
              <a:rPr lang="en-US" sz="3200" b="1" dirty="0">
                <a:solidFill>
                  <a:srgbClr val="FF0000"/>
                </a:solidFill>
                <a:latin typeface="Arial Narrow" panose="020B0606020202030204" pitchFamily="34" charset="0"/>
              </a:rPr>
              <a:t>ay</a:t>
            </a:r>
            <a:r>
              <a:rPr lang="en-US" sz="3200" dirty="0">
                <a:latin typeface="Arial Narrow" panose="020B0606020202030204" pitchFamily="34" charset="0"/>
              </a:rPr>
              <a:t> in a subject-predicate sentence (see first example) or are the end of an inverted word order sentence (see second exam­ple below). Either sentence structure is acceptable but the first one is more formal and the second is more colloquial.</a:t>
            </a:r>
          </a:p>
        </p:txBody>
      </p:sp>
    </p:spTree>
    <p:extLst>
      <p:ext uri="{BB962C8B-B14F-4D97-AF65-F5344CB8AC3E}">
        <p14:creationId xmlns:p14="http://schemas.microsoft.com/office/powerpoint/2010/main" val="3222922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E967F-D6D8-E81A-890F-31DF4A045845}"/>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6D817FE-CBC4-184B-22BE-7EC786D96BD3}"/>
              </a:ext>
            </a:extLst>
          </p:cNvPr>
          <p:cNvSpPr txBox="1"/>
          <p:nvPr/>
        </p:nvSpPr>
        <p:spPr>
          <a:xfrm>
            <a:off x="1" y="0"/>
            <a:ext cx="12192000" cy="6986528"/>
          </a:xfrm>
          <a:prstGeom prst="rect">
            <a:avLst/>
          </a:prstGeom>
          <a:noFill/>
        </p:spPr>
        <p:txBody>
          <a:bodyPr wrap="square">
            <a:spAutoFit/>
          </a:bodyPr>
          <a:lstStyle/>
          <a:p>
            <a:r>
              <a:rPr lang="en-US" sz="2800" dirty="0">
                <a:latin typeface="Arial Narrow" panose="020B0606020202030204" pitchFamily="34" charset="0"/>
              </a:rPr>
              <a:t>Ang </a:t>
            </a:r>
            <a:r>
              <a:rPr lang="en-US" sz="2800" dirty="0" err="1">
                <a:latin typeface="Arial Narrow" panose="020B0606020202030204" pitchFamily="34" charset="0"/>
              </a:rPr>
              <a:t>mesa</a:t>
            </a:r>
            <a:r>
              <a:rPr lang="en-US" sz="2800" b="1"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ito</a:t>
            </a:r>
            <a:r>
              <a:rPr lang="en-US" sz="2800" dirty="0">
                <a:latin typeface="Arial Narrow" panose="020B0606020202030204" pitchFamily="34" charset="0"/>
              </a:rPr>
              <a:t> ay </a:t>
            </a:r>
            <a:r>
              <a:rPr lang="en-US" sz="2800" dirty="0" err="1">
                <a:latin typeface="Arial Narrow" panose="020B0606020202030204" pitchFamily="34" charset="0"/>
              </a:rPr>
              <a:t>malinis</a:t>
            </a:r>
            <a:r>
              <a:rPr lang="en-US" sz="2800" dirty="0">
                <a:latin typeface="Arial Narrow" panose="020B0606020202030204" pitchFamily="34" charset="0"/>
              </a:rPr>
              <a:t>.				This table is clean.</a:t>
            </a:r>
          </a:p>
          <a:p>
            <a:r>
              <a:rPr lang="en-US" sz="2800" dirty="0" err="1">
                <a:latin typeface="Arial Narrow" panose="020B0606020202030204" pitchFamily="34" charset="0"/>
              </a:rPr>
              <a:t>lto</a:t>
            </a:r>
            <a:r>
              <a:rPr lang="en-US" sz="2800" b="1"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mesa</a:t>
            </a:r>
            <a:r>
              <a:rPr lang="en-US" sz="2800" b="1"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b="1" dirty="0" err="1">
                <a:latin typeface="Arial Narrow" panose="020B0606020202030204" pitchFamily="34" charset="0"/>
              </a:rPr>
              <a:t>ito</a:t>
            </a:r>
            <a:r>
              <a:rPr lang="en-US" sz="2800" dirty="0">
                <a:latin typeface="Arial Narrow" panose="020B0606020202030204" pitchFamily="34" charset="0"/>
              </a:rPr>
              <a:t> ay </a:t>
            </a:r>
            <a:r>
              <a:rPr lang="en-US" sz="2800" dirty="0" err="1">
                <a:latin typeface="Arial Narrow" panose="020B0606020202030204" pitchFamily="34" charset="0"/>
              </a:rPr>
              <a:t>malinis</a:t>
            </a:r>
            <a:r>
              <a:rPr lang="en-US" sz="2800" dirty="0">
                <a:latin typeface="Arial Narrow" panose="020B0606020202030204" pitchFamily="34" charset="0"/>
              </a:rPr>
              <a:t>.</a:t>
            </a:r>
          </a:p>
          <a:p>
            <a:endParaRPr lang="en-US" sz="2800" dirty="0">
              <a:latin typeface="Arial Narrow" panose="020B0606020202030204" pitchFamily="34" charset="0"/>
            </a:endParaRPr>
          </a:p>
          <a:p>
            <a:r>
              <a:rPr lang="en-US" sz="2800" dirty="0">
                <a:latin typeface="Arial Narrow" panose="020B0606020202030204" pitchFamily="34" charset="0"/>
              </a:rPr>
              <a:t>Malaki ang </a:t>
            </a:r>
            <a:r>
              <a:rPr lang="en-US" sz="2800" dirty="0" err="1">
                <a:latin typeface="Arial Narrow" panose="020B0606020202030204" pitchFamily="34" charset="0"/>
              </a:rPr>
              <a:t>bahay</a:t>
            </a:r>
            <a:r>
              <a:rPr lang="en-US" sz="2800" dirty="0">
                <a:latin typeface="Arial Narrow" panose="020B0606020202030204" pitchFamily="34" charset="0"/>
              </a:rPr>
              <a:t> </a:t>
            </a:r>
            <a:r>
              <a:rPr lang="en-US" sz="2800" dirty="0" err="1">
                <a:latin typeface="Arial Narrow" panose="020B0606020202030204" pitchFamily="34" charset="0"/>
              </a:rPr>
              <a:t>na</a:t>
            </a:r>
            <a:r>
              <a:rPr lang="en-US" sz="2800" dirty="0">
                <a:latin typeface="Arial Narrow" panose="020B0606020202030204" pitchFamily="34" charset="0"/>
              </a:rPr>
              <a:t> </a:t>
            </a:r>
            <a:r>
              <a:rPr lang="en-US" sz="2800" dirty="0" err="1">
                <a:latin typeface="Arial Narrow" panose="020B0606020202030204" pitchFamily="34" charset="0"/>
              </a:rPr>
              <a:t>iyon</a:t>
            </a:r>
            <a:r>
              <a:rPr lang="en-US" sz="2800" dirty="0">
                <a:latin typeface="Arial Narrow" panose="020B0606020202030204" pitchFamily="34" charset="0"/>
              </a:rPr>
              <a:t>. 				That house is big.</a:t>
            </a:r>
          </a:p>
          <a:p>
            <a:r>
              <a:rPr lang="en-US" sz="2800" dirty="0">
                <a:latin typeface="Arial Narrow" panose="020B0606020202030204" pitchFamily="34" charset="0"/>
              </a:rPr>
              <a:t>Malaki </a:t>
            </a:r>
            <a:r>
              <a:rPr lang="en-US" sz="2800" dirty="0" err="1">
                <a:latin typeface="Arial Narrow" panose="020B0606020202030204" pitchFamily="34" charset="0"/>
              </a:rPr>
              <a:t>iyon</a:t>
            </a:r>
            <a:r>
              <a:rPr lang="en-US" sz="2800" b="1" dirty="0" err="1">
                <a:solidFill>
                  <a:srgbClr val="FF0000"/>
                </a:solidFill>
                <a:latin typeface="Arial Narrow" panose="020B0606020202030204" pitchFamily="34" charset="0"/>
              </a:rPr>
              <a:t>g</a:t>
            </a:r>
            <a:r>
              <a:rPr lang="en-US" sz="2800" dirty="0">
                <a:latin typeface="Arial Narrow" panose="020B0606020202030204" pitchFamily="34" charset="0"/>
              </a:rPr>
              <a:t> </a:t>
            </a:r>
            <a:r>
              <a:rPr lang="en-US" sz="2800" dirty="0" err="1">
                <a:latin typeface="Arial Narrow" panose="020B0606020202030204" pitchFamily="34" charset="0"/>
              </a:rPr>
              <a:t>bahay</a:t>
            </a:r>
            <a:r>
              <a:rPr lang="en-US" sz="2800" dirty="0">
                <a:latin typeface="Arial Narrow" panose="020B0606020202030204" pitchFamily="34" charset="0"/>
              </a:rPr>
              <a:t> </a:t>
            </a:r>
            <a:r>
              <a:rPr lang="en-US" sz="2800" b="1" dirty="0" err="1">
                <a:solidFill>
                  <a:srgbClr val="FF0000"/>
                </a:solidFill>
                <a:latin typeface="Arial Narrow" panose="020B0606020202030204" pitchFamily="34" charset="0"/>
              </a:rPr>
              <a:t>na</a:t>
            </a:r>
            <a:r>
              <a:rPr lang="en-US" sz="2800" dirty="0">
                <a:solidFill>
                  <a:srgbClr val="FF0000"/>
                </a:solidFill>
                <a:latin typeface="Arial Narrow" panose="020B0606020202030204" pitchFamily="34" charset="0"/>
              </a:rPr>
              <a:t> </a:t>
            </a:r>
            <a:r>
              <a:rPr lang="en-US" sz="2800" dirty="0" err="1">
                <a:latin typeface="Arial Narrow" panose="020B0606020202030204" pitchFamily="34" charset="0"/>
              </a:rPr>
              <a:t>iyon</a:t>
            </a:r>
            <a:r>
              <a:rPr lang="en-US" sz="2800" dirty="0">
                <a:latin typeface="Arial Narrow" panose="020B0606020202030204" pitchFamily="34" charset="0"/>
              </a:rPr>
              <a:t>.</a:t>
            </a:r>
          </a:p>
          <a:p>
            <a:endParaRPr lang="en-US" sz="2800" dirty="0">
              <a:latin typeface="Arial Narrow" panose="020B0606020202030204" pitchFamily="34" charset="0"/>
            </a:endParaRPr>
          </a:p>
          <a:p>
            <a:r>
              <a:rPr lang="en-US" sz="2800" dirty="0">
                <a:latin typeface="Arial Narrow" panose="020B0606020202030204" pitchFamily="34" charset="0"/>
              </a:rPr>
              <a:t>Maganda ang </a:t>
            </a:r>
            <a:r>
              <a:rPr lang="en-US" sz="2800" dirty="0" err="1">
                <a:latin typeface="Arial Narrow" panose="020B0606020202030204" pitchFamily="34" charset="0"/>
              </a:rPr>
              <a:t>suot</a:t>
            </a:r>
            <a:r>
              <a:rPr lang="en-US" sz="2800" dirty="0">
                <a:latin typeface="Arial Narrow" panose="020B0606020202030204" pitchFamily="34" charset="0"/>
              </a:rPr>
              <a:t> </a:t>
            </a:r>
            <a:r>
              <a:rPr lang="en-US" sz="2800" dirty="0" err="1">
                <a:latin typeface="Arial Narrow" panose="020B0606020202030204" pitchFamily="34" charset="0"/>
              </a:rPr>
              <a:t>mo</a:t>
            </a:r>
            <a:r>
              <a:rPr lang="en-US" sz="2800"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iyan</a:t>
            </a:r>
            <a:r>
              <a:rPr lang="en-US" sz="2800" dirty="0">
                <a:latin typeface="Arial Narrow" panose="020B0606020202030204" pitchFamily="34" charset="0"/>
              </a:rPr>
              <a:t>. 			Your clothes are beautiful.</a:t>
            </a:r>
          </a:p>
          <a:p>
            <a:r>
              <a:rPr lang="en-US" sz="2800" dirty="0">
                <a:latin typeface="Arial Narrow" panose="020B0606020202030204" pitchFamily="34" charset="0"/>
              </a:rPr>
              <a:t>Maganda </a:t>
            </a:r>
            <a:r>
              <a:rPr lang="en-US" sz="2800" dirty="0" err="1">
                <a:latin typeface="Arial Narrow" panose="020B0606020202030204" pitchFamily="34" charset="0"/>
              </a:rPr>
              <a:t>iyan</a:t>
            </a:r>
            <a:r>
              <a:rPr lang="en-US" sz="2800" dirty="0" err="1">
                <a:solidFill>
                  <a:srgbClr val="FF0000"/>
                </a:solidFill>
                <a:latin typeface="Arial Narrow" panose="020B0606020202030204" pitchFamily="34" charset="0"/>
              </a:rPr>
              <a:t>g</a:t>
            </a:r>
            <a:r>
              <a:rPr lang="en-US" sz="2800" dirty="0">
                <a:latin typeface="Arial Narrow" panose="020B0606020202030204" pitchFamily="34" charset="0"/>
              </a:rPr>
              <a:t> </a:t>
            </a:r>
            <a:r>
              <a:rPr lang="en-US" sz="2800" dirty="0" err="1">
                <a:latin typeface="Arial Narrow" panose="020B0606020202030204" pitchFamily="34" charset="0"/>
              </a:rPr>
              <a:t>suot</a:t>
            </a:r>
            <a:r>
              <a:rPr lang="en-US" sz="2800" dirty="0">
                <a:latin typeface="Arial Narrow" panose="020B0606020202030204" pitchFamily="34" charset="0"/>
              </a:rPr>
              <a:t> </a:t>
            </a:r>
            <a:r>
              <a:rPr lang="en-US" sz="2800" dirty="0" err="1">
                <a:latin typeface="Arial Narrow" panose="020B0606020202030204" pitchFamily="34" charset="0"/>
              </a:rPr>
              <a:t>mo</a:t>
            </a:r>
            <a:r>
              <a:rPr lang="en-US" sz="2800" b="1" dirty="0" err="1">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iyan</a:t>
            </a:r>
            <a:r>
              <a:rPr lang="en-US" sz="2800" dirty="0">
                <a:latin typeface="Arial Narrow" panose="020B0606020202030204" pitchFamily="34" charset="0"/>
              </a:rPr>
              <a:t>.</a:t>
            </a:r>
          </a:p>
          <a:p>
            <a:endParaRPr lang="en-US" sz="2800" dirty="0">
              <a:latin typeface="Arial Narrow" panose="020B0606020202030204" pitchFamily="34" charset="0"/>
            </a:endParaRPr>
          </a:p>
          <a:p>
            <a:r>
              <a:rPr lang="en-US" sz="2800" dirty="0">
                <a:latin typeface="Arial Narrow" panose="020B0606020202030204" pitchFamily="34" charset="0"/>
              </a:rPr>
              <a:t>Observe the use of -</a:t>
            </a:r>
            <a:r>
              <a:rPr lang="en-US" sz="2800" b="1" dirty="0">
                <a:solidFill>
                  <a:srgbClr val="FF0000"/>
                </a:solidFill>
                <a:latin typeface="Arial Narrow" panose="020B0606020202030204" pitchFamily="34" charset="0"/>
              </a:rPr>
              <a:t>ng, -g </a:t>
            </a:r>
            <a:r>
              <a:rPr lang="en-US" sz="2800" dirty="0">
                <a:latin typeface="Arial Narrow" panose="020B0606020202030204" pitchFamily="34" charset="0"/>
              </a:rPr>
              <a:t>and </a:t>
            </a:r>
            <a:r>
              <a:rPr lang="en-US" sz="2800" b="1" dirty="0" err="1">
                <a:solidFill>
                  <a:srgbClr val="FF0000"/>
                </a:solidFill>
                <a:latin typeface="Arial Narrow" panose="020B0606020202030204" pitchFamily="34" charset="0"/>
              </a:rPr>
              <a:t>na</a:t>
            </a:r>
            <a:r>
              <a:rPr lang="en-US" sz="2800" dirty="0">
                <a:latin typeface="Arial Narrow" panose="020B0606020202030204" pitchFamily="34" charset="0"/>
              </a:rPr>
              <a:t> in the following phrases:</a:t>
            </a:r>
          </a:p>
          <a:p>
            <a:r>
              <a:rPr lang="en-US" sz="2800" dirty="0" err="1">
                <a:latin typeface="Arial Narrow" panose="020B0606020202030204" pitchFamily="34" charset="0"/>
              </a:rPr>
              <a:t>ito</a:t>
            </a:r>
            <a:r>
              <a:rPr lang="en-US" sz="2800" dirty="0" err="1">
                <a:solidFill>
                  <a:srgbClr val="FF0000"/>
                </a:solidFill>
                <a:latin typeface="Arial Narrow" panose="020B0606020202030204" pitchFamily="34" charset="0"/>
              </a:rPr>
              <a:t>ng</a:t>
            </a:r>
            <a:r>
              <a:rPr lang="en-US" sz="2800" dirty="0">
                <a:solidFill>
                  <a:srgbClr val="FF0000"/>
                </a:solidFill>
                <a:latin typeface="Arial Narrow" panose="020B0606020202030204" pitchFamily="34" charset="0"/>
              </a:rPr>
              <a:t> </a:t>
            </a:r>
            <a:r>
              <a:rPr lang="en-US" sz="2800" dirty="0" err="1">
                <a:latin typeface="Arial Narrow" panose="020B0606020202030204" pitchFamily="34" charset="0"/>
              </a:rPr>
              <a:t>mesa</a:t>
            </a:r>
            <a:r>
              <a:rPr lang="en-US" sz="2800"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ito</a:t>
            </a:r>
            <a:endParaRPr lang="en-US" sz="2800" dirty="0">
              <a:latin typeface="Arial Narrow" panose="020B0606020202030204" pitchFamily="34" charset="0"/>
            </a:endParaRPr>
          </a:p>
          <a:p>
            <a:r>
              <a:rPr lang="en-US" sz="2800" dirty="0" err="1">
                <a:latin typeface="Arial Narrow" panose="020B0606020202030204" pitchFamily="34" charset="0"/>
              </a:rPr>
              <a:t>iyan</a:t>
            </a:r>
            <a:r>
              <a:rPr lang="en-US" sz="2800" b="1" dirty="0" err="1">
                <a:solidFill>
                  <a:srgbClr val="FF0000"/>
                </a:solidFill>
                <a:latin typeface="Arial Narrow" panose="020B0606020202030204" pitchFamily="34" charset="0"/>
              </a:rPr>
              <a:t>g</a:t>
            </a:r>
            <a:r>
              <a:rPr lang="en-US" sz="2800" dirty="0">
                <a:latin typeface="Arial Narrow" panose="020B0606020202030204" pitchFamily="34" charset="0"/>
              </a:rPr>
              <a:t> </a:t>
            </a:r>
            <a:r>
              <a:rPr lang="en-US" sz="2800" dirty="0" err="1">
                <a:latin typeface="Arial Narrow" panose="020B0606020202030204" pitchFamily="34" charset="0"/>
              </a:rPr>
              <a:t>suot</a:t>
            </a:r>
            <a:r>
              <a:rPr lang="en-US" sz="2800" dirty="0">
                <a:latin typeface="Arial Narrow" panose="020B0606020202030204" pitchFamily="34" charset="0"/>
              </a:rPr>
              <a:t> </a:t>
            </a:r>
            <a:r>
              <a:rPr lang="en-US" sz="2800" dirty="0" err="1">
                <a:latin typeface="Arial Narrow" panose="020B0606020202030204" pitchFamily="34" charset="0"/>
              </a:rPr>
              <a:t>mo</a:t>
            </a:r>
            <a:r>
              <a:rPr lang="en-US" sz="2800" dirty="0" err="1">
                <a:solidFill>
                  <a:srgbClr val="FF0000"/>
                </a:solidFill>
                <a:latin typeface="Arial Narrow" panose="020B0606020202030204" pitchFamily="34" charset="0"/>
              </a:rPr>
              <a:t>ng</a:t>
            </a:r>
            <a:r>
              <a:rPr lang="en-US" sz="2800" dirty="0">
                <a:latin typeface="Arial Narrow" panose="020B0606020202030204" pitchFamily="34" charset="0"/>
              </a:rPr>
              <a:t> </a:t>
            </a:r>
            <a:r>
              <a:rPr lang="en-US" sz="2800" dirty="0" err="1">
                <a:latin typeface="Arial Narrow" panose="020B0606020202030204" pitchFamily="34" charset="0"/>
              </a:rPr>
              <a:t>iyan</a:t>
            </a:r>
            <a:r>
              <a:rPr lang="en-US" sz="2800" dirty="0">
                <a:latin typeface="Arial Narrow" panose="020B0606020202030204" pitchFamily="34" charset="0"/>
              </a:rPr>
              <a:t> </a:t>
            </a:r>
          </a:p>
          <a:p>
            <a:r>
              <a:rPr lang="en-US" sz="2800" dirty="0" err="1">
                <a:latin typeface="Arial Narrow" panose="020B0606020202030204" pitchFamily="34" charset="0"/>
              </a:rPr>
              <a:t>iyon</a:t>
            </a:r>
            <a:r>
              <a:rPr lang="en-US" sz="2800" dirty="0" err="1">
                <a:solidFill>
                  <a:srgbClr val="FF0000"/>
                </a:solidFill>
                <a:latin typeface="Arial Narrow" panose="020B0606020202030204" pitchFamily="34" charset="0"/>
              </a:rPr>
              <a:t>g</a:t>
            </a:r>
            <a:r>
              <a:rPr lang="en-US" sz="2800" dirty="0">
                <a:latin typeface="Arial Narrow" panose="020B0606020202030204" pitchFamily="34" charset="0"/>
              </a:rPr>
              <a:t> </a:t>
            </a:r>
            <a:r>
              <a:rPr lang="en-US" sz="2800" dirty="0" err="1">
                <a:latin typeface="Arial Narrow" panose="020B0606020202030204" pitchFamily="34" charset="0"/>
              </a:rPr>
              <a:t>bahay</a:t>
            </a:r>
            <a:r>
              <a:rPr lang="en-US" sz="2800" dirty="0">
                <a:latin typeface="Arial Narrow" panose="020B0606020202030204" pitchFamily="34" charset="0"/>
              </a:rPr>
              <a:t> </a:t>
            </a:r>
            <a:r>
              <a:rPr lang="en-US" sz="2800" dirty="0" err="1">
                <a:solidFill>
                  <a:srgbClr val="FF0000"/>
                </a:solidFill>
                <a:latin typeface="Arial Narrow" panose="020B0606020202030204" pitchFamily="34" charset="0"/>
              </a:rPr>
              <a:t>na</a:t>
            </a:r>
            <a:r>
              <a:rPr lang="en-US" sz="2800" dirty="0">
                <a:latin typeface="Arial Narrow" panose="020B0606020202030204" pitchFamily="34" charset="0"/>
              </a:rPr>
              <a:t> </a:t>
            </a:r>
            <a:r>
              <a:rPr lang="en-US" sz="2800" dirty="0" err="1">
                <a:latin typeface="Arial Narrow" panose="020B0606020202030204" pitchFamily="34" charset="0"/>
              </a:rPr>
              <a:t>iyon</a:t>
            </a:r>
            <a:endParaRPr lang="en-US" sz="2800" dirty="0">
              <a:latin typeface="Arial Narrow" panose="020B0606020202030204" pitchFamily="34" charset="0"/>
            </a:endParaRPr>
          </a:p>
          <a:p>
            <a:endParaRPr lang="en-US" sz="2800" dirty="0">
              <a:latin typeface="Arial Narrow" panose="020B0606020202030204" pitchFamily="34" charset="0"/>
            </a:endParaRPr>
          </a:p>
          <a:p>
            <a:endParaRPr lang="en-US" sz="2800" dirty="0">
              <a:latin typeface="Arial Narrow" panose="020B0606020202030204" pitchFamily="34" charset="0"/>
            </a:endParaRPr>
          </a:p>
          <a:p>
            <a:endParaRPr lang="en-US" sz="2800" dirty="0">
              <a:latin typeface="Arial Narrow" panose="020B0606020202030204" pitchFamily="34" charset="0"/>
            </a:endParaRPr>
          </a:p>
        </p:txBody>
      </p:sp>
    </p:spTree>
    <p:extLst>
      <p:ext uri="{BB962C8B-B14F-4D97-AF65-F5344CB8AC3E}">
        <p14:creationId xmlns:p14="http://schemas.microsoft.com/office/powerpoint/2010/main" val="397769430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D772CD-61CE-5D5E-BED1-F1CC51B6CF8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E749A8B9-5832-8F3F-9DF7-6E73519D4E1F}"/>
              </a:ext>
            </a:extLst>
          </p:cNvPr>
          <p:cNvSpPr txBox="1"/>
          <p:nvPr/>
        </p:nvSpPr>
        <p:spPr>
          <a:xfrm>
            <a:off x="1" y="0"/>
            <a:ext cx="12192000" cy="6494085"/>
          </a:xfrm>
          <a:prstGeom prst="rect">
            <a:avLst/>
          </a:prstGeom>
          <a:noFill/>
        </p:spPr>
        <p:txBody>
          <a:bodyPr wrap="square">
            <a:spAutoFit/>
          </a:bodyPr>
          <a:lstStyle/>
          <a:p>
            <a:r>
              <a:rPr lang="en-US" sz="2600" dirty="0">
                <a:latin typeface="Arial Narrow" panose="020B0606020202030204" pitchFamily="34" charset="0"/>
              </a:rPr>
              <a:t>In these phrase, the connective -</a:t>
            </a:r>
            <a:r>
              <a:rPr lang="en-US" sz="2600" b="1" dirty="0">
                <a:solidFill>
                  <a:srgbClr val="FF0000"/>
                </a:solidFill>
                <a:latin typeface="Arial Narrow" panose="020B0606020202030204" pitchFamily="34" charset="0"/>
              </a:rPr>
              <a:t>ng</a:t>
            </a:r>
            <a:r>
              <a:rPr lang="en-US" sz="2600" dirty="0">
                <a:latin typeface="Arial Narrow" panose="020B0606020202030204" pitchFamily="34" charset="0"/>
              </a:rPr>
              <a:t> is attached to the modifier </a:t>
            </a:r>
            <a:r>
              <a:rPr lang="en-US" sz="2600" b="1" dirty="0" err="1">
                <a:solidFill>
                  <a:srgbClr val="FF0000"/>
                </a:solidFill>
                <a:latin typeface="Arial Narrow" panose="020B0606020202030204" pitchFamily="34" charset="0"/>
              </a:rPr>
              <a:t>ito</a:t>
            </a:r>
            <a:r>
              <a:rPr lang="en-US" sz="2600" dirty="0">
                <a:latin typeface="Arial Narrow" panose="020B0606020202030204" pitchFamily="34" charset="0"/>
              </a:rPr>
              <a:t>, the noun mesa, and the pronoun </a:t>
            </a:r>
            <a:r>
              <a:rPr lang="en-US" sz="2600" b="1" dirty="0" err="1">
                <a:solidFill>
                  <a:srgbClr val="FF0000"/>
                </a:solidFill>
                <a:latin typeface="Arial Narrow" panose="020B0606020202030204" pitchFamily="34" charset="0"/>
              </a:rPr>
              <a:t>mo</a:t>
            </a:r>
            <a:r>
              <a:rPr lang="en-US" sz="2600" dirty="0">
                <a:latin typeface="Arial Narrow" panose="020B0606020202030204" pitchFamily="34" charset="0"/>
              </a:rPr>
              <a:t>; the connective </a:t>
            </a:r>
            <a:r>
              <a:rPr lang="en-US" sz="2600" b="1" dirty="0">
                <a:solidFill>
                  <a:srgbClr val="FF0000"/>
                </a:solidFill>
                <a:latin typeface="Arial Narrow" panose="020B0606020202030204" pitchFamily="34" charset="0"/>
              </a:rPr>
              <a:t>-g</a:t>
            </a:r>
            <a:r>
              <a:rPr lang="en-US" sz="2600" dirty="0">
                <a:latin typeface="Arial Narrow" panose="020B0606020202030204" pitchFamily="34" charset="0"/>
              </a:rPr>
              <a:t> is attached to the modifiers </a:t>
            </a:r>
            <a:r>
              <a:rPr lang="en-US" sz="2600" dirty="0" err="1">
                <a:solidFill>
                  <a:srgbClr val="FF0000"/>
                </a:solidFill>
                <a:latin typeface="Arial Narrow" panose="020B0606020202030204" pitchFamily="34" charset="0"/>
              </a:rPr>
              <a:t>iyan</a:t>
            </a:r>
            <a:r>
              <a:rPr lang="en-US" sz="2600" dirty="0">
                <a:latin typeface="Arial Narrow" panose="020B0606020202030204" pitchFamily="34" charset="0"/>
              </a:rPr>
              <a:t> and </a:t>
            </a:r>
            <a:r>
              <a:rPr lang="en-US" sz="2600" b="1" dirty="0" err="1">
                <a:solidFill>
                  <a:srgbClr val="FF0000"/>
                </a:solidFill>
                <a:latin typeface="Arial Narrow" panose="020B0606020202030204" pitchFamily="34" charset="0"/>
              </a:rPr>
              <a:t>iyon</a:t>
            </a:r>
            <a:r>
              <a:rPr lang="en-US" sz="2600" dirty="0">
                <a:latin typeface="Arial Narrow" panose="020B0606020202030204" pitchFamily="34" charset="0"/>
              </a:rPr>
              <a:t>; and the connective</a:t>
            </a:r>
            <a:r>
              <a:rPr lang="en-US" sz="2600" b="1" dirty="0">
                <a:solidFill>
                  <a:srgbClr val="FF0000"/>
                </a:solidFill>
                <a:latin typeface="Arial Narrow" panose="020B0606020202030204" pitchFamily="34" charset="0"/>
              </a:rPr>
              <a:t> </a:t>
            </a:r>
            <a:r>
              <a:rPr lang="en-US" sz="2600" b="1" dirty="0" err="1">
                <a:solidFill>
                  <a:srgbClr val="FF0000"/>
                </a:solidFill>
                <a:latin typeface="Arial Narrow" panose="020B0606020202030204" pitchFamily="34" charset="0"/>
              </a:rPr>
              <a:t>na</a:t>
            </a:r>
            <a:r>
              <a:rPr lang="en-US" sz="2600" b="1" dirty="0">
                <a:solidFill>
                  <a:srgbClr val="FF0000"/>
                </a:solidFill>
                <a:latin typeface="Arial Narrow" panose="020B0606020202030204" pitchFamily="34" charset="0"/>
              </a:rPr>
              <a:t> </a:t>
            </a:r>
            <a:r>
              <a:rPr lang="en-US" sz="2600" dirty="0">
                <a:latin typeface="Arial Narrow" panose="020B0606020202030204" pitchFamily="34" charset="0"/>
              </a:rPr>
              <a:t>comes after the noun </a:t>
            </a:r>
            <a:r>
              <a:rPr lang="en-US" sz="2600" dirty="0" err="1">
                <a:latin typeface="Arial Narrow" panose="020B0606020202030204" pitchFamily="34" charset="0"/>
              </a:rPr>
              <a:t>bahay</a:t>
            </a:r>
            <a:r>
              <a:rPr lang="en-US" sz="2600" dirty="0">
                <a:latin typeface="Arial Narrow" panose="020B0606020202030204" pitchFamily="34" charset="0"/>
              </a:rPr>
              <a:t>.</a:t>
            </a:r>
          </a:p>
          <a:p>
            <a:r>
              <a:rPr lang="en-US" sz="2600" dirty="0">
                <a:latin typeface="Arial Narrow" panose="020B0606020202030204" pitchFamily="34" charset="0"/>
              </a:rPr>
              <a:t>The purpose of these three </a:t>
            </a:r>
            <a:r>
              <a:rPr lang="en-US" sz="2600" b="1" dirty="0">
                <a:solidFill>
                  <a:srgbClr val="FF0000"/>
                </a:solidFill>
                <a:latin typeface="Arial Narrow" panose="020B0606020202030204" pitchFamily="34" charset="0"/>
              </a:rPr>
              <a:t>connectives or ligature</a:t>
            </a:r>
            <a:r>
              <a:rPr lang="en-US" sz="2600" dirty="0">
                <a:latin typeface="Arial Narrow" panose="020B0606020202030204" pitchFamily="34" charset="0"/>
              </a:rPr>
              <a:t>, to be discussed in the next lesson is to connect the ff:</a:t>
            </a:r>
          </a:p>
          <a:p>
            <a:r>
              <a:rPr lang="en-US" sz="2600" dirty="0">
                <a:latin typeface="Arial Narrow" panose="020B0606020202030204" pitchFamily="34" charset="0"/>
              </a:rPr>
              <a:t>a demonstrative and a noun </a:t>
            </a:r>
            <a:r>
              <a:rPr lang="en-US" sz="2600" b="1" dirty="0">
                <a:latin typeface="Arial Narrow" panose="020B0606020202030204" pitchFamily="34" charset="0"/>
              </a:rPr>
              <a:t>(</a:t>
            </a:r>
            <a:r>
              <a:rPr lang="en-US" sz="2600" b="1" dirty="0" err="1">
                <a:latin typeface="Arial Narrow" panose="020B0606020202030204" pitchFamily="34" charset="0"/>
              </a:rPr>
              <a:t>itong</a:t>
            </a:r>
            <a:r>
              <a:rPr lang="en-US" sz="2600" b="1" dirty="0">
                <a:latin typeface="Arial Narrow" panose="020B0606020202030204" pitchFamily="34" charset="0"/>
              </a:rPr>
              <a:t> mesa, </a:t>
            </a:r>
            <a:r>
              <a:rPr lang="en-US" sz="2600" b="1" dirty="0" err="1">
                <a:latin typeface="Arial Narrow" panose="020B0606020202030204" pitchFamily="34" charset="0"/>
              </a:rPr>
              <a:t>iyang</a:t>
            </a:r>
            <a:r>
              <a:rPr lang="en-US" sz="2600" b="1" dirty="0">
                <a:latin typeface="Arial Narrow" panose="020B0606020202030204" pitchFamily="34" charset="0"/>
              </a:rPr>
              <a:t> </a:t>
            </a:r>
            <a:r>
              <a:rPr lang="en-US" sz="2600" b="1" dirty="0" err="1">
                <a:latin typeface="Arial Narrow" panose="020B0606020202030204" pitchFamily="34" charset="0"/>
              </a:rPr>
              <a:t>suot</a:t>
            </a:r>
            <a:r>
              <a:rPr lang="en-US" sz="2600" b="1" dirty="0">
                <a:latin typeface="Arial Narrow" panose="020B0606020202030204" pitchFamily="34" charset="0"/>
              </a:rPr>
              <a:t>, </a:t>
            </a:r>
            <a:r>
              <a:rPr lang="en-US" sz="2600" b="1" dirty="0" err="1">
                <a:latin typeface="Arial Narrow" panose="020B0606020202030204" pitchFamily="34" charset="0"/>
              </a:rPr>
              <a:t>iyong</a:t>
            </a:r>
            <a:r>
              <a:rPr lang="en-US" sz="2600" b="1" dirty="0">
                <a:latin typeface="Arial Narrow" panose="020B0606020202030204" pitchFamily="34" charset="0"/>
              </a:rPr>
              <a:t> </a:t>
            </a:r>
            <a:r>
              <a:rPr lang="en-US" sz="2600" b="1" dirty="0" err="1">
                <a:latin typeface="Arial Narrow" panose="020B0606020202030204" pitchFamily="34" charset="0"/>
              </a:rPr>
              <a:t>bahay</a:t>
            </a:r>
            <a:r>
              <a:rPr lang="en-US" sz="2600" b="1" dirty="0">
                <a:latin typeface="Arial Narrow" panose="020B0606020202030204" pitchFamily="34" charset="0"/>
              </a:rPr>
              <a:t>)</a:t>
            </a:r>
          </a:p>
          <a:p>
            <a:r>
              <a:rPr lang="en-US" sz="2600" dirty="0">
                <a:latin typeface="Arial Narrow" panose="020B0606020202030204" pitchFamily="34" charset="0"/>
              </a:rPr>
              <a:t>a noun and a demonstrative </a:t>
            </a:r>
            <a:r>
              <a:rPr lang="en-US" sz="2600" b="1" dirty="0">
                <a:latin typeface="Arial Narrow" panose="020B0606020202030204" pitchFamily="34" charset="0"/>
              </a:rPr>
              <a:t>(</a:t>
            </a:r>
            <a:r>
              <a:rPr lang="en-US" sz="2600" b="1" dirty="0" err="1">
                <a:latin typeface="Arial Narrow" panose="020B0606020202030204" pitchFamily="34" charset="0"/>
              </a:rPr>
              <a:t>bahay</a:t>
            </a:r>
            <a:r>
              <a:rPr lang="en-US" sz="2600" b="1" dirty="0">
                <a:latin typeface="Arial Narrow" panose="020B0606020202030204" pitchFamily="34" charset="0"/>
              </a:rPr>
              <a:t> </a:t>
            </a:r>
            <a:r>
              <a:rPr lang="en-US" sz="2600" b="1" dirty="0" err="1">
                <a:latin typeface="Arial Narrow" panose="020B0606020202030204" pitchFamily="34" charset="0"/>
              </a:rPr>
              <a:t>na</a:t>
            </a:r>
            <a:r>
              <a:rPr lang="en-US" sz="2600" b="1" dirty="0">
                <a:latin typeface="Arial Narrow" panose="020B0606020202030204" pitchFamily="34" charset="0"/>
              </a:rPr>
              <a:t> </a:t>
            </a:r>
            <a:r>
              <a:rPr lang="en-US" sz="2600" b="1" dirty="0" err="1">
                <a:latin typeface="Arial Narrow" panose="020B0606020202030204" pitchFamily="34" charset="0"/>
              </a:rPr>
              <a:t>iyon</a:t>
            </a:r>
            <a:r>
              <a:rPr lang="en-US" sz="2600" b="1" dirty="0">
                <a:latin typeface="Arial Narrow" panose="020B0606020202030204" pitchFamily="34" charset="0"/>
              </a:rPr>
              <a:t>, </a:t>
            </a:r>
            <a:r>
              <a:rPr lang="en-US" sz="2600" b="1" dirty="0" err="1">
                <a:latin typeface="Arial Narrow" panose="020B0606020202030204" pitchFamily="34" charset="0"/>
              </a:rPr>
              <a:t>mesang</a:t>
            </a:r>
            <a:r>
              <a:rPr lang="en-US" sz="2600" b="1" dirty="0">
                <a:latin typeface="Arial Narrow" panose="020B0606020202030204" pitchFamily="34" charset="0"/>
              </a:rPr>
              <a:t> </a:t>
            </a:r>
            <a:r>
              <a:rPr lang="en-US" sz="2600" b="1" dirty="0" err="1">
                <a:latin typeface="Arial Narrow" panose="020B0606020202030204" pitchFamily="34" charset="0"/>
              </a:rPr>
              <a:t>ito</a:t>
            </a:r>
            <a:r>
              <a:rPr lang="en-US" sz="2600" b="1" dirty="0">
                <a:latin typeface="Arial Narrow" panose="020B0606020202030204" pitchFamily="34" charset="0"/>
              </a:rPr>
              <a:t>)</a:t>
            </a:r>
          </a:p>
          <a:p>
            <a:r>
              <a:rPr lang="en-US" sz="2600" dirty="0">
                <a:latin typeface="Arial Narrow" panose="020B0606020202030204" pitchFamily="34" charset="0"/>
              </a:rPr>
              <a:t>a possessive pronoun and a demonstrative </a:t>
            </a:r>
            <a:r>
              <a:rPr lang="en-US" sz="2600" b="1" dirty="0">
                <a:latin typeface="Arial Narrow" panose="020B0606020202030204" pitchFamily="34" charset="0"/>
              </a:rPr>
              <a:t>(</a:t>
            </a:r>
            <a:r>
              <a:rPr lang="en-US" sz="2600" b="1" dirty="0" err="1">
                <a:latin typeface="Arial Narrow" panose="020B0606020202030204" pitchFamily="34" charset="0"/>
              </a:rPr>
              <a:t>mong</a:t>
            </a:r>
            <a:r>
              <a:rPr lang="en-US" sz="2600" b="1" dirty="0">
                <a:latin typeface="Arial Narrow" panose="020B0606020202030204" pitchFamily="34" charset="0"/>
              </a:rPr>
              <a:t> </a:t>
            </a:r>
            <a:r>
              <a:rPr lang="en-US" sz="2600" b="1" dirty="0" err="1">
                <a:latin typeface="Arial Narrow" panose="020B0606020202030204" pitchFamily="34" charset="0"/>
              </a:rPr>
              <a:t>iyan</a:t>
            </a:r>
            <a:r>
              <a:rPr lang="en-US" sz="2600" b="1" dirty="0">
                <a:latin typeface="Arial Narrow" panose="020B0606020202030204" pitchFamily="34" charset="0"/>
              </a:rPr>
              <a:t>)</a:t>
            </a:r>
          </a:p>
          <a:p>
            <a:r>
              <a:rPr lang="en-US" sz="2600" dirty="0">
                <a:latin typeface="Arial Narrow" panose="020B0606020202030204" pitchFamily="34" charset="0"/>
              </a:rPr>
              <a:t> </a:t>
            </a:r>
          </a:p>
          <a:p>
            <a:r>
              <a:rPr lang="en-US" sz="2600" dirty="0">
                <a:latin typeface="Arial Narrow" panose="020B0606020202030204" pitchFamily="34" charset="0"/>
              </a:rPr>
              <a:t>In a sentence containing the demonstratives </a:t>
            </a:r>
            <a:r>
              <a:rPr lang="en-US" sz="2600" b="1" dirty="0" err="1">
                <a:solidFill>
                  <a:srgbClr val="FF0000"/>
                </a:solidFill>
                <a:latin typeface="Arial Narrow" panose="020B0606020202030204" pitchFamily="34" charset="0"/>
              </a:rPr>
              <a:t>ito</a:t>
            </a:r>
            <a:r>
              <a:rPr lang="en-US" sz="2600" b="1" dirty="0">
                <a:solidFill>
                  <a:srgbClr val="FF0000"/>
                </a:solidFill>
                <a:latin typeface="Arial Narrow" panose="020B0606020202030204" pitchFamily="34" charset="0"/>
              </a:rPr>
              <a:t>, </a:t>
            </a:r>
            <a:r>
              <a:rPr lang="en-US" sz="2600" b="1" dirty="0" err="1">
                <a:solidFill>
                  <a:srgbClr val="FF0000"/>
                </a:solidFill>
                <a:latin typeface="Arial Narrow" panose="020B0606020202030204" pitchFamily="34" charset="0"/>
              </a:rPr>
              <a:t>iyan</a:t>
            </a:r>
            <a:r>
              <a:rPr lang="en-US" sz="2600" b="1" dirty="0">
                <a:solidFill>
                  <a:srgbClr val="FF0000"/>
                </a:solidFill>
                <a:latin typeface="Arial Narrow" panose="020B0606020202030204" pitchFamily="34" charset="0"/>
              </a:rPr>
              <a:t>, and </a:t>
            </a:r>
            <a:r>
              <a:rPr lang="en-US" sz="2600" b="1" dirty="0" err="1">
                <a:solidFill>
                  <a:srgbClr val="FF0000"/>
                </a:solidFill>
                <a:latin typeface="Arial Narrow" panose="020B0606020202030204" pitchFamily="34" charset="0"/>
              </a:rPr>
              <a:t>iyon</a:t>
            </a:r>
            <a:r>
              <a:rPr lang="en-US" sz="2600" b="1" dirty="0">
                <a:solidFill>
                  <a:srgbClr val="FF0000"/>
                </a:solidFill>
                <a:latin typeface="Arial Narrow" panose="020B0606020202030204" pitchFamily="34" charset="0"/>
              </a:rPr>
              <a:t> </a:t>
            </a:r>
            <a:r>
              <a:rPr lang="en-US" sz="2600" dirty="0">
                <a:latin typeface="Arial Narrow" panose="020B0606020202030204" pitchFamily="34" charset="0"/>
              </a:rPr>
              <a:t>and the marker </a:t>
            </a:r>
            <a:r>
              <a:rPr lang="en-US" sz="2600" b="1" dirty="0" err="1">
                <a:solidFill>
                  <a:srgbClr val="FF0000"/>
                </a:solidFill>
                <a:latin typeface="Arial Narrow" panose="020B0606020202030204" pitchFamily="34" charset="0"/>
              </a:rPr>
              <a:t>sa</a:t>
            </a:r>
            <a:r>
              <a:rPr lang="en-US" sz="2600" dirty="0">
                <a:solidFill>
                  <a:srgbClr val="FF0000"/>
                </a:solidFill>
                <a:latin typeface="Arial Narrow" panose="020B0606020202030204" pitchFamily="34" charset="0"/>
              </a:rPr>
              <a:t> </a:t>
            </a:r>
            <a:r>
              <a:rPr lang="en-US" sz="2600" dirty="0">
                <a:latin typeface="Arial Narrow" panose="020B0606020202030204" pitchFamily="34" charset="0"/>
              </a:rPr>
              <a:t>(which means </a:t>
            </a:r>
            <a:r>
              <a:rPr lang="en-US" sz="2600" b="1" dirty="0">
                <a:solidFill>
                  <a:srgbClr val="FF0000"/>
                </a:solidFill>
                <a:latin typeface="Arial Narrow" panose="020B0606020202030204" pitchFamily="34" charset="0"/>
              </a:rPr>
              <a:t>in, at, on</a:t>
            </a:r>
            <a:r>
              <a:rPr lang="en-US" sz="2600" dirty="0">
                <a:latin typeface="Arial Narrow" panose="020B0606020202030204" pitchFamily="34" charset="0"/>
              </a:rPr>
              <a:t> or </a:t>
            </a:r>
            <a:r>
              <a:rPr lang="en-US" sz="2600" b="1" dirty="0">
                <a:solidFill>
                  <a:srgbClr val="FF0000"/>
                </a:solidFill>
                <a:latin typeface="Arial Narrow" panose="020B0606020202030204" pitchFamily="34" charset="0"/>
              </a:rPr>
              <a:t>to, </a:t>
            </a:r>
            <a:r>
              <a:rPr lang="en-US" sz="2600" dirty="0">
                <a:latin typeface="Arial Narrow" panose="020B0606020202030204" pitchFamily="34" charset="0"/>
              </a:rPr>
              <a:t>and is used to denote the location of an action), the demonstratives </a:t>
            </a:r>
            <a:r>
              <a:rPr lang="en-US" sz="2600" b="1" dirty="0" err="1">
                <a:solidFill>
                  <a:srgbClr val="FF0000"/>
                </a:solidFill>
                <a:latin typeface="Arial Narrow" panose="020B0606020202030204" pitchFamily="34" charset="0"/>
              </a:rPr>
              <a:t>ito</a:t>
            </a:r>
            <a:r>
              <a:rPr lang="en-US" sz="2600" b="1" dirty="0">
                <a:solidFill>
                  <a:srgbClr val="FF0000"/>
                </a:solidFill>
                <a:latin typeface="Arial Narrow" panose="020B0606020202030204" pitchFamily="34" charset="0"/>
              </a:rPr>
              <a:t>, </a:t>
            </a:r>
            <a:r>
              <a:rPr lang="en-US" sz="2600" b="1" dirty="0" err="1">
                <a:solidFill>
                  <a:srgbClr val="FF0000"/>
                </a:solidFill>
                <a:latin typeface="Arial Narrow" panose="020B0606020202030204" pitchFamily="34" charset="0"/>
              </a:rPr>
              <a:t>iyan</a:t>
            </a:r>
            <a:r>
              <a:rPr lang="en-US" sz="2600" b="1" dirty="0">
                <a:solidFill>
                  <a:srgbClr val="FF0000"/>
                </a:solidFill>
                <a:latin typeface="Arial Narrow" panose="020B0606020202030204" pitchFamily="34" charset="0"/>
              </a:rPr>
              <a:t>, or </a:t>
            </a:r>
            <a:r>
              <a:rPr lang="en-US" sz="2600" b="1" dirty="0" err="1">
                <a:solidFill>
                  <a:srgbClr val="FF0000"/>
                </a:solidFill>
                <a:latin typeface="Arial Narrow" panose="020B0606020202030204" pitchFamily="34" charset="0"/>
              </a:rPr>
              <a:t>iyon</a:t>
            </a:r>
            <a:r>
              <a:rPr lang="en-US" sz="2600" b="1" dirty="0">
                <a:solidFill>
                  <a:srgbClr val="FF0000"/>
                </a:solidFill>
                <a:latin typeface="Arial Narrow" panose="020B0606020202030204" pitchFamily="34" charset="0"/>
              </a:rPr>
              <a:t> </a:t>
            </a:r>
            <a:r>
              <a:rPr lang="en-US" sz="2600" dirty="0">
                <a:latin typeface="Arial Narrow" panose="020B0606020202030204" pitchFamily="34" charset="0"/>
              </a:rPr>
              <a:t>always appear after the noun at the end of the sentence.</a:t>
            </a:r>
          </a:p>
          <a:p>
            <a:r>
              <a:rPr lang="en-US" sz="2600" dirty="0">
                <a:latin typeface="Arial Narrow" panose="020B0606020202030204" pitchFamily="34" charset="0"/>
              </a:rPr>
              <a:t>Ang bata ay </a:t>
            </a:r>
            <a:r>
              <a:rPr lang="en-US" sz="2600" dirty="0" err="1">
                <a:latin typeface="Arial Narrow" panose="020B0606020202030204" pitchFamily="34" charset="0"/>
              </a:rPr>
              <a:t>kumain</a:t>
            </a:r>
            <a:r>
              <a:rPr lang="en-US" sz="2600" dirty="0">
                <a:latin typeface="Arial Narrow" panose="020B0606020202030204" pitchFamily="34" charset="0"/>
              </a:rPr>
              <a:t> </a:t>
            </a:r>
            <a:r>
              <a:rPr lang="en-US" sz="2600" dirty="0" err="1">
                <a:latin typeface="Arial Narrow" panose="020B0606020202030204" pitchFamily="34" charset="0"/>
              </a:rPr>
              <a:t>sa</a:t>
            </a:r>
            <a:r>
              <a:rPr lang="en-US" sz="2600" dirty="0">
                <a:latin typeface="Arial Narrow" panose="020B0606020202030204" pitchFamily="34" charset="0"/>
              </a:rPr>
              <a:t> </a:t>
            </a:r>
            <a:r>
              <a:rPr lang="en-US" sz="2600" dirty="0" err="1">
                <a:latin typeface="Arial Narrow" panose="020B0606020202030204" pitchFamily="34" charset="0"/>
              </a:rPr>
              <a:t>mesa</a:t>
            </a:r>
            <a:r>
              <a:rPr lang="en-US" sz="2600" b="1" dirty="0" err="1">
                <a:solidFill>
                  <a:srgbClr val="FF0000"/>
                </a:solidFill>
                <a:latin typeface="Arial Narrow" panose="020B0606020202030204" pitchFamily="34" charset="0"/>
              </a:rPr>
              <a:t>ng</a:t>
            </a:r>
            <a:r>
              <a:rPr lang="en-US" sz="2600" dirty="0">
                <a:latin typeface="Arial Narrow" panose="020B0606020202030204" pitchFamily="34" charset="0"/>
              </a:rPr>
              <a:t> </a:t>
            </a:r>
            <a:r>
              <a:rPr lang="en-US" sz="2600" dirty="0" err="1">
                <a:latin typeface="Arial Narrow" panose="020B0606020202030204" pitchFamily="34" charset="0"/>
              </a:rPr>
              <a:t>ito</a:t>
            </a:r>
            <a:r>
              <a:rPr lang="en-US" sz="2600" dirty="0">
                <a:latin typeface="Arial Narrow" panose="020B0606020202030204" pitchFamily="34" charset="0"/>
              </a:rPr>
              <a:t>.   		The child ate on this table.</a:t>
            </a:r>
          </a:p>
          <a:p>
            <a:r>
              <a:rPr lang="en-US" sz="2600" dirty="0" err="1">
                <a:latin typeface="Arial Narrow" panose="020B0606020202030204" pitchFamily="34" charset="0"/>
              </a:rPr>
              <a:t>Pumunta</a:t>
            </a:r>
            <a:r>
              <a:rPr lang="en-US" sz="2600" dirty="0">
                <a:latin typeface="Arial Narrow" panose="020B0606020202030204" pitchFamily="34" charset="0"/>
              </a:rPr>
              <a:t> kami </a:t>
            </a:r>
            <a:r>
              <a:rPr lang="en-US" sz="2600" dirty="0" err="1">
                <a:latin typeface="Arial Narrow" panose="020B0606020202030204" pitchFamily="34" charset="0"/>
              </a:rPr>
              <a:t>sa</a:t>
            </a:r>
            <a:r>
              <a:rPr lang="en-US" sz="2600" dirty="0">
                <a:latin typeface="Arial Narrow" panose="020B0606020202030204" pitchFamily="34" charset="0"/>
              </a:rPr>
              <a:t> </a:t>
            </a:r>
            <a:r>
              <a:rPr lang="en-US" sz="2600" dirty="0" err="1">
                <a:latin typeface="Arial Narrow" panose="020B0606020202030204" pitchFamily="34" charset="0"/>
              </a:rPr>
              <a:t>bahay</a:t>
            </a:r>
            <a:r>
              <a:rPr lang="en-US" sz="2600" dirty="0">
                <a:latin typeface="Arial Narrow" panose="020B0606020202030204" pitchFamily="34" charset="0"/>
              </a:rPr>
              <a:t> </a:t>
            </a:r>
            <a:r>
              <a:rPr lang="en-US" sz="2600" b="1" dirty="0" err="1">
                <a:solidFill>
                  <a:srgbClr val="FF0000"/>
                </a:solidFill>
                <a:latin typeface="Arial Narrow" panose="020B0606020202030204" pitchFamily="34" charset="0"/>
              </a:rPr>
              <a:t>na</a:t>
            </a:r>
            <a:r>
              <a:rPr lang="en-US" sz="2600" dirty="0">
                <a:latin typeface="Arial Narrow" panose="020B0606020202030204" pitchFamily="34" charset="0"/>
              </a:rPr>
              <a:t> </a:t>
            </a:r>
            <a:r>
              <a:rPr lang="en-US" sz="2600" dirty="0" err="1">
                <a:latin typeface="Arial Narrow" panose="020B0606020202030204" pitchFamily="34" charset="0"/>
              </a:rPr>
              <a:t>iyan</a:t>
            </a:r>
            <a:r>
              <a:rPr lang="en-US" sz="2600" dirty="0">
                <a:latin typeface="Arial Narrow" panose="020B0606020202030204" pitchFamily="34" charset="0"/>
              </a:rPr>
              <a:t>.			We went to that house.</a:t>
            </a:r>
          </a:p>
          <a:p>
            <a:r>
              <a:rPr lang="en-US" sz="2600" dirty="0" err="1">
                <a:latin typeface="Arial Narrow" panose="020B0606020202030204" pitchFamily="34" charset="0"/>
              </a:rPr>
              <a:t>Sumakay</a:t>
            </a:r>
            <a:r>
              <a:rPr lang="en-US" sz="2600" dirty="0">
                <a:latin typeface="Arial Narrow" panose="020B0606020202030204" pitchFamily="34" charset="0"/>
              </a:rPr>
              <a:t> </a:t>
            </a:r>
            <a:r>
              <a:rPr lang="en-US" sz="2600" dirty="0" err="1">
                <a:latin typeface="Arial Narrow" panose="020B0606020202030204" pitchFamily="34" charset="0"/>
              </a:rPr>
              <a:t>sila</a:t>
            </a:r>
            <a:r>
              <a:rPr lang="en-US" sz="2600" dirty="0">
                <a:latin typeface="Arial Narrow" panose="020B0606020202030204" pitchFamily="34" charset="0"/>
              </a:rPr>
              <a:t> </a:t>
            </a:r>
            <a:r>
              <a:rPr lang="en-US" sz="2600" dirty="0" err="1">
                <a:latin typeface="Arial Narrow" panose="020B0606020202030204" pitchFamily="34" charset="0"/>
              </a:rPr>
              <a:t>sa</a:t>
            </a:r>
            <a:r>
              <a:rPr lang="en-US" sz="2600" dirty="0">
                <a:latin typeface="Arial Narrow" panose="020B0606020202030204" pitchFamily="34" charset="0"/>
              </a:rPr>
              <a:t> bus </a:t>
            </a:r>
            <a:r>
              <a:rPr lang="en-US" sz="2600" b="1" dirty="0" err="1">
                <a:solidFill>
                  <a:srgbClr val="FF0000"/>
                </a:solidFill>
                <a:latin typeface="Arial Narrow" panose="020B0606020202030204" pitchFamily="34" charset="0"/>
              </a:rPr>
              <a:t>na</a:t>
            </a:r>
            <a:r>
              <a:rPr lang="en-US" sz="2600" dirty="0">
                <a:latin typeface="Arial Narrow" panose="020B0606020202030204" pitchFamily="34" charset="0"/>
              </a:rPr>
              <a:t> </a:t>
            </a:r>
            <a:r>
              <a:rPr lang="en-US" sz="2600" dirty="0" err="1">
                <a:latin typeface="Arial Narrow" panose="020B0606020202030204" pitchFamily="34" charset="0"/>
              </a:rPr>
              <a:t>iyon</a:t>
            </a:r>
            <a:r>
              <a:rPr lang="en-US" sz="2600" dirty="0">
                <a:latin typeface="Arial Narrow" panose="020B0606020202030204" pitchFamily="34" charset="0"/>
              </a:rPr>
              <a:t>.				They rode on that bus.</a:t>
            </a:r>
          </a:p>
          <a:p>
            <a:endParaRPr lang="en-US" sz="2600" dirty="0">
              <a:latin typeface="Arial Narrow" panose="020B0606020202030204" pitchFamily="34" charset="0"/>
            </a:endParaRPr>
          </a:p>
        </p:txBody>
      </p:sp>
    </p:spTree>
    <p:extLst>
      <p:ext uri="{BB962C8B-B14F-4D97-AF65-F5344CB8AC3E}">
        <p14:creationId xmlns:p14="http://schemas.microsoft.com/office/powerpoint/2010/main" val="8288880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514AAC-572C-CC68-E383-28BE8D91F2C6}"/>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2D6ED288-BD37-0480-A05D-0265EB8FFFB8}"/>
              </a:ext>
            </a:extLst>
          </p:cNvPr>
          <p:cNvSpPr txBox="1"/>
          <p:nvPr/>
        </p:nvSpPr>
        <p:spPr>
          <a:xfrm>
            <a:off x="-101599" y="254000"/>
            <a:ext cx="12293600" cy="4893647"/>
          </a:xfrm>
          <a:prstGeom prst="rect">
            <a:avLst/>
          </a:prstGeom>
          <a:noFill/>
        </p:spPr>
        <p:txBody>
          <a:bodyPr wrap="square">
            <a:spAutoFit/>
          </a:bodyPr>
          <a:lstStyle/>
          <a:p>
            <a:r>
              <a:rPr lang="en-US" sz="2600" dirty="0">
                <a:latin typeface="Arial Narrow" panose="020B0606020202030204" pitchFamily="34" charset="0"/>
              </a:rPr>
              <a:t>											</a:t>
            </a:r>
            <a:r>
              <a:rPr lang="en-US" sz="2600" b="1" dirty="0">
                <a:latin typeface="Arial Narrow" panose="020B0606020202030204" pitchFamily="34" charset="0"/>
              </a:rPr>
              <a:t>Exercises</a:t>
            </a:r>
          </a:p>
          <a:p>
            <a:r>
              <a:rPr lang="en-US" sz="2600" dirty="0">
                <a:latin typeface="Arial Narrow" panose="020B0606020202030204" pitchFamily="34" charset="0"/>
              </a:rPr>
              <a:t>You are in front of the class behind the teacher's desk pointing out where things are in the classroom. Show where the following things are by filling in the blanks below with the proper singular or plural forms of the demonstratives </a:t>
            </a:r>
            <a:r>
              <a:rPr lang="en-US" sz="2600" b="1" dirty="0" err="1">
                <a:solidFill>
                  <a:srgbClr val="FF0000"/>
                </a:solidFill>
                <a:latin typeface="Arial Narrow" panose="020B0606020202030204" pitchFamily="34" charset="0"/>
              </a:rPr>
              <a:t>ito</a:t>
            </a:r>
            <a:r>
              <a:rPr lang="en-US" sz="2600" b="1" dirty="0">
                <a:solidFill>
                  <a:srgbClr val="FF0000"/>
                </a:solidFill>
                <a:latin typeface="Arial Narrow" panose="020B0606020202030204" pitchFamily="34" charset="0"/>
              </a:rPr>
              <a:t>, </a:t>
            </a:r>
            <a:r>
              <a:rPr lang="en-US" sz="2600" b="1" dirty="0" err="1">
                <a:solidFill>
                  <a:srgbClr val="FF0000"/>
                </a:solidFill>
                <a:latin typeface="Arial Narrow" panose="020B0606020202030204" pitchFamily="34" charset="0"/>
              </a:rPr>
              <a:t>iyan</a:t>
            </a:r>
            <a:r>
              <a:rPr lang="en-US" sz="2600" b="1" dirty="0">
                <a:solidFill>
                  <a:srgbClr val="FF0000"/>
                </a:solidFill>
                <a:latin typeface="Arial Narrow" panose="020B0606020202030204" pitchFamily="34" charset="0"/>
              </a:rPr>
              <a:t>, or </a:t>
            </a:r>
            <a:r>
              <a:rPr lang="en-US" sz="2600" b="1" dirty="0" err="1">
                <a:solidFill>
                  <a:srgbClr val="FF0000"/>
                </a:solidFill>
                <a:latin typeface="Arial Narrow" panose="020B0606020202030204" pitchFamily="34" charset="0"/>
              </a:rPr>
              <a:t>iyon</a:t>
            </a:r>
            <a:r>
              <a:rPr lang="en-US" sz="2600" b="1" dirty="0">
                <a:solidFill>
                  <a:srgbClr val="FF0000"/>
                </a:solidFill>
                <a:latin typeface="Arial Narrow" panose="020B0606020202030204" pitchFamily="34" charset="0"/>
              </a:rPr>
              <a:t>.</a:t>
            </a:r>
          </a:p>
          <a:p>
            <a:endParaRPr lang="en-US" sz="2600" dirty="0">
              <a:latin typeface="Arial Narrow" panose="020B0606020202030204" pitchFamily="34" charset="0"/>
            </a:endParaRPr>
          </a:p>
          <a:p>
            <a:r>
              <a:rPr lang="en-US" sz="2600" dirty="0">
                <a:latin typeface="Arial Narrow" panose="020B0606020202030204" pitchFamily="34" charset="0"/>
              </a:rPr>
              <a:t>1.______________ ang </a:t>
            </a:r>
            <a:r>
              <a:rPr lang="en-US" sz="2600" dirty="0" err="1">
                <a:latin typeface="Arial Narrow" panose="020B0606020202030204" pitchFamily="34" charset="0"/>
              </a:rPr>
              <a:t>aking</a:t>
            </a:r>
            <a:r>
              <a:rPr lang="en-US" sz="2600" dirty="0">
                <a:latin typeface="Arial Narrow" panose="020B0606020202030204" pitchFamily="34" charset="0"/>
              </a:rPr>
              <a:t> </a:t>
            </a:r>
            <a:r>
              <a:rPr lang="en-US" sz="2600" dirty="0" err="1">
                <a:latin typeface="Arial Narrow" panose="020B0606020202030204" pitchFamily="34" charset="0"/>
              </a:rPr>
              <a:t>lamesa</a:t>
            </a:r>
            <a:r>
              <a:rPr lang="en-US" sz="2600" dirty="0">
                <a:latin typeface="Arial Narrow" panose="020B0606020202030204" pitchFamily="34" charset="0"/>
              </a:rPr>
              <a:t>. (table)</a:t>
            </a:r>
          </a:p>
          <a:p>
            <a:r>
              <a:rPr lang="en-US" sz="2600" dirty="0">
                <a:latin typeface="Arial Narrow" panose="020B0606020202030204" pitchFamily="34" charset="0"/>
              </a:rPr>
              <a:t>2.(Pointing to a student's seat)___________ ay </a:t>
            </a:r>
            <a:r>
              <a:rPr lang="en-US" sz="2600" dirty="0" err="1">
                <a:latin typeface="Arial Narrow" panose="020B0606020202030204" pitchFamily="34" charset="0"/>
              </a:rPr>
              <a:t>upuan</a:t>
            </a:r>
            <a:r>
              <a:rPr lang="en-US" sz="2600" dirty="0">
                <a:latin typeface="Arial Narrow" panose="020B0606020202030204" pitchFamily="34" charset="0"/>
              </a:rPr>
              <a:t> ng </a:t>
            </a:r>
            <a:r>
              <a:rPr lang="en-US" sz="2600" dirty="0" err="1">
                <a:latin typeface="Arial Narrow" panose="020B0606020202030204" pitchFamily="34" charset="0"/>
              </a:rPr>
              <a:t>estudyante</a:t>
            </a:r>
            <a:r>
              <a:rPr lang="en-US" sz="2600" dirty="0">
                <a:latin typeface="Arial Narrow" panose="020B0606020202030204" pitchFamily="34" charset="0"/>
              </a:rPr>
              <a:t>.</a:t>
            </a:r>
          </a:p>
          <a:p>
            <a:r>
              <a:rPr lang="en-US" sz="2600" dirty="0">
                <a:latin typeface="Arial Narrow" panose="020B0606020202030204" pitchFamily="34" charset="0"/>
              </a:rPr>
              <a:t>3.Sa </a:t>
            </a:r>
            <a:r>
              <a:rPr lang="en-US" sz="2600" dirty="0" err="1">
                <a:latin typeface="Arial Narrow" panose="020B0606020202030204" pitchFamily="34" charset="0"/>
              </a:rPr>
              <a:t>likod</a:t>
            </a:r>
            <a:r>
              <a:rPr lang="en-US" sz="2600" dirty="0">
                <a:latin typeface="Arial Narrow" panose="020B0606020202030204" pitchFamily="34" charset="0"/>
              </a:rPr>
              <a:t> (at the back) ay ang </a:t>
            </a:r>
            <a:r>
              <a:rPr lang="en-US" sz="2600" dirty="0" err="1">
                <a:latin typeface="Arial Narrow" panose="020B0606020202030204" pitchFamily="34" charset="0"/>
              </a:rPr>
              <a:t>malaking</a:t>
            </a:r>
            <a:r>
              <a:rPr lang="en-US" sz="2600" dirty="0">
                <a:latin typeface="Arial Narrow" panose="020B0606020202030204" pitchFamily="34" charset="0"/>
              </a:rPr>
              <a:t> </a:t>
            </a:r>
            <a:r>
              <a:rPr lang="en-US" sz="2600" dirty="0" err="1">
                <a:latin typeface="Arial Narrow" panose="020B0606020202030204" pitchFamily="34" charset="0"/>
              </a:rPr>
              <a:t>pisara</a:t>
            </a:r>
            <a:r>
              <a:rPr lang="en-US" sz="2600" dirty="0">
                <a:latin typeface="Arial Narrow" panose="020B0606020202030204" pitchFamily="34" charset="0"/>
              </a:rPr>
              <a:t> (blackboard). __________ay </a:t>
            </a:r>
            <a:r>
              <a:rPr lang="en-US" sz="2600" dirty="0" err="1">
                <a:latin typeface="Arial Narrow" panose="020B0606020202030204" pitchFamily="34" charset="0"/>
              </a:rPr>
              <a:t>susulatan</a:t>
            </a:r>
            <a:r>
              <a:rPr lang="en-US" sz="2600" dirty="0">
                <a:latin typeface="Arial Narrow" panose="020B0606020202030204" pitchFamily="34" charset="0"/>
              </a:rPr>
              <a:t> ko ng </a:t>
            </a:r>
            <a:r>
              <a:rPr lang="en-US" sz="2600" dirty="0" err="1">
                <a:latin typeface="Arial Narrow" panose="020B0606020202030204" pitchFamily="34" charset="0"/>
              </a:rPr>
              <a:t>mga</a:t>
            </a:r>
            <a:r>
              <a:rPr lang="en-US" sz="2600" dirty="0">
                <a:latin typeface="Arial Narrow" panose="020B0606020202030204" pitchFamily="34" charset="0"/>
              </a:rPr>
              <a:t> </a:t>
            </a:r>
            <a:r>
              <a:rPr lang="en-US" sz="2600" dirty="0" err="1">
                <a:latin typeface="Arial Narrow" panose="020B0606020202030204" pitchFamily="34" charset="0"/>
              </a:rPr>
              <a:t>takdang-aralin</a:t>
            </a:r>
            <a:r>
              <a:rPr lang="en-US" sz="2600" dirty="0">
                <a:latin typeface="Arial Narrow" panose="020B0606020202030204" pitchFamily="34" charset="0"/>
              </a:rPr>
              <a:t> (</a:t>
            </a:r>
            <a:r>
              <a:rPr lang="en-US" sz="2600" dirty="0" err="1">
                <a:latin typeface="Arial Narrow" panose="020B0606020202030204" pitchFamily="34" charset="0"/>
              </a:rPr>
              <a:t>homeworks</a:t>
            </a:r>
            <a:r>
              <a:rPr lang="en-US" sz="2600" dirty="0">
                <a:latin typeface="Arial Narrow" panose="020B0606020202030204" pitchFamily="34" charset="0"/>
              </a:rPr>
              <a:t>).</a:t>
            </a:r>
          </a:p>
          <a:p>
            <a:r>
              <a:rPr lang="en-US" sz="2600" dirty="0">
                <a:latin typeface="Arial Narrow" panose="020B0606020202030204" pitchFamily="34" charset="0"/>
              </a:rPr>
              <a:t>4.Sa </a:t>
            </a:r>
            <a:r>
              <a:rPr lang="en-US" sz="2600" dirty="0" err="1">
                <a:latin typeface="Arial Narrow" panose="020B0606020202030204" pitchFamily="34" charset="0"/>
              </a:rPr>
              <a:t>kanan</a:t>
            </a:r>
            <a:r>
              <a:rPr lang="en-US" sz="2600" dirty="0">
                <a:latin typeface="Arial Narrow" panose="020B0606020202030204" pitchFamily="34" charset="0"/>
              </a:rPr>
              <a:t> (to the right) ay </a:t>
            </a:r>
            <a:r>
              <a:rPr lang="en-US" sz="2600" dirty="0" err="1">
                <a:latin typeface="Arial Narrow" panose="020B0606020202030204" pitchFamily="34" charset="0"/>
              </a:rPr>
              <a:t>mga</a:t>
            </a:r>
            <a:r>
              <a:rPr lang="en-US" sz="2600" dirty="0">
                <a:latin typeface="Arial Narrow" panose="020B0606020202030204" pitchFamily="34" charset="0"/>
              </a:rPr>
              <a:t> </a:t>
            </a:r>
            <a:r>
              <a:rPr lang="en-US" sz="2600" dirty="0" err="1">
                <a:latin typeface="Arial Narrow" panose="020B0606020202030204" pitchFamily="34" charset="0"/>
              </a:rPr>
              <a:t>libro</a:t>
            </a:r>
            <a:r>
              <a:rPr lang="en-US" sz="2600" dirty="0">
                <a:latin typeface="Arial Narrow" panose="020B0606020202030204" pitchFamily="34" charset="0"/>
              </a:rPr>
              <a:t>. ______________	ay </a:t>
            </a:r>
            <a:r>
              <a:rPr lang="en-US" sz="2600" dirty="0" err="1">
                <a:latin typeface="Arial Narrow" panose="020B0606020202030204" pitchFamily="34" charset="0"/>
              </a:rPr>
              <a:t>babasahin</a:t>
            </a:r>
            <a:r>
              <a:rPr lang="en-US" sz="2600" dirty="0">
                <a:latin typeface="Arial Narrow" panose="020B0606020202030204" pitchFamily="34" charset="0"/>
              </a:rPr>
              <a:t> natin.</a:t>
            </a:r>
          </a:p>
          <a:p>
            <a:r>
              <a:rPr lang="en-US" sz="2600" dirty="0">
                <a:latin typeface="Arial Narrow" panose="020B0606020202030204" pitchFamily="34" charset="0"/>
              </a:rPr>
              <a:t>5.Sa </a:t>
            </a:r>
            <a:r>
              <a:rPr lang="en-US" sz="2600" dirty="0" err="1">
                <a:latin typeface="Arial Narrow" panose="020B0606020202030204" pitchFamily="34" charset="0"/>
              </a:rPr>
              <a:t>kaliwa</a:t>
            </a:r>
            <a:r>
              <a:rPr lang="en-US" sz="2600" dirty="0">
                <a:latin typeface="Arial Narrow" panose="020B0606020202030204" pitchFamily="34" charset="0"/>
              </a:rPr>
              <a:t> (to your left) </a:t>
            </a:r>
            <a:r>
              <a:rPr lang="en-US" sz="2600" dirty="0" err="1">
                <a:latin typeface="Arial Narrow" panose="020B0606020202030204" pitchFamily="34" charset="0"/>
              </a:rPr>
              <a:t>ninyo</a:t>
            </a:r>
            <a:r>
              <a:rPr lang="en-US" sz="2600" dirty="0">
                <a:latin typeface="Arial Narrow" panose="020B0606020202030204" pitchFamily="34" charset="0"/>
              </a:rPr>
              <a:t> ay </a:t>
            </a:r>
            <a:r>
              <a:rPr lang="en-US" sz="2600" dirty="0" err="1">
                <a:latin typeface="Arial Narrow" panose="020B0606020202030204" pitchFamily="34" charset="0"/>
              </a:rPr>
              <a:t>mga</a:t>
            </a:r>
            <a:r>
              <a:rPr lang="en-US" sz="2600" dirty="0">
                <a:latin typeface="Arial Narrow" panose="020B0606020202030204" pitchFamily="34" charset="0"/>
              </a:rPr>
              <a:t> </a:t>
            </a:r>
            <a:r>
              <a:rPr lang="en-US" sz="2600" dirty="0" err="1">
                <a:latin typeface="Arial Narrow" panose="020B0606020202030204" pitchFamily="34" charset="0"/>
              </a:rPr>
              <a:t>bintana</a:t>
            </a:r>
            <a:r>
              <a:rPr lang="en-US" sz="2600" dirty="0">
                <a:latin typeface="Arial Narrow" panose="020B0606020202030204" pitchFamily="34" charset="0"/>
              </a:rPr>
              <a:t>. __________	ay </a:t>
            </a:r>
            <a:r>
              <a:rPr lang="en-US" sz="2600" dirty="0" err="1">
                <a:latin typeface="Arial Narrow" panose="020B0606020202030204" pitchFamily="34" charset="0"/>
              </a:rPr>
              <a:t>palaging</a:t>
            </a:r>
            <a:r>
              <a:rPr lang="en-US" sz="2600" dirty="0">
                <a:latin typeface="Arial Narrow" panose="020B0606020202030204" pitchFamily="34" charset="0"/>
              </a:rPr>
              <a:t> </a:t>
            </a:r>
            <a:r>
              <a:rPr lang="en-US" sz="2600" dirty="0" err="1">
                <a:latin typeface="Arial Narrow" panose="020B0606020202030204" pitchFamily="34" charset="0"/>
              </a:rPr>
              <a:t>nakabukas</a:t>
            </a:r>
            <a:r>
              <a:rPr lang="en-US" sz="2600" dirty="0">
                <a:latin typeface="Arial Narrow" panose="020B0606020202030204" pitchFamily="34" charset="0"/>
              </a:rPr>
              <a:t>.</a:t>
            </a:r>
          </a:p>
          <a:p>
            <a:r>
              <a:rPr lang="en-US" sz="2600" dirty="0">
                <a:latin typeface="Arial Narrow" panose="020B0606020202030204" pitchFamily="34" charset="0"/>
              </a:rPr>
              <a:t>(always open)</a:t>
            </a:r>
          </a:p>
        </p:txBody>
      </p:sp>
    </p:spTree>
    <p:extLst>
      <p:ext uri="{BB962C8B-B14F-4D97-AF65-F5344CB8AC3E}">
        <p14:creationId xmlns:p14="http://schemas.microsoft.com/office/powerpoint/2010/main" val="331868586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A9B328-EF15-E599-D7E2-CF69EDE803E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C714B9B-6008-FB6E-CB8E-A281FBFC4CC9}"/>
              </a:ext>
            </a:extLst>
          </p:cNvPr>
          <p:cNvSpPr txBox="1"/>
          <p:nvPr/>
        </p:nvSpPr>
        <p:spPr>
          <a:xfrm>
            <a:off x="0" y="254000"/>
            <a:ext cx="12191999" cy="2031325"/>
          </a:xfrm>
          <a:prstGeom prst="rect">
            <a:avLst/>
          </a:prstGeom>
          <a:noFill/>
        </p:spPr>
        <p:txBody>
          <a:bodyPr wrap="square">
            <a:spAutoFit/>
          </a:bodyPr>
          <a:lstStyle/>
          <a:p>
            <a:endParaRPr lang="en-PH" sz="2800" dirty="0">
              <a:latin typeface="Arial Nova Cond Light" panose="020B0306020202020204" pitchFamily="34" charset="0"/>
            </a:endParaRPr>
          </a:p>
          <a:p>
            <a:pPr algn="ctr"/>
            <a:r>
              <a:rPr lang="en-US" sz="7200" b="1" dirty="0">
                <a:latin typeface="Arial Nova Cond Light" panose="020B0306020202020204" pitchFamily="34" charset="0"/>
              </a:rPr>
              <a:t>WORDS THAT LINK AND DESCRIBE</a:t>
            </a:r>
            <a:endParaRPr lang="en-PH" sz="7200" dirty="0">
              <a:latin typeface="Arial Nova Cond Light" panose="020B0306020202020204" pitchFamily="34" charset="0"/>
            </a:endParaRPr>
          </a:p>
          <a:p>
            <a:endParaRPr lang="en-US" sz="2600" dirty="0">
              <a:latin typeface="Arial Nova Cond Light" panose="020B0306020202020204" pitchFamily="34" charset="0"/>
            </a:endParaRPr>
          </a:p>
        </p:txBody>
      </p:sp>
    </p:spTree>
    <p:extLst>
      <p:ext uri="{BB962C8B-B14F-4D97-AF65-F5344CB8AC3E}">
        <p14:creationId xmlns:p14="http://schemas.microsoft.com/office/powerpoint/2010/main" val="32618617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035D8-B879-0DE4-A35C-444C61DBA3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B032BC-B1D6-E99A-2D4C-C1D9C2B7AC88}"/>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0BB223B6-F5FA-EC54-98A9-E70D02BD73F2}"/>
              </a:ext>
            </a:extLst>
          </p:cNvPr>
          <p:cNvSpPr>
            <a:spLocks noGrp="1"/>
          </p:cNvSpPr>
          <p:nvPr>
            <p:ph idx="1"/>
          </p:nvPr>
        </p:nvSpPr>
        <p:spPr>
          <a:xfrm>
            <a:off x="0" y="1831736"/>
            <a:ext cx="12192000" cy="4052597"/>
          </a:xfrm>
        </p:spPr>
        <p:txBody>
          <a:bodyPr>
            <a:normAutofit/>
          </a:bodyPr>
          <a:lstStyle/>
          <a:p>
            <a:pPr marL="0" indent="0">
              <a:buNone/>
            </a:pPr>
            <a:endParaRPr lang="en-PH" dirty="0"/>
          </a:p>
          <a:p>
            <a:pPr marL="0" indent="0">
              <a:buNone/>
            </a:pPr>
            <a:endParaRPr lang="en-PH" dirty="0"/>
          </a:p>
        </p:txBody>
      </p:sp>
      <p:sp>
        <p:nvSpPr>
          <p:cNvPr id="13" name="TextBox 12">
            <a:extLst>
              <a:ext uri="{FF2B5EF4-FFF2-40B4-BE49-F238E27FC236}">
                <a16:creationId xmlns:a16="http://schemas.microsoft.com/office/drawing/2014/main" id="{5C36A6C0-6F8D-A6F8-076E-90956B567EDE}"/>
              </a:ext>
            </a:extLst>
          </p:cNvPr>
          <p:cNvSpPr txBox="1"/>
          <p:nvPr/>
        </p:nvSpPr>
        <p:spPr>
          <a:xfrm>
            <a:off x="0" y="1611695"/>
            <a:ext cx="12191999" cy="2800767"/>
          </a:xfrm>
          <a:prstGeom prst="rect">
            <a:avLst/>
          </a:prstGeom>
          <a:noFill/>
        </p:spPr>
        <p:txBody>
          <a:bodyPr wrap="square">
            <a:spAutoFit/>
          </a:bodyPr>
          <a:lstStyle/>
          <a:p>
            <a:r>
              <a:rPr lang="en-US" dirty="0"/>
              <a:t> </a:t>
            </a:r>
          </a:p>
          <a:p>
            <a:r>
              <a:rPr lang="en-US" sz="2800" dirty="0">
                <a:latin typeface="Arial Nova Cond Light" panose="020B0306020202020204" pitchFamily="34" charset="0"/>
              </a:rPr>
              <a:t>A peculiar but noteworthy feature of the Tagalog language is the use of connectives or ligatures to </a:t>
            </a:r>
            <a:r>
              <a:rPr lang="en-US" sz="2800" dirty="0">
                <a:solidFill>
                  <a:srgbClr val="FF0000"/>
                </a:solidFill>
                <a:latin typeface="Arial Nova Cond Light" panose="020B0306020202020204" pitchFamily="34" charset="0"/>
              </a:rPr>
              <a:t>"link together " two adjacent words</a:t>
            </a:r>
            <a:r>
              <a:rPr lang="en-US" sz="2800" dirty="0">
                <a:latin typeface="Arial Nova Cond Light" panose="020B0306020202020204" pitchFamily="34" charset="0"/>
              </a:rPr>
              <a:t>. The ligature suffixes </a:t>
            </a:r>
            <a:r>
              <a:rPr lang="en-US" sz="2800" b="1" dirty="0">
                <a:latin typeface="Arial Nova Cond Light" panose="020B0306020202020204" pitchFamily="34" charset="0"/>
              </a:rPr>
              <a:t>-</a:t>
            </a:r>
            <a:r>
              <a:rPr lang="en-US" sz="2800" b="1" dirty="0">
                <a:solidFill>
                  <a:srgbClr val="FF0000"/>
                </a:solidFill>
                <a:latin typeface="Arial Nova Cond Light" panose="020B0306020202020204" pitchFamily="34" charset="0"/>
              </a:rPr>
              <a:t>ng</a:t>
            </a:r>
            <a:r>
              <a:rPr lang="en-US" sz="2800" b="1" dirty="0">
                <a:latin typeface="Arial Nova Cond Light" panose="020B0306020202020204" pitchFamily="34" charset="0"/>
              </a:rPr>
              <a:t> </a:t>
            </a:r>
            <a:r>
              <a:rPr lang="en-US" sz="2800" dirty="0">
                <a:latin typeface="Arial Nova Cond Light" panose="020B0306020202020204" pitchFamily="34" charset="0"/>
              </a:rPr>
              <a:t>and </a:t>
            </a:r>
            <a:r>
              <a:rPr lang="en-US" sz="2800" b="1" dirty="0">
                <a:solidFill>
                  <a:srgbClr val="FF0000"/>
                </a:solidFill>
                <a:latin typeface="Arial Nova Cond Light" panose="020B0306020202020204" pitchFamily="34" charset="0"/>
              </a:rPr>
              <a:t>-g</a:t>
            </a:r>
            <a:r>
              <a:rPr lang="en-US" sz="2800" b="1" dirty="0">
                <a:latin typeface="Arial Nova Cond Light" panose="020B0306020202020204" pitchFamily="34" charset="0"/>
              </a:rPr>
              <a:t> </a:t>
            </a:r>
            <a:r>
              <a:rPr lang="en-US" sz="2800" dirty="0">
                <a:latin typeface="Arial Nova Cond Light" panose="020B0306020202020204" pitchFamily="34" charset="0"/>
              </a:rPr>
              <a:t>are attached to the </a:t>
            </a:r>
            <a:r>
              <a:rPr lang="en-US" sz="2800" dirty="0">
                <a:solidFill>
                  <a:srgbClr val="FF0000"/>
                </a:solidFill>
                <a:latin typeface="Arial Nova Cond Light" panose="020B0306020202020204" pitchFamily="34" charset="0"/>
              </a:rPr>
              <a:t>end of the first word </a:t>
            </a:r>
            <a:r>
              <a:rPr lang="en-US" sz="2800" dirty="0">
                <a:latin typeface="Arial Nova Cond Light" panose="020B0306020202020204" pitchFamily="34" charset="0"/>
              </a:rPr>
              <a:t>in a sequence whereas the ligature word </a:t>
            </a:r>
            <a:r>
              <a:rPr lang="en-US" sz="2800" b="1" dirty="0" err="1">
                <a:solidFill>
                  <a:srgbClr val="FF0000"/>
                </a:solidFill>
                <a:latin typeface="Arial Nova Cond Light" panose="020B0306020202020204" pitchFamily="34" charset="0"/>
              </a:rPr>
              <a:t>na</a:t>
            </a:r>
            <a:r>
              <a:rPr lang="en-US" sz="2800" b="1" dirty="0">
                <a:solidFill>
                  <a:srgbClr val="FF0000"/>
                </a:solidFill>
                <a:latin typeface="Arial Nova Cond Light" panose="020B0306020202020204" pitchFamily="34" charset="0"/>
              </a:rPr>
              <a:t> </a:t>
            </a:r>
            <a:r>
              <a:rPr lang="en-US" sz="2800" dirty="0">
                <a:latin typeface="Arial Nova Cond Light" panose="020B0306020202020204" pitchFamily="34" charset="0"/>
              </a:rPr>
              <a:t>is placed between the </a:t>
            </a:r>
            <a:r>
              <a:rPr lang="en-US" sz="2800" dirty="0">
                <a:solidFill>
                  <a:srgbClr val="FF0000"/>
                </a:solidFill>
                <a:latin typeface="Arial Nova Cond Light" panose="020B0306020202020204" pitchFamily="34" charset="0"/>
              </a:rPr>
              <a:t>two words</a:t>
            </a:r>
            <a:r>
              <a:rPr lang="en-US" sz="2800" dirty="0">
                <a:latin typeface="Arial Nova Cond Light" panose="020B0306020202020204" pitchFamily="34" charset="0"/>
              </a:rPr>
              <a:t>.</a:t>
            </a:r>
            <a:endParaRPr lang="en-PH" sz="2800" dirty="0">
              <a:latin typeface="Arial Nova Cond Light" panose="020B0306020202020204" pitchFamily="34" charset="0"/>
            </a:endParaRPr>
          </a:p>
          <a:p>
            <a:r>
              <a:rPr lang="en-US" sz="2800" dirty="0">
                <a:latin typeface="Arial Nova Cond Light" panose="020B0306020202020204" pitchFamily="34" charset="0"/>
              </a:rPr>
              <a:t>These ligatures have no particular meaning of their own, but merely indicate that there is a close rela­tionship between the two words and that, generally, one modifies the other.</a:t>
            </a:r>
            <a:endParaRPr lang="en-PH" sz="2800" dirty="0">
              <a:latin typeface="Arial Nova Cond Light" panose="020B0306020202020204" pitchFamily="34" charset="0"/>
            </a:endParaRPr>
          </a:p>
          <a:p>
            <a:endParaRPr lang="en-PH" dirty="0"/>
          </a:p>
        </p:txBody>
      </p:sp>
    </p:spTree>
    <p:extLst>
      <p:ext uri="{BB962C8B-B14F-4D97-AF65-F5344CB8AC3E}">
        <p14:creationId xmlns:p14="http://schemas.microsoft.com/office/powerpoint/2010/main" val="1737026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CA09C6-9528-F445-3438-898D29394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83EBF-865C-6E92-113E-E4B441245E44}"/>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A1F0722A-FF24-8B27-CB07-097816F759A0}"/>
              </a:ext>
            </a:extLst>
          </p:cNvPr>
          <p:cNvSpPr>
            <a:spLocks noGrp="1"/>
          </p:cNvSpPr>
          <p:nvPr>
            <p:ph idx="1"/>
          </p:nvPr>
        </p:nvSpPr>
        <p:spPr>
          <a:xfrm>
            <a:off x="0" y="1831736"/>
            <a:ext cx="12192000" cy="4052597"/>
          </a:xfrm>
        </p:spPr>
        <p:txBody>
          <a:bodyPr>
            <a:normAutofit fontScale="92500" lnSpcReduction="10000"/>
          </a:bodyPr>
          <a:lstStyle/>
          <a:p>
            <a:pPr marL="0" indent="0">
              <a:buNone/>
            </a:pPr>
            <a:r>
              <a:rPr lang="en-PH" sz="3200" dirty="0">
                <a:latin typeface="Arial Nova Cond Light" panose="020B0306020202020204" pitchFamily="34" charset="0"/>
              </a:rPr>
              <a:t>1.The suffix ligature -</a:t>
            </a:r>
            <a:r>
              <a:rPr lang="en-PH" sz="3200" dirty="0">
                <a:solidFill>
                  <a:srgbClr val="FF0000"/>
                </a:solidFill>
                <a:latin typeface="Arial Nova Cond Light" panose="020B0306020202020204" pitchFamily="34" charset="0"/>
              </a:rPr>
              <a:t>NG</a:t>
            </a:r>
          </a:p>
          <a:p>
            <a:pPr marL="0" indent="0">
              <a:buNone/>
            </a:pPr>
            <a:r>
              <a:rPr lang="en-PH" sz="2800" dirty="0">
                <a:latin typeface="Arial Nova Cond Light" panose="020B0306020202020204" pitchFamily="34" charset="0"/>
              </a:rPr>
              <a:t>The ligature -</a:t>
            </a:r>
            <a:r>
              <a:rPr lang="en-PH" sz="2800" dirty="0">
                <a:solidFill>
                  <a:srgbClr val="FF0000"/>
                </a:solidFill>
                <a:latin typeface="Arial Nova Cond Light" panose="020B0306020202020204" pitchFamily="34" charset="0"/>
              </a:rPr>
              <a:t>ng</a:t>
            </a:r>
            <a:r>
              <a:rPr lang="en-PH" sz="2800" dirty="0">
                <a:latin typeface="Arial Nova Cond Light" panose="020B0306020202020204" pitchFamily="34" charset="0"/>
              </a:rPr>
              <a:t> is attached as a suffix to the end of </a:t>
            </a:r>
            <a:r>
              <a:rPr lang="en-PH" sz="2800" dirty="0">
                <a:solidFill>
                  <a:srgbClr val="FF0000"/>
                </a:solidFill>
                <a:latin typeface="Arial Nova Cond Light" panose="020B0306020202020204" pitchFamily="34" charset="0"/>
              </a:rPr>
              <a:t>words that end in vowels. </a:t>
            </a:r>
            <a:r>
              <a:rPr lang="en-PH" sz="2800" dirty="0" err="1">
                <a:solidFill>
                  <a:srgbClr val="FF0000"/>
                </a:solidFill>
                <a:latin typeface="Arial Nova Cond Light" panose="020B0306020202020204" pitchFamily="34" charset="0"/>
              </a:rPr>
              <a:t>a,e</a:t>
            </a:r>
            <a:r>
              <a:rPr lang="en-PH" sz="2800" dirty="0">
                <a:solidFill>
                  <a:srgbClr val="FF0000"/>
                </a:solidFill>
                <a:latin typeface="Arial Nova Cond Light" panose="020B0306020202020204" pitchFamily="34" charset="0"/>
              </a:rPr>
              <a:t> ,</a:t>
            </a:r>
            <a:r>
              <a:rPr lang="en-PH" sz="2800" dirty="0" err="1">
                <a:solidFill>
                  <a:srgbClr val="FF0000"/>
                </a:solidFill>
                <a:latin typeface="Arial Nova Cond Light" panose="020B0306020202020204" pitchFamily="34" charset="0"/>
              </a:rPr>
              <a:t>i</a:t>
            </a:r>
            <a:r>
              <a:rPr lang="en-PH" sz="2800" dirty="0">
                <a:solidFill>
                  <a:srgbClr val="FF0000"/>
                </a:solidFill>
                <a:latin typeface="Arial Nova Cond Light" panose="020B0306020202020204" pitchFamily="34" charset="0"/>
              </a:rPr>
              <a:t> </a:t>
            </a:r>
            <a:r>
              <a:rPr lang="en-PH" sz="2800" dirty="0" err="1">
                <a:solidFill>
                  <a:srgbClr val="FF0000"/>
                </a:solidFill>
                <a:latin typeface="Arial Nova Cond Light" panose="020B0306020202020204" pitchFamily="34" charset="0"/>
              </a:rPr>
              <a:t>o,u</a:t>
            </a:r>
            <a:endParaRPr lang="en-PH" sz="2800" dirty="0">
              <a:solidFill>
                <a:srgbClr val="FF0000"/>
              </a:solidFill>
              <a:latin typeface="Arial Nova Cond Light" panose="020B0306020202020204" pitchFamily="34" charset="0"/>
            </a:endParaRPr>
          </a:p>
          <a:p>
            <a:pPr marL="0" indent="0">
              <a:buNone/>
            </a:pPr>
            <a:r>
              <a:rPr lang="en-PH" sz="2800" dirty="0">
                <a:latin typeface="Arial Nova Cond Light" panose="020B0306020202020204" pitchFamily="34" charset="0"/>
              </a:rPr>
              <a:t>Ang </a:t>
            </a:r>
            <a:r>
              <a:rPr lang="en-PH" sz="2800" dirty="0" err="1">
                <a:latin typeface="Arial Nova Cond Light" panose="020B0306020202020204" pitchFamily="34" charset="0"/>
              </a:rPr>
              <a:t>malaki</a:t>
            </a:r>
            <a:r>
              <a:rPr lang="en-PH" sz="2800" dirty="0" err="1">
                <a:solidFill>
                  <a:srgbClr val="FF0000"/>
                </a:solidFill>
                <a:latin typeface="Arial Nova Cond Light" panose="020B0306020202020204" pitchFamily="34" charset="0"/>
              </a:rPr>
              <a:t>ng</a:t>
            </a:r>
            <a:r>
              <a:rPr lang="en-PH" sz="2800" dirty="0">
                <a:latin typeface="Arial Nova Cond Light" panose="020B0306020202020204" pitchFamily="34" charset="0"/>
              </a:rPr>
              <a:t> </a:t>
            </a:r>
            <a:r>
              <a:rPr lang="en-PH" sz="2800" dirty="0" err="1">
                <a:latin typeface="Arial Nova Cond Light" panose="020B0306020202020204" pitchFamily="34" charset="0"/>
              </a:rPr>
              <a:t>bahay</a:t>
            </a:r>
            <a:r>
              <a:rPr lang="en-PH" sz="2800" dirty="0">
                <a:latin typeface="Arial Nova Cond Light" panose="020B0306020202020204" pitchFamily="34" charset="0"/>
              </a:rPr>
              <a:t> ay </a:t>
            </a:r>
            <a:r>
              <a:rPr lang="en-PH" sz="2800" dirty="0" err="1">
                <a:latin typeface="Arial Nova Cond Light" panose="020B0306020202020204" pitchFamily="34" charset="0"/>
              </a:rPr>
              <a:t>isang</a:t>
            </a:r>
            <a:r>
              <a:rPr lang="en-PH" sz="2800" dirty="0">
                <a:latin typeface="Arial Nova Cond Light" panose="020B0306020202020204" pitchFamily="34" charset="0"/>
              </a:rPr>
              <a:t> </a:t>
            </a:r>
            <a:r>
              <a:rPr lang="en-PH" sz="2800" dirty="0" err="1">
                <a:latin typeface="Arial Nova Cond Light" panose="020B0306020202020204" pitchFamily="34" charset="0"/>
              </a:rPr>
              <a:t>paaralan</a:t>
            </a:r>
            <a:r>
              <a:rPr lang="en-PH" sz="2800" dirty="0">
                <a:latin typeface="Arial Nova Cond Light" panose="020B0306020202020204" pitchFamily="34" charset="0"/>
              </a:rPr>
              <a:t>.   		(</a:t>
            </a:r>
            <a:r>
              <a:rPr lang="en-PH" sz="2800" dirty="0" err="1">
                <a:latin typeface="Arial Nova Cond Light" panose="020B0306020202020204" pitchFamily="34" charset="0"/>
              </a:rPr>
              <a:t>malaki</a:t>
            </a:r>
            <a:r>
              <a:rPr lang="en-PH" sz="2800" dirty="0">
                <a:latin typeface="Arial Nova Cond Light" panose="020B0306020202020204" pitchFamily="34" charset="0"/>
              </a:rPr>
              <a:t> + -ng + </a:t>
            </a:r>
            <a:r>
              <a:rPr lang="en-PH" sz="2800" dirty="0" err="1">
                <a:latin typeface="Arial Nova Cond Light" panose="020B0306020202020204" pitchFamily="34" charset="0"/>
              </a:rPr>
              <a:t>bahay</a:t>
            </a:r>
            <a:r>
              <a:rPr lang="en-PH" sz="2800" dirty="0">
                <a:latin typeface="Arial Nova Cond Light" panose="020B0306020202020204" pitchFamily="34" charset="0"/>
              </a:rPr>
              <a:t>)</a:t>
            </a:r>
          </a:p>
          <a:p>
            <a:pPr marL="0" indent="0">
              <a:buNone/>
            </a:pPr>
            <a:r>
              <a:rPr lang="en-PH" sz="2800" dirty="0">
                <a:latin typeface="Arial Nova Cond Light" panose="020B0306020202020204" pitchFamily="34" charset="0"/>
              </a:rPr>
              <a:t>The </a:t>
            </a:r>
            <a:r>
              <a:rPr lang="en-PH" sz="2800" dirty="0">
                <a:solidFill>
                  <a:srgbClr val="FF0000"/>
                </a:solidFill>
                <a:latin typeface="Arial Nova Cond Light" panose="020B0306020202020204" pitchFamily="34" charset="0"/>
              </a:rPr>
              <a:t>big house </a:t>
            </a:r>
            <a:r>
              <a:rPr lang="en-PH" sz="2800" dirty="0">
                <a:latin typeface="Arial Nova Cond Light" panose="020B0306020202020204" pitchFamily="34" charset="0"/>
              </a:rPr>
              <a:t>is a school.				big house</a:t>
            </a:r>
          </a:p>
          <a:p>
            <a:pPr marL="0" indent="0">
              <a:buNone/>
            </a:pPr>
            <a:endParaRPr lang="en-PH" sz="2800" dirty="0">
              <a:latin typeface="Arial Nova Cond Light" panose="020B0306020202020204" pitchFamily="34" charset="0"/>
            </a:endParaRPr>
          </a:p>
          <a:p>
            <a:pPr marL="0" indent="0">
              <a:buNone/>
            </a:pPr>
            <a:r>
              <a:rPr lang="en-PH" sz="2800" dirty="0" err="1">
                <a:latin typeface="Arial Nova Cond Light" panose="020B0306020202020204" pitchFamily="34" charset="0"/>
              </a:rPr>
              <a:t>Marunong</a:t>
            </a:r>
            <a:r>
              <a:rPr lang="en-PH" sz="2800" dirty="0">
                <a:latin typeface="Arial Nova Cond Light" panose="020B0306020202020204" pitchFamily="34" charset="0"/>
              </a:rPr>
              <a:t> ang </a:t>
            </a:r>
            <a:r>
              <a:rPr lang="en-PH" sz="2800" dirty="0" err="1">
                <a:latin typeface="Arial Nova Cond Light" panose="020B0306020202020204" pitchFamily="34" charset="0"/>
              </a:rPr>
              <a:t>bata</a:t>
            </a:r>
            <a:r>
              <a:rPr lang="en-PH" sz="2800" dirty="0" err="1">
                <a:solidFill>
                  <a:srgbClr val="FF0000"/>
                </a:solidFill>
                <a:latin typeface="Arial Nova Cond Light" panose="020B0306020202020204" pitchFamily="34" charset="0"/>
              </a:rPr>
              <a:t>ng</a:t>
            </a:r>
            <a:r>
              <a:rPr lang="en-PH" sz="2800" dirty="0">
                <a:solidFill>
                  <a:srgbClr val="FF0000"/>
                </a:solidFill>
                <a:latin typeface="Arial Nova Cond Light" panose="020B0306020202020204" pitchFamily="34" charset="0"/>
              </a:rPr>
              <a:t> </a:t>
            </a:r>
            <a:r>
              <a:rPr lang="en-PH" sz="2800" dirty="0" err="1">
                <a:latin typeface="Arial Nova Cond Light" panose="020B0306020202020204" pitchFamily="34" charset="0"/>
              </a:rPr>
              <a:t>mabait</a:t>
            </a:r>
            <a:r>
              <a:rPr lang="en-PH" sz="2800" dirty="0">
                <a:latin typeface="Arial Nova Cond Light" panose="020B0306020202020204" pitchFamily="34" charset="0"/>
              </a:rPr>
              <a:t>.				(bata + -ng + </a:t>
            </a:r>
            <a:r>
              <a:rPr lang="en-PH" sz="2800" dirty="0" err="1">
                <a:latin typeface="Arial Nova Cond Light" panose="020B0306020202020204" pitchFamily="34" charset="0"/>
              </a:rPr>
              <a:t>mabait</a:t>
            </a:r>
            <a:r>
              <a:rPr lang="en-PH" sz="2800" dirty="0">
                <a:latin typeface="Arial Nova Cond Light" panose="020B0306020202020204" pitchFamily="34" charset="0"/>
              </a:rPr>
              <a:t>)</a:t>
            </a:r>
          </a:p>
          <a:p>
            <a:pPr marL="0" indent="0">
              <a:buNone/>
            </a:pPr>
            <a:r>
              <a:rPr lang="en-PH" sz="2800" dirty="0">
                <a:latin typeface="Arial Nova Cond Light" panose="020B0306020202020204" pitchFamily="34" charset="0"/>
              </a:rPr>
              <a:t>The good child is intelligent.				good child</a:t>
            </a:r>
          </a:p>
          <a:p>
            <a:pPr marL="0" indent="0">
              <a:buNone/>
            </a:pPr>
            <a:endParaRPr lang="en-PH" dirty="0"/>
          </a:p>
          <a:p>
            <a:pPr marL="0" indent="0">
              <a:buNone/>
            </a:pPr>
            <a:endParaRPr lang="en-PH" dirty="0"/>
          </a:p>
        </p:txBody>
      </p:sp>
      <p:sp>
        <p:nvSpPr>
          <p:cNvPr id="13" name="TextBox 12">
            <a:extLst>
              <a:ext uri="{FF2B5EF4-FFF2-40B4-BE49-F238E27FC236}">
                <a16:creationId xmlns:a16="http://schemas.microsoft.com/office/drawing/2014/main" id="{787E5C2F-3AE4-ABB4-08B8-06C2058008CE}"/>
              </a:ext>
            </a:extLst>
          </p:cNvPr>
          <p:cNvSpPr txBox="1"/>
          <p:nvPr/>
        </p:nvSpPr>
        <p:spPr>
          <a:xfrm>
            <a:off x="417637" y="1180808"/>
            <a:ext cx="11356726" cy="861774"/>
          </a:xfrm>
          <a:prstGeom prst="rect">
            <a:avLst/>
          </a:prstGeom>
          <a:noFill/>
        </p:spPr>
        <p:txBody>
          <a:bodyPr wrap="square">
            <a:spAutoFit/>
          </a:bodyPr>
          <a:lstStyle/>
          <a:p>
            <a:r>
              <a:rPr lang="en-US" sz="3200" dirty="0">
                <a:latin typeface="Arial Nova Cond Light" panose="020B0306020202020204" pitchFamily="34" charset="0"/>
              </a:rPr>
              <a:t>I. THE RULES FOR USING EACH TYPE OF LIGATURE</a:t>
            </a:r>
          </a:p>
          <a:p>
            <a:endParaRPr lang="en-PH" dirty="0"/>
          </a:p>
        </p:txBody>
      </p:sp>
    </p:spTree>
    <p:extLst>
      <p:ext uri="{BB962C8B-B14F-4D97-AF65-F5344CB8AC3E}">
        <p14:creationId xmlns:p14="http://schemas.microsoft.com/office/powerpoint/2010/main" val="1898912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581EF-E29B-1A62-5DC1-189FFDEBCA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00C50C-5A7F-40B7-5F1E-FD16E199D6A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A9AE5A9A-E3E4-FE94-FC8B-3C67C05FEAEB}"/>
              </a:ext>
            </a:extLst>
          </p:cNvPr>
          <p:cNvSpPr>
            <a:spLocks noGrp="1"/>
          </p:cNvSpPr>
          <p:nvPr>
            <p:ph idx="1"/>
          </p:nvPr>
        </p:nvSpPr>
        <p:spPr>
          <a:xfrm>
            <a:off x="177800" y="1831736"/>
            <a:ext cx="11596563" cy="4276101"/>
          </a:xfrm>
        </p:spPr>
        <p:txBody>
          <a:bodyPr>
            <a:normAutofit/>
          </a:bodyPr>
          <a:lstStyle/>
          <a:p>
            <a:pPr marL="0" indent="0">
              <a:buNone/>
            </a:pPr>
            <a:r>
              <a:rPr lang="en-PH" sz="2800" dirty="0">
                <a:latin typeface="Arial Nova Cond Light" panose="020B0306020202020204" pitchFamily="34" charset="0"/>
              </a:rPr>
              <a:t>2. The suffix ligature -</a:t>
            </a:r>
            <a:r>
              <a:rPr lang="en-PH" sz="2800" dirty="0">
                <a:solidFill>
                  <a:srgbClr val="FF0000"/>
                </a:solidFill>
                <a:latin typeface="Arial Nova Cond Light" panose="020B0306020202020204" pitchFamily="34" charset="0"/>
              </a:rPr>
              <a:t>G</a:t>
            </a:r>
          </a:p>
          <a:p>
            <a:pPr marL="0" indent="0">
              <a:buNone/>
            </a:pPr>
            <a:r>
              <a:rPr lang="en-PH" sz="2800" dirty="0">
                <a:latin typeface="Arial Nova Cond Light" panose="020B0306020202020204" pitchFamily="34" charset="0"/>
              </a:rPr>
              <a:t>The ligature</a:t>
            </a:r>
            <a:r>
              <a:rPr lang="en-PH" sz="2800" dirty="0">
                <a:solidFill>
                  <a:srgbClr val="FF0000"/>
                </a:solidFill>
                <a:latin typeface="Arial Nova Cond Light" panose="020B0306020202020204" pitchFamily="34" charset="0"/>
              </a:rPr>
              <a:t> -g </a:t>
            </a:r>
            <a:r>
              <a:rPr lang="en-PH" sz="2800" dirty="0">
                <a:latin typeface="Arial Nova Cond Light" panose="020B0306020202020204" pitchFamily="34" charset="0"/>
              </a:rPr>
              <a:t>is attached as a suffix to the end of words that </a:t>
            </a:r>
            <a:r>
              <a:rPr lang="en-PH" sz="2800" dirty="0">
                <a:solidFill>
                  <a:srgbClr val="FF0000"/>
                </a:solidFill>
                <a:latin typeface="Arial Nova Cond Light" panose="020B0306020202020204" pitchFamily="34" charset="0"/>
              </a:rPr>
              <a:t>end in the consonant N. </a:t>
            </a:r>
          </a:p>
          <a:p>
            <a:pPr marL="0" indent="0">
              <a:buNone/>
            </a:pPr>
            <a:r>
              <a:rPr lang="en-PH" sz="2800" dirty="0">
                <a:latin typeface="Arial Nova Cond Light" panose="020B0306020202020204" pitchFamily="34" charset="0"/>
              </a:rPr>
              <a:t>Ang </a:t>
            </a:r>
            <a:r>
              <a:rPr lang="en-PH" sz="2800" dirty="0" err="1">
                <a:latin typeface="Arial Nova Cond Light" panose="020B0306020202020204" pitchFamily="34" charset="0"/>
              </a:rPr>
              <a:t>mayaman</a:t>
            </a:r>
            <a:r>
              <a:rPr lang="en-PH" sz="2800" dirty="0" err="1">
                <a:solidFill>
                  <a:srgbClr val="FF0000"/>
                </a:solidFill>
                <a:latin typeface="Arial Nova Cond Light" panose="020B0306020202020204" pitchFamily="34" charset="0"/>
              </a:rPr>
              <a:t>g</a:t>
            </a:r>
            <a:r>
              <a:rPr lang="en-PH" sz="2800" dirty="0">
                <a:latin typeface="Arial Nova Cond Light" panose="020B0306020202020204" pitchFamily="34" charset="0"/>
              </a:rPr>
              <a:t> </a:t>
            </a:r>
            <a:r>
              <a:rPr lang="en-PH" sz="2800" dirty="0" err="1">
                <a:latin typeface="Arial Nova Cond Light" panose="020B0306020202020204" pitchFamily="34" charset="0"/>
              </a:rPr>
              <a:t>lalaki</a:t>
            </a:r>
            <a:r>
              <a:rPr lang="en-PH" sz="2800" dirty="0">
                <a:latin typeface="Arial Nova Cond Light" panose="020B0306020202020204" pitchFamily="34" charset="0"/>
              </a:rPr>
              <a:t> ay </a:t>
            </a:r>
            <a:r>
              <a:rPr lang="en-PH" sz="2800" dirty="0" err="1">
                <a:latin typeface="Arial Nova Cond Light" panose="020B0306020202020204" pitchFamily="34" charset="0"/>
              </a:rPr>
              <a:t>mapagbigay</a:t>
            </a:r>
            <a:r>
              <a:rPr lang="en-PH" sz="2800" dirty="0">
                <a:latin typeface="Arial Nova Cond Light" panose="020B0306020202020204" pitchFamily="34" charset="0"/>
              </a:rPr>
              <a:t>.		(</a:t>
            </a:r>
            <a:r>
              <a:rPr lang="en-PH" sz="2800" dirty="0" err="1">
                <a:latin typeface="Arial Nova Cond Light" panose="020B0306020202020204" pitchFamily="34" charset="0"/>
              </a:rPr>
              <a:t>mayaman</a:t>
            </a:r>
            <a:r>
              <a:rPr lang="en-PH" sz="2800" dirty="0">
                <a:latin typeface="Arial Nova Cond Light" panose="020B0306020202020204" pitchFamily="34" charset="0"/>
              </a:rPr>
              <a:t> + -g + </a:t>
            </a:r>
            <a:r>
              <a:rPr lang="en-PH" sz="2800" dirty="0" err="1">
                <a:latin typeface="Arial Nova Cond Light" panose="020B0306020202020204" pitchFamily="34" charset="0"/>
              </a:rPr>
              <a:t>lalaki</a:t>
            </a:r>
            <a:r>
              <a:rPr lang="en-PH" sz="2800" dirty="0">
                <a:latin typeface="Arial Nova Cond Light" panose="020B0306020202020204" pitchFamily="34" charset="0"/>
              </a:rPr>
              <a:t>)</a:t>
            </a:r>
          </a:p>
          <a:p>
            <a:pPr marL="0" indent="0">
              <a:buNone/>
            </a:pPr>
            <a:r>
              <a:rPr lang="en-PH" sz="2800" dirty="0">
                <a:latin typeface="Arial Nova Cond Light" panose="020B0306020202020204" pitchFamily="34" charset="0"/>
              </a:rPr>
              <a:t>The rich man is generous.	</a:t>
            </a:r>
            <a:r>
              <a:rPr lang="en-PH" sz="2400" dirty="0">
                <a:latin typeface="Arial Nova Cond Light" panose="020B0306020202020204" pitchFamily="34" charset="0"/>
              </a:rPr>
              <a:t>			 rich man</a:t>
            </a:r>
          </a:p>
          <a:p>
            <a:pPr marL="0" indent="0">
              <a:buNone/>
            </a:pPr>
            <a:endParaRPr lang="en-PH" dirty="0">
              <a:latin typeface="Arial Nova Cond Light" panose="020B0306020202020204" pitchFamily="34" charset="0"/>
            </a:endParaRPr>
          </a:p>
        </p:txBody>
      </p:sp>
      <p:sp>
        <p:nvSpPr>
          <p:cNvPr id="13" name="TextBox 12">
            <a:extLst>
              <a:ext uri="{FF2B5EF4-FFF2-40B4-BE49-F238E27FC236}">
                <a16:creationId xmlns:a16="http://schemas.microsoft.com/office/drawing/2014/main" id="{3EC9DFD8-90DB-82D0-51A6-96A1D73A86FB}"/>
              </a:ext>
            </a:extLst>
          </p:cNvPr>
          <p:cNvSpPr txBox="1"/>
          <p:nvPr/>
        </p:nvSpPr>
        <p:spPr>
          <a:xfrm>
            <a:off x="417637" y="1180808"/>
            <a:ext cx="11356726" cy="861774"/>
          </a:xfrm>
          <a:prstGeom prst="rect">
            <a:avLst/>
          </a:prstGeom>
          <a:noFill/>
        </p:spPr>
        <p:txBody>
          <a:bodyPr wrap="square">
            <a:spAutoFit/>
          </a:bodyPr>
          <a:lstStyle/>
          <a:p>
            <a:r>
              <a:rPr lang="en-US" sz="3200" dirty="0">
                <a:latin typeface="Arial Nova Cond Light" panose="020B0306020202020204" pitchFamily="34" charset="0"/>
              </a:rPr>
              <a:t>I. THE RULES FOR USING EACH TYPE OF LIGATURE</a:t>
            </a:r>
          </a:p>
          <a:p>
            <a:endParaRPr lang="en-PH" dirty="0">
              <a:latin typeface="Arial Nova Cond Light" panose="020B0306020202020204" pitchFamily="34" charset="0"/>
            </a:endParaRPr>
          </a:p>
        </p:txBody>
      </p:sp>
    </p:spTree>
    <p:extLst>
      <p:ext uri="{BB962C8B-B14F-4D97-AF65-F5344CB8AC3E}">
        <p14:creationId xmlns:p14="http://schemas.microsoft.com/office/powerpoint/2010/main" val="297952553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80A715-483B-B972-D344-E285A188BA1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DBE67FD-54C7-BE04-2561-101CA7DEE2E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FB12E348-7BA3-129F-6CCA-A03FB39BEB8C}"/>
              </a:ext>
            </a:extLst>
          </p:cNvPr>
          <p:cNvSpPr>
            <a:spLocks noGrp="1"/>
          </p:cNvSpPr>
          <p:nvPr>
            <p:ph idx="1"/>
          </p:nvPr>
        </p:nvSpPr>
        <p:spPr>
          <a:xfrm>
            <a:off x="1" y="1831736"/>
            <a:ext cx="12192000" cy="4052597"/>
          </a:xfrm>
        </p:spPr>
        <p:txBody>
          <a:bodyPr>
            <a:noAutofit/>
          </a:bodyPr>
          <a:lstStyle/>
          <a:p>
            <a:pPr marL="0" indent="0">
              <a:buNone/>
            </a:pPr>
            <a:r>
              <a:rPr lang="en-PH" sz="2400" dirty="0">
                <a:latin typeface="Arial Nova Cond Light" panose="020B0306020202020204" pitchFamily="34" charset="0"/>
              </a:rPr>
              <a:t>3.The ligature </a:t>
            </a:r>
            <a:r>
              <a:rPr lang="en-PH" sz="2400" dirty="0">
                <a:solidFill>
                  <a:srgbClr val="FF0000"/>
                </a:solidFill>
                <a:latin typeface="Arial Nova Cond Light" panose="020B0306020202020204" pitchFamily="34" charset="0"/>
              </a:rPr>
              <a:t>NA</a:t>
            </a:r>
          </a:p>
          <a:p>
            <a:pPr marL="0" indent="0">
              <a:buNone/>
            </a:pPr>
            <a:r>
              <a:rPr lang="en-PH" sz="2400" dirty="0">
                <a:latin typeface="Arial Nova Cond Light" panose="020B0306020202020204" pitchFamily="34" charset="0"/>
              </a:rPr>
              <a:t>The ligature word </a:t>
            </a:r>
            <a:r>
              <a:rPr lang="en-PH" sz="2400" dirty="0" err="1">
                <a:solidFill>
                  <a:srgbClr val="FF0000"/>
                </a:solidFill>
                <a:latin typeface="Arial Nova Cond Light" panose="020B0306020202020204" pitchFamily="34" charset="0"/>
              </a:rPr>
              <a:t>na</a:t>
            </a:r>
            <a:r>
              <a:rPr lang="en-PH" sz="2400" dirty="0">
                <a:latin typeface="Arial Nova Cond Light" panose="020B0306020202020204" pitchFamily="34" charset="0"/>
              </a:rPr>
              <a:t> is used after words that end in </a:t>
            </a:r>
            <a:r>
              <a:rPr lang="en-PH" sz="2400" dirty="0">
                <a:solidFill>
                  <a:srgbClr val="FF0000"/>
                </a:solidFill>
                <a:latin typeface="Arial Nova Cond Light" panose="020B0306020202020204" pitchFamily="34" charset="0"/>
              </a:rPr>
              <a:t>consonants other than n. </a:t>
            </a:r>
          </a:p>
          <a:p>
            <a:pPr marL="0" indent="0">
              <a:buNone/>
            </a:pPr>
            <a:r>
              <a:rPr lang="en-PH" sz="2400" dirty="0" err="1">
                <a:latin typeface="Arial Nova Cond Light" panose="020B0306020202020204" pitchFamily="34" charset="0"/>
              </a:rPr>
              <a:t>Kumain</a:t>
            </a:r>
            <a:r>
              <a:rPr lang="en-PH" sz="2400" dirty="0">
                <a:latin typeface="Arial Nova Cond Light" panose="020B0306020202020204" pitchFamily="34" charset="0"/>
              </a:rPr>
              <a:t> </a:t>
            </a:r>
            <a:r>
              <a:rPr lang="en-PH" sz="2400" dirty="0" err="1">
                <a:latin typeface="Arial Nova Cond Light" panose="020B0306020202020204" pitchFamily="34" charset="0"/>
              </a:rPr>
              <a:t>siya</a:t>
            </a:r>
            <a:r>
              <a:rPr lang="en-PH" sz="2400" dirty="0">
                <a:latin typeface="Arial Nova Cond Light" panose="020B0306020202020204" pitchFamily="34" charset="0"/>
              </a:rPr>
              <a:t> ng </a:t>
            </a:r>
            <a:r>
              <a:rPr lang="en-PH" sz="2400" dirty="0" err="1">
                <a:solidFill>
                  <a:srgbClr val="FF0000"/>
                </a:solidFill>
                <a:latin typeface="Arial Nova Cond Light" panose="020B0306020202020204" pitchFamily="34" charset="0"/>
              </a:rPr>
              <a:t>maasim</a:t>
            </a:r>
            <a:r>
              <a:rPr lang="en-PH" sz="2400" dirty="0">
                <a:solidFill>
                  <a:srgbClr val="FF0000"/>
                </a:solidFill>
                <a:latin typeface="Arial Nova Cond Light" panose="020B0306020202020204" pitchFamily="34" charset="0"/>
              </a:rPr>
              <a:t> </a:t>
            </a:r>
            <a:r>
              <a:rPr lang="en-PH" sz="2400" dirty="0" err="1">
                <a:solidFill>
                  <a:srgbClr val="FF0000"/>
                </a:solidFill>
                <a:latin typeface="Arial Nova Cond Light" panose="020B0306020202020204" pitchFamily="34" charset="0"/>
              </a:rPr>
              <a:t>na</a:t>
            </a:r>
            <a:r>
              <a:rPr lang="en-PH" sz="2400" dirty="0">
                <a:solidFill>
                  <a:srgbClr val="FF0000"/>
                </a:solidFill>
                <a:latin typeface="Arial Nova Cond Light" panose="020B0306020202020204" pitchFamily="34" charset="0"/>
              </a:rPr>
              <a:t> </a:t>
            </a:r>
            <a:r>
              <a:rPr lang="en-PH" sz="2400" dirty="0" err="1">
                <a:solidFill>
                  <a:srgbClr val="FF0000"/>
                </a:solidFill>
                <a:latin typeface="Arial Nova Cond Light" panose="020B0306020202020204" pitchFamily="34" charset="0"/>
              </a:rPr>
              <a:t>mangga</a:t>
            </a:r>
            <a:r>
              <a:rPr lang="en-PH" sz="2400" dirty="0">
                <a:latin typeface="Arial Nova Cond Light" panose="020B0306020202020204" pitchFamily="34" charset="0"/>
              </a:rPr>
              <a:t>. 		(</a:t>
            </a:r>
            <a:r>
              <a:rPr lang="en-PH" sz="2400" dirty="0" err="1">
                <a:latin typeface="Arial Nova Cond Light" panose="020B0306020202020204" pitchFamily="34" charset="0"/>
              </a:rPr>
              <a:t>maasim</a:t>
            </a:r>
            <a:r>
              <a:rPr lang="en-PH" sz="2400" dirty="0">
                <a:latin typeface="Arial Nova Cond Light" panose="020B0306020202020204" pitchFamily="34" charset="0"/>
              </a:rPr>
              <a:t> + </a:t>
            </a:r>
            <a:r>
              <a:rPr lang="en-PH" sz="2400" dirty="0" err="1">
                <a:solidFill>
                  <a:srgbClr val="FF0000"/>
                </a:solidFill>
                <a:latin typeface="Arial Nova Cond Light" panose="020B0306020202020204" pitchFamily="34" charset="0"/>
              </a:rPr>
              <a:t>na</a:t>
            </a:r>
            <a:r>
              <a:rPr lang="en-PH" sz="2400" dirty="0">
                <a:latin typeface="Arial Nova Cond Light" panose="020B0306020202020204" pitchFamily="34" charset="0"/>
              </a:rPr>
              <a:t> + </a:t>
            </a:r>
            <a:r>
              <a:rPr lang="en-PH" sz="2400" dirty="0" err="1">
                <a:latin typeface="Arial Nova Cond Light" panose="020B0306020202020204" pitchFamily="34" charset="0"/>
              </a:rPr>
              <a:t>mangga</a:t>
            </a:r>
            <a:r>
              <a:rPr lang="en-PH" sz="2400" dirty="0">
                <a:latin typeface="Arial Nova Cond Light" panose="020B0306020202020204" pitchFamily="34" charset="0"/>
              </a:rPr>
              <a:t>)</a:t>
            </a:r>
          </a:p>
          <a:p>
            <a:pPr marL="0" indent="0">
              <a:buNone/>
            </a:pPr>
            <a:r>
              <a:rPr lang="en-PH" sz="2400" dirty="0" err="1">
                <a:latin typeface="Arial Nova Cond Light" panose="020B0306020202020204" pitchFamily="34" charset="0"/>
              </a:rPr>
              <a:t>He/She</a:t>
            </a:r>
            <a:r>
              <a:rPr lang="en-PH" sz="2400" dirty="0">
                <a:latin typeface="Arial Nova Cond Light" panose="020B0306020202020204" pitchFamily="34" charset="0"/>
              </a:rPr>
              <a:t> ate a </a:t>
            </a:r>
            <a:r>
              <a:rPr lang="en-PH" sz="2400" dirty="0">
                <a:solidFill>
                  <a:srgbClr val="FF0000"/>
                </a:solidFill>
                <a:latin typeface="Arial Nova Cond Light" panose="020B0306020202020204" pitchFamily="34" charset="0"/>
              </a:rPr>
              <a:t>sour mango</a:t>
            </a:r>
            <a:r>
              <a:rPr lang="en-PH" sz="2400" dirty="0">
                <a:latin typeface="Arial Nova Cond Light" panose="020B0306020202020204" pitchFamily="34" charset="0"/>
              </a:rPr>
              <a:t>.			Sour mango</a:t>
            </a:r>
          </a:p>
          <a:p>
            <a:pPr marL="0" indent="0">
              <a:buNone/>
            </a:pPr>
            <a:r>
              <a:rPr lang="en-PH" sz="2400" dirty="0">
                <a:latin typeface="Arial Nova Cond Light" panose="020B0306020202020204" pitchFamily="34" charset="0"/>
              </a:rPr>
              <a:t> </a:t>
            </a:r>
            <a:r>
              <a:rPr lang="en-PH" sz="2400" dirty="0" err="1">
                <a:latin typeface="Arial Nova Cond Light" panose="020B0306020202020204" pitchFamily="34" charset="0"/>
              </a:rPr>
              <a:t>mangga</a:t>
            </a:r>
            <a:r>
              <a:rPr lang="en-PH" sz="2400" dirty="0" err="1">
                <a:solidFill>
                  <a:srgbClr val="FF0000"/>
                </a:solidFill>
                <a:latin typeface="Arial Nova Cond Light" panose="020B0306020202020204" pitchFamily="34" charset="0"/>
              </a:rPr>
              <a:t>ng</a:t>
            </a:r>
            <a:r>
              <a:rPr lang="en-PH" sz="2400" dirty="0">
                <a:latin typeface="Arial Nova Cond Light" panose="020B0306020202020204" pitchFamily="34" charset="0"/>
              </a:rPr>
              <a:t> </a:t>
            </a:r>
            <a:r>
              <a:rPr lang="en-PH" sz="2400" dirty="0" err="1">
                <a:latin typeface="Arial Nova Cond Light" panose="020B0306020202020204" pitchFamily="34" charset="0"/>
              </a:rPr>
              <a:t>maasim</a:t>
            </a:r>
            <a:endParaRPr lang="en-PH" sz="2400" dirty="0">
              <a:latin typeface="Arial Nova Cond Light" panose="020B0306020202020204" pitchFamily="34" charset="0"/>
            </a:endParaRPr>
          </a:p>
          <a:p>
            <a:pPr marL="0" indent="0">
              <a:buNone/>
            </a:pPr>
            <a:endParaRPr lang="en-PH" sz="2400" dirty="0"/>
          </a:p>
        </p:txBody>
      </p:sp>
      <p:sp>
        <p:nvSpPr>
          <p:cNvPr id="13" name="TextBox 12">
            <a:extLst>
              <a:ext uri="{FF2B5EF4-FFF2-40B4-BE49-F238E27FC236}">
                <a16:creationId xmlns:a16="http://schemas.microsoft.com/office/drawing/2014/main" id="{3916CAC4-DA7E-8216-76BA-F806C6796ADA}"/>
              </a:ext>
            </a:extLst>
          </p:cNvPr>
          <p:cNvSpPr txBox="1"/>
          <p:nvPr/>
        </p:nvSpPr>
        <p:spPr>
          <a:xfrm>
            <a:off x="417637" y="1180808"/>
            <a:ext cx="7955896" cy="861774"/>
          </a:xfrm>
          <a:prstGeom prst="rect">
            <a:avLst/>
          </a:prstGeom>
          <a:noFill/>
        </p:spPr>
        <p:txBody>
          <a:bodyPr wrap="square">
            <a:spAutoFit/>
          </a:bodyPr>
          <a:lstStyle/>
          <a:p>
            <a:r>
              <a:rPr lang="en-US" sz="3200" dirty="0">
                <a:latin typeface="Arial Nova Cond Light" panose="020B0306020202020204" pitchFamily="34" charset="0"/>
              </a:rPr>
              <a:t>I. THE RULES FOR USING EACH TYPE OF LIGATURE</a:t>
            </a:r>
          </a:p>
          <a:p>
            <a:endParaRPr lang="en-PH" dirty="0"/>
          </a:p>
        </p:txBody>
      </p:sp>
    </p:spTree>
    <p:extLst>
      <p:ext uri="{BB962C8B-B14F-4D97-AF65-F5344CB8AC3E}">
        <p14:creationId xmlns:p14="http://schemas.microsoft.com/office/powerpoint/2010/main" val="28978244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9F9874-F104-AB45-B871-48F527805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7AAE8B-0A28-8736-5C07-98C0D000014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0397ADC7-DF60-594F-CAF3-584B101C64C7}"/>
              </a:ext>
            </a:extLst>
          </p:cNvPr>
          <p:cNvSpPr>
            <a:spLocks noGrp="1"/>
          </p:cNvSpPr>
          <p:nvPr>
            <p:ph idx="1"/>
          </p:nvPr>
        </p:nvSpPr>
        <p:spPr>
          <a:xfrm>
            <a:off x="0" y="1831736"/>
            <a:ext cx="12192000" cy="4052597"/>
          </a:xfrm>
        </p:spPr>
        <p:txBody>
          <a:bodyPr>
            <a:noAutofit/>
          </a:bodyPr>
          <a:lstStyle/>
          <a:p>
            <a:pPr marL="0" indent="0">
              <a:buNone/>
            </a:pPr>
            <a:r>
              <a:rPr lang="en-US" sz="2400" dirty="0">
                <a:latin typeface="Arial Nova Cond Light" panose="020B0306020202020204" pitchFamily="34" charset="0"/>
              </a:rPr>
              <a:t>Maganda ang </a:t>
            </a:r>
            <a:r>
              <a:rPr lang="en-US" sz="2400" dirty="0" err="1">
                <a:latin typeface="Arial Nova Cond Light" panose="020B0306020202020204" pitchFamily="34" charset="0"/>
              </a:rPr>
              <a:t>tahimik</a:t>
            </a:r>
            <a:r>
              <a:rPr lang="en-US" sz="2400" dirty="0">
                <a:latin typeface="Arial Nova Cond Light" panose="020B0306020202020204" pitchFamily="34" charset="0"/>
              </a:rPr>
              <a:t> </a:t>
            </a:r>
            <a:r>
              <a:rPr lang="en-US" sz="2400" dirty="0" err="1">
                <a:latin typeface="Arial Nova Cond Light" panose="020B0306020202020204" pitchFamily="34" charset="0"/>
              </a:rPr>
              <a:t>na</a:t>
            </a:r>
            <a:r>
              <a:rPr lang="en-US" sz="2400" dirty="0">
                <a:latin typeface="Arial Nova Cond Light" panose="020B0306020202020204" pitchFamily="34" charset="0"/>
              </a:rPr>
              <a:t> bata.			</a:t>
            </a:r>
            <a:r>
              <a:rPr lang="en-US" sz="2400" dirty="0">
                <a:solidFill>
                  <a:srgbClr val="FF0000"/>
                </a:solidFill>
                <a:latin typeface="Arial Nova Cond Light" panose="020B0306020202020204" pitchFamily="34" charset="0"/>
              </a:rPr>
              <a:t>(</a:t>
            </a:r>
            <a:r>
              <a:rPr lang="en-US" sz="2400" dirty="0" err="1">
                <a:solidFill>
                  <a:srgbClr val="FF0000"/>
                </a:solidFill>
                <a:latin typeface="Arial Nova Cond Light" panose="020B0306020202020204" pitchFamily="34" charset="0"/>
              </a:rPr>
              <a:t>tahimik</a:t>
            </a:r>
            <a:r>
              <a:rPr lang="en-US" sz="2400" dirty="0">
                <a:solidFill>
                  <a:srgbClr val="FF0000"/>
                </a:solidFill>
                <a:latin typeface="Arial Nova Cond Light" panose="020B0306020202020204" pitchFamily="34" charset="0"/>
              </a:rPr>
              <a:t> + </a:t>
            </a:r>
            <a:r>
              <a:rPr lang="en-US" sz="2400" dirty="0" err="1">
                <a:solidFill>
                  <a:srgbClr val="FF0000"/>
                </a:solidFill>
                <a:latin typeface="Arial Nova Cond Light" panose="020B0306020202020204" pitchFamily="34" charset="0"/>
              </a:rPr>
              <a:t>na</a:t>
            </a:r>
            <a:r>
              <a:rPr lang="en-US" sz="2400" dirty="0">
                <a:solidFill>
                  <a:srgbClr val="FF0000"/>
                </a:solidFill>
                <a:latin typeface="Arial Nova Cond Light" panose="020B0306020202020204" pitchFamily="34" charset="0"/>
              </a:rPr>
              <a:t> + bata)</a:t>
            </a:r>
          </a:p>
          <a:p>
            <a:pPr marL="0" indent="0">
              <a:buNone/>
            </a:pPr>
            <a:r>
              <a:rPr lang="en-US" sz="2400" dirty="0">
                <a:latin typeface="Arial Nova Cond Light" panose="020B0306020202020204" pitchFamily="34" charset="0"/>
              </a:rPr>
              <a:t>The quiet child is beautiful.			quiet child</a:t>
            </a:r>
          </a:p>
          <a:p>
            <a:pPr marL="0" indent="0">
              <a:buNone/>
            </a:pPr>
            <a:endParaRPr lang="en-US" sz="2400" dirty="0">
              <a:latin typeface="Arial Nova Cond Light" panose="020B0306020202020204" pitchFamily="34" charset="0"/>
            </a:endParaRPr>
          </a:p>
          <a:p>
            <a:pPr marL="0" indent="0">
              <a:buNone/>
            </a:pPr>
            <a:r>
              <a:rPr lang="en-US" sz="2400" dirty="0">
                <a:latin typeface="Arial Nova Cond Light" panose="020B0306020202020204" pitchFamily="34" charset="0"/>
              </a:rPr>
              <a:t>Note that the above sequences are made up of </a:t>
            </a:r>
            <a:r>
              <a:rPr lang="en-US" sz="2400" dirty="0">
                <a:solidFill>
                  <a:srgbClr val="FF0000"/>
                </a:solidFill>
                <a:latin typeface="Arial Nova Cond Light" panose="020B0306020202020204" pitchFamily="34" charset="0"/>
              </a:rPr>
              <a:t>adjective + noun </a:t>
            </a:r>
            <a:r>
              <a:rPr lang="en-US" sz="2400" dirty="0">
                <a:latin typeface="Arial Nova Cond Light" panose="020B0306020202020204" pitchFamily="34" charset="0"/>
              </a:rPr>
              <a:t>or </a:t>
            </a:r>
            <a:r>
              <a:rPr lang="en-US" sz="2400" dirty="0">
                <a:solidFill>
                  <a:srgbClr val="FF0000"/>
                </a:solidFill>
                <a:latin typeface="Arial Nova Cond Light" panose="020B0306020202020204" pitchFamily="34" charset="0"/>
              </a:rPr>
              <a:t>noun + adjective.</a:t>
            </a:r>
          </a:p>
          <a:p>
            <a:pPr marL="0" indent="0">
              <a:buNone/>
            </a:pPr>
            <a:r>
              <a:rPr lang="en-US" sz="2400" dirty="0">
                <a:latin typeface="Arial Nova Cond Light" panose="020B0306020202020204" pitchFamily="34" charset="0"/>
              </a:rPr>
              <a:t> In a series of </a:t>
            </a:r>
            <a:r>
              <a:rPr lang="en-US" sz="2400" dirty="0">
                <a:solidFill>
                  <a:srgbClr val="FF0000"/>
                </a:solidFill>
                <a:latin typeface="Arial Nova Cond Light" panose="020B0306020202020204" pitchFamily="34" charset="0"/>
              </a:rPr>
              <a:t>more than one adjective before a noun</a:t>
            </a:r>
            <a:r>
              <a:rPr lang="en-US" sz="2400" dirty="0">
                <a:latin typeface="Arial Nova Cond Light" panose="020B0306020202020204" pitchFamily="34" charset="0"/>
              </a:rPr>
              <a:t>, only the </a:t>
            </a:r>
            <a:r>
              <a:rPr lang="en-US" sz="2400" dirty="0">
                <a:solidFill>
                  <a:srgbClr val="FF0000"/>
                </a:solidFill>
                <a:latin typeface="Arial Nova Cond Light" panose="020B0306020202020204" pitchFamily="34" charset="0"/>
              </a:rPr>
              <a:t>last adjective </a:t>
            </a:r>
            <a:r>
              <a:rPr lang="en-US" sz="2400" dirty="0">
                <a:latin typeface="Arial Nova Cond Light" panose="020B0306020202020204" pitchFamily="34" charset="0"/>
              </a:rPr>
              <a:t>has a ligature, for example: </a:t>
            </a:r>
          </a:p>
          <a:p>
            <a:pPr marL="0" indent="0">
              <a:buNone/>
            </a:pPr>
            <a:r>
              <a:rPr lang="en-US" sz="2400" dirty="0" err="1">
                <a:latin typeface="Arial Nova Cond Light" panose="020B0306020202020204" pitchFamily="34" charset="0"/>
              </a:rPr>
              <a:t>Mabait</a:t>
            </a:r>
            <a:r>
              <a:rPr lang="en-US" sz="2400" dirty="0">
                <a:latin typeface="Arial Nova Cond Light" panose="020B0306020202020204" pitchFamily="34" charset="0"/>
              </a:rPr>
              <a:t> at </a:t>
            </a:r>
            <a:r>
              <a:rPr lang="en-US" sz="2400" dirty="0" err="1">
                <a:latin typeface="Arial Nova Cond Light" panose="020B0306020202020204" pitchFamily="34" charset="0"/>
              </a:rPr>
              <a:t>masunurin</a:t>
            </a:r>
            <a:r>
              <a:rPr lang="en-US" sz="2400" dirty="0" err="1">
                <a:solidFill>
                  <a:srgbClr val="FF0000"/>
                </a:solidFill>
                <a:latin typeface="Arial Nova Cond Light" panose="020B0306020202020204" pitchFamily="34" charset="0"/>
              </a:rPr>
              <a:t>g</a:t>
            </a:r>
            <a:r>
              <a:rPr lang="en-US" sz="2400" dirty="0">
                <a:latin typeface="Arial Nova Cond Light" panose="020B0306020202020204" pitchFamily="34" charset="0"/>
              </a:rPr>
              <a:t> </a:t>
            </a:r>
            <a:r>
              <a:rPr lang="en-US" sz="2400" dirty="0" err="1">
                <a:latin typeface="Arial Nova Cond Light" panose="020B0306020202020204" pitchFamily="34" charset="0"/>
              </a:rPr>
              <a:t>aso</a:t>
            </a:r>
            <a:r>
              <a:rPr lang="en-US" sz="2400" dirty="0">
                <a:latin typeface="Arial Nova Cond Light" panose="020B0306020202020204" pitchFamily="34" charset="0"/>
              </a:rPr>
              <a:t>.		 </a:t>
            </a:r>
          </a:p>
          <a:p>
            <a:pPr marL="0" indent="0">
              <a:buNone/>
            </a:pPr>
            <a:endParaRPr lang="en-PH" sz="2400" dirty="0">
              <a:latin typeface="Arial Nova Cond Light" panose="020B0306020202020204" pitchFamily="34" charset="0"/>
            </a:endParaRPr>
          </a:p>
        </p:txBody>
      </p:sp>
    </p:spTree>
    <p:extLst>
      <p:ext uri="{BB962C8B-B14F-4D97-AF65-F5344CB8AC3E}">
        <p14:creationId xmlns:p14="http://schemas.microsoft.com/office/powerpoint/2010/main" val="1530722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ADAD00-F7FF-79A9-6CFE-C31644D1DE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111E53A-09E4-705A-67F4-662A9E3AE77C}"/>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D12EC3C9-B6EB-8735-152A-FB217B4BC3F1}"/>
              </a:ext>
            </a:extLst>
          </p:cNvPr>
          <p:cNvSpPr>
            <a:spLocks noGrp="1"/>
          </p:cNvSpPr>
          <p:nvPr>
            <p:ph idx="1"/>
          </p:nvPr>
        </p:nvSpPr>
        <p:spPr>
          <a:xfrm>
            <a:off x="0" y="1831736"/>
            <a:ext cx="12192000" cy="4052597"/>
          </a:xfrm>
        </p:spPr>
        <p:txBody>
          <a:bodyPr>
            <a:noAutofit/>
          </a:bodyPr>
          <a:lstStyle/>
          <a:p>
            <a:pPr marL="0" indent="0">
              <a:buNone/>
            </a:pPr>
            <a:r>
              <a:rPr lang="en-US" sz="3200" dirty="0"/>
              <a:t>1</a:t>
            </a:r>
            <a:r>
              <a:rPr lang="en-US" sz="3200" dirty="0">
                <a:latin typeface="Arial Nova Cond Light" panose="020B0306020202020204" pitchFamily="34" charset="0"/>
              </a:rPr>
              <a:t>.</a:t>
            </a:r>
            <a:r>
              <a:rPr lang="en-US" sz="3200" dirty="0">
                <a:solidFill>
                  <a:srgbClr val="FF0000"/>
                </a:solidFill>
                <a:latin typeface="Arial Nova Cond Light" panose="020B0306020202020204" pitchFamily="34" charset="0"/>
              </a:rPr>
              <a:t>Noun + noun</a:t>
            </a:r>
          </a:p>
          <a:p>
            <a:pPr marL="0" indent="0">
              <a:buNone/>
            </a:pPr>
            <a:r>
              <a:rPr lang="en-US" sz="3200" dirty="0">
                <a:latin typeface="Arial Nova Cond Light" panose="020B0306020202020204" pitchFamily="34" charset="0"/>
              </a:rPr>
              <a:t>Ang </a:t>
            </a:r>
            <a:r>
              <a:rPr lang="en-US" sz="3200" dirty="0" err="1">
                <a:latin typeface="Arial Nova Cond Light" panose="020B0306020202020204" pitchFamily="34" charset="0"/>
              </a:rPr>
              <a:t>bata</a:t>
            </a:r>
            <a:r>
              <a:rPr lang="en-US" sz="3200" dirty="0" err="1">
                <a:solidFill>
                  <a:srgbClr val="FF0000"/>
                </a:solidFill>
                <a:latin typeface="Arial Nova Cond Light" panose="020B0306020202020204" pitchFamily="34" charset="0"/>
              </a:rPr>
              <a:t>ng</a:t>
            </a:r>
            <a:r>
              <a:rPr lang="en-US" sz="3200" dirty="0">
                <a:latin typeface="Arial Nova Cond Light" panose="020B0306020202020204" pitchFamily="34" charset="0"/>
              </a:rPr>
              <a:t> </a:t>
            </a:r>
            <a:r>
              <a:rPr lang="en-US" sz="3200" dirty="0" err="1">
                <a:latin typeface="Arial Nova Cond Light" panose="020B0306020202020204" pitchFamily="34" charset="0"/>
              </a:rPr>
              <a:t>babae</a:t>
            </a:r>
            <a:r>
              <a:rPr lang="en-US" sz="3200" dirty="0">
                <a:latin typeface="Arial Nova Cond Light" panose="020B0306020202020204" pitchFamily="34" charset="0"/>
              </a:rPr>
              <a:t> ay </a:t>
            </a:r>
            <a:r>
              <a:rPr lang="en-US" sz="3200" dirty="0" err="1">
                <a:latin typeface="Arial Nova Cond Light" panose="020B0306020202020204" pitchFamily="34" charset="0"/>
              </a:rPr>
              <a:t>natulog</a:t>
            </a:r>
            <a:r>
              <a:rPr lang="en-US" sz="3200" dirty="0">
                <a:latin typeface="Arial Nova Cond Light" panose="020B0306020202020204" pitchFamily="34" charset="0"/>
              </a:rPr>
              <a:t>.			The </a:t>
            </a:r>
            <a:r>
              <a:rPr lang="en-US" sz="3200" dirty="0">
                <a:solidFill>
                  <a:srgbClr val="FF0000"/>
                </a:solidFill>
                <a:latin typeface="Arial Nova Cond Light" panose="020B0306020202020204" pitchFamily="34" charset="0"/>
              </a:rPr>
              <a:t>young girl </a:t>
            </a:r>
            <a:r>
              <a:rPr lang="en-US" sz="3200" dirty="0">
                <a:latin typeface="Arial Nova Cond Light" panose="020B0306020202020204" pitchFamily="34" charset="0"/>
              </a:rPr>
              <a:t>slept.</a:t>
            </a:r>
          </a:p>
          <a:p>
            <a:pPr marL="0" indent="0">
              <a:buNone/>
            </a:pPr>
            <a:r>
              <a:rPr lang="en-US" sz="3200" dirty="0">
                <a:latin typeface="Arial Nova Cond Light" panose="020B0306020202020204" pitchFamily="34" charset="0"/>
              </a:rPr>
              <a:t> Ang lolo ko ay </a:t>
            </a:r>
            <a:r>
              <a:rPr lang="en-US" sz="3200" dirty="0" err="1">
                <a:latin typeface="Arial Nova Cond Light" panose="020B0306020202020204" pitchFamily="34" charset="0"/>
              </a:rPr>
              <a:t>matanda</a:t>
            </a:r>
            <a:r>
              <a:rPr lang="en-US" sz="3200" dirty="0" err="1">
                <a:solidFill>
                  <a:srgbClr val="FF0000"/>
                </a:solidFill>
                <a:latin typeface="Arial Nova Cond Light" panose="020B0306020202020204" pitchFamily="34" charset="0"/>
              </a:rPr>
              <a:t>ng</a:t>
            </a:r>
            <a:r>
              <a:rPr lang="en-US" sz="3200" dirty="0">
                <a:latin typeface="Arial Nova Cond Light" panose="020B0306020202020204" pitchFamily="34" charset="0"/>
              </a:rPr>
              <a:t> </a:t>
            </a:r>
            <a:r>
              <a:rPr lang="en-US" sz="3200" dirty="0" err="1">
                <a:latin typeface="Arial Nova Cond Light" panose="020B0306020202020204" pitchFamily="34" charset="0"/>
              </a:rPr>
              <a:t>lalaki</a:t>
            </a:r>
            <a:r>
              <a:rPr lang="en-US" sz="3200" dirty="0">
                <a:latin typeface="Arial Nova Cond Light" panose="020B0306020202020204" pitchFamily="34" charset="0"/>
              </a:rPr>
              <a:t>.		My grandfather is an </a:t>
            </a:r>
            <a:r>
              <a:rPr lang="en-US" sz="3200" dirty="0">
                <a:solidFill>
                  <a:srgbClr val="FF0000"/>
                </a:solidFill>
                <a:latin typeface="Arial Nova Cond Light" panose="020B0306020202020204" pitchFamily="34" charset="0"/>
              </a:rPr>
              <a:t>old man</a:t>
            </a:r>
            <a:r>
              <a:rPr lang="en-US" sz="3200" dirty="0">
                <a:latin typeface="Arial Nova Cond Light" panose="020B0306020202020204" pitchFamily="34" charset="0"/>
              </a:rPr>
              <a:t>.</a:t>
            </a:r>
          </a:p>
          <a:p>
            <a:pPr marL="0" indent="0">
              <a:buNone/>
            </a:pPr>
            <a:endParaRPr lang="en-US" sz="2400" dirty="0">
              <a:latin typeface="Arial Nova Cond Light" panose="020B0306020202020204" pitchFamily="34" charset="0"/>
            </a:endParaRPr>
          </a:p>
          <a:p>
            <a:pPr marL="0" indent="0">
              <a:buNone/>
            </a:pPr>
            <a:r>
              <a:rPr lang="en-US" sz="2400" dirty="0">
                <a:latin typeface="Arial Nova Cond Light" panose="020B0306020202020204" pitchFamily="34" charset="0"/>
              </a:rPr>
              <a:t> </a:t>
            </a:r>
          </a:p>
          <a:p>
            <a:pPr marL="0" indent="0">
              <a:buNone/>
            </a:pPr>
            <a:endParaRPr lang="en-US" sz="2400" dirty="0">
              <a:latin typeface="Arial Nova Cond Light" panose="020B0306020202020204" pitchFamily="34" charset="0"/>
            </a:endParaRPr>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18685E11-CF1E-4BFF-D0BD-B79FD1799B24}"/>
              </a:ext>
            </a:extLst>
          </p:cNvPr>
          <p:cNvSpPr txBox="1"/>
          <p:nvPr/>
        </p:nvSpPr>
        <p:spPr>
          <a:xfrm>
            <a:off x="52444" y="1150030"/>
            <a:ext cx="12156489" cy="923330"/>
          </a:xfrm>
          <a:prstGeom prst="rect">
            <a:avLst/>
          </a:prstGeom>
          <a:noFill/>
        </p:spPr>
        <p:txBody>
          <a:bodyPr wrap="square">
            <a:spAutoFit/>
          </a:bodyPr>
          <a:lstStyle/>
          <a:p>
            <a:r>
              <a:rPr lang="en-US" sz="3600" b="1" dirty="0">
                <a:latin typeface="Arial Nova Cond Light" panose="020B0306020202020204" pitchFamily="34" charset="0"/>
              </a:rPr>
              <a:t>II. OTHER WORD SEQUENCES THAT NEED LIGATURES</a:t>
            </a:r>
            <a:endParaRPr lang="en-PH" sz="3600" b="1" dirty="0">
              <a:latin typeface="Arial Nova Cond Light" panose="020B0306020202020204" pitchFamily="34" charset="0"/>
            </a:endParaRPr>
          </a:p>
          <a:p>
            <a:endParaRPr lang="en-PH" dirty="0"/>
          </a:p>
        </p:txBody>
      </p:sp>
    </p:spTree>
    <p:extLst>
      <p:ext uri="{BB962C8B-B14F-4D97-AF65-F5344CB8AC3E}">
        <p14:creationId xmlns:p14="http://schemas.microsoft.com/office/powerpoint/2010/main" val="2544005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ED91D-7245-1B3A-2343-8529355E9E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A69443-EC1B-5B83-AC26-173E43433883}"/>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EA14265-F872-0987-9AB9-888DE8F88FFB}"/>
              </a:ext>
            </a:extLst>
          </p:cNvPr>
          <p:cNvSpPr>
            <a:spLocks noGrp="1"/>
          </p:cNvSpPr>
          <p:nvPr>
            <p:ph idx="1"/>
          </p:nvPr>
        </p:nvSpPr>
        <p:spPr>
          <a:xfrm>
            <a:off x="0" y="1831736"/>
            <a:ext cx="12191999"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D176B91D-0DA4-8AEA-13BE-525D63A03401}"/>
              </a:ext>
            </a:extLst>
          </p:cNvPr>
          <p:cNvSpPr txBox="1"/>
          <p:nvPr/>
        </p:nvSpPr>
        <p:spPr>
          <a:xfrm>
            <a:off x="112838" y="1145346"/>
            <a:ext cx="11356726" cy="646331"/>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p:txBody>
      </p:sp>
      <p:sp>
        <p:nvSpPr>
          <p:cNvPr id="7" name="TextBox 6">
            <a:extLst>
              <a:ext uri="{FF2B5EF4-FFF2-40B4-BE49-F238E27FC236}">
                <a16:creationId xmlns:a16="http://schemas.microsoft.com/office/drawing/2014/main" id="{1D30B08B-F799-B2A9-FF8F-C3E9EB8B13C2}"/>
              </a:ext>
            </a:extLst>
          </p:cNvPr>
          <p:cNvSpPr txBox="1"/>
          <p:nvPr/>
        </p:nvSpPr>
        <p:spPr>
          <a:xfrm>
            <a:off x="228600" y="2037986"/>
            <a:ext cx="10566401" cy="2062103"/>
          </a:xfrm>
          <a:prstGeom prst="rect">
            <a:avLst/>
          </a:prstGeom>
          <a:noFill/>
        </p:spPr>
        <p:txBody>
          <a:bodyPr wrap="square">
            <a:spAutoFit/>
          </a:bodyPr>
          <a:lstStyle/>
          <a:p>
            <a:pPr marL="514350" indent="-514350">
              <a:buAutoNum type="arabicPeriod" startAt="2"/>
            </a:pPr>
            <a:r>
              <a:rPr lang="en-PH" sz="3200" dirty="0">
                <a:solidFill>
                  <a:srgbClr val="FF0000"/>
                </a:solidFill>
                <a:latin typeface="Arial Nova Cond Light" panose="020B0306020202020204" pitchFamily="34" charset="0"/>
              </a:rPr>
              <a:t>Noun + verb (or verb + noun) </a:t>
            </a:r>
          </a:p>
          <a:p>
            <a:endParaRPr lang="en-PH" sz="3200" dirty="0">
              <a:latin typeface="Arial Nova Cond Light" panose="020B0306020202020204" pitchFamily="34" charset="0"/>
            </a:endParaRPr>
          </a:p>
          <a:p>
            <a:r>
              <a:rPr lang="en-PH" sz="3200" dirty="0">
                <a:latin typeface="Arial Nova Cond Light" panose="020B0306020202020204" pitchFamily="34" charset="0"/>
              </a:rPr>
              <a:t>Ang </a:t>
            </a:r>
            <a:r>
              <a:rPr lang="en-PH" sz="3200" dirty="0" err="1">
                <a:latin typeface="Arial Nova Cond Light" panose="020B0306020202020204" pitchFamily="34" charset="0"/>
              </a:rPr>
              <a:t>ibon</a:t>
            </a:r>
            <a:r>
              <a:rPr lang="en-PH" sz="3200" dirty="0" err="1">
                <a:solidFill>
                  <a:srgbClr val="FF0000"/>
                </a:solidFill>
                <a:latin typeface="Arial Nova Cond Light" panose="020B0306020202020204" pitchFamily="34" charset="0"/>
              </a:rPr>
              <a:t>g</a:t>
            </a:r>
            <a:r>
              <a:rPr lang="en-PH" sz="3200" dirty="0">
                <a:latin typeface="Arial Nova Cond Light" panose="020B0306020202020204" pitchFamily="34" charset="0"/>
              </a:rPr>
              <a:t> </a:t>
            </a:r>
            <a:r>
              <a:rPr lang="en-PH" sz="3200" dirty="0" err="1">
                <a:latin typeface="Arial Nova Cond Light" panose="020B0306020202020204" pitchFamily="34" charset="0"/>
              </a:rPr>
              <a:t>lumilipad</a:t>
            </a:r>
            <a:r>
              <a:rPr lang="en-PH" sz="3200" dirty="0">
                <a:latin typeface="Arial Nova Cond Light" panose="020B0306020202020204" pitchFamily="34" charset="0"/>
              </a:rPr>
              <a:t> ay </a:t>
            </a:r>
            <a:r>
              <a:rPr lang="en-PH" sz="3200" dirty="0" err="1">
                <a:latin typeface="Arial Nova Cond Light" panose="020B0306020202020204" pitchFamily="34" charset="0"/>
              </a:rPr>
              <a:t>binaril</a:t>
            </a:r>
            <a:r>
              <a:rPr lang="en-PH" sz="3200" dirty="0">
                <a:latin typeface="Arial Nova Cond Light" panose="020B0306020202020204" pitchFamily="34" charset="0"/>
              </a:rPr>
              <a:t>.						</a:t>
            </a:r>
            <a:r>
              <a:rPr lang="en-US" sz="3200" dirty="0">
                <a:latin typeface="Arial Nova Cond Light" panose="020B0306020202020204" pitchFamily="34" charset="0"/>
              </a:rPr>
              <a:t>The </a:t>
            </a:r>
            <a:r>
              <a:rPr lang="en-US" sz="3200" dirty="0">
                <a:solidFill>
                  <a:srgbClr val="FF0000"/>
                </a:solidFill>
                <a:latin typeface="Arial Nova Cond Light" panose="020B0306020202020204" pitchFamily="34" charset="0"/>
              </a:rPr>
              <a:t>flying bird </a:t>
            </a:r>
            <a:r>
              <a:rPr lang="en-US" sz="3200" dirty="0">
                <a:latin typeface="Arial Nova Cond Light" panose="020B0306020202020204" pitchFamily="34" charset="0"/>
              </a:rPr>
              <a:t>was shot.</a:t>
            </a:r>
            <a:endParaRPr lang="en-PH" sz="3200" dirty="0">
              <a:latin typeface="Arial Nova Cond Light" panose="020B0306020202020204" pitchFamily="34" charset="0"/>
            </a:endParaRPr>
          </a:p>
          <a:p>
            <a:r>
              <a:rPr lang="en-PH" sz="3200" dirty="0">
                <a:latin typeface="Arial Nova Cond Light" panose="020B0306020202020204" pitchFamily="34" charset="0"/>
              </a:rPr>
              <a:t>Ang </a:t>
            </a:r>
            <a:r>
              <a:rPr lang="en-PH" sz="3200" dirty="0" err="1">
                <a:latin typeface="Arial Nova Cond Light" panose="020B0306020202020204" pitchFamily="34" charset="0"/>
              </a:rPr>
              <a:t>lumilipad</a:t>
            </a:r>
            <a:r>
              <a:rPr lang="en-PH" sz="3200" dirty="0">
                <a:latin typeface="Arial Nova Cond Light" panose="020B0306020202020204" pitchFamily="34" charset="0"/>
              </a:rPr>
              <a:t> </a:t>
            </a:r>
            <a:r>
              <a:rPr lang="en-PH" sz="3200" dirty="0" err="1">
                <a:solidFill>
                  <a:srgbClr val="FF0000"/>
                </a:solidFill>
                <a:latin typeface="Arial Nova Cond Light" panose="020B0306020202020204" pitchFamily="34" charset="0"/>
              </a:rPr>
              <a:t>na</a:t>
            </a:r>
            <a:r>
              <a:rPr lang="en-PH" sz="3200" dirty="0">
                <a:latin typeface="Arial Nova Cond Light" panose="020B0306020202020204" pitchFamily="34" charset="0"/>
              </a:rPr>
              <a:t> </a:t>
            </a:r>
            <a:r>
              <a:rPr lang="en-PH" sz="3200" dirty="0" err="1">
                <a:latin typeface="Arial Nova Cond Light" panose="020B0306020202020204" pitchFamily="34" charset="0"/>
              </a:rPr>
              <a:t>ibon</a:t>
            </a:r>
            <a:r>
              <a:rPr lang="en-PH" sz="3200" dirty="0">
                <a:latin typeface="Arial Nova Cond Light" panose="020B0306020202020204" pitchFamily="34" charset="0"/>
              </a:rPr>
              <a:t> ay </a:t>
            </a:r>
            <a:r>
              <a:rPr lang="en-PH" sz="3200" dirty="0" err="1">
                <a:latin typeface="Arial Nova Cond Light" panose="020B0306020202020204" pitchFamily="34" charset="0"/>
              </a:rPr>
              <a:t>binaril</a:t>
            </a:r>
            <a:endParaRPr lang="en-PH" sz="3200" dirty="0">
              <a:latin typeface="Arial Nova Cond Light" panose="020B0306020202020204" pitchFamily="34" charset="0"/>
            </a:endParaRPr>
          </a:p>
        </p:txBody>
      </p:sp>
    </p:spTree>
    <p:extLst>
      <p:ext uri="{BB962C8B-B14F-4D97-AF65-F5344CB8AC3E}">
        <p14:creationId xmlns:p14="http://schemas.microsoft.com/office/powerpoint/2010/main" val="1433527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C348C1-9F43-42E4-F8E9-A82539DCC4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DA313F-6CC6-FD32-4501-8C676DE211DD}"/>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83AD538B-2385-D9A7-AA47-DCF6B1A59F94}"/>
              </a:ext>
            </a:extLst>
          </p:cNvPr>
          <p:cNvSpPr>
            <a:spLocks noGrp="1"/>
          </p:cNvSpPr>
          <p:nvPr>
            <p:ph idx="1"/>
          </p:nvPr>
        </p:nvSpPr>
        <p:spPr>
          <a:xfrm>
            <a:off x="0" y="1831736"/>
            <a:ext cx="12192000" cy="4267223"/>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718FD9BD-3184-7DC0-84CB-8C2D0913D793}"/>
              </a:ext>
            </a:extLst>
          </p:cNvPr>
          <p:cNvSpPr txBox="1"/>
          <p:nvPr/>
        </p:nvSpPr>
        <p:spPr>
          <a:xfrm>
            <a:off x="417637" y="1180808"/>
            <a:ext cx="11356726" cy="1200329"/>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latin typeface="Arial Nova Cond Light" panose="020B0306020202020204" pitchFamily="34" charset="0"/>
            </a:endParaRPr>
          </a:p>
        </p:txBody>
      </p:sp>
      <p:sp>
        <p:nvSpPr>
          <p:cNvPr id="7" name="TextBox 6">
            <a:extLst>
              <a:ext uri="{FF2B5EF4-FFF2-40B4-BE49-F238E27FC236}">
                <a16:creationId xmlns:a16="http://schemas.microsoft.com/office/drawing/2014/main" id="{FD035B76-9EF9-9CE6-C849-60508C792709}"/>
              </a:ext>
            </a:extLst>
          </p:cNvPr>
          <p:cNvSpPr txBox="1"/>
          <p:nvPr/>
        </p:nvSpPr>
        <p:spPr>
          <a:xfrm>
            <a:off x="254000" y="2151727"/>
            <a:ext cx="11658600" cy="2554545"/>
          </a:xfrm>
          <a:prstGeom prst="rect">
            <a:avLst/>
          </a:prstGeom>
          <a:noFill/>
        </p:spPr>
        <p:txBody>
          <a:bodyPr wrap="square">
            <a:spAutoFit/>
          </a:bodyPr>
          <a:lstStyle/>
          <a:p>
            <a:r>
              <a:rPr lang="en-US" sz="3200" dirty="0">
                <a:latin typeface="Arial Nova Cond Light" panose="020B0306020202020204" pitchFamily="34" charset="0"/>
              </a:rPr>
              <a:t>3. </a:t>
            </a:r>
            <a:r>
              <a:rPr lang="en-US" sz="3200" dirty="0">
                <a:solidFill>
                  <a:srgbClr val="FF0000"/>
                </a:solidFill>
                <a:latin typeface="Arial Nova Cond Light" panose="020B0306020202020204" pitchFamily="34" charset="0"/>
              </a:rPr>
              <a:t>Adjective + verb (or verb + adjective) </a:t>
            </a:r>
          </a:p>
          <a:p>
            <a:endParaRPr lang="en-US" sz="3200" dirty="0">
              <a:latin typeface="Arial Nova Cond Light" panose="020B0306020202020204" pitchFamily="34" charset="0"/>
            </a:endParaRPr>
          </a:p>
          <a:p>
            <a:r>
              <a:rPr lang="en-US" sz="3200" u="heavy" dirty="0">
                <a:latin typeface="Arial Nova Cond Light" panose="020B0306020202020204" pitchFamily="34" charset="0"/>
              </a:rPr>
              <a:t>Pagod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a:t>
            </a:r>
            <a:r>
              <a:rPr lang="en-US" sz="3200" u="heavy" dirty="0" err="1">
                <a:latin typeface="Arial Nova Cond Light" panose="020B0306020202020204" pitchFamily="34" charset="0"/>
              </a:rPr>
              <a:t>dumating</a:t>
            </a:r>
            <a:r>
              <a:rPr lang="en-US" sz="3200" dirty="0">
                <a:latin typeface="Arial Nova Cond Light" panose="020B0306020202020204" pitchFamily="34" charset="0"/>
              </a:rPr>
              <a:t> </a:t>
            </a:r>
            <a:r>
              <a:rPr lang="en-US" sz="3200" dirty="0" err="1">
                <a:latin typeface="Arial Nova Cond Light" panose="020B0306020202020204" pitchFamily="34" charset="0"/>
              </a:rPr>
              <a:t>si</a:t>
            </a:r>
            <a:r>
              <a:rPr lang="en-US" sz="3200" dirty="0">
                <a:latin typeface="Arial Nova Cond Light" panose="020B0306020202020204" pitchFamily="34" charset="0"/>
              </a:rPr>
              <a:t>/ang </a:t>
            </a:r>
            <a:r>
              <a:rPr lang="en-US" sz="3200" dirty="0" err="1">
                <a:latin typeface="Arial Nova Cond Light" panose="020B0306020202020204" pitchFamily="34" charset="0"/>
              </a:rPr>
              <a:t>tatay</a:t>
            </a:r>
            <a:r>
              <a:rPr lang="en-US" sz="3200" dirty="0">
                <a:latin typeface="Arial Nova Cond Light" panose="020B0306020202020204" pitchFamily="34" charset="0"/>
              </a:rPr>
              <a:t> </a:t>
            </a:r>
            <a:r>
              <a:rPr lang="en-US" sz="3200" dirty="0" err="1">
                <a:latin typeface="Arial Nova Cond Light" panose="020B0306020202020204" pitchFamily="34" charset="0"/>
              </a:rPr>
              <a:t>sa</a:t>
            </a:r>
            <a:r>
              <a:rPr lang="en-US" sz="3200" dirty="0">
                <a:latin typeface="Arial Nova Cond Light" panose="020B0306020202020204" pitchFamily="34" charset="0"/>
              </a:rPr>
              <a:t> </a:t>
            </a:r>
            <a:r>
              <a:rPr lang="en-US" sz="3200" dirty="0" err="1">
                <a:latin typeface="Arial Nova Cond Light" panose="020B0306020202020204" pitchFamily="34" charset="0"/>
              </a:rPr>
              <a:t>bahay</a:t>
            </a:r>
            <a:r>
              <a:rPr lang="en-US" sz="3200" dirty="0">
                <a:latin typeface="Arial Nova Cond Light" panose="020B0306020202020204" pitchFamily="34" charset="0"/>
              </a:rPr>
              <a:t>. 			My father </a:t>
            </a:r>
            <a:r>
              <a:rPr lang="en-US" sz="3200" dirty="0">
                <a:solidFill>
                  <a:srgbClr val="FF0000"/>
                </a:solidFill>
                <a:latin typeface="Arial Nova Cond Light" panose="020B0306020202020204" pitchFamily="34" charset="0"/>
              </a:rPr>
              <a:t>arrived </a:t>
            </a:r>
            <a:r>
              <a:rPr lang="en-US" sz="3200" dirty="0">
                <a:latin typeface="Arial Nova Cond Light" panose="020B0306020202020204" pitchFamily="34" charset="0"/>
              </a:rPr>
              <a:t>home</a:t>
            </a:r>
            <a:r>
              <a:rPr lang="en-US" sz="3200" dirty="0">
                <a:solidFill>
                  <a:srgbClr val="FF0000"/>
                </a:solidFill>
                <a:latin typeface="Arial Nova Cond Light" panose="020B0306020202020204" pitchFamily="34" charset="0"/>
              </a:rPr>
              <a:t> tired</a:t>
            </a:r>
            <a:r>
              <a:rPr lang="en-US" sz="3200" dirty="0">
                <a:latin typeface="Arial Nova Cond Light" panose="020B0306020202020204" pitchFamily="34" charset="0"/>
              </a:rPr>
              <a:t>.</a:t>
            </a:r>
          </a:p>
          <a:p>
            <a:r>
              <a:rPr lang="en-US" sz="3200" u="heavy" dirty="0" err="1">
                <a:latin typeface="Arial Nova Cond Light" panose="020B0306020202020204" pitchFamily="34" charset="0"/>
              </a:rPr>
              <a:t>Dumating</a:t>
            </a:r>
            <a:r>
              <a:rPr lang="en-US" sz="3200" u="heavy" dirty="0">
                <a:latin typeface="Arial Nova Cond Light" panose="020B0306020202020204" pitchFamily="34" charset="0"/>
              </a:rPr>
              <a:t>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pagod</a:t>
            </a:r>
            <a:r>
              <a:rPr lang="en-US" sz="3200" dirty="0">
                <a:latin typeface="Arial Nova Cond Light" panose="020B0306020202020204" pitchFamily="34" charset="0"/>
              </a:rPr>
              <a:t> </a:t>
            </a:r>
            <a:r>
              <a:rPr lang="en-US" sz="3200" dirty="0" err="1">
                <a:latin typeface="Arial Nova Cond Light" panose="020B0306020202020204" pitchFamily="34" charset="0"/>
              </a:rPr>
              <a:t>si</a:t>
            </a:r>
            <a:r>
              <a:rPr lang="en-US" sz="3200" dirty="0">
                <a:latin typeface="Arial Nova Cond Light" panose="020B0306020202020204" pitchFamily="34" charset="0"/>
              </a:rPr>
              <a:t>/ang </a:t>
            </a:r>
            <a:r>
              <a:rPr lang="en-US" sz="3200" dirty="0" err="1">
                <a:latin typeface="Arial Nova Cond Light" panose="020B0306020202020204" pitchFamily="34" charset="0"/>
              </a:rPr>
              <a:t>tatay</a:t>
            </a:r>
            <a:r>
              <a:rPr lang="en-US" sz="3200" dirty="0">
                <a:latin typeface="Arial Nova Cond Light" panose="020B0306020202020204" pitchFamily="34" charset="0"/>
              </a:rPr>
              <a:t> </a:t>
            </a:r>
            <a:r>
              <a:rPr lang="en-US" sz="3200" dirty="0" err="1">
                <a:latin typeface="Arial Nova Cond Light" panose="020B0306020202020204" pitchFamily="34" charset="0"/>
              </a:rPr>
              <a:t>sa</a:t>
            </a:r>
            <a:r>
              <a:rPr lang="en-US" sz="3200" dirty="0">
                <a:latin typeface="Arial Nova Cond Light" panose="020B0306020202020204" pitchFamily="34" charset="0"/>
              </a:rPr>
              <a:t> </a:t>
            </a:r>
            <a:r>
              <a:rPr lang="en-US" sz="3200" dirty="0" err="1">
                <a:latin typeface="Arial Nova Cond Light" panose="020B0306020202020204" pitchFamily="34" charset="0"/>
              </a:rPr>
              <a:t>bahay</a:t>
            </a:r>
            <a:r>
              <a:rPr lang="en-US" sz="3200" dirty="0">
                <a:latin typeface="Arial Nova Cond Light" panose="020B0306020202020204" pitchFamily="34" charset="0"/>
              </a:rPr>
              <a:t>.</a:t>
            </a:r>
            <a:endParaRPr lang="en-PH" sz="3200" dirty="0">
              <a:latin typeface="Arial Nova Cond Light" panose="020B0306020202020204" pitchFamily="34" charset="0"/>
            </a:endParaRPr>
          </a:p>
          <a:p>
            <a:endParaRPr lang="en-PH" sz="3200" dirty="0"/>
          </a:p>
        </p:txBody>
      </p:sp>
    </p:spTree>
    <p:extLst>
      <p:ext uri="{BB962C8B-B14F-4D97-AF65-F5344CB8AC3E}">
        <p14:creationId xmlns:p14="http://schemas.microsoft.com/office/powerpoint/2010/main" val="27399667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C3C77-79D6-394A-26AA-844E73B8C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6C7590-B152-F4FF-101F-33C212A64D8A}"/>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40FFA635-E366-CA57-C1B7-4EE52B81F1C4}"/>
              </a:ext>
            </a:extLst>
          </p:cNvPr>
          <p:cNvSpPr>
            <a:spLocks noGrp="1"/>
          </p:cNvSpPr>
          <p:nvPr>
            <p:ph idx="1"/>
          </p:nvPr>
        </p:nvSpPr>
        <p:spPr>
          <a:xfrm>
            <a:off x="0" y="1831736"/>
            <a:ext cx="12191999"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B1B62B43-F1AF-0C74-E9F9-1ABF4C0CC28F}"/>
              </a:ext>
            </a:extLst>
          </p:cNvPr>
          <p:cNvSpPr txBox="1"/>
          <p:nvPr/>
        </p:nvSpPr>
        <p:spPr>
          <a:xfrm>
            <a:off x="417637" y="1180808"/>
            <a:ext cx="11356726" cy="1200329"/>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p>
        </p:txBody>
      </p:sp>
      <p:sp>
        <p:nvSpPr>
          <p:cNvPr id="7" name="TextBox 6">
            <a:extLst>
              <a:ext uri="{FF2B5EF4-FFF2-40B4-BE49-F238E27FC236}">
                <a16:creationId xmlns:a16="http://schemas.microsoft.com/office/drawing/2014/main" id="{F8DD5B14-3E6B-5979-8D4F-D1E81EABDB2E}"/>
              </a:ext>
            </a:extLst>
          </p:cNvPr>
          <p:cNvSpPr txBox="1"/>
          <p:nvPr/>
        </p:nvSpPr>
        <p:spPr>
          <a:xfrm>
            <a:off x="0" y="2271817"/>
            <a:ext cx="12192000" cy="3046988"/>
          </a:xfrm>
          <a:prstGeom prst="rect">
            <a:avLst/>
          </a:prstGeom>
          <a:noFill/>
        </p:spPr>
        <p:txBody>
          <a:bodyPr wrap="square">
            <a:spAutoFit/>
          </a:bodyPr>
          <a:lstStyle/>
          <a:p>
            <a:pPr marL="971550" lvl="1" indent="-514350">
              <a:buAutoNum type="arabicPeriod" startAt="4"/>
            </a:pPr>
            <a:r>
              <a:rPr lang="en-US" sz="3200" dirty="0">
                <a:solidFill>
                  <a:srgbClr val="FF0000"/>
                </a:solidFill>
                <a:latin typeface="Arial Nova Cond Light" panose="020B0306020202020204" pitchFamily="34" charset="0"/>
              </a:rPr>
              <a:t>Verb+ adverb (or adverb+ verb)</a:t>
            </a:r>
          </a:p>
          <a:p>
            <a:pPr lvl="1"/>
            <a:r>
              <a:rPr lang="en-US" sz="3200" dirty="0">
                <a:latin typeface="Arial Nova Cond Light" panose="020B0306020202020204" pitchFamily="34" charset="0"/>
              </a:rPr>
              <a:t> </a:t>
            </a:r>
          </a:p>
          <a:p>
            <a:pPr lvl="1"/>
            <a:r>
              <a:rPr lang="en-US" sz="3200" u="heavy" dirty="0" err="1">
                <a:latin typeface="Arial Nova Cond Light" panose="020B0306020202020204" pitchFamily="34" charset="0"/>
              </a:rPr>
              <a:t>Kumain</a:t>
            </a:r>
            <a:r>
              <a:rPr lang="en-US" sz="3200" u="heavy" dirty="0" err="1">
                <a:solidFill>
                  <a:srgbClr val="FF0000"/>
                </a:solidFill>
                <a:latin typeface="Arial Nova Cond Light" panose="020B0306020202020204" pitchFamily="34" charset="0"/>
              </a:rPr>
              <a:t>g</a:t>
            </a:r>
            <a:r>
              <a:rPr lang="en-US" sz="3200" u="heavy" dirty="0">
                <a:solidFill>
                  <a:srgbClr val="FF0000"/>
                </a:solidFill>
                <a:latin typeface="Arial Nova Cond Light" panose="020B0306020202020204" pitchFamily="34" charset="0"/>
              </a:rPr>
              <a:t> </a:t>
            </a:r>
            <a:r>
              <a:rPr lang="en-US" sz="3200" u="heavy" dirty="0" err="1">
                <a:latin typeface="Arial Nova Cond Light" panose="020B0306020202020204" pitchFamily="34" charset="0"/>
              </a:rPr>
              <a:t>mabilis</a:t>
            </a:r>
            <a:r>
              <a:rPr lang="en-US" sz="3200" dirty="0">
                <a:latin typeface="Arial Nova Cond Light" panose="020B0306020202020204" pitchFamily="34" charset="0"/>
              </a:rPr>
              <a:t> </a:t>
            </a:r>
            <a:r>
              <a:rPr lang="en-US" sz="3200" dirty="0" err="1">
                <a:latin typeface="Arial Nova Cond Light" panose="020B0306020202020204" pitchFamily="34" charset="0"/>
              </a:rPr>
              <a:t>si</a:t>
            </a:r>
            <a:r>
              <a:rPr lang="en-US" sz="3200" dirty="0">
                <a:latin typeface="Arial Nova Cond Light" panose="020B0306020202020204" pitchFamily="34" charset="0"/>
              </a:rPr>
              <a:t> Pablo. 						Pablo </a:t>
            </a:r>
            <a:r>
              <a:rPr lang="en-US" sz="3200" dirty="0">
                <a:solidFill>
                  <a:srgbClr val="FF0000"/>
                </a:solidFill>
                <a:latin typeface="Arial Nova Cond Light" panose="020B0306020202020204" pitchFamily="34" charset="0"/>
              </a:rPr>
              <a:t>ate quickly</a:t>
            </a:r>
            <a:r>
              <a:rPr lang="en-US" sz="3200" dirty="0">
                <a:latin typeface="Arial Nova Cond Light" panose="020B0306020202020204" pitchFamily="34" charset="0"/>
              </a:rPr>
              <a:t>.</a:t>
            </a:r>
          </a:p>
          <a:p>
            <a:pPr lvl="1"/>
            <a:r>
              <a:rPr lang="en-US" sz="3200" u="heavy" dirty="0" err="1">
                <a:latin typeface="Arial Nova Cond Light" panose="020B0306020202020204" pitchFamily="34" charset="0"/>
              </a:rPr>
              <a:t>Mabilis</a:t>
            </a:r>
            <a:r>
              <a:rPr lang="en-US" sz="3200" u="heavy" dirty="0">
                <a:latin typeface="Arial Nova Cond Light" panose="020B0306020202020204" pitchFamily="34" charset="0"/>
              </a:rPr>
              <a:t> </a:t>
            </a:r>
            <a:r>
              <a:rPr lang="en-US" sz="3200" u="heavy" dirty="0" err="1">
                <a:solidFill>
                  <a:srgbClr val="FF0000"/>
                </a:solidFill>
                <a:latin typeface="Arial Nova Cond Light" panose="020B0306020202020204" pitchFamily="34" charset="0"/>
              </a:rPr>
              <a:t>na</a:t>
            </a:r>
            <a:r>
              <a:rPr lang="en-US" sz="3200" u="heavy" dirty="0">
                <a:solidFill>
                  <a:srgbClr val="FF0000"/>
                </a:solidFill>
                <a:latin typeface="Arial Nova Cond Light" panose="020B0306020202020204" pitchFamily="34" charset="0"/>
              </a:rPr>
              <a:t> </a:t>
            </a:r>
            <a:r>
              <a:rPr lang="en-US" sz="3200" u="heavy" dirty="0" err="1">
                <a:latin typeface="Arial Nova Cond Light" panose="020B0306020202020204" pitchFamily="34" charset="0"/>
              </a:rPr>
              <a:t>kumain</a:t>
            </a:r>
            <a:r>
              <a:rPr lang="en-US" sz="3200" dirty="0">
                <a:latin typeface="Arial Nova Cond Light" panose="020B0306020202020204" pitchFamily="34" charset="0"/>
              </a:rPr>
              <a:t> </a:t>
            </a:r>
            <a:r>
              <a:rPr lang="en-US" sz="3200" dirty="0" err="1">
                <a:latin typeface="Arial Nova Cond Light" panose="020B0306020202020204" pitchFamily="34" charset="0"/>
              </a:rPr>
              <a:t>si</a:t>
            </a:r>
            <a:r>
              <a:rPr lang="en-US" sz="3200" dirty="0">
                <a:latin typeface="Arial Nova Cond Light" panose="020B0306020202020204" pitchFamily="34" charset="0"/>
              </a:rPr>
              <a:t> Pablo.</a:t>
            </a:r>
          </a:p>
          <a:p>
            <a:pPr lvl="1"/>
            <a:endParaRPr lang="en-US" sz="3200" dirty="0">
              <a:latin typeface="Arial Nova Cond Light" panose="020B0306020202020204" pitchFamily="34" charset="0"/>
            </a:endParaRPr>
          </a:p>
          <a:p>
            <a:pPr lvl="1"/>
            <a:r>
              <a:rPr lang="en-US" sz="3200" dirty="0">
                <a:latin typeface="Arial Nova Cond Light" panose="020B0306020202020204" pitchFamily="34" charset="0"/>
              </a:rPr>
              <a:t>Si Pablo ay </a:t>
            </a:r>
            <a:r>
              <a:rPr lang="en-US" sz="3200" dirty="0" err="1">
                <a:latin typeface="Arial Nova Cond Light" panose="020B0306020202020204" pitchFamily="34" charset="0"/>
              </a:rPr>
              <a:t>kumaing</a:t>
            </a:r>
            <a:r>
              <a:rPr lang="en-US" sz="3200" dirty="0">
                <a:latin typeface="Arial Nova Cond Light" panose="020B0306020202020204" pitchFamily="34" charset="0"/>
              </a:rPr>
              <a:t> </a:t>
            </a:r>
            <a:r>
              <a:rPr lang="en-US" sz="3200" dirty="0" err="1">
                <a:latin typeface="Arial Nova Cond Light" panose="020B0306020202020204" pitchFamily="34" charset="0"/>
              </a:rPr>
              <a:t>mabilis</a:t>
            </a:r>
            <a:r>
              <a:rPr lang="en-US" sz="3200" dirty="0">
                <a:latin typeface="Arial Nova Cond Light" panose="020B0306020202020204" pitchFamily="34" charset="0"/>
              </a:rPr>
              <a:t>. </a:t>
            </a:r>
            <a:endParaRPr lang="en-PH" sz="3200" dirty="0">
              <a:latin typeface="Arial Nova Cond Light" panose="020B0306020202020204" pitchFamily="34" charset="0"/>
            </a:endParaRPr>
          </a:p>
        </p:txBody>
      </p:sp>
    </p:spTree>
    <p:extLst>
      <p:ext uri="{BB962C8B-B14F-4D97-AF65-F5344CB8AC3E}">
        <p14:creationId xmlns:p14="http://schemas.microsoft.com/office/powerpoint/2010/main" val="10497378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4406DC-FCAE-2F71-F811-9FFA7D859B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CF4B50-1F36-EE34-F81B-BC0E70314169}"/>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648357F6-7342-751E-FB64-D106220E17E2}"/>
              </a:ext>
            </a:extLst>
          </p:cNvPr>
          <p:cNvSpPr>
            <a:spLocks noGrp="1"/>
          </p:cNvSpPr>
          <p:nvPr>
            <p:ph idx="1"/>
          </p:nvPr>
        </p:nvSpPr>
        <p:spPr>
          <a:xfrm>
            <a:off x="0" y="1831736"/>
            <a:ext cx="12192000"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1C4EE088-B2DC-57FC-4DB5-DE05CAEDB5F8}"/>
              </a:ext>
            </a:extLst>
          </p:cNvPr>
          <p:cNvSpPr txBox="1"/>
          <p:nvPr/>
        </p:nvSpPr>
        <p:spPr>
          <a:xfrm>
            <a:off x="417637" y="1180808"/>
            <a:ext cx="11356726" cy="1200329"/>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p>
        </p:txBody>
      </p:sp>
      <p:sp>
        <p:nvSpPr>
          <p:cNvPr id="7" name="TextBox 6">
            <a:extLst>
              <a:ext uri="{FF2B5EF4-FFF2-40B4-BE49-F238E27FC236}">
                <a16:creationId xmlns:a16="http://schemas.microsoft.com/office/drawing/2014/main" id="{9648593A-9EC4-D1EF-6149-A6812F212FBC}"/>
              </a:ext>
            </a:extLst>
          </p:cNvPr>
          <p:cNvSpPr txBox="1"/>
          <p:nvPr/>
        </p:nvSpPr>
        <p:spPr>
          <a:xfrm>
            <a:off x="25401" y="1884098"/>
            <a:ext cx="12166600" cy="2554545"/>
          </a:xfrm>
          <a:prstGeom prst="rect">
            <a:avLst/>
          </a:prstGeom>
          <a:noFill/>
        </p:spPr>
        <p:txBody>
          <a:bodyPr wrap="square">
            <a:spAutoFit/>
          </a:bodyPr>
          <a:lstStyle/>
          <a:p>
            <a:r>
              <a:rPr lang="en-US" sz="3200" dirty="0">
                <a:latin typeface="Arial Nova Cond Light" panose="020B0306020202020204" pitchFamily="34" charset="0"/>
              </a:rPr>
              <a:t>5. </a:t>
            </a:r>
            <a:r>
              <a:rPr lang="en-US" sz="3200" dirty="0">
                <a:solidFill>
                  <a:srgbClr val="FF0000"/>
                </a:solidFill>
                <a:latin typeface="Arial Nova Cond Light" panose="020B0306020202020204" pitchFamily="34" charset="0"/>
              </a:rPr>
              <a:t>Noun + adverb (</a:t>
            </a:r>
            <a:r>
              <a:rPr lang="en-US" sz="3200" dirty="0">
                <a:latin typeface="Arial Nova Cond Light" panose="020B0306020202020204" pitchFamily="34" charset="0"/>
              </a:rPr>
              <a:t>or</a:t>
            </a:r>
            <a:r>
              <a:rPr lang="en-US" sz="3200" dirty="0">
                <a:solidFill>
                  <a:srgbClr val="FF0000"/>
                </a:solidFill>
                <a:latin typeface="Arial Nova Cond Light" panose="020B0306020202020204" pitchFamily="34" charset="0"/>
              </a:rPr>
              <a:t> adverb + noun)</a:t>
            </a:r>
          </a:p>
          <a:p>
            <a:endParaRPr lang="en-US" sz="3200" dirty="0">
              <a:latin typeface="Arial Nova Cond Light" panose="020B0306020202020204" pitchFamily="34" charset="0"/>
            </a:endParaRPr>
          </a:p>
          <a:p>
            <a:r>
              <a:rPr lang="en-US" sz="3200" dirty="0" err="1">
                <a:latin typeface="Arial Nova Cond Light" panose="020B0306020202020204" pitchFamily="34" charset="0"/>
              </a:rPr>
              <a:t>lwasan</a:t>
            </a:r>
            <a:r>
              <a:rPr lang="en-US" sz="3200" dirty="0">
                <a:latin typeface="Arial Nova Cond Light" panose="020B0306020202020204" pitchFamily="34" charset="0"/>
              </a:rPr>
              <a:t> ang </a:t>
            </a:r>
            <a:r>
              <a:rPr lang="en-US" sz="3200" u="heavy" dirty="0" err="1">
                <a:latin typeface="Arial Nova Cond Light" panose="020B0306020202020204" pitchFamily="34" charset="0"/>
              </a:rPr>
              <a:t>pag-aaway</a:t>
            </a:r>
            <a:r>
              <a:rPr lang="en-US" sz="3200" u="heavy" dirty="0">
                <a:latin typeface="Arial Nova Cond Light" panose="020B0306020202020204" pitchFamily="34" charset="0"/>
              </a:rPr>
              <a:t>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a:t>
            </a:r>
            <a:r>
              <a:rPr lang="en-US" sz="3200" u="heavy" dirty="0" err="1">
                <a:latin typeface="Arial Nova Cond Light" panose="020B0306020202020204" pitchFamily="34" charset="0"/>
              </a:rPr>
              <a:t>matagal</a:t>
            </a:r>
            <a:r>
              <a:rPr lang="en-US" sz="3200" dirty="0">
                <a:latin typeface="Arial Nova Cond Light" panose="020B0306020202020204" pitchFamily="34" charset="0"/>
              </a:rPr>
              <a:t>.				Avoid the </a:t>
            </a:r>
            <a:r>
              <a:rPr lang="en-US" sz="3200" dirty="0">
                <a:solidFill>
                  <a:srgbClr val="FF0000"/>
                </a:solidFill>
                <a:latin typeface="Arial Nova Cond Light" panose="020B0306020202020204" pitchFamily="34" charset="0"/>
              </a:rPr>
              <a:t>long feud. </a:t>
            </a:r>
          </a:p>
          <a:p>
            <a:r>
              <a:rPr lang="en-US" sz="3200" dirty="0" err="1">
                <a:latin typeface="Arial Nova Cond Light" panose="020B0306020202020204" pitchFamily="34" charset="0"/>
              </a:rPr>
              <a:t>lwasan</a:t>
            </a:r>
            <a:r>
              <a:rPr lang="en-US" sz="3200" dirty="0">
                <a:latin typeface="Arial Nova Cond Light" panose="020B0306020202020204" pitchFamily="34" charset="0"/>
              </a:rPr>
              <a:t> ang </a:t>
            </a:r>
            <a:r>
              <a:rPr lang="en-US" sz="3200" u="heavy" dirty="0" err="1">
                <a:latin typeface="Arial Nova Cond Light" panose="020B0306020202020204" pitchFamily="34" charset="0"/>
              </a:rPr>
              <a:t>matagal</a:t>
            </a:r>
            <a:r>
              <a:rPr lang="en-US" sz="3200" u="heavy" dirty="0">
                <a:latin typeface="Arial Nova Cond Light" panose="020B0306020202020204" pitchFamily="34" charset="0"/>
              </a:rPr>
              <a:t>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a:t>
            </a:r>
            <a:r>
              <a:rPr lang="en-US" sz="3200" u="heavy" dirty="0" err="1">
                <a:latin typeface="Arial Nova Cond Light" panose="020B0306020202020204" pitchFamily="34" charset="0"/>
              </a:rPr>
              <a:t>pag-aaway</a:t>
            </a:r>
            <a:r>
              <a:rPr lang="en-US" sz="3200" b="1" u="heavy" dirty="0">
                <a:latin typeface="Arial Nova Cond Light" panose="020B0306020202020204" pitchFamily="34" charset="0"/>
              </a:rPr>
              <a:t>.</a:t>
            </a:r>
            <a:endParaRPr lang="en-PH" sz="3200" dirty="0">
              <a:latin typeface="Arial Nova Cond Light" panose="020B0306020202020204" pitchFamily="34" charset="0"/>
            </a:endParaRPr>
          </a:p>
          <a:p>
            <a:endParaRPr lang="en-PH" sz="3200" dirty="0"/>
          </a:p>
        </p:txBody>
      </p:sp>
    </p:spTree>
    <p:extLst>
      <p:ext uri="{BB962C8B-B14F-4D97-AF65-F5344CB8AC3E}">
        <p14:creationId xmlns:p14="http://schemas.microsoft.com/office/powerpoint/2010/main" val="2799871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CD18FE-0462-E3E6-F36C-5228A89806F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9C30ED-CBD7-C878-087A-9FF7D5EFC0F7}"/>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36221BE5-3210-3C3B-956E-F72B92D3D8CD}"/>
              </a:ext>
            </a:extLst>
          </p:cNvPr>
          <p:cNvSpPr>
            <a:spLocks noGrp="1"/>
          </p:cNvSpPr>
          <p:nvPr>
            <p:ph idx="1"/>
          </p:nvPr>
        </p:nvSpPr>
        <p:spPr>
          <a:xfrm>
            <a:off x="0" y="1831736"/>
            <a:ext cx="12191999"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682CD41B-DF4A-EA2D-B866-1282AF606CB9}"/>
              </a:ext>
            </a:extLst>
          </p:cNvPr>
          <p:cNvSpPr txBox="1"/>
          <p:nvPr/>
        </p:nvSpPr>
        <p:spPr>
          <a:xfrm>
            <a:off x="417637" y="1180808"/>
            <a:ext cx="11356726" cy="1200329"/>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p>
        </p:txBody>
      </p:sp>
      <p:sp>
        <p:nvSpPr>
          <p:cNvPr id="7" name="TextBox 6">
            <a:extLst>
              <a:ext uri="{FF2B5EF4-FFF2-40B4-BE49-F238E27FC236}">
                <a16:creationId xmlns:a16="http://schemas.microsoft.com/office/drawing/2014/main" id="{C4BAE28B-A8BD-B29A-0478-93ABA6FEB54C}"/>
              </a:ext>
            </a:extLst>
          </p:cNvPr>
          <p:cNvSpPr txBox="1"/>
          <p:nvPr/>
        </p:nvSpPr>
        <p:spPr>
          <a:xfrm>
            <a:off x="-79900" y="1827139"/>
            <a:ext cx="12271899" cy="2554545"/>
          </a:xfrm>
          <a:prstGeom prst="rect">
            <a:avLst/>
          </a:prstGeom>
          <a:noFill/>
        </p:spPr>
        <p:txBody>
          <a:bodyPr wrap="square">
            <a:spAutoFit/>
          </a:bodyPr>
          <a:lstStyle/>
          <a:p>
            <a:pPr lvl="1"/>
            <a:r>
              <a:rPr lang="en-US" sz="3200" dirty="0">
                <a:solidFill>
                  <a:srgbClr val="FF0000"/>
                </a:solidFill>
                <a:latin typeface="Arial Nova Cond Light" panose="020B0306020202020204" pitchFamily="34" charset="0"/>
              </a:rPr>
              <a:t>6. Adjective + adverb (or adverb + adjective)</a:t>
            </a:r>
          </a:p>
          <a:p>
            <a:pPr lvl="1"/>
            <a:endParaRPr lang="en-PH" sz="3200" dirty="0">
              <a:solidFill>
                <a:srgbClr val="FF0000"/>
              </a:solidFill>
              <a:latin typeface="Arial Nova Cond Light" panose="020B0306020202020204" pitchFamily="34" charset="0"/>
            </a:endParaRPr>
          </a:p>
          <a:p>
            <a:r>
              <a:rPr lang="en-US" sz="3200" u="heavy" dirty="0">
                <a:latin typeface="Arial Nova Cond Light" panose="020B0306020202020204" pitchFamily="34" charset="0"/>
              </a:rPr>
              <a:t>Mahal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a:t>
            </a:r>
            <a:r>
              <a:rPr lang="en-US" sz="3200" u="heavy" dirty="0" err="1">
                <a:latin typeface="Arial Nova Cond Light" panose="020B0306020202020204" pitchFamily="34" charset="0"/>
              </a:rPr>
              <a:t>totoo</a:t>
            </a:r>
            <a:r>
              <a:rPr lang="en-US" sz="3200" dirty="0">
                <a:latin typeface="Arial Nova Cond Light" panose="020B0306020202020204" pitchFamily="34" charset="0"/>
              </a:rPr>
              <a:t> ang </a:t>
            </a:r>
            <a:r>
              <a:rPr lang="en-US" sz="3200" dirty="0" err="1">
                <a:latin typeface="Arial Nova Cond Light" panose="020B0306020202020204" pitchFamily="34" charset="0"/>
              </a:rPr>
              <a:t>relo</a:t>
            </a:r>
            <a:r>
              <a:rPr lang="en-US" sz="3200" dirty="0">
                <a:latin typeface="Arial Nova Cond Light" panose="020B0306020202020204" pitchFamily="34" charset="0"/>
              </a:rPr>
              <a:t> mo. 			Your watch is </a:t>
            </a:r>
            <a:r>
              <a:rPr lang="en-US" sz="3200" dirty="0">
                <a:solidFill>
                  <a:srgbClr val="FF0000"/>
                </a:solidFill>
                <a:latin typeface="Arial Nova Cond Light" panose="020B0306020202020204" pitchFamily="34" charset="0"/>
              </a:rPr>
              <a:t>truly expensive.</a:t>
            </a:r>
          </a:p>
          <a:p>
            <a:r>
              <a:rPr lang="en-US" sz="3200" u="heavy" dirty="0" err="1">
                <a:latin typeface="Arial Nova Cond Light" panose="020B0306020202020204" pitchFamily="34" charset="0"/>
              </a:rPr>
              <a:t>Totoo</a:t>
            </a:r>
            <a:r>
              <a:rPr lang="en-US" sz="3200" u="heavy" dirty="0" err="1">
                <a:solidFill>
                  <a:srgbClr val="FF0000"/>
                </a:solidFill>
                <a:latin typeface="Arial Nova Cond Light" panose="020B0306020202020204" pitchFamily="34" charset="0"/>
              </a:rPr>
              <a:t>ng</a:t>
            </a:r>
            <a:r>
              <a:rPr lang="en-US" sz="3200" u="heavy" dirty="0">
                <a:solidFill>
                  <a:srgbClr val="FF0000"/>
                </a:solidFill>
                <a:latin typeface="Arial Nova Cond Light" panose="020B0306020202020204" pitchFamily="34" charset="0"/>
              </a:rPr>
              <a:t> </a:t>
            </a:r>
            <a:r>
              <a:rPr lang="en-US" sz="3200" u="heavy" dirty="0">
                <a:latin typeface="Arial Nova Cond Light" panose="020B0306020202020204" pitchFamily="34" charset="0"/>
              </a:rPr>
              <a:t>maha</a:t>
            </a:r>
            <a:r>
              <a:rPr lang="en-US" sz="3200" dirty="0">
                <a:latin typeface="Arial Nova Cond Light" panose="020B0306020202020204" pitchFamily="34" charset="0"/>
              </a:rPr>
              <a:t>l ang </a:t>
            </a:r>
            <a:r>
              <a:rPr lang="en-US" sz="3200" dirty="0" err="1">
                <a:latin typeface="Arial Nova Cond Light" panose="020B0306020202020204" pitchFamily="34" charset="0"/>
              </a:rPr>
              <a:t>relo</a:t>
            </a:r>
            <a:r>
              <a:rPr lang="en-US" sz="3200" dirty="0">
                <a:latin typeface="Arial Nova Cond Light" panose="020B0306020202020204" pitchFamily="34" charset="0"/>
              </a:rPr>
              <a:t> mo.				</a:t>
            </a:r>
            <a:r>
              <a:rPr lang="en-US" sz="3200" dirty="0" err="1">
                <a:latin typeface="Arial Nova Cond Light" panose="020B0306020202020204" pitchFamily="34" charset="0"/>
              </a:rPr>
              <a:t>Napaka</a:t>
            </a:r>
            <a:r>
              <a:rPr lang="en-US" sz="3200" dirty="0">
                <a:latin typeface="Arial Nova Cond Light" panose="020B0306020202020204" pitchFamily="34" charset="0"/>
              </a:rPr>
              <a:t>-very    Maganda</a:t>
            </a:r>
            <a:r>
              <a:rPr lang="en-US" sz="3200" dirty="0">
                <a:solidFill>
                  <a:srgbClr val="FF0000"/>
                </a:solidFill>
                <a:latin typeface="Arial Nova Cond Light" panose="020B0306020202020204" pitchFamily="34" charset="0"/>
              </a:rPr>
              <a:t>ng</a:t>
            </a:r>
            <a:r>
              <a:rPr lang="en-US" sz="3200" dirty="0">
                <a:latin typeface="Arial Nova Cond Light" panose="020B0306020202020204" pitchFamily="34" charset="0"/>
              </a:rPr>
              <a:t>-</a:t>
            </a:r>
            <a:r>
              <a:rPr lang="en-US" sz="3200" dirty="0" err="1">
                <a:latin typeface="Arial Nova Cond Light" panose="020B0306020202020204" pitchFamily="34" charset="0"/>
              </a:rPr>
              <a:t>maganda</a:t>
            </a:r>
            <a:endParaRPr lang="en-PH" sz="3200" dirty="0">
              <a:latin typeface="Arial Nova Cond Light" panose="020B0306020202020204" pitchFamily="34" charset="0"/>
            </a:endParaRPr>
          </a:p>
          <a:p>
            <a:endParaRPr lang="en-PH" sz="3200" dirty="0"/>
          </a:p>
        </p:txBody>
      </p:sp>
    </p:spTree>
    <p:extLst>
      <p:ext uri="{BB962C8B-B14F-4D97-AF65-F5344CB8AC3E}">
        <p14:creationId xmlns:p14="http://schemas.microsoft.com/office/powerpoint/2010/main" val="11896775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DF3249-D649-68DC-43EE-22CCDF5FC0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CD04FD-0485-EF56-114A-9D773A8480C2}"/>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AB501AC1-E121-CCBE-4702-D662A9E45B26}"/>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8D5C2F92-EF98-F413-226E-510AC83A6462}"/>
              </a:ext>
            </a:extLst>
          </p:cNvPr>
          <p:cNvSpPr txBox="1"/>
          <p:nvPr/>
        </p:nvSpPr>
        <p:spPr>
          <a:xfrm>
            <a:off x="-2" y="734533"/>
            <a:ext cx="12192001" cy="1200329"/>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latin typeface="Arial Nova Cond Light" panose="020B0306020202020204" pitchFamily="34" charset="0"/>
            </a:endParaRPr>
          </a:p>
        </p:txBody>
      </p:sp>
      <p:sp>
        <p:nvSpPr>
          <p:cNvPr id="7" name="TextBox 6">
            <a:extLst>
              <a:ext uri="{FF2B5EF4-FFF2-40B4-BE49-F238E27FC236}">
                <a16:creationId xmlns:a16="http://schemas.microsoft.com/office/drawing/2014/main" id="{0A12045A-4FF0-0810-4FC1-7321A8A90174}"/>
              </a:ext>
            </a:extLst>
          </p:cNvPr>
          <p:cNvSpPr txBox="1"/>
          <p:nvPr/>
        </p:nvSpPr>
        <p:spPr>
          <a:xfrm>
            <a:off x="-1" y="1934862"/>
            <a:ext cx="12192001" cy="4339650"/>
          </a:xfrm>
          <a:prstGeom prst="rect">
            <a:avLst/>
          </a:prstGeom>
          <a:noFill/>
        </p:spPr>
        <p:txBody>
          <a:bodyPr wrap="square">
            <a:spAutoFit/>
          </a:bodyPr>
          <a:lstStyle/>
          <a:p>
            <a:pPr lvl="1"/>
            <a:r>
              <a:rPr lang="en-US" sz="2800" dirty="0">
                <a:solidFill>
                  <a:srgbClr val="FF0000"/>
                </a:solidFill>
                <a:latin typeface="Arial Nova Cond Light" panose="020B0306020202020204" pitchFamily="34" charset="0"/>
              </a:rPr>
              <a:t>7. Conjunction + adverb</a:t>
            </a:r>
          </a:p>
          <a:p>
            <a:pPr lvl="1"/>
            <a:endParaRPr lang="en-PH" sz="2800" dirty="0">
              <a:latin typeface="Arial Nova Cond Light" panose="020B0306020202020204" pitchFamily="34" charset="0"/>
            </a:endParaRPr>
          </a:p>
          <a:p>
            <a:r>
              <a:rPr lang="en-US" sz="2400" u="heavy" dirty="0" err="1">
                <a:latin typeface="Arial Nova Cond Light" panose="020B0306020202020204" pitchFamily="34" charset="0"/>
              </a:rPr>
              <a:t>Samantala</a:t>
            </a:r>
            <a:r>
              <a:rPr lang="en-US" sz="2400" u="heavy" dirty="0" err="1">
                <a:solidFill>
                  <a:srgbClr val="FF0000"/>
                </a:solidFill>
                <a:latin typeface="Arial Nova Cond Light" panose="020B0306020202020204" pitchFamily="34" charset="0"/>
              </a:rPr>
              <a:t>ng</a:t>
            </a:r>
            <a:r>
              <a:rPr lang="en-US" sz="2400" u="heavy" dirty="0">
                <a:latin typeface="Arial Nova Cond Light" panose="020B0306020202020204" pitchFamily="34" charset="0"/>
              </a:rPr>
              <a:t> </a:t>
            </a:r>
            <a:r>
              <a:rPr lang="en-US" sz="2400" u="heavy" dirty="0" err="1">
                <a:latin typeface="Arial Nova Cond Light" panose="020B0306020202020204" pitchFamily="34" charset="0"/>
              </a:rPr>
              <a:t>wala</a:t>
            </a:r>
            <a:r>
              <a:rPr lang="en-US" sz="2400" u="heavy" dirty="0">
                <a:latin typeface="Arial Nova Cond Light" panose="020B0306020202020204" pitchFamily="34" charset="0"/>
              </a:rPr>
              <a:t>, </a:t>
            </a:r>
            <a:r>
              <a:rPr lang="en-US" sz="2400" dirty="0" err="1">
                <a:latin typeface="Arial Nova Cond Light" panose="020B0306020202020204" pitchFamily="34" charset="0"/>
              </a:rPr>
              <a:t>magtiis</a:t>
            </a:r>
            <a:r>
              <a:rPr lang="en-US" sz="2400" dirty="0">
                <a:latin typeface="Arial Nova Cond Light" panose="020B0306020202020204" pitchFamily="34" charset="0"/>
              </a:rPr>
              <a:t> tayo.					</a:t>
            </a:r>
            <a:r>
              <a:rPr lang="en-US" sz="2400" dirty="0">
                <a:solidFill>
                  <a:srgbClr val="FF0000"/>
                </a:solidFill>
                <a:latin typeface="Arial Nova Cond Light" panose="020B0306020202020204" pitchFamily="34" charset="0"/>
              </a:rPr>
              <a:t>While</a:t>
            </a:r>
            <a:r>
              <a:rPr lang="en-US" sz="2400" dirty="0">
                <a:latin typeface="Arial Nova Cond Light" panose="020B0306020202020204" pitchFamily="34" charset="0"/>
              </a:rPr>
              <a:t> [we have) </a:t>
            </a:r>
            <a:r>
              <a:rPr lang="en-US" sz="2400" dirty="0">
                <a:solidFill>
                  <a:srgbClr val="FF0000"/>
                </a:solidFill>
                <a:latin typeface="Arial Nova Cond Light" panose="020B0306020202020204" pitchFamily="34" charset="0"/>
              </a:rPr>
              <a:t>none</a:t>
            </a:r>
            <a:r>
              <a:rPr lang="en-US" sz="2400" dirty="0">
                <a:latin typeface="Arial Nova Cond Light" panose="020B0306020202020204" pitchFamily="34" charset="0"/>
              </a:rPr>
              <a:t>, let us be patient.</a:t>
            </a:r>
            <a:endParaRPr lang="en-PH" sz="2400" dirty="0">
              <a:latin typeface="Arial Nova Cond Light" panose="020B0306020202020204" pitchFamily="34" charset="0"/>
            </a:endParaRPr>
          </a:p>
          <a:p>
            <a:r>
              <a:rPr lang="en-US" sz="2400" u="heavy" dirty="0" err="1">
                <a:latin typeface="Arial Nova Cond Light" panose="020B0306020202020204" pitchFamily="34" charset="0"/>
              </a:rPr>
              <a:t>Sakali</a:t>
            </a:r>
            <a:r>
              <a:rPr lang="en-US" sz="2400" u="heavy" dirty="0" err="1">
                <a:solidFill>
                  <a:srgbClr val="FF0000"/>
                </a:solidFill>
                <a:latin typeface="Arial Nova Cond Light" panose="020B0306020202020204" pitchFamily="34" charset="0"/>
              </a:rPr>
              <a:t>ng</a:t>
            </a:r>
            <a:r>
              <a:rPr lang="en-US" sz="2400" u="heavy" dirty="0">
                <a:latin typeface="Arial Nova Cond Light" panose="020B0306020202020204" pitchFamily="34" charset="0"/>
              </a:rPr>
              <a:t> </a:t>
            </a:r>
            <a:r>
              <a:rPr lang="en-US" sz="2400" u="heavy" dirty="0" err="1">
                <a:latin typeface="Arial Nova Cond Light" panose="020B0306020202020204" pitchFamily="34" charset="0"/>
              </a:rPr>
              <a:t>dumating</a:t>
            </a:r>
            <a:r>
              <a:rPr lang="en-US" sz="2400" u="heavy" dirty="0">
                <a:latin typeface="Arial Nova Cond Light" panose="020B0306020202020204" pitchFamily="34" charset="0"/>
              </a:rPr>
              <a:t>,</a:t>
            </a:r>
            <a:r>
              <a:rPr lang="en-US" sz="2400" dirty="0">
                <a:latin typeface="Arial Nova Cond Light" panose="020B0306020202020204" pitchFamily="34" charset="0"/>
              </a:rPr>
              <a:t> </a:t>
            </a:r>
            <a:r>
              <a:rPr lang="en-US" sz="2400" dirty="0" err="1">
                <a:latin typeface="Arial Nova Cond Light" panose="020B0306020202020204" pitchFamily="34" charset="0"/>
              </a:rPr>
              <a:t>paghintayin</a:t>
            </a:r>
            <a:r>
              <a:rPr lang="en-US" sz="2400" dirty="0">
                <a:latin typeface="Arial Nova Cond Light" panose="020B0306020202020204" pitchFamily="34" charset="0"/>
              </a:rPr>
              <a:t> ang </a:t>
            </a:r>
            <a:r>
              <a:rPr lang="en-US" sz="2400" dirty="0" err="1">
                <a:latin typeface="Arial Nova Cond Light" panose="020B0306020202020204" pitchFamily="34" charset="0"/>
              </a:rPr>
              <a:t>mensahero</a:t>
            </a:r>
            <a:r>
              <a:rPr lang="en-US" sz="2400" dirty="0">
                <a:latin typeface="Arial Nova Cond Light" panose="020B0306020202020204" pitchFamily="34" charset="0"/>
              </a:rPr>
              <a:t>.</a:t>
            </a:r>
            <a:r>
              <a:rPr lang="en-US" sz="2400" b="1" dirty="0">
                <a:latin typeface="Arial Nova Cond Light" panose="020B0306020202020204" pitchFamily="34" charset="0"/>
              </a:rPr>
              <a:t> 	</a:t>
            </a:r>
            <a:r>
              <a:rPr lang="en-US" sz="2400" dirty="0">
                <a:solidFill>
                  <a:srgbClr val="FF0000"/>
                </a:solidFill>
                <a:latin typeface="Arial Nova Cond Light" panose="020B0306020202020204" pitchFamily="34" charset="0"/>
              </a:rPr>
              <a:t>If</a:t>
            </a:r>
            <a:r>
              <a:rPr lang="en-US" sz="2400" dirty="0">
                <a:latin typeface="Arial Nova Cond Light" panose="020B0306020202020204" pitchFamily="34" charset="0"/>
              </a:rPr>
              <a:t> he/she </a:t>
            </a:r>
            <a:r>
              <a:rPr lang="en-US" sz="2400" dirty="0">
                <a:solidFill>
                  <a:srgbClr val="FF0000"/>
                </a:solidFill>
                <a:latin typeface="Arial Nova Cond Light" panose="020B0306020202020204" pitchFamily="34" charset="0"/>
              </a:rPr>
              <a:t>comes, </a:t>
            </a:r>
            <a:r>
              <a:rPr lang="en-US" sz="2400" dirty="0">
                <a:latin typeface="Arial Nova Cond Light" panose="020B0306020202020204" pitchFamily="34" charset="0"/>
              </a:rPr>
              <a:t>make the messenger wait.</a:t>
            </a:r>
            <a:endParaRPr lang="en-PH" sz="2400" dirty="0">
              <a:latin typeface="Arial Nova Cond Light" panose="020B0306020202020204" pitchFamily="34" charset="0"/>
            </a:endParaRPr>
          </a:p>
          <a:p>
            <a:endParaRPr lang="en-US" sz="2800" dirty="0">
              <a:latin typeface="Arial Nova Cond Light" panose="020B0306020202020204" pitchFamily="34" charset="0"/>
            </a:endParaRPr>
          </a:p>
          <a:p>
            <a:endParaRPr lang="en-US" sz="2800" dirty="0">
              <a:latin typeface="Arial Nova Cond Light" panose="020B0306020202020204" pitchFamily="34" charset="0"/>
            </a:endParaRPr>
          </a:p>
          <a:p>
            <a:r>
              <a:rPr lang="en-US" sz="2800" dirty="0">
                <a:latin typeface="Arial Nova Cond Light" panose="020B0306020202020204" pitchFamily="34" charset="0"/>
              </a:rPr>
              <a:t>However, the conjunctive </a:t>
            </a:r>
            <a:r>
              <a:rPr lang="en-US" sz="2800" b="1" dirty="0">
                <a:solidFill>
                  <a:srgbClr val="FF0000"/>
                </a:solidFill>
                <a:latin typeface="Arial Nova Cond Light" panose="020B0306020202020204" pitchFamily="34" charset="0"/>
              </a:rPr>
              <a:t>kung</a:t>
            </a:r>
            <a:r>
              <a:rPr lang="en-US" sz="2800" b="1" dirty="0">
                <a:latin typeface="Arial Nova Cond Light" panose="020B0306020202020204" pitchFamily="34" charset="0"/>
              </a:rPr>
              <a:t> </a:t>
            </a:r>
            <a:r>
              <a:rPr lang="en-US" sz="2800" dirty="0">
                <a:latin typeface="Arial Nova Cond Light" panose="020B0306020202020204" pitchFamily="34" charset="0"/>
              </a:rPr>
              <a:t>(which means </a:t>
            </a:r>
            <a:r>
              <a:rPr lang="en-US" sz="2800" i="1" dirty="0">
                <a:latin typeface="Arial Nova Cond Light" panose="020B0306020202020204" pitchFamily="34" charset="0"/>
              </a:rPr>
              <a:t>if) </a:t>
            </a:r>
            <a:r>
              <a:rPr lang="en-US" sz="2800" dirty="0">
                <a:latin typeface="Arial Nova Cond Light" panose="020B0306020202020204" pitchFamily="34" charset="0"/>
              </a:rPr>
              <a:t>does not need a ligature.</a:t>
            </a:r>
            <a:endParaRPr lang="en-PH" sz="2800" dirty="0">
              <a:latin typeface="Arial Nova Cond Light" panose="020B0306020202020204" pitchFamily="34" charset="0"/>
            </a:endParaRPr>
          </a:p>
          <a:p>
            <a:r>
              <a:rPr lang="en-US" sz="2800" dirty="0">
                <a:solidFill>
                  <a:srgbClr val="FF0000"/>
                </a:solidFill>
                <a:latin typeface="Arial Nova Cond Light" panose="020B0306020202020204" pitchFamily="34" charset="0"/>
              </a:rPr>
              <a:t>Kung</a:t>
            </a:r>
            <a:r>
              <a:rPr lang="en-US" sz="2800" dirty="0">
                <a:latin typeface="Arial Nova Cond Light" panose="020B0306020202020204" pitchFamily="34" charset="0"/>
              </a:rPr>
              <a:t> </a:t>
            </a:r>
            <a:r>
              <a:rPr lang="en-US" sz="2800" dirty="0" err="1">
                <a:latin typeface="Arial Nova Cond Light" panose="020B0306020202020204" pitchFamily="34" charset="0"/>
              </a:rPr>
              <a:t>wala</a:t>
            </a:r>
            <a:r>
              <a:rPr lang="en-US" sz="2800" dirty="0">
                <a:latin typeface="Arial Nova Cond Light" panose="020B0306020202020204" pitchFamily="34" charset="0"/>
              </a:rPr>
              <a:t> pa </a:t>
            </a:r>
            <a:r>
              <a:rPr lang="en-US" sz="2800" dirty="0" err="1">
                <a:latin typeface="Arial Nova Cond Light" panose="020B0306020202020204" pitchFamily="34" charset="0"/>
              </a:rPr>
              <a:t>ako</a:t>
            </a:r>
            <a:r>
              <a:rPr lang="en-US" sz="2800" dirty="0">
                <a:latin typeface="Arial Nova Cond Light" panose="020B0306020202020204" pitchFamily="34" charset="0"/>
              </a:rPr>
              <a:t>, </a:t>
            </a:r>
            <a:r>
              <a:rPr lang="en-US" sz="2800" dirty="0" err="1">
                <a:latin typeface="Arial Nova Cond Light" panose="020B0306020202020204" pitchFamily="34" charset="0"/>
              </a:rPr>
              <a:t>mauna</a:t>
            </a:r>
            <a:r>
              <a:rPr lang="en-US" sz="2800" dirty="0">
                <a:latin typeface="Arial Nova Cond Light" panose="020B0306020202020204" pitchFamily="34" charset="0"/>
              </a:rPr>
              <a:t> </a:t>
            </a:r>
            <a:r>
              <a:rPr lang="en-US" sz="2800" dirty="0" err="1">
                <a:latin typeface="Arial Nova Cond Light" panose="020B0306020202020204" pitchFamily="34" charset="0"/>
              </a:rPr>
              <a:t>na</a:t>
            </a:r>
            <a:r>
              <a:rPr lang="en-US" sz="2800" dirty="0">
                <a:latin typeface="Arial Nova Cond Light" panose="020B0306020202020204" pitchFamily="34" charset="0"/>
              </a:rPr>
              <a:t> kayo.			</a:t>
            </a:r>
            <a:r>
              <a:rPr lang="en-US" sz="2800" dirty="0">
                <a:solidFill>
                  <a:srgbClr val="FF0000"/>
                </a:solidFill>
                <a:latin typeface="Arial Nova Cond Light" panose="020B0306020202020204" pitchFamily="34" charset="0"/>
              </a:rPr>
              <a:t>	If </a:t>
            </a:r>
            <a:r>
              <a:rPr lang="en-US" sz="2800" dirty="0">
                <a:latin typeface="Arial Nova Cond Light" panose="020B0306020202020204" pitchFamily="34" charset="0"/>
              </a:rPr>
              <a:t>I am not around yet, you may go 																	ahead.</a:t>
            </a:r>
            <a:endParaRPr lang="en-PH" sz="2800" dirty="0">
              <a:latin typeface="Arial Nova Cond Light" panose="020B0306020202020204" pitchFamily="34" charset="0"/>
            </a:endParaRPr>
          </a:p>
          <a:p>
            <a:endParaRPr lang="en-PH" sz="3200" dirty="0"/>
          </a:p>
        </p:txBody>
      </p:sp>
    </p:spTree>
    <p:extLst>
      <p:ext uri="{BB962C8B-B14F-4D97-AF65-F5344CB8AC3E}">
        <p14:creationId xmlns:p14="http://schemas.microsoft.com/office/powerpoint/2010/main" val="293880667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F663A-FC5A-76C4-F3E7-33D9C82EF1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2A4083-5BD9-0D66-4C83-106FCD4FA470}"/>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B6AF28D0-344D-3E7D-EC04-977351EACA10}"/>
              </a:ext>
            </a:extLst>
          </p:cNvPr>
          <p:cNvSpPr>
            <a:spLocks noGrp="1"/>
          </p:cNvSpPr>
          <p:nvPr>
            <p:ph idx="1"/>
          </p:nvPr>
        </p:nvSpPr>
        <p:spPr>
          <a:xfrm>
            <a:off x="177801" y="1831736"/>
            <a:ext cx="1087705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0408392C-DB3F-4AD3-06E6-76D0674F4C7B}"/>
              </a:ext>
            </a:extLst>
          </p:cNvPr>
          <p:cNvSpPr txBox="1"/>
          <p:nvPr/>
        </p:nvSpPr>
        <p:spPr>
          <a:xfrm>
            <a:off x="417637" y="1180808"/>
            <a:ext cx="11356726" cy="923330"/>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dirty="0">
              <a:latin typeface="Arial Nova Cond Light" panose="020B0306020202020204" pitchFamily="34" charset="0"/>
            </a:endParaRPr>
          </a:p>
        </p:txBody>
      </p:sp>
      <p:sp>
        <p:nvSpPr>
          <p:cNvPr id="7" name="TextBox 6">
            <a:extLst>
              <a:ext uri="{FF2B5EF4-FFF2-40B4-BE49-F238E27FC236}">
                <a16:creationId xmlns:a16="http://schemas.microsoft.com/office/drawing/2014/main" id="{C7FD1A49-8F4A-4C7A-1585-680C55739FF9}"/>
              </a:ext>
            </a:extLst>
          </p:cNvPr>
          <p:cNvSpPr txBox="1"/>
          <p:nvPr/>
        </p:nvSpPr>
        <p:spPr>
          <a:xfrm>
            <a:off x="0" y="1824411"/>
            <a:ext cx="12192000" cy="4370427"/>
          </a:xfrm>
          <a:prstGeom prst="rect">
            <a:avLst/>
          </a:prstGeom>
          <a:noFill/>
        </p:spPr>
        <p:txBody>
          <a:bodyPr wrap="square">
            <a:spAutoFit/>
          </a:bodyPr>
          <a:lstStyle/>
          <a:p>
            <a:pPr marL="971550" lvl="1" indent="-514350">
              <a:buAutoNum type="arabicPeriod" startAt="8"/>
            </a:pPr>
            <a:r>
              <a:rPr lang="en-US" sz="3200" dirty="0">
                <a:solidFill>
                  <a:srgbClr val="FF0000"/>
                </a:solidFill>
                <a:latin typeface="Arial Nova Cond Light" panose="020B0306020202020204" pitchFamily="34" charset="0"/>
              </a:rPr>
              <a:t>Verb + verb</a:t>
            </a:r>
          </a:p>
          <a:p>
            <a:pPr lvl="1"/>
            <a:endParaRPr lang="en-PH" sz="2800" dirty="0">
              <a:latin typeface="Arial Nova Cond Light" panose="020B0306020202020204" pitchFamily="34" charset="0"/>
            </a:endParaRPr>
          </a:p>
          <a:p>
            <a:r>
              <a:rPr lang="en-US" sz="2800" u="heavy" dirty="0" err="1">
                <a:latin typeface="Arial Nova Cond Light" panose="020B0306020202020204" pitchFamily="34" charset="0"/>
              </a:rPr>
              <a:t>Hinayaan</a:t>
            </a:r>
            <a:r>
              <a:rPr lang="en-US" sz="2800" u="heavy" dirty="0" err="1">
                <a:solidFill>
                  <a:srgbClr val="FF0000"/>
                </a:solidFill>
                <a:latin typeface="Arial Nova Cond Light" panose="020B0306020202020204" pitchFamily="34" charset="0"/>
              </a:rPr>
              <a:t>g</a:t>
            </a:r>
            <a:r>
              <a:rPr lang="en-US" sz="2800" u="heavy" dirty="0">
                <a:latin typeface="Arial Nova Cond Light" panose="020B0306020202020204" pitchFamily="34" charset="0"/>
              </a:rPr>
              <a:t> </a:t>
            </a:r>
            <a:r>
              <a:rPr lang="en-US" sz="2800" u="heavy" dirty="0" err="1">
                <a:latin typeface="Arial Nova Cond Light" panose="020B0306020202020204" pitchFamily="34" charset="0"/>
              </a:rPr>
              <a:t>umalis</a:t>
            </a:r>
            <a:r>
              <a:rPr lang="en-US" sz="2800" dirty="0">
                <a:latin typeface="Arial Nova Cond Light" panose="020B0306020202020204" pitchFamily="34" charset="0"/>
              </a:rPr>
              <a:t> ang bata.		 		The child was </a:t>
            </a:r>
            <a:r>
              <a:rPr lang="en-US" sz="2800" dirty="0">
                <a:solidFill>
                  <a:srgbClr val="FF0000"/>
                </a:solidFill>
                <a:latin typeface="Arial Nova Cond Light" panose="020B0306020202020204" pitchFamily="34" charset="0"/>
              </a:rPr>
              <a:t>allowed </a:t>
            </a:r>
            <a:r>
              <a:rPr lang="en-US" sz="2800" dirty="0">
                <a:latin typeface="Arial Nova Cond Light" panose="020B0306020202020204" pitchFamily="34" charset="0"/>
              </a:rPr>
              <a:t>to</a:t>
            </a:r>
            <a:r>
              <a:rPr lang="en-US" sz="2800" dirty="0">
                <a:solidFill>
                  <a:srgbClr val="FF0000"/>
                </a:solidFill>
                <a:latin typeface="Arial Nova Cond Light" panose="020B0306020202020204" pitchFamily="34" charset="0"/>
              </a:rPr>
              <a:t> leave</a:t>
            </a:r>
            <a:r>
              <a:rPr lang="en-US" sz="2800" dirty="0">
                <a:latin typeface="Arial Nova Cond Light" panose="020B0306020202020204" pitchFamily="34" charset="0"/>
              </a:rPr>
              <a:t>. </a:t>
            </a:r>
          </a:p>
          <a:p>
            <a:r>
              <a:rPr lang="en-US" sz="2800" u="heavy" dirty="0" err="1">
                <a:latin typeface="Arial Nova Cond Light" panose="020B0306020202020204" pitchFamily="34" charset="0"/>
              </a:rPr>
              <a:t>Namatay</a:t>
            </a:r>
            <a:r>
              <a:rPr lang="en-US" sz="2800" u="heavy" dirty="0">
                <a:latin typeface="Arial Nova Cond Light" panose="020B0306020202020204" pitchFamily="34" charset="0"/>
              </a:rPr>
              <a:t> </a:t>
            </a:r>
            <a:r>
              <a:rPr lang="en-US" sz="2800" u="heavy" dirty="0" err="1">
                <a:solidFill>
                  <a:srgbClr val="FF0000"/>
                </a:solidFill>
                <a:latin typeface="Arial Nova Cond Light" panose="020B0306020202020204" pitchFamily="34" charset="0"/>
              </a:rPr>
              <a:t>na</a:t>
            </a:r>
            <a:r>
              <a:rPr lang="en-US" sz="2800" u="heavy" dirty="0">
                <a:latin typeface="Arial Nova Cond Light" panose="020B0306020202020204" pitchFamily="34" charset="0"/>
              </a:rPr>
              <a:t> </a:t>
            </a:r>
            <a:r>
              <a:rPr lang="en-US" sz="2800" u="heavy" dirty="0" err="1">
                <a:latin typeface="Arial Nova Cond Light" panose="020B0306020202020204" pitchFamily="34" charset="0"/>
              </a:rPr>
              <a:t>lumalaban</a:t>
            </a:r>
            <a:r>
              <a:rPr lang="en-US" sz="2800" dirty="0">
                <a:latin typeface="Arial Nova Cond Light" panose="020B0306020202020204" pitchFamily="34" charset="0"/>
              </a:rPr>
              <a:t> ang </a:t>
            </a:r>
            <a:r>
              <a:rPr lang="en-US" sz="2800" dirty="0" err="1">
                <a:latin typeface="Arial Nova Cond Light" panose="020B0306020202020204" pitchFamily="34" charset="0"/>
              </a:rPr>
              <a:t>sundalo</a:t>
            </a:r>
            <a:r>
              <a:rPr lang="en-US" sz="2800" dirty="0">
                <a:latin typeface="Arial Nova Cond Light" panose="020B0306020202020204" pitchFamily="34" charset="0"/>
              </a:rPr>
              <a:t>.		The soldier </a:t>
            </a:r>
            <a:r>
              <a:rPr lang="en-US" sz="2800" dirty="0">
                <a:solidFill>
                  <a:srgbClr val="FF0000"/>
                </a:solidFill>
                <a:latin typeface="Arial Nova Cond Light" panose="020B0306020202020204" pitchFamily="34" charset="0"/>
              </a:rPr>
              <a:t>died fighting.</a:t>
            </a:r>
            <a:endParaRPr lang="en-PH" sz="2800" dirty="0">
              <a:solidFill>
                <a:srgbClr val="FF0000"/>
              </a:solidFill>
              <a:latin typeface="Arial Nova Cond Light" panose="020B0306020202020204" pitchFamily="34" charset="0"/>
            </a:endParaRPr>
          </a:p>
          <a:p>
            <a:endParaRPr lang="en-PH" sz="3200" dirty="0">
              <a:solidFill>
                <a:srgbClr val="FF0000"/>
              </a:solidFill>
              <a:latin typeface="Arial Nova Cond Light" panose="020B0306020202020204" pitchFamily="34" charset="0"/>
            </a:endParaRPr>
          </a:p>
          <a:p>
            <a:br>
              <a:rPr lang="en-US" sz="3200" dirty="0"/>
            </a:br>
            <a:endParaRPr lang="en-PH" sz="3200" dirty="0"/>
          </a:p>
          <a:p>
            <a:endParaRPr lang="en-PH" sz="6600" dirty="0"/>
          </a:p>
        </p:txBody>
      </p:sp>
    </p:spTree>
    <p:extLst>
      <p:ext uri="{BB962C8B-B14F-4D97-AF65-F5344CB8AC3E}">
        <p14:creationId xmlns:p14="http://schemas.microsoft.com/office/powerpoint/2010/main" val="320239711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A684F2-66DD-1AC7-47A9-0C0FC9797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89DA192-4C01-7689-9203-C66EF250F222}"/>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518E6B1B-7815-1511-9BC3-87FA78FAC817}"/>
              </a:ext>
            </a:extLst>
          </p:cNvPr>
          <p:cNvSpPr>
            <a:spLocks noGrp="1"/>
          </p:cNvSpPr>
          <p:nvPr>
            <p:ph idx="1"/>
          </p:nvPr>
        </p:nvSpPr>
        <p:spPr>
          <a:xfrm>
            <a:off x="62144" y="1827139"/>
            <a:ext cx="12160928"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3C0F4789-E3E7-A9B5-CECB-24BA2FC8F5E5}"/>
              </a:ext>
            </a:extLst>
          </p:cNvPr>
          <p:cNvSpPr txBox="1"/>
          <p:nvPr/>
        </p:nvSpPr>
        <p:spPr>
          <a:xfrm>
            <a:off x="0" y="1180808"/>
            <a:ext cx="12192000" cy="923330"/>
          </a:xfrm>
          <a:prstGeom prst="rect">
            <a:avLst/>
          </a:prstGeom>
          <a:noFill/>
        </p:spPr>
        <p:txBody>
          <a:bodyPr wrap="square">
            <a:spAutoFit/>
          </a:bodyPr>
          <a:lstStyle/>
          <a:p>
            <a:r>
              <a:rPr lang="en-US" sz="3600" dirty="0">
                <a:latin typeface="Arial Nova Cond Light" panose="020B0306020202020204" pitchFamily="34" charset="0"/>
              </a:rPr>
              <a:t>EXCEPTIONS TO THIS RULE INCLUDE THE FOLLOWING</a:t>
            </a:r>
            <a:r>
              <a:rPr lang="en-US" sz="3600" dirty="0"/>
              <a:t>:</a:t>
            </a:r>
            <a:endParaRPr lang="en-PH" sz="3600" dirty="0"/>
          </a:p>
          <a:p>
            <a:endParaRPr lang="en-PH" dirty="0"/>
          </a:p>
        </p:txBody>
      </p:sp>
      <p:sp>
        <p:nvSpPr>
          <p:cNvPr id="7" name="TextBox 6">
            <a:extLst>
              <a:ext uri="{FF2B5EF4-FFF2-40B4-BE49-F238E27FC236}">
                <a16:creationId xmlns:a16="http://schemas.microsoft.com/office/drawing/2014/main" id="{36821A99-4AEC-24CA-D00D-836A7BB4EBDE}"/>
              </a:ext>
            </a:extLst>
          </p:cNvPr>
          <p:cNvSpPr txBox="1"/>
          <p:nvPr/>
        </p:nvSpPr>
        <p:spPr>
          <a:xfrm>
            <a:off x="31072" y="2104138"/>
            <a:ext cx="12192000" cy="2677656"/>
          </a:xfrm>
          <a:prstGeom prst="rect">
            <a:avLst/>
          </a:prstGeom>
          <a:noFill/>
        </p:spPr>
        <p:txBody>
          <a:bodyPr wrap="square">
            <a:spAutoFit/>
          </a:bodyPr>
          <a:lstStyle/>
          <a:p>
            <a:r>
              <a:rPr lang="en-PH" sz="2800" dirty="0">
                <a:solidFill>
                  <a:srgbClr val="FF0000"/>
                </a:solidFill>
                <a:latin typeface="Arial Nova Cond Light" panose="020B0306020202020204" pitchFamily="34" charset="0"/>
              </a:rPr>
              <a:t>a.</a:t>
            </a:r>
            <a:r>
              <a:rPr lang="en-PH" sz="2800" dirty="0">
                <a:latin typeface="Arial Nova Cond Light" panose="020B0306020202020204" pitchFamily="34" charset="0"/>
              </a:rPr>
              <a:t>	</a:t>
            </a:r>
            <a:r>
              <a:rPr lang="en-PH" sz="2800" dirty="0">
                <a:solidFill>
                  <a:srgbClr val="FF0000"/>
                </a:solidFill>
                <a:latin typeface="Arial Nova Cond Light" panose="020B0306020202020204" pitchFamily="34" charset="0"/>
              </a:rPr>
              <a:t>Verb-verb sequences that result in an adjectival expression</a:t>
            </a:r>
          </a:p>
          <a:p>
            <a:r>
              <a:rPr lang="en-PH" sz="2800" dirty="0" err="1">
                <a:latin typeface="Arial Nova Cond Light" panose="020B0306020202020204" pitchFamily="34" charset="0"/>
              </a:rPr>
              <a:t>Mamatay</a:t>
            </a:r>
            <a:r>
              <a:rPr lang="en-PH" sz="2800" dirty="0">
                <a:latin typeface="Arial Nova Cond Light" panose="020B0306020202020204" pitchFamily="34" charset="0"/>
              </a:rPr>
              <a:t>-mabuhay ang </a:t>
            </a:r>
            <a:r>
              <a:rPr lang="en-PH" sz="2800" dirty="0" err="1">
                <a:latin typeface="Arial Nova Cond Light" panose="020B0306020202020204" pitchFamily="34" charset="0"/>
              </a:rPr>
              <a:t>relo</a:t>
            </a:r>
            <a:r>
              <a:rPr lang="en-PH" sz="2800" dirty="0">
                <a:latin typeface="Arial Nova Cond Light" panose="020B0306020202020204" pitchFamily="34" charset="0"/>
              </a:rPr>
              <a:t> ko.			 	My watch </a:t>
            </a:r>
            <a:r>
              <a:rPr lang="en-PH" sz="2800" dirty="0">
                <a:solidFill>
                  <a:srgbClr val="FF0000"/>
                </a:solidFill>
                <a:latin typeface="Arial Nova Cond Light" panose="020B0306020202020204" pitchFamily="34" charset="0"/>
              </a:rPr>
              <a:t>stops periodically</a:t>
            </a:r>
            <a:r>
              <a:rPr lang="en-PH" sz="2800" dirty="0">
                <a:latin typeface="Arial Nova Cond Light" panose="020B0306020202020204" pitchFamily="34" charset="0"/>
              </a:rPr>
              <a:t>.</a:t>
            </a:r>
          </a:p>
          <a:p>
            <a:r>
              <a:rPr lang="en-PH" sz="2800" dirty="0">
                <a:latin typeface="Arial Nova Cond Light" panose="020B0306020202020204" pitchFamily="34" charset="0"/>
              </a:rPr>
              <a:t>(literally, dies and lives)</a:t>
            </a:r>
          </a:p>
          <a:p>
            <a:endParaRPr lang="en-PH" sz="2800" dirty="0">
              <a:latin typeface="Arial Nova Cond Light" panose="020B0306020202020204" pitchFamily="34" charset="0"/>
            </a:endParaRPr>
          </a:p>
          <a:p>
            <a:r>
              <a:rPr lang="en-PH" sz="2800" dirty="0">
                <a:solidFill>
                  <a:srgbClr val="FF0000"/>
                </a:solidFill>
                <a:latin typeface="Arial Nova Cond Light" panose="020B0306020202020204" pitchFamily="34" charset="0"/>
              </a:rPr>
              <a:t>b</a:t>
            </a:r>
            <a:r>
              <a:rPr lang="en-PH" sz="2800" dirty="0">
                <a:latin typeface="Arial Nova Cond Light" panose="020B0306020202020204" pitchFamily="34" charset="0"/>
              </a:rPr>
              <a:t>.</a:t>
            </a:r>
            <a:r>
              <a:rPr lang="en-PH" sz="2800" dirty="0">
                <a:solidFill>
                  <a:srgbClr val="FF0000"/>
                </a:solidFill>
                <a:latin typeface="Arial Nova Cond Light" panose="020B0306020202020204" pitchFamily="34" charset="0"/>
              </a:rPr>
              <a:t>	Helping verb </a:t>
            </a:r>
            <a:r>
              <a:rPr lang="en-PH" sz="2800" dirty="0">
                <a:latin typeface="Arial Nova Cond Light" panose="020B0306020202020204" pitchFamily="34" charset="0"/>
              </a:rPr>
              <a:t>and</a:t>
            </a:r>
            <a:r>
              <a:rPr lang="en-PH" sz="2800" dirty="0">
                <a:solidFill>
                  <a:srgbClr val="FF0000"/>
                </a:solidFill>
                <a:latin typeface="Arial Nova Cond Light" panose="020B0306020202020204" pitchFamily="34" charset="0"/>
              </a:rPr>
              <a:t> main verb sequences</a:t>
            </a:r>
          </a:p>
          <a:p>
            <a:r>
              <a:rPr lang="en-PH" sz="2800" dirty="0">
                <a:solidFill>
                  <a:srgbClr val="FF0000"/>
                </a:solidFill>
                <a:latin typeface="Arial Nova Cond Light" panose="020B0306020202020204" pitchFamily="34" charset="0"/>
              </a:rPr>
              <a:t>Ayaw</a:t>
            </a:r>
            <a:r>
              <a:rPr lang="en-PH" sz="2800" dirty="0">
                <a:latin typeface="Arial Nova Cond Light" panose="020B0306020202020204" pitchFamily="34" charset="0"/>
              </a:rPr>
              <a:t> </a:t>
            </a:r>
            <a:r>
              <a:rPr lang="en-PH" sz="2800" dirty="0" err="1">
                <a:latin typeface="Arial Nova Cond Light" panose="020B0306020202020204" pitchFamily="34" charset="0"/>
              </a:rPr>
              <a:t>kumain</a:t>
            </a:r>
            <a:r>
              <a:rPr lang="en-PH" sz="2800" dirty="0">
                <a:latin typeface="Arial Nova Cond Light" panose="020B0306020202020204" pitchFamily="34" charset="0"/>
              </a:rPr>
              <a:t> ng </a:t>
            </a:r>
            <a:r>
              <a:rPr lang="en-PH" sz="2800" dirty="0" err="1">
                <a:latin typeface="Arial Nova Cond Light" panose="020B0306020202020204" pitchFamily="34" charset="0"/>
              </a:rPr>
              <a:t>maysakit</a:t>
            </a:r>
            <a:r>
              <a:rPr lang="en-PH" sz="2800" dirty="0">
                <a:latin typeface="Arial Nova Cond Light" panose="020B0306020202020204" pitchFamily="34" charset="0"/>
              </a:rPr>
              <a:t>.				The sick person </a:t>
            </a:r>
            <a:r>
              <a:rPr lang="en-PH" sz="2800" dirty="0">
                <a:solidFill>
                  <a:srgbClr val="FF0000"/>
                </a:solidFill>
                <a:latin typeface="Arial Nova Cond Light" panose="020B0306020202020204" pitchFamily="34" charset="0"/>
              </a:rPr>
              <a:t>does not want </a:t>
            </a:r>
            <a:r>
              <a:rPr lang="en-PH" sz="2800" dirty="0">
                <a:latin typeface="Arial Nova Cond Light" panose="020B0306020202020204" pitchFamily="34" charset="0"/>
              </a:rPr>
              <a:t>to eat.</a:t>
            </a:r>
          </a:p>
        </p:txBody>
      </p:sp>
    </p:spTree>
    <p:extLst>
      <p:ext uri="{BB962C8B-B14F-4D97-AF65-F5344CB8AC3E}">
        <p14:creationId xmlns:p14="http://schemas.microsoft.com/office/powerpoint/2010/main" val="261581104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D7E3-876C-53CB-3A0B-9791D18BBAA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93FF7D-6CBB-0064-3A9A-412AB0A49948}"/>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74813824-65CF-2AFB-80E0-44D9F3CD1135}"/>
              </a:ext>
            </a:extLst>
          </p:cNvPr>
          <p:cNvSpPr>
            <a:spLocks noGrp="1"/>
          </p:cNvSpPr>
          <p:nvPr>
            <p:ph idx="1"/>
          </p:nvPr>
        </p:nvSpPr>
        <p:spPr>
          <a:xfrm>
            <a:off x="0" y="1827139"/>
            <a:ext cx="12155364"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7" name="TextBox 6">
            <a:extLst>
              <a:ext uri="{FF2B5EF4-FFF2-40B4-BE49-F238E27FC236}">
                <a16:creationId xmlns:a16="http://schemas.microsoft.com/office/drawing/2014/main" id="{F6864179-3D2C-6EC6-8560-5D52AD2FD87D}"/>
              </a:ext>
            </a:extLst>
          </p:cNvPr>
          <p:cNvSpPr txBox="1"/>
          <p:nvPr/>
        </p:nvSpPr>
        <p:spPr>
          <a:xfrm>
            <a:off x="18318" y="1945672"/>
            <a:ext cx="12155364" cy="2062103"/>
          </a:xfrm>
          <a:prstGeom prst="rect">
            <a:avLst/>
          </a:prstGeom>
          <a:noFill/>
        </p:spPr>
        <p:txBody>
          <a:bodyPr wrap="square">
            <a:spAutoFit/>
          </a:bodyPr>
          <a:lstStyle/>
          <a:p>
            <a:r>
              <a:rPr lang="en-US" sz="3200" dirty="0">
                <a:latin typeface="Arial Nova Cond Light" panose="020B0306020202020204" pitchFamily="34" charset="0"/>
              </a:rPr>
              <a:t>9. </a:t>
            </a:r>
            <a:r>
              <a:rPr lang="en-US" sz="3200" dirty="0">
                <a:solidFill>
                  <a:srgbClr val="FF0000"/>
                </a:solidFill>
                <a:latin typeface="Arial Nova Cond Light" panose="020B0306020202020204" pitchFamily="34" charset="0"/>
              </a:rPr>
              <a:t>Adverb+ adverb sequences where the adverb is repeated for emphasis</a:t>
            </a:r>
          </a:p>
          <a:p>
            <a:endParaRPr lang="en-US" sz="3200" dirty="0">
              <a:latin typeface="Arial Nova Cond Light" panose="020B0306020202020204" pitchFamily="34" charset="0"/>
            </a:endParaRPr>
          </a:p>
          <a:p>
            <a:r>
              <a:rPr lang="en-US" sz="3200" u="heavy" dirty="0" err="1">
                <a:latin typeface="Arial Nova Cond Light" panose="020B0306020202020204" pitchFamily="34" charset="0"/>
              </a:rPr>
              <a:t>Gabi</a:t>
            </a:r>
            <a:r>
              <a:rPr lang="en-US" sz="3200" u="heavy" dirty="0" err="1">
                <a:solidFill>
                  <a:srgbClr val="FF0000"/>
                </a:solidFill>
                <a:latin typeface="Arial Nova Cond Light" panose="020B0306020202020204" pitchFamily="34" charset="0"/>
              </a:rPr>
              <a:t>ng</a:t>
            </a:r>
            <a:r>
              <a:rPr lang="en-US" sz="3200" u="heavy" dirty="0">
                <a:latin typeface="Arial Nova Cond Light" panose="020B0306020202020204" pitchFamily="34" charset="0"/>
              </a:rPr>
              <a:t>-gabi</a:t>
            </a:r>
            <a:r>
              <a:rPr lang="en-US" sz="3200" dirty="0">
                <a:latin typeface="Arial Nova Cond Light" panose="020B0306020202020204" pitchFamily="34" charset="0"/>
              </a:rPr>
              <a:t> </a:t>
            </a:r>
            <a:r>
              <a:rPr lang="en-US" sz="3200" dirty="0" err="1">
                <a:latin typeface="Arial Nova Cond Light" panose="020B0306020202020204" pitchFamily="34" charset="0"/>
              </a:rPr>
              <a:t>na</a:t>
            </a:r>
            <a:r>
              <a:rPr lang="en-US" sz="3200" dirty="0">
                <a:latin typeface="Arial Nova Cond Light" panose="020B0306020202020204" pitchFamily="34" charset="0"/>
              </a:rPr>
              <a:t> </a:t>
            </a:r>
            <a:r>
              <a:rPr lang="en-US" sz="3200" dirty="0" err="1">
                <a:latin typeface="Arial Nova Cond Light" panose="020B0306020202020204" pitchFamily="34" charset="0"/>
              </a:rPr>
              <a:t>siya</a:t>
            </a:r>
            <a:r>
              <a:rPr lang="en-US" sz="3200" dirty="0">
                <a:latin typeface="Arial Nova Cond Light" panose="020B0306020202020204" pitchFamily="34" charset="0"/>
              </a:rPr>
              <a:t> </a:t>
            </a:r>
            <a:r>
              <a:rPr lang="en-US" sz="3200" dirty="0" err="1">
                <a:latin typeface="Arial Nova Cond Light" panose="020B0306020202020204" pitchFamily="34" charset="0"/>
              </a:rPr>
              <a:t>umuwi</a:t>
            </a:r>
            <a:r>
              <a:rPr lang="en-US" sz="3200" dirty="0">
                <a:latin typeface="Arial Nova Cond Light" panose="020B0306020202020204" pitchFamily="34" charset="0"/>
              </a:rPr>
              <a:t>.	 			    </a:t>
            </a:r>
            <a:r>
              <a:rPr lang="en-US" sz="3200" dirty="0" err="1">
                <a:latin typeface="Arial Nova Cond Light" panose="020B0306020202020204" pitchFamily="34" charset="0"/>
              </a:rPr>
              <a:t>He/She</a:t>
            </a:r>
            <a:r>
              <a:rPr lang="en-US" sz="3200" dirty="0">
                <a:latin typeface="Arial Nova Cond Light" panose="020B0306020202020204" pitchFamily="34" charset="0"/>
              </a:rPr>
              <a:t> came home very late.</a:t>
            </a:r>
          </a:p>
          <a:p>
            <a:r>
              <a:rPr lang="en-US" sz="3200" u="heavy" dirty="0">
                <a:latin typeface="Arial Nova Cond Light" panose="020B0306020202020204" pitchFamily="34" charset="0"/>
              </a:rPr>
              <a:t>Bukas </a:t>
            </a:r>
            <a:r>
              <a:rPr lang="en-US" sz="3200" u="heavy" dirty="0" err="1">
                <a:solidFill>
                  <a:srgbClr val="FF0000"/>
                </a:solidFill>
                <a:latin typeface="Arial Nova Cond Light" panose="020B0306020202020204" pitchFamily="34" charset="0"/>
              </a:rPr>
              <a:t>na</a:t>
            </a:r>
            <a:r>
              <a:rPr lang="en-US" sz="3200" u="heavy" dirty="0">
                <a:latin typeface="Arial Nova Cond Light" panose="020B0306020202020204" pitchFamily="34" charset="0"/>
              </a:rPr>
              <a:t> </a:t>
            </a:r>
            <a:r>
              <a:rPr lang="en-US" sz="3200" u="heavy" dirty="0" err="1">
                <a:latin typeface="Arial Nova Cond Light" panose="020B0306020202020204" pitchFamily="34" charset="0"/>
              </a:rPr>
              <a:t>bukas</a:t>
            </a:r>
            <a:r>
              <a:rPr lang="en-US" sz="3200" dirty="0">
                <a:latin typeface="Arial Nova Cond Light" panose="020B0306020202020204" pitchFamily="34" charset="0"/>
              </a:rPr>
              <a:t> </a:t>
            </a:r>
            <a:r>
              <a:rPr lang="en-US" sz="3200" dirty="0" err="1">
                <a:latin typeface="Arial Nova Cond Light" panose="020B0306020202020204" pitchFamily="34" charset="0"/>
              </a:rPr>
              <a:t>talaga</a:t>
            </a:r>
            <a:r>
              <a:rPr lang="en-US" sz="3200" dirty="0">
                <a:latin typeface="Arial Nova Cond Light" panose="020B0306020202020204" pitchFamily="34" charset="0"/>
              </a:rPr>
              <a:t> ay </a:t>
            </a:r>
            <a:r>
              <a:rPr lang="en-US" sz="3200" dirty="0" err="1">
                <a:latin typeface="Arial Nova Cond Light" panose="020B0306020202020204" pitchFamily="34" charset="0"/>
              </a:rPr>
              <a:t>babalik</a:t>
            </a:r>
            <a:r>
              <a:rPr lang="en-US" sz="3200" dirty="0">
                <a:latin typeface="Arial Nova Cond Light" panose="020B0306020202020204" pitchFamily="34" charset="0"/>
              </a:rPr>
              <a:t> </a:t>
            </a:r>
            <a:r>
              <a:rPr lang="en-US" sz="3200" dirty="0" err="1">
                <a:latin typeface="Arial Nova Cond Light" panose="020B0306020202020204" pitchFamily="34" charset="0"/>
              </a:rPr>
              <a:t>ako</a:t>
            </a:r>
            <a:r>
              <a:rPr lang="en-US" sz="3200" dirty="0">
                <a:latin typeface="Arial Nova Cond Light" panose="020B0306020202020204" pitchFamily="34" charset="0"/>
              </a:rPr>
              <a:t>.		I shall certainly return tomorrow</a:t>
            </a:r>
            <a:endParaRPr lang="en-PH" sz="3200" dirty="0">
              <a:latin typeface="Arial Nova Cond Light" panose="020B0306020202020204" pitchFamily="34" charset="0"/>
            </a:endParaRPr>
          </a:p>
        </p:txBody>
      </p:sp>
    </p:spTree>
    <p:extLst>
      <p:ext uri="{BB962C8B-B14F-4D97-AF65-F5344CB8AC3E}">
        <p14:creationId xmlns:p14="http://schemas.microsoft.com/office/powerpoint/2010/main" val="38649536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F06374-82CB-AC60-6A5E-413E14D3F6A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6F5462A-07C9-771E-CF79-0DE222476B18}"/>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D381427B-62DD-ABC4-2A5F-E2347E691305}"/>
              </a:ext>
            </a:extLst>
          </p:cNvPr>
          <p:cNvSpPr>
            <a:spLocks noGrp="1"/>
          </p:cNvSpPr>
          <p:nvPr>
            <p:ph idx="1"/>
          </p:nvPr>
        </p:nvSpPr>
        <p:spPr>
          <a:xfrm>
            <a:off x="232378" y="1827139"/>
            <a:ext cx="11959621" cy="4052597"/>
          </a:xfrm>
        </p:spPr>
        <p:txBody>
          <a:bodyPr>
            <a:noAutofit/>
          </a:bodyPr>
          <a:lstStyle/>
          <a:p>
            <a:pPr marL="0" indent="0">
              <a:buNone/>
            </a:pPr>
            <a:endParaRPr lang="en-US" sz="2400" dirty="0"/>
          </a:p>
          <a:p>
            <a:pPr marL="0" indent="0">
              <a:buNone/>
            </a:pPr>
            <a:r>
              <a:rPr lang="en-US" sz="2400" dirty="0"/>
              <a:t> </a:t>
            </a:r>
          </a:p>
          <a:p>
            <a:pPr marL="0" indent="0">
              <a:buNone/>
            </a:pPr>
            <a:endParaRPr lang="en-US" sz="2400" dirty="0"/>
          </a:p>
          <a:p>
            <a:pPr marL="0" indent="0">
              <a:buNone/>
            </a:pPr>
            <a:r>
              <a:rPr lang="en-US" sz="2400" dirty="0"/>
              <a:t> </a:t>
            </a:r>
          </a:p>
          <a:p>
            <a:pPr marL="0" indent="0">
              <a:buNone/>
            </a:pPr>
            <a:endParaRPr lang="en-US" sz="2400" dirty="0"/>
          </a:p>
          <a:p>
            <a:pPr marL="0" indent="0">
              <a:buNone/>
            </a:pPr>
            <a:endParaRPr lang="en-PH" sz="2400" dirty="0"/>
          </a:p>
        </p:txBody>
      </p:sp>
      <p:sp>
        <p:nvSpPr>
          <p:cNvPr id="13" name="TextBox 12">
            <a:extLst>
              <a:ext uri="{FF2B5EF4-FFF2-40B4-BE49-F238E27FC236}">
                <a16:creationId xmlns:a16="http://schemas.microsoft.com/office/drawing/2014/main" id="{36E87857-D049-E52F-4C0B-5B248B6D7A9F}"/>
              </a:ext>
            </a:extLst>
          </p:cNvPr>
          <p:cNvSpPr txBox="1"/>
          <p:nvPr/>
        </p:nvSpPr>
        <p:spPr>
          <a:xfrm>
            <a:off x="0" y="1163053"/>
            <a:ext cx="12192000" cy="4555093"/>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sz="3600" dirty="0"/>
          </a:p>
          <a:p>
            <a:r>
              <a:rPr lang="en-US" sz="3200" dirty="0">
                <a:solidFill>
                  <a:srgbClr val="FF0000"/>
                </a:solidFill>
                <a:latin typeface="Arial Nova Cond Light" panose="020B0306020202020204" pitchFamily="34" charset="0"/>
              </a:rPr>
              <a:t>10. Adjective + adjective sequences </a:t>
            </a:r>
            <a:r>
              <a:rPr lang="en-US" sz="3200" dirty="0">
                <a:latin typeface="Arial Nova Cond Light" panose="020B0306020202020204" pitchFamily="34" charset="0"/>
              </a:rPr>
              <a:t>where the adjective is repeated to create a superlative			</a:t>
            </a:r>
          </a:p>
          <a:p>
            <a:endParaRPr lang="en-US" sz="3200" dirty="0">
              <a:solidFill>
                <a:srgbClr val="FF0000"/>
              </a:solidFill>
              <a:latin typeface="Arial Nova Cond Light" panose="020B0306020202020204" pitchFamily="34" charset="0"/>
            </a:endParaRPr>
          </a:p>
          <a:p>
            <a:r>
              <a:rPr lang="en-US" sz="3200" dirty="0" err="1">
                <a:latin typeface="Arial Nova Cond Light" panose="020B0306020202020204" pitchFamily="34" charset="0"/>
              </a:rPr>
              <a:t>Malinaw</a:t>
            </a:r>
            <a:r>
              <a:rPr lang="en-US" sz="3200" dirty="0">
                <a:latin typeface="Arial Nova Cond Light" panose="020B0306020202020204" pitchFamily="34" charset="0"/>
              </a:rPr>
              <a:t> </a:t>
            </a:r>
            <a:r>
              <a:rPr lang="en-US" sz="3200" dirty="0" err="1">
                <a:solidFill>
                  <a:srgbClr val="FF0000"/>
                </a:solidFill>
                <a:latin typeface="Arial Nova Cond Light" panose="020B0306020202020204" pitchFamily="34" charset="0"/>
              </a:rPr>
              <a:t>na</a:t>
            </a:r>
            <a:r>
              <a:rPr lang="en-US" sz="3200" dirty="0">
                <a:solidFill>
                  <a:srgbClr val="FF0000"/>
                </a:solidFill>
                <a:latin typeface="Arial Nova Cond Light" panose="020B0306020202020204" pitchFamily="34" charset="0"/>
              </a:rPr>
              <a:t> </a:t>
            </a:r>
            <a:r>
              <a:rPr lang="en-US" sz="3200" dirty="0" err="1">
                <a:latin typeface="Arial Nova Cond Light" panose="020B0306020202020204" pitchFamily="34" charset="0"/>
              </a:rPr>
              <a:t>malinaw</a:t>
            </a:r>
            <a:r>
              <a:rPr lang="en-US" sz="3200" dirty="0">
                <a:latin typeface="Arial Nova Cond Light" panose="020B0306020202020204" pitchFamily="34" charset="0"/>
              </a:rPr>
              <a:t> ang </a:t>
            </a:r>
            <a:r>
              <a:rPr lang="en-US" sz="3200" dirty="0" err="1">
                <a:latin typeface="Arial Nova Cond Light" panose="020B0306020202020204" pitchFamily="34" charset="0"/>
              </a:rPr>
              <a:t>utos</a:t>
            </a:r>
            <a:r>
              <a:rPr lang="en-US" sz="3200" dirty="0">
                <a:latin typeface="Arial Nova Cond Light" panose="020B0306020202020204" pitchFamily="34" charset="0"/>
              </a:rPr>
              <a:t> </a:t>
            </a:r>
            <a:r>
              <a:rPr lang="en-US" sz="3200" dirty="0" err="1">
                <a:latin typeface="Arial Nova Cond Light" panose="020B0306020202020204" pitchFamily="34" charset="0"/>
              </a:rPr>
              <a:t>niya</a:t>
            </a:r>
            <a:r>
              <a:rPr lang="en-US" sz="3200" dirty="0">
                <a:latin typeface="Arial Nova Cond Light" panose="020B0306020202020204" pitchFamily="34" charset="0"/>
              </a:rPr>
              <a:t>.			His/her command is </a:t>
            </a:r>
            <a:r>
              <a:rPr lang="en-US" sz="3200" dirty="0">
                <a:solidFill>
                  <a:srgbClr val="FF0000"/>
                </a:solidFill>
                <a:latin typeface="Arial Nova Cond Light" panose="020B0306020202020204" pitchFamily="34" charset="0"/>
              </a:rPr>
              <a:t>very clear</a:t>
            </a:r>
            <a:r>
              <a:rPr lang="en-US" sz="3200" dirty="0">
                <a:latin typeface="Arial Nova Cond Light" panose="020B0306020202020204" pitchFamily="34" charset="0"/>
              </a:rPr>
              <a:t>.</a:t>
            </a:r>
          </a:p>
          <a:p>
            <a:r>
              <a:rPr lang="en-US" sz="3200" dirty="0" err="1">
                <a:latin typeface="Arial Nova Cond Light" panose="020B0306020202020204" pitchFamily="34" charset="0"/>
              </a:rPr>
              <a:t>Mabait</a:t>
            </a:r>
            <a:r>
              <a:rPr lang="en-US" sz="3200" dirty="0">
                <a:latin typeface="Arial Nova Cond Light" panose="020B0306020202020204" pitchFamily="34" charset="0"/>
              </a:rPr>
              <a:t> </a:t>
            </a:r>
            <a:r>
              <a:rPr lang="en-US" sz="3200" dirty="0" err="1">
                <a:solidFill>
                  <a:srgbClr val="FF0000"/>
                </a:solidFill>
                <a:latin typeface="Arial Nova Cond Light" panose="020B0306020202020204" pitchFamily="34" charset="0"/>
              </a:rPr>
              <a:t>na</a:t>
            </a:r>
            <a:r>
              <a:rPr lang="en-US" sz="3200" dirty="0">
                <a:latin typeface="Arial Nova Cond Light" panose="020B0306020202020204" pitchFamily="34" charset="0"/>
              </a:rPr>
              <a:t> </a:t>
            </a:r>
            <a:r>
              <a:rPr lang="en-US" sz="3200" dirty="0" err="1">
                <a:latin typeface="Arial Nova Cond Light" panose="020B0306020202020204" pitchFamily="34" charset="0"/>
              </a:rPr>
              <a:t>mabait</a:t>
            </a:r>
            <a:r>
              <a:rPr lang="en-US" sz="3200" dirty="0">
                <a:latin typeface="Arial Nova Cond Light" panose="020B0306020202020204" pitchFamily="34" charset="0"/>
              </a:rPr>
              <a:t> ang </a:t>
            </a:r>
            <a:r>
              <a:rPr lang="en-US" sz="3200" dirty="0" err="1">
                <a:latin typeface="Arial Nova Cond Light" panose="020B0306020202020204" pitchFamily="34" charset="0"/>
              </a:rPr>
              <a:t>guro</a:t>
            </a:r>
            <a:r>
              <a:rPr lang="en-US" sz="3200" dirty="0">
                <a:latin typeface="Arial Nova Cond Light" panose="020B0306020202020204" pitchFamily="34" charset="0"/>
              </a:rPr>
              <a:t> ko.				My teacher is </a:t>
            </a:r>
            <a:r>
              <a:rPr lang="en-US" sz="3200" dirty="0">
                <a:solidFill>
                  <a:srgbClr val="FF0000"/>
                </a:solidFill>
                <a:latin typeface="Arial Nova Cond Light" panose="020B0306020202020204" pitchFamily="34" charset="0"/>
              </a:rPr>
              <a:t>very kind</a:t>
            </a:r>
            <a:r>
              <a:rPr lang="en-US" sz="3600" dirty="0">
                <a:solidFill>
                  <a:srgbClr val="FF0000"/>
                </a:solidFill>
                <a:latin typeface="Arial Nova Cond Light" panose="020B0306020202020204" pitchFamily="34" charset="0"/>
              </a:rPr>
              <a:t>.</a:t>
            </a:r>
          </a:p>
          <a:p>
            <a:endParaRPr lang="en-PH" sz="3600" dirty="0">
              <a:latin typeface="Arial Nova Cond Light" panose="020B0306020202020204" pitchFamily="34" charset="0"/>
            </a:endParaRPr>
          </a:p>
          <a:p>
            <a:endParaRPr lang="en-PH" dirty="0"/>
          </a:p>
        </p:txBody>
      </p:sp>
    </p:spTree>
    <p:extLst>
      <p:ext uri="{BB962C8B-B14F-4D97-AF65-F5344CB8AC3E}">
        <p14:creationId xmlns:p14="http://schemas.microsoft.com/office/powerpoint/2010/main" val="32996819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B81044-263F-F354-8559-920EEE1563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531650-0E90-61F8-C7F0-40A5150B043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DCF4FBDD-CAC9-6255-70BF-2F1A7F53E504}"/>
              </a:ext>
            </a:extLst>
          </p:cNvPr>
          <p:cNvSpPr>
            <a:spLocks noGrp="1"/>
          </p:cNvSpPr>
          <p:nvPr>
            <p:ph idx="1"/>
          </p:nvPr>
        </p:nvSpPr>
        <p:spPr>
          <a:xfrm>
            <a:off x="0" y="1827139"/>
            <a:ext cx="12191999" cy="4052597"/>
          </a:xfrm>
        </p:spPr>
        <p:txBody>
          <a:bodyPr>
            <a:noAutofit/>
          </a:bodyPr>
          <a:lstStyle/>
          <a:p>
            <a:pPr marL="0" indent="0">
              <a:buNone/>
            </a:pPr>
            <a:r>
              <a:rPr lang="en-US" sz="2800" dirty="0"/>
              <a:t> </a:t>
            </a:r>
            <a:r>
              <a:rPr lang="en-US" sz="2800" dirty="0">
                <a:latin typeface="Arial Nova Cond Light" panose="020B0306020202020204" pitchFamily="34" charset="0"/>
              </a:rPr>
              <a:t>l I. Noun + pronoun (or pronoun + noun)</a:t>
            </a:r>
          </a:p>
          <a:p>
            <a:pPr marL="0" indent="0">
              <a:buNone/>
            </a:pPr>
            <a:r>
              <a:rPr lang="en-US" sz="2800" dirty="0">
                <a:latin typeface="Arial Nova Cond Light" panose="020B0306020202020204" pitchFamily="34" charset="0"/>
              </a:rPr>
              <a:t>Ang </a:t>
            </a:r>
            <a:r>
              <a:rPr lang="en-US" sz="2800" dirty="0" err="1">
                <a:latin typeface="Arial Nova Cond Light" panose="020B0306020202020204" pitchFamily="34" charset="0"/>
              </a:rPr>
              <a:t>bahay</a:t>
            </a:r>
            <a:r>
              <a:rPr lang="en-US" sz="2800" dirty="0">
                <a:latin typeface="Arial Nova Cond Light" panose="020B0306020202020204" pitchFamily="34" charset="0"/>
              </a:rPr>
              <a:t> </a:t>
            </a:r>
            <a:r>
              <a:rPr lang="en-US" sz="2800" dirty="0" err="1">
                <a:solidFill>
                  <a:srgbClr val="FF0000"/>
                </a:solidFill>
                <a:latin typeface="Arial Nova Cond Light" panose="020B0306020202020204" pitchFamily="34" charset="0"/>
              </a:rPr>
              <a:t>na</a:t>
            </a:r>
            <a:r>
              <a:rPr lang="en-US" sz="2800" dirty="0">
                <a:solidFill>
                  <a:srgbClr val="FF0000"/>
                </a:solidFill>
                <a:latin typeface="Arial Nova Cond Light" panose="020B0306020202020204" pitchFamily="34" charset="0"/>
              </a:rPr>
              <a:t> </a:t>
            </a:r>
            <a:r>
              <a:rPr lang="en-US" sz="2800" dirty="0" err="1">
                <a:latin typeface="Arial Nova Cond Light" panose="020B0306020202020204" pitchFamily="34" charset="0"/>
              </a:rPr>
              <a:t>iyan</a:t>
            </a:r>
            <a:r>
              <a:rPr lang="en-US" sz="2800" dirty="0">
                <a:latin typeface="Arial Nova Cond Light" panose="020B0306020202020204" pitchFamily="34" charset="0"/>
              </a:rPr>
              <a:t> ay akin.				 </a:t>
            </a:r>
            <a:r>
              <a:rPr lang="en-US" sz="2800" dirty="0">
                <a:solidFill>
                  <a:srgbClr val="FF0000"/>
                </a:solidFill>
                <a:latin typeface="Arial Nova Cond Light" panose="020B0306020202020204" pitchFamily="34" charset="0"/>
              </a:rPr>
              <a:t>That house </a:t>
            </a:r>
            <a:r>
              <a:rPr lang="en-US" sz="2800" dirty="0">
                <a:latin typeface="Arial Nova Cond Light" panose="020B0306020202020204" pitchFamily="34" charset="0"/>
              </a:rPr>
              <a:t>is mine. </a:t>
            </a:r>
          </a:p>
          <a:p>
            <a:pPr marL="0" indent="0">
              <a:buNone/>
            </a:pPr>
            <a:r>
              <a:rPr lang="en-US" sz="2800" dirty="0" err="1">
                <a:latin typeface="Arial Nova Cond Light" panose="020B0306020202020204" pitchFamily="34" charset="0"/>
              </a:rPr>
              <a:t>lto</a:t>
            </a:r>
            <a:r>
              <a:rPr lang="en-US" sz="2800" dirty="0">
                <a:latin typeface="Arial Nova Cond Light" panose="020B0306020202020204" pitchFamily="34" charset="0"/>
              </a:rPr>
              <a:t> ang</a:t>
            </a:r>
            <a:r>
              <a:rPr lang="en-US" sz="2800" dirty="0">
                <a:solidFill>
                  <a:srgbClr val="FF0000"/>
                </a:solidFill>
                <a:latin typeface="Arial Nova Cond Light" panose="020B0306020202020204" pitchFamily="34" charset="0"/>
              </a:rPr>
              <a:t> </a:t>
            </a:r>
            <a:r>
              <a:rPr lang="en-US" sz="2800" dirty="0" err="1">
                <a:solidFill>
                  <a:srgbClr val="FF0000"/>
                </a:solidFill>
                <a:latin typeface="Arial Nova Cond Light" panose="020B0306020202020204" pitchFamily="34" charset="0"/>
              </a:rPr>
              <a:t>aking</a:t>
            </a:r>
            <a:r>
              <a:rPr lang="en-US" sz="2800" dirty="0">
                <a:solidFill>
                  <a:srgbClr val="FF0000"/>
                </a:solidFill>
                <a:latin typeface="Arial Nova Cond Light" panose="020B0306020202020204" pitchFamily="34" charset="0"/>
              </a:rPr>
              <a:t> </a:t>
            </a:r>
            <a:r>
              <a:rPr lang="en-US" sz="2800" dirty="0" err="1">
                <a:latin typeface="Arial Nova Cond Light" panose="020B0306020202020204" pitchFamily="34" charset="0"/>
              </a:rPr>
              <a:t>lupa</a:t>
            </a:r>
            <a:r>
              <a:rPr lang="en-US" sz="2800" dirty="0">
                <a:latin typeface="Arial Nova Cond Light" panose="020B0306020202020204" pitchFamily="34" charset="0"/>
              </a:rPr>
              <a:t>.					 This is </a:t>
            </a:r>
            <a:r>
              <a:rPr lang="en-US" sz="2800" dirty="0">
                <a:solidFill>
                  <a:srgbClr val="FF0000"/>
                </a:solidFill>
                <a:latin typeface="Arial Nova Cond Light" panose="020B0306020202020204" pitchFamily="34" charset="0"/>
              </a:rPr>
              <a:t>my land</a:t>
            </a:r>
            <a:r>
              <a:rPr lang="en-US" sz="2800" dirty="0">
                <a:latin typeface="Arial Nova Cond Light" panose="020B0306020202020204" pitchFamily="34" charset="0"/>
              </a:rPr>
              <a:t>.</a:t>
            </a:r>
          </a:p>
          <a:p>
            <a:pPr marL="0" indent="0">
              <a:buNone/>
            </a:pPr>
            <a:endParaRPr lang="en-US" sz="2800" dirty="0">
              <a:latin typeface="Arial Nova Cond Light" panose="020B0306020202020204" pitchFamily="34" charset="0"/>
            </a:endParaRPr>
          </a:p>
          <a:p>
            <a:pPr marL="0" indent="0">
              <a:buNone/>
            </a:pPr>
            <a:r>
              <a:rPr lang="en-US" sz="2400" dirty="0">
                <a:latin typeface="Arial Nova Cond Light" panose="020B0306020202020204" pitchFamily="34" charset="0"/>
              </a:rPr>
              <a:t>An exception to this sequence is the </a:t>
            </a:r>
            <a:r>
              <a:rPr lang="en-US" sz="2400" dirty="0">
                <a:solidFill>
                  <a:srgbClr val="FF0000"/>
                </a:solidFill>
                <a:latin typeface="Arial Nova Cond Light" panose="020B0306020202020204" pitchFamily="34" charset="0"/>
              </a:rPr>
              <a:t>noun + possessive pronoun </a:t>
            </a:r>
            <a:r>
              <a:rPr lang="en-US" sz="2400" dirty="0">
                <a:latin typeface="Arial Nova Cond Light" panose="020B0306020202020204" pitchFamily="34" charset="0"/>
              </a:rPr>
              <a:t>(</a:t>
            </a:r>
            <a:r>
              <a:rPr lang="en-US" sz="2400" dirty="0" err="1">
                <a:latin typeface="Arial Nova Cond Light" panose="020B0306020202020204" pitchFamily="34" charset="0"/>
              </a:rPr>
              <a:t>ko,namin</a:t>
            </a:r>
            <a:r>
              <a:rPr lang="en-US" sz="2400" dirty="0">
                <a:latin typeface="Arial Nova Cond Light" panose="020B0306020202020204" pitchFamily="34" charset="0"/>
              </a:rPr>
              <a:t>, </a:t>
            </a:r>
            <a:r>
              <a:rPr lang="en-US" sz="2400" dirty="0" err="1">
                <a:latin typeface="Arial Nova Cond Light" panose="020B0306020202020204" pitchFamily="34" charset="0"/>
              </a:rPr>
              <a:t>nila</a:t>
            </a:r>
            <a:r>
              <a:rPr lang="en-US" sz="2400" dirty="0">
                <a:latin typeface="Arial Nova Cond Light" panose="020B0306020202020204" pitchFamily="34" charset="0"/>
              </a:rPr>
              <a:t> and others) com­bination as the possessive pronoun changes forms when it is placed after nouns. </a:t>
            </a:r>
            <a:br>
              <a:rPr lang="en-US" sz="2400" dirty="0">
                <a:latin typeface="Arial Nova Cond Light" panose="020B0306020202020204" pitchFamily="34" charset="0"/>
              </a:rPr>
            </a:br>
            <a:r>
              <a:rPr lang="en-US" sz="2400" dirty="0">
                <a:latin typeface="Arial Nova Cond Light" panose="020B0306020202020204" pitchFamily="34" charset="0"/>
              </a:rPr>
              <a:t>Examples include </a:t>
            </a:r>
            <a:r>
              <a:rPr lang="en-US" sz="2400" dirty="0" err="1">
                <a:latin typeface="Arial Nova Cond Light" panose="020B0306020202020204" pitchFamily="34" charset="0"/>
              </a:rPr>
              <a:t>aklat</a:t>
            </a:r>
            <a:r>
              <a:rPr lang="en-US" sz="2400" dirty="0">
                <a:latin typeface="Arial Nova Cond Light" panose="020B0306020202020204" pitchFamily="34" charset="0"/>
              </a:rPr>
              <a:t> ko, </a:t>
            </a:r>
            <a:r>
              <a:rPr lang="en-US" sz="2400" dirty="0" err="1">
                <a:latin typeface="Arial Nova Cond Light" panose="020B0306020202020204" pitchFamily="34" charset="0"/>
              </a:rPr>
              <a:t>bahay</a:t>
            </a:r>
            <a:r>
              <a:rPr lang="en-US" sz="2400" dirty="0">
                <a:latin typeface="Arial Nova Cond Light" panose="020B0306020202020204" pitchFamily="34" charset="0"/>
              </a:rPr>
              <a:t> </a:t>
            </a:r>
            <a:r>
              <a:rPr lang="en-US" sz="2400" dirty="0" err="1">
                <a:latin typeface="Arial Nova Cond Light" panose="020B0306020202020204" pitchFamily="34" charset="0"/>
              </a:rPr>
              <a:t>namin</a:t>
            </a:r>
            <a:r>
              <a:rPr lang="en-US" sz="2400" dirty="0">
                <a:latin typeface="Arial Nova Cond Light" panose="020B0306020202020204" pitchFamily="34" charset="0"/>
              </a:rPr>
              <a:t>, and </a:t>
            </a:r>
            <a:r>
              <a:rPr lang="en-US" sz="2400" dirty="0" err="1">
                <a:latin typeface="Arial Nova Cond Light" panose="020B0306020202020204" pitchFamily="34" charset="0"/>
              </a:rPr>
              <a:t>lupa</a:t>
            </a:r>
            <a:r>
              <a:rPr lang="en-US" sz="2400" dirty="0">
                <a:latin typeface="Arial Nova Cond Light" panose="020B0306020202020204" pitchFamily="34" charset="0"/>
              </a:rPr>
              <a:t> </a:t>
            </a:r>
            <a:r>
              <a:rPr lang="en-US" sz="2400" dirty="0" err="1">
                <a:latin typeface="Arial Nova Cond Light" panose="020B0306020202020204" pitchFamily="34" charset="0"/>
              </a:rPr>
              <a:t>nila</a:t>
            </a:r>
            <a:r>
              <a:rPr lang="en-US" sz="2400" dirty="0">
                <a:latin typeface="Arial Nova Cond Light" panose="020B0306020202020204" pitchFamily="34" charset="0"/>
              </a:rPr>
              <a:t>.</a:t>
            </a:r>
          </a:p>
          <a:p>
            <a:pPr marL="0" indent="0">
              <a:buNone/>
            </a:pPr>
            <a:endParaRPr lang="en-US" sz="2800" dirty="0"/>
          </a:p>
          <a:p>
            <a:pPr marL="0" indent="0">
              <a:buNone/>
            </a:pPr>
            <a:endParaRPr lang="en-US" sz="2800" dirty="0"/>
          </a:p>
          <a:p>
            <a:pPr marL="0" indent="0">
              <a:buNone/>
            </a:pPr>
            <a:endParaRPr lang="en-PH" sz="2800" dirty="0"/>
          </a:p>
        </p:txBody>
      </p:sp>
      <p:sp>
        <p:nvSpPr>
          <p:cNvPr id="13" name="TextBox 12">
            <a:extLst>
              <a:ext uri="{FF2B5EF4-FFF2-40B4-BE49-F238E27FC236}">
                <a16:creationId xmlns:a16="http://schemas.microsoft.com/office/drawing/2014/main" id="{240FEBC0-2C03-DD97-3F16-9CB6ECAFCF6F}"/>
              </a:ext>
            </a:extLst>
          </p:cNvPr>
          <p:cNvSpPr txBox="1"/>
          <p:nvPr/>
        </p:nvSpPr>
        <p:spPr>
          <a:xfrm>
            <a:off x="123433" y="757264"/>
            <a:ext cx="12068566" cy="923330"/>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dirty="0">
              <a:latin typeface="Arial Nova Cond Light" panose="020B0306020202020204" pitchFamily="34" charset="0"/>
            </a:endParaRPr>
          </a:p>
        </p:txBody>
      </p:sp>
    </p:spTree>
    <p:extLst>
      <p:ext uri="{BB962C8B-B14F-4D97-AF65-F5344CB8AC3E}">
        <p14:creationId xmlns:p14="http://schemas.microsoft.com/office/powerpoint/2010/main" val="402344025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C31F5E-1CB3-EAF8-220E-B0E929C331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B03AEC-926A-29CA-910A-DD6973F1D4D9}"/>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BA4DEB0B-CDA1-7D4A-AC6A-F2F19EDB7CAD}"/>
              </a:ext>
            </a:extLst>
          </p:cNvPr>
          <p:cNvSpPr>
            <a:spLocks noGrp="1"/>
          </p:cNvSpPr>
          <p:nvPr>
            <p:ph idx="1"/>
          </p:nvPr>
        </p:nvSpPr>
        <p:spPr>
          <a:xfrm>
            <a:off x="0" y="1827139"/>
            <a:ext cx="12191999" cy="4370461"/>
          </a:xfrm>
        </p:spPr>
        <p:txBody>
          <a:bodyPr>
            <a:noAutofit/>
          </a:bodyPr>
          <a:lstStyle/>
          <a:p>
            <a:pPr marL="0" indent="0">
              <a:buNone/>
            </a:pPr>
            <a:r>
              <a:rPr lang="en-US" sz="2800" dirty="0">
                <a:latin typeface="Arial Nova Cond Light" panose="020B0306020202020204" pitchFamily="34" charset="0"/>
              </a:rPr>
              <a:t>12. Pronoun + adjective (or adjective + pronoun)</a:t>
            </a:r>
          </a:p>
          <a:p>
            <a:pPr marL="0" indent="0">
              <a:buNone/>
            </a:pPr>
            <a:r>
              <a:rPr lang="en-US" sz="2800" dirty="0" err="1">
                <a:latin typeface="Arial Nova Cond Light" panose="020B0306020202020204" pitchFamily="34" charset="0"/>
              </a:rPr>
              <a:t>lkaw</a:t>
            </a:r>
            <a:r>
              <a:rPr lang="en-US" sz="2800" dirty="0">
                <a:solidFill>
                  <a:srgbClr val="FF0000"/>
                </a:solidFill>
                <a:latin typeface="Arial Nova Cond Light" panose="020B0306020202020204" pitchFamily="34" charset="0"/>
              </a:rPr>
              <a:t> </a:t>
            </a:r>
            <a:r>
              <a:rPr lang="en-US" sz="2800" dirty="0" err="1">
                <a:solidFill>
                  <a:srgbClr val="FF0000"/>
                </a:solidFill>
                <a:latin typeface="Arial Nova Cond Light" panose="020B0306020202020204" pitchFamily="34" charset="0"/>
              </a:rPr>
              <a:t>na</a:t>
            </a:r>
            <a:r>
              <a:rPr lang="en-US" sz="2800" dirty="0">
                <a:solidFill>
                  <a:srgbClr val="FF0000"/>
                </a:solidFill>
                <a:latin typeface="Arial Nova Cond Light" panose="020B0306020202020204" pitchFamily="34" charset="0"/>
              </a:rPr>
              <a:t> </a:t>
            </a:r>
            <a:r>
              <a:rPr lang="en-US" sz="2800" dirty="0" err="1">
                <a:latin typeface="Arial Nova Cond Light" panose="020B0306020202020204" pitchFamily="34" charset="0"/>
              </a:rPr>
              <a:t>marunong</a:t>
            </a:r>
            <a:r>
              <a:rPr lang="en-US" sz="2800" dirty="0">
                <a:latin typeface="Arial Nova Cond Light" panose="020B0306020202020204" pitchFamily="34" charset="0"/>
              </a:rPr>
              <a:t> ay </a:t>
            </a:r>
            <a:r>
              <a:rPr lang="en-US" sz="2800" dirty="0" err="1">
                <a:latin typeface="Arial Nova Cond Light" panose="020B0306020202020204" pitchFamily="34" charset="0"/>
              </a:rPr>
              <a:t>magsalita</a:t>
            </a:r>
            <a:r>
              <a:rPr lang="en-US" sz="2800" dirty="0">
                <a:latin typeface="Arial Nova Cond Light" panose="020B0306020202020204" pitchFamily="34" charset="0"/>
              </a:rPr>
              <a:t>.		</a:t>
            </a:r>
            <a:r>
              <a:rPr lang="en-US" sz="2800" dirty="0">
                <a:solidFill>
                  <a:srgbClr val="FF0000"/>
                </a:solidFill>
                <a:latin typeface="Arial Nova Cond Light" panose="020B0306020202020204" pitchFamily="34" charset="0"/>
              </a:rPr>
              <a:t>You</a:t>
            </a:r>
            <a:r>
              <a:rPr lang="en-US" sz="2800" dirty="0">
                <a:latin typeface="Arial Nova Cond Light" panose="020B0306020202020204" pitchFamily="34" charset="0"/>
              </a:rPr>
              <a:t> who are </a:t>
            </a:r>
            <a:r>
              <a:rPr lang="en-US" sz="2800" dirty="0">
                <a:solidFill>
                  <a:srgbClr val="FF0000"/>
                </a:solidFill>
                <a:latin typeface="Arial Nova Cond Light" panose="020B0306020202020204" pitchFamily="34" charset="0"/>
              </a:rPr>
              <a:t>learned</a:t>
            </a:r>
            <a:r>
              <a:rPr lang="en-US" sz="2800" dirty="0">
                <a:latin typeface="Arial Nova Cond Light" panose="020B0306020202020204" pitchFamily="34" charset="0"/>
              </a:rPr>
              <a:t> should speak.</a:t>
            </a:r>
          </a:p>
          <a:p>
            <a:pPr marL="0" indent="0">
              <a:buNone/>
            </a:pPr>
            <a:r>
              <a:rPr lang="en-US" sz="2800" dirty="0">
                <a:latin typeface="Arial Nova Cond Light" panose="020B0306020202020204" pitchFamily="34" charset="0"/>
              </a:rPr>
              <a:t>Ang </a:t>
            </a:r>
            <a:r>
              <a:rPr lang="en-US" sz="2800" dirty="0" err="1">
                <a:latin typeface="Arial Nova Cond Light" panose="020B0306020202020204" pitchFamily="34" charset="0"/>
              </a:rPr>
              <a:t>hangal</a:t>
            </a:r>
            <a:r>
              <a:rPr lang="en-US" sz="2800" dirty="0">
                <a:latin typeface="Arial Nova Cond Light" panose="020B0306020202020204" pitchFamily="34" charset="0"/>
              </a:rPr>
              <a:t> </a:t>
            </a:r>
            <a:r>
              <a:rPr lang="en-US" sz="2800" dirty="0" err="1">
                <a:solidFill>
                  <a:srgbClr val="FF0000"/>
                </a:solidFill>
                <a:latin typeface="Arial Nova Cond Light" panose="020B0306020202020204" pitchFamily="34" charset="0"/>
              </a:rPr>
              <a:t>na</a:t>
            </a:r>
            <a:r>
              <a:rPr lang="en-US" sz="2800" dirty="0">
                <a:latin typeface="Arial Nova Cond Light" panose="020B0306020202020204" pitchFamily="34" charset="0"/>
              </a:rPr>
              <a:t> </a:t>
            </a:r>
            <a:r>
              <a:rPr lang="en-US" sz="2800" dirty="0" err="1">
                <a:latin typeface="Arial Nova Cond Light" panose="020B0306020202020204" pitchFamily="34" charset="0"/>
              </a:rPr>
              <a:t>ito</a:t>
            </a:r>
            <a:r>
              <a:rPr lang="en-US" sz="2800" dirty="0">
                <a:latin typeface="Arial Nova Cond Light" panose="020B0306020202020204" pitchFamily="34" charset="0"/>
              </a:rPr>
              <a:t> ay </a:t>
            </a:r>
            <a:r>
              <a:rPr lang="en-US" sz="2800" dirty="0" err="1">
                <a:latin typeface="Arial Nova Cond Light" panose="020B0306020202020204" pitchFamily="34" charset="0"/>
              </a:rPr>
              <a:t>umiyak</a:t>
            </a:r>
            <a:r>
              <a:rPr lang="en-US" sz="2800" dirty="0">
                <a:latin typeface="Arial Nova Cond Light" panose="020B0306020202020204" pitchFamily="34" charset="0"/>
              </a:rPr>
              <a:t>.			</a:t>
            </a:r>
            <a:r>
              <a:rPr lang="en-US" sz="2800" dirty="0">
                <a:solidFill>
                  <a:srgbClr val="FF0000"/>
                </a:solidFill>
                <a:latin typeface="Arial Nova Cond Light" panose="020B0306020202020204" pitchFamily="34" charset="0"/>
              </a:rPr>
              <a:t>This fool </a:t>
            </a:r>
            <a:r>
              <a:rPr lang="en-US" sz="2800" dirty="0">
                <a:latin typeface="Arial Nova Cond Light" panose="020B0306020202020204" pitchFamily="34" charset="0"/>
              </a:rPr>
              <a:t>is crying.</a:t>
            </a:r>
          </a:p>
          <a:p>
            <a:pPr marL="0" indent="0">
              <a:buNone/>
            </a:pPr>
            <a:endParaRPr lang="en-US" sz="2800" dirty="0">
              <a:latin typeface="Arial Nova Cond Light" panose="020B0306020202020204" pitchFamily="34" charset="0"/>
            </a:endParaRPr>
          </a:p>
          <a:p>
            <a:pPr marL="0" indent="0">
              <a:buNone/>
            </a:pPr>
            <a:r>
              <a:rPr lang="en-US" sz="1800" dirty="0">
                <a:latin typeface="Arial Nova Cond Light" panose="020B0306020202020204" pitchFamily="34" charset="0"/>
              </a:rPr>
              <a:t>An exception to the pronoun + adjective or adjective + pronoun sequence is the </a:t>
            </a:r>
            <a:r>
              <a:rPr lang="en-US" sz="1800" dirty="0">
                <a:solidFill>
                  <a:srgbClr val="FF0000"/>
                </a:solidFill>
                <a:latin typeface="Arial Nova Cond Light" panose="020B0306020202020204" pitchFamily="34" charset="0"/>
              </a:rPr>
              <a:t>adjective + nom­inative pronoun sequence</a:t>
            </a:r>
            <a:r>
              <a:rPr lang="en-US" sz="1800" dirty="0">
                <a:latin typeface="Arial Nova Cond Light" panose="020B0306020202020204" pitchFamily="34" charset="0"/>
              </a:rPr>
              <a:t>. A nominative pronoun such as </a:t>
            </a:r>
            <a:r>
              <a:rPr lang="en-US" sz="1800" dirty="0">
                <a:solidFill>
                  <a:srgbClr val="FF0000"/>
                </a:solidFill>
                <a:latin typeface="Arial Nova Cond Light" panose="020B0306020202020204" pitchFamily="34" charset="0"/>
              </a:rPr>
              <a:t>ka</a:t>
            </a:r>
            <a:r>
              <a:rPr lang="en-US" sz="1800" dirty="0">
                <a:latin typeface="Arial Nova Cond Light" panose="020B0306020202020204" pitchFamily="34" charset="0"/>
              </a:rPr>
              <a:t> and </a:t>
            </a:r>
            <a:r>
              <a:rPr lang="en-US" sz="1800" dirty="0">
                <a:solidFill>
                  <a:srgbClr val="FF0000"/>
                </a:solidFill>
                <a:latin typeface="Arial Nova Cond Light" panose="020B0306020202020204" pitchFamily="34" charset="0"/>
              </a:rPr>
              <a:t>kayo</a:t>
            </a:r>
            <a:r>
              <a:rPr lang="en-US" sz="1800" dirty="0">
                <a:latin typeface="Arial Nova Cond Light" panose="020B0306020202020204" pitchFamily="34" charset="0"/>
              </a:rPr>
              <a:t> is a personal pronoun that can be used as the subject of a sentence.</a:t>
            </a:r>
          </a:p>
          <a:p>
            <a:pPr marL="0" indent="0">
              <a:buNone/>
            </a:pPr>
            <a:r>
              <a:rPr lang="en-US" sz="1800" dirty="0" err="1">
                <a:latin typeface="Arial Nova Cond Light" panose="020B0306020202020204" pitchFamily="34" charset="0"/>
              </a:rPr>
              <a:t>Marunong</a:t>
            </a:r>
            <a:r>
              <a:rPr lang="en-US" sz="1800" dirty="0">
                <a:latin typeface="Arial Nova Cond Light" panose="020B0306020202020204" pitchFamily="34" charset="0"/>
              </a:rPr>
              <a:t> ka.	You are intelligent (or learned).</a:t>
            </a:r>
          </a:p>
          <a:p>
            <a:pPr marL="0" indent="0">
              <a:buNone/>
            </a:pPr>
            <a:r>
              <a:rPr lang="en-US" sz="1800" dirty="0" err="1">
                <a:latin typeface="Arial Nova Cond Light" panose="020B0306020202020204" pitchFamily="34" charset="0"/>
              </a:rPr>
              <a:t>Mababait</a:t>
            </a:r>
            <a:r>
              <a:rPr lang="en-US" sz="1800" dirty="0">
                <a:latin typeface="Arial Nova Cond Light" panose="020B0306020202020204" pitchFamily="34" charset="0"/>
              </a:rPr>
              <a:t> kayo.	You (plural) are kind.</a:t>
            </a:r>
          </a:p>
          <a:p>
            <a:pPr marL="0" indent="0">
              <a:buNone/>
            </a:pPr>
            <a:endParaRPr lang="en-PH" sz="2800" dirty="0"/>
          </a:p>
        </p:txBody>
      </p:sp>
      <p:sp>
        <p:nvSpPr>
          <p:cNvPr id="13" name="TextBox 12">
            <a:extLst>
              <a:ext uri="{FF2B5EF4-FFF2-40B4-BE49-F238E27FC236}">
                <a16:creationId xmlns:a16="http://schemas.microsoft.com/office/drawing/2014/main" id="{4C620C7E-087D-A096-355F-41EB4313D833}"/>
              </a:ext>
            </a:extLst>
          </p:cNvPr>
          <p:cNvSpPr txBox="1"/>
          <p:nvPr/>
        </p:nvSpPr>
        <p:spPr>
          <a:xfrm>
            <a:off x="484604" y="215804"/>
            <a:ext cx="11222790" cy="923330"/>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a:p>
            <a:endParaRPr lang="en-PH" dirty="0">
              <a:latin typeface="Arial Nova Cond Light" panose="020B0306020202020204" pitchFamily="34" charset="0"/>
            </a:endParaRPr>
          </a:p>
        </p:txBody>
      </p:sp>
    </p:spTree>
    <p:extLst>
      <p:ext uri="{BB962C8B-B14F-4D97-AF65-F5344CB8AC3E}">
        <p14:creationId xmlns:p14="http://schemas.microsoft.com/office/powerpoint/2010/main" val="356662141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54316-1C08-D2C1-617B-DE82E3D91B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89441F-D17F-15EF-EE38-5DBA9DB98765}"/>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96DE7C3B-040C-5920-D7E4-CECE2C1F39BF}"/>
              </a:ext>
            </a:extLst>
          </p:cNvPr>
          <p:cNvSpPr>
            <a:spLocks noGrp="1"/>
          </p:cNvSpPr>
          <p:nvPr>
            <p:ph idx="1"/>
          </p:nvPr>
        </p:nvSpPr>
        <p:spPr>
          <a:xfrm>
            <a:off x="76201" y="1831736"/>
            <a:ext cx="12115800" cy="4052597"/>
          </a:xfrm>
        </p:spPr>
        <p:txBody>
          <a:bodyPr>
            <a:noAutofit/>
          </a:bodyPr>
          <a:lstStyle/>
          <a:p>
            <a:pPr marL="0" indent="0">
              <a:buNone/>
            </a:pPr>
            <a:r>
              <a:rPr lang="en-US" sz="2400" dirty="0">
                <a:latin typeface="Arial Nova Cond Light" panose="020B0306020202020204" pitchFamily="34" charset="0"/>
              </a:rPr>
              <a:t>13.Verb + pronoun (or pronoun+ verb)</a:t>
            </a:r>
          </a:p>
          <a:p>
            <a:pPr marL="0" indent="0">
              <a:buNone/>
            </a:pPr>
            <a:r>
              <a:rPr lang="en-US" sz="2400" dirty="0" err="1">
                <a:latin typeface="Arial Nova Cond Light" panose="020B0306020202020204" pitchFamily="34" charset="0"/>
              </a:rPr>
              <a:t>Tatawagin</a:t>
            </a:r>
            <a:r>
              <a:rPr lang="en-US" sz="2400" dirty="0" err="1">
                <a:solidFill>
                  <a:srgbClr val="FF0000"/>
                </a:solidFill>
                <a:latin typeface="Arial Nova Cond Light" panose="020B0306020202020204" pitchFamily="34" charset="0"/>
              </a:rPr>
              <a:t>g</a:t>
            </a:r>
            <a:r>
              <a:rPr lang="en-US" sz="2400" dirty="0">
                <a:latin typeface="Arial Nova Cond Light" panose="020B0306020202020204" pitchFamily="34" charset="0"/>
              </a:rPr>
              <a:t> </a:t>
            </a:r>
            <a:r>
              <a:rPr lang="en-US" sz="2400" dirty="0" err="1">
                <a:latin typeface="Arial Nova Cond Light" panose="020B0306020202020204" pitchFamily="34" charset="0"/>
              </a:rPr>
              <a:t>ano</a:t>
            </a:r>
            <a:r>
              <a:rPr lang="en-US" sz="2400" dirty="0">
                <a:latin typeface="Arial Nova Cond Light" panose="020B0306020202020204" pitchFamily="34" charset="0"/>
              </a:rPr>
              <a:t> ang bata?     			</a:t>
            </a:r>
            <a:r>
              <a:rPr lang="en-US" sz="2400" dirty="0" err="1">
                <a:latin typeface="Arial Nova Cond Light" panose="020B0306020202020204" pitchFamily="34" charset="0"/>
              </a:rPr>
              <a:t>Tayong</a:t>
            </a:r>
            <a:r>
              <a:rPr lang="en-US" sz="2400" dirty="0">
                <a:latin typeface="Arial Nova Cond Light" panose="020B0306020202020204" pitchFamily="34" charset="0"/>
              </a:rPr>
              <a:t> </a:t>
            </a:r>
            <a:r>
              <a:rPr lang="en-US" sz="2400" dirty="0" err="1">
                <a:solidFill>
                  <a:srgbClr val="FF0000"/>
                </a:solidFill>
                <a:latin typeface="Arial Nova Cond Light" panose="020B0306020202020204" pitchFamily="34" charset="0"/>
              </a:rPr>
              <a:t>kanilang</a:t>
            </a:r>
            <a:r>
              <a:rPr lang="en-US" sz="2400" dirty="0">
                <a:solidFill>
                  <a:srgbClr val="FF0000"/>
                </a:solidFill>
                <a:latin typeface="Arial Nova Cond Light" panose="020B0306020202020204" pitchFamily="34" charset="0"/>
              </a:rPr>
              <a:t> </a:t>
            </a:r>
            <a:r>
              <a:rPr lang="en-US" sz="2400" dirty="0" err="1">
                <a:solidFill>
                  <a:srgbClr val="FF0000"/>
                </a:solidFill>
                <a:latin typeface="Arial Nova Cond Light" panose="020B0306020202020204" pitchFamily="34" charset="0"/>
              </a:rPr>
              <a:t>inapi</a:t>
            </a:r>
            <a:r>
              <a:rPr lang="en-US" sz="2400" dirty="0">
                <a:solidFill>
                  <a:srgbClr val="FF0000"/>
                </a:solidFill>
                <a:latin typeface="Arial Nova Cond Light" panose="020B0306020202020204" pitchFamily="34" charset="0"/>
              </a:rPr>
              <a:t> </a:t>
            </a:r>
            <a:r>
              <a:rPr lang="en-US" sz="2400" dirty="0">
                <a:latin typeface="Arial Nova Cond Light" panose="020B0306020202020204" pitchFamily="34" charset="0"/>
              </a:rPr>
              <a:t>ay </a:t>
            </a:r>
            <a:r>
              <a:rPr lang="en-US" sz="2400" dirty="0" err="1">
                <a:latin typeface="Arial Nova Cond Light" panose="020B0306020202020204" pitchFamily="34" charset="0"/>
              </a:rPr>
              <a:t>natuto</a:t>
            </a:r>
            <a:r>
              <a:rPr lang="en-US" sz="2400" dirty="0">
                <a:latin typeface="Arial Nova Cond Light" panose="020B0306020202020204" pitchFamily="34" charset="0"/>
              </a:rPr>
              <a:t>.</a:t>
            </a:r>
          </a:p>
          <a:p>
            <a:pPr marL="0" indent="0">
              <a:buNone/>
            </a:pPr>
            <a:r>
              <a:rPr lang="en-US" sz="2400" dirty="0">
                <a:latin typeface="Arial Nova Cond Light" panose="020B0306020202020204" pitchFamily="34" charset="0"/>
              </a:rPr>
              <a:t>By what name shall the child be called?	 	We, whom </a:t>
            </a:r>
            <a:r>
              <a:rPr lang="en-US" sz="2400" dirty="0">
                <a:solidFill>
                  <a:srgbClr val="FF0000"/>
                </a:solidFill>
                <a:latin typeface="Arial Nova Cond Light" panose="020B0306020202020204" pitchFamily="34" charset="0"/>
              </a:rPr>
              <a:t>they maltreated</a:t>
            </a:r>
            <a:r>
              <a:rPr lang="en-US" sz="2400" dirty="0">
                <a:latin typeface="Arial Nova Cond Light" panose="020B0306020202020204" pitchFamily="34" charset="0"/>
              </a:rPr>
              <a:t>, learned.</a:t>
            </a:r>
          </a:p>
          <a:p>
            <a:pPr marL="0" indent="0">
              <a:buNone/>
            </a:pPr>
            <a:endParaRPr lang="en-US" sz="2400" dirty="0">
              <a:latin typeface="Arial Nova Cond Light" panose="020B0306020202020204" pitchFamily="34" charset="0"/>
            </a:endParaRPr>
          </a:p>
          <a:p>
            <a:pPr marL="0" indent="0">
              <a:buNone/>
            </a:pPr>
            <a:r>
              <a:rPr lang="en-US" dirty="0">
                <a:latin typeface="Arial Nova Cond Light" panose="020B0306020202020204" pitchFamily="34" charset="0"/>
              </a:rPr>
              <a:t>The verb + pronoun (or pronoun + verb) sequence below is the exception to the list of rules as most combinations of this type do not need ligatures, such as:</a:t>
            </a:r>
          </a:p>
          <a:p>
            <a:pPr marL="0" indent="0">
              <a:buNone/>
            </a:pPr>
            <a:r>
              <a:rPr lang="en-US" dirty="0" err="1">
                <a:latin typeface="Arial Nova Cond Light" panose="020B0306020202020204" pitchFamily="34" charset="0"/>
              </a:rPr>
              <a:t>Liligaya</a:t>
            </a:r>
            <a:r>
              <a:rPr lang="en-US" dirty="0">
                <a:latin typeface="Arial Nova Cond Light" panose="020B0306020202020204" pitchFamily="34" charset="0"/>
              </a:rPr>
              <a:t> tayo.			We shall be happy.</a:t>
            </a:r>
          </a:p>
          <a:p>
            <a:pPr marL="0" indent="0">
              <a:buNone/>
            </a:pPr>
            <a:r>
              <a:rPr lang="en-US" dirty="0">
                <a:latin typeface="Arial Nova Cond Light" panose="020B0306020202020204" pitchFamily="34" charset="0"/>
              </a:rPr>
              <a:t>Kinuha ko </a:t>
            </a:r>
            <a:r>
              <a:rPr lang="en-US" dirty="0" err="1">
                <a:latin typeface="Arial Nova Cond Light" panose="020B0306020202020204" pitchFamily="34" charset="0"/>
              </a:rPr>
              <a:t>ito</a:t>
            </a:r>
            <a:r>
              <a:rPr lang="en-US" dirty="0">
                <a:latin typeface="Arial Nova Cond Light" panose="020B0306020202020204" pitchFamily="34" charset="0"/>
              </a:rPr>
              <a:t>.			I took this.</a:t>
            </a:r>
          </a:p>
          <a:p>
            <a:pPr marL="0" indent="0">
              <a:buNone/>
            </a:pPr>
            <a:endParaRPr lang="en-PH" sz="2800" dirty="0"/>
          </a:p>
        </p:txBody>
      </p:sp>
      <p:sp>
        <p:nvSpPr>
          <p:cNvPr id="13" name="TextBox 12">
            <a:extLst>
              <a:ext uri="{FF2B5EF4-FFF2-40B4-BE49-F238E27FC236}">
                <a16:creationId xmlns:a16="http://schemas.microsoft.com/office/drawing/2014/main" id="{D9B6C663-8D65-4C7D-3226-C468A6E895AD}"/>
              </a:ext>
            </a:extLst>
          </p:cNvPr>
          <p:cNvSpPr txBox="1"/>
          <p:nvPr/>
        </p:nvSpPr>
        <p:spPr>
          <a:xfrm>
            <a:off x="76201" y="1068489"/>
            <a:ext cx="12736570" cy="646331"/>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p:txBody>
      </p:sp>
    </p:spTree>
    <p:extLst>
      <p:ext uri="{BB962C8B-B14F-4D97-AF65-F5344CB8AC3E}">
        <p14:creationId xmlns:p14="http://schemas.microsoft.com/office/powerpoint/2010/main" val="400185371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84F5EB-5230-06B8-D756-9CAADD6F80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A47DEE-FE4A-1BA5-0316-216D5BC6504F}"/>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779967F9-6F27-F06E-6977-5FF6B61A7D20}"/>
              </a:ext>
            </a:extLst>
          </p:cNvPr>
          <p:cNvSpPr>
            <a:spLocks noGrp="1"/>
          </p:cNvSpPr>
          <p:nvPr>
            <p:ph idx="1"/>
          </p:nvPr>
        </p:nvSpPr>
        <p:spPr>
          <a:xfrm>
            <a:off x="0" y="1278142"/>
            <a:ext cx="12192000" cy="4052597"/>
          </a:xfrm>
        </p:spPr>
        <p:txBody>
          <a:bodyPr>
            <a:noAutofit/>
          </a:bodyPr>
          <a:lstStyle/>
          <a:p>
            <a:pPr marL="0" indent="0">
              <a:buNone/>
            </a:pPr>
            <a:r>
              <a:rPr lang="en-US" sz="2400" dirty="0">
                <a:latin typeface="Arial Nova Cond Light" panose="020B0306020202020204" pitchFamily="34" charset="0"/>
              </a:rPr>
              <a:t>14. Pronoun + pronoun</a:t>
            </a:r>
          </a:p>
          <a:p>
            <a:pPr marL="0" indent="0">
              <a:buNone/>
            </a:pPr>
            <a:r>
              <a:rPr lang="en-US" sz="2400" dirty="0">
                <a:latin typeface="Arial Nova Cond Light" panose="020B0306020202020204" pitchFamily="34" charset="0"/>
              </a:rPr>
              <a:t>Kinuha </a:t>
            </a:r>
            <a:r>
              <a:rPr lang="en-US" sz="2400" dirty="0" err="1">
                <a:latin typeface="Arial Nova Cond Light" panose="020B0306020202020204" pitchFamily="34" charset="0"/>
              </a:rPr>
              <a:t>ninyo</a:t>
            </a:r>
            <a:r>
              <a:rPr lang="en-US" sz="2400" dirty="0">
                <a:latin typeface="Arial Nova Cond Light" panose="020B0306020202020204" pitchFamily="34" charset="0"/>
              </a:rPr>
              <a:t> </a:t>
            </a:r>
            <a:r>
              <a:rPr lang="en-US" sz="2400" dirty="0" err="1">
                <a:latin typeface="Arial Nova Cond Light" panose="020B0306020202020204" pitchFamily="34" charset="0"/>
              </a:rPr>
              <a:t>yaon</a:t>
            </a:r>
            <a:r>
              <a:rPr lang="en-US" sz="2400" dirty="0" err="1">
                <a:solidFill>
                  <a:srgbClr val="FF0000"/>
                </a:solidFill>
                <a:latin typeface="Arial Nova Cond Light" panose="020B0306020202020204" pitchFamily="34" charset="0"/>
              </a:rPr>
              <a:t>g</a:t>
            </a:r>
            <a:r>
              <a:rPr lang="en-US" sz="2400" dirty="0">
                <a:latin typeface="Arial Nova Cond Light" panose="020B0306020202020204" pitchFamily="34" charset="0"/>
              </a:rPr>
              <a:t> amin.		You took that </a:t>
            </a:r>
            <a:r>
              <a:rPr lang="en-US" sz="2400" dirty="0">
                <a:solidFill>
                  <a:srgbClr val="FF0000"/>
                </a:solidFill>
                <a:latin typeface="Arial Nova Cond Light" panose="020B0306020202020204" pitchFamily="34" charset="0"/>
              </a:rPr>
              <a:t>which</a:t>
            </a:r>
            <a:r>
              <a:rPr lang="en-US" sz="2400" dirty="0">
                <a:latin typeface="Arial Nova Cond Light" panose="020B0306020202020204" pitchFamily="34" charset="0"/>
              </a:rPr>
              <a:t> is </a:t>
            </a:r>
            <a:r>
              <a:rPr lang="en-US" sz="2400" dirty="0">
                <a:solidFill>
                  <a:srgbClr val="FF0000"/>
                </a:solidFill>
                <a:latin typeface="Arial Nova Cond Light" panose="020B0306020202020204" pitchFamily="34" charset="0"/>
              </a:rPr>
              <a:t>ours</a:t>
            </a:r>
            <a:r>
              <a:rPr lang="en-US" sz="2400" dirty="0">
                <a:latin typeface="Arial Nova Cond Light" panose="020B0306020202020204" pitchFamily="34" charset="0"/>
              </a:rPr>
              <a:t>. </a:t>
            </a:r>
          </a:p>
          <a:p>
            <a:pPr marL="0" indent="0">
              <a:buNone/>
            </a:pPr>
            <a:r>
              <a:rPr lang="en-US" sz="2400" dirty="0" err="1">
                <a:latin typeface="Arial Nova Cond Light" panose="020B0306020202020204" pitchFamily="34" charset="0"/>
              </a:rPr>
              <a:t>Tayo</a:t>
            </a:r>
            <a:r>
              <a:rPr lang="en-US" sz="2400" dirty="0" err="1">
                <a:solidFill>
                  <a:srgbClr val="FF0000"/>
                </a:solidFill>
                <a:latin typeface="Arial Nova Cond Light" panose="020B0306020202020204" pitchFamily="34" charset="0"/>
              </a:rPr>
              <a:t>ng</a:t>
            </a:r>
            <a:r>
              <a:rPr lang="en-US" sz="2400" dirty="0">
                <a:latin typeface="Arial Nova Cond Light" panose="020B0306020202020204" pitchFamily="34" charset="0"/>
              </a:rPr>
              <a:t> </a:t>
            </a:r>
            <a:r>
              <a:rPr lang="en-US" sz="2400" dirty="0" err="1">
                <a:latin typeface="Arial Nova Cond Light" panose="020B0306020202020204" pitchFamily="34" charset="0"/>
              </a:rPr>
              <a:t>kanilang</a:t>
            </a:r>
            <a:r>
              <a:rPr lang="en-US" sz="2400" dirty="0">
                <a:latin typeface="Arial Nova Cond Light" panose="020B0306020202020204" pitchFamily="34" charset="0"/>
              </a:rPr>
              <a:t> </a:t>
            </a:r>
            <a:r>
              <a:rPr lang="en-US" sz="2400" dirty="0" err="1">
                <a:latin typeface="Arial Nova Cond Light" panose="020B0306020202020204" pitchFamily="34" charset="0"/>
              </a:rPr>
              <a:t>inapi</a:t>
            </a:r>
            <a:r>
              <a:rPr lang="en-US" sz="2400" dirty="0">
                <a:latin typeface="Arial Nova Cond Light" panose="020B0306020202020204" pitchFamily="34" charset="0"/>
              </a:rPr>
              <a:t> ay </a:t>
            </a:r>
            <a:r>
              <a:rPr lang="en-US" sz="2400" dirty="0" err="1">
                <a:latin typeface="Arial Nova Cond Light" panose="020B0306020202020204" pitchFamily="34" charset="0"/>
              </a:rPr>
              <a:t>natuto</a:t>
            </a:r>
            <a:r>
              <a:rPr lang="en-US" sz="2400" dirty="0">
                <a:latin typeface="Arial Nova Cond Light" panose="020B0306020202020204" pitchFamily="34" charset="0"/>
              </a:rPr>
              <a:t>.		 We, whom they maltreated, learned. </a:t>
            </a:r>
          </a:p>
          <a:p>
            <a:pPr marL="0" indent="0">
              <a:buNone/>
            </a:pPr>
            <a:r>
              <a:rPr lang="en-US" sz="2400" dirty="0">
                <a:latin typeface="Arial Nova Cond Light" panose="020B0306020202020204" pitchFamily="34" charset="0"/>
              </a:rPr>
              <a:t>					(</a:t>
            </a:r>
            <a:r>
              <a:rPr lang="en-US" sz="2400" dirty="0" err="1">
                <a:latin typeface="Arial Nova Cond Light" panose="020B0306020202020204" pitchFamily="34" charset="0"/>
              </a:rPr>
              <a:t>kanila</a:t>
            </a:r>
            <a:r>
              <a:rPr lang="en-US" sz="2400" dirty="0" err="1">
                <a:solidFill>
                  <a:srgbClr val="FF0000"/>
                </a:solidFill>
                <a:latin typeface="Arial Nova Cond Light" panose="020B0306020202020204" pitchFamily="34" charset="0"/>
              </a:rPr>
              <a:t>ng</a:t>
            </a:r>
            <a:r>
              <a:rPr lang="en-US" sz="2400" dirty="0">
                <a:latin typeface="Arial Nova Cond Light" panose="020B0306020202020204" pitchFamily="34" charset="0"/>
              </a:rPr>
              <a:t> </a:t>
            </a:r>
            <a:r>
              <a:rPr lang="en-US" sz="2400" dirty="0" err="1">
                <a:latin typeface="Arial Nova Cond Light" panose="020B0306020202020204" pitchFamily="34" charset="0"/>
              </a:rPr>
              <a:t>inapi</a:t>
            </a:r>
            <a:r>
              <a:rPr lang="en-US" sz="2400" dirty="0">
                <a:latin typeface="Arial Nova Cond Light" panose="020B0306020202020204" pitchFamily="34" charset="0"/>
              </a:rPr>
              <a:t> is also an example of a pronoun + verb sequence)</a:t>
            </a:r>
          </a:p>
          <a:p>
            <a:pPr marL="0" indent="0">
              <a:buNone/>
            </a:pPr>
            <a:endParaRPr lang="en-US" sz="2400" dirty="0">
              <a:latin typeface="Arial Nova Cond Light" panose="020B0306020202020204" pitchFamily="34" charset="0"/>
            </a:endParaRPr>
          </a:p>
          <a:p>
            <a:pPr marL="0" indent="0">
              <a:buNone/>
            </a:pPr>
            <a:r>
              <a:rPr lang="en-US" sz="2400" dirty="0">
                <a:latin typeface="Arial Nova Cond Light" panose="020B0306020202020204" pitchFamily="34" charset="0"/>
              </a:rPr>
              <a:t>Exceptions to the above sequence include chose in sentences in the </a:t>
            </a:r>
            <a:r>
              <a:rPr lang="en-US" sz="2400" dirty="0">
                <a:solidFill>
                  <a:srgbClr val="FF0000"/>
                </a:solidFill>
                <a:latin typeface="Arial Nova Cond Light" panose="020B0306020202020204" pitchFamily="34" charset="0"/>
              </a:rPr>
              <a:t>subjunctive mood </a:t>
            </a:r>
            <a:r>
              <a:rPr lang="en-US" sz="2400" dirty="0">
                <a:latin typeface="Arial Nova Cond Light" panose="020B0306020202020204" pitchFamily="34" charset="0"/>
              </a:rPr>
              <a:t>(see first sen­tence) as well as two successive pronouns that form a complete sentence by themselves.</a:t>
            </a:r>
          </a:p>
          <a:p>
            <a:pPr marL="0" indent="0">
              <a:buNone/>
            </a:pPr>
            <a:r>
              <a:rPr lang="en-US" sz="2400" dirty="0">
                <a:latin typeface="Arial Nova Cond Light" panose="020B0306020202020204" pitchFamily="34" charset="0"/>
              </a:rPr>
              <a:t>Kung </a:t>
            </a:r>
            <a:r>
              <a:rPr lang="en-US" sz="2400" dirty="0" err="1">
                <a:solidFill>
                  <a:srgbClr val="FF0000"/>
                </a:solidFill>
                <a:latin typeface="Arial Nova Cond Light" panose="020B0306020202020204" pitchFamily="34" charset="0"/>
              </a:rPr>
              <a:t>ako</a:t>
            </a:r>
            <a:r>
              <a:rPr lang="en-US" sz="2400" dirty="0">
                <a:solidFill>
                  <a:srgbClr val="FF0000"/>
                </a:solidFill>
                <a:latin typeface="Arial Nova Cond Light" panose="020B0306020202020204" pitchFamily="34" charset="0"/>
              </a:rPr>
              <a:t> </a:t>
            </a:r>
            <a:r>
              <a:rPr lang="en-US" sz="2400" dirty="0" err="1">
                <a:solidFill>
                  <a:srgbClr val="FF0000"/>
                </a:solidFill>
                <a:latin typeface="Arial Nova Cond Light" panose="020B0306020202020204" pitchFamily="34" charset="0"/>
              </a:rPr>
              <a:t>ikaw</a:t>
            </a:r>
            <a:r>
              <a:rPr lang="en-US" sz="2400" dirty="0">
                <a:latin typeface="Arial Nova Cond Light" panose="020B0306020202020204" pitchFamily="34" charset="0"/>
              </a:rPr>
              <a:t>, </a:t>
            </a:r>
            <a:r>
              <a:rPr lang="en-US" sz="2400" dirty="0" err="1">
                <a:latin typeface="Arial Nova Cond Light" panose="020B0306020202020204" pitchFamily="34" charset="0"/>
              </a:rPr>
              <a:t>aalis</a:t>
            </a:r>
            <a:r>
              <a:rPr lang="en-US" sz="2400" dirty="0">
                <a:latin typeface="Arial Nova Cond Light" panose="020B0306020202020204" pitchFamily="34" charset="0"/>
              </a:rPr>
              <a:t> </a:t>
            </a:r>
            <a:r>
              <a:rPr lang="en-US" sz="2400" dirty="0" err="1">
                <a:latin typeface="Arial Nova Cond Light" panose="020B0306020202020204" pitchFamily="34" charset="0"/>
              </a:rPr>
              <a:t>ako</a:t>
            </a:r>
            <a:r>
              <a:rPr lang="en-US" sz="2400" dirty="0">
                <a:latin typeface="Arial Nova Cond Light" panose="020B0306020202020204" pitchFamily="34" charset="0"/>
              </a:rPr>
              <a:t>.				If I were you, I will leave.</a:t>
            </a:r>
          </a:p>
          <a:p>
            <a:pPr marL="0" indent="0">
              <a:buNone/>
            </a:pPr>
            <a:r>
              <a:rPr lang="en-US" sz="2400" dirty="0">
                <a:latin typeface="Arial Nova Cond Light" panose="020B0306020202020204" pitchFamily="34" charset="0"/>
              </a:rPr>
              <a:t>Kaniya </a:t>
            </a:r>
            <a:r>
              <a:rPr lang="en-US" sz="2400" dirty="0" err="1">
                <a:latin typeface="Arial Nova Cond Light" panose="020B0306020202020204" pitchFamily="34" charset="0"/>
              </a:rPr>
              <a:t>lto</a:t>
            </a:r>
            <a:r>
              <a:rPr lang="en-US" sz="2400" dirty="0">
                <a:latin typeface="Arial Nova Cond Light" panose="020B0306020202020204" pitchFamily="34" charset="0"/>
              </a:rPr>
              <a:t>.						This is his/hers.</a:t>
            </a:r>
          </a:p>
          <a:p>
            <a:pPr marL="0" indent="0">
              <a:buNone/>
            </a:pPr>
            <a:endParaRPr lang="en-US" sz="2400" dirty="0">
              <a:latin typeface="Arial Nova Cond Light" panose="020B0306020202020204" pitchFamily="34" charset="0"/>
            </a:endParaRPr>
          </a:p>
          <a:p>
            <a:pPr marL="0" indent="0">
              <a:buNone/>
            </a:pPr>
            <a:endParaRPr lang="en-PH" sz="2400" dirty="0">
              <a:latin typeface="Arial Nova Cond Light" panose="020B0306020202020204" pitchFamily="34" charset="0"/>
            </a:endParaRPr>
          </a:p>
        </p:txBody>
      </p:sp>
      <p:sp>
        <p:nvSpPr>
          <p:cNvPr id="13" name="TextBox 12">
            <a:extLst>
              <a:ext uri="{FF2B5EF4-FFF2-40B4-BE49-F238E27FC236}">
                <a16:creationId xmlns:a16="http://schemas.microsoft.com/office/drawing/2014/main" id="{CB15DF97-087C-D61E-B16B-66A2077EF3B7}"/>
              </a:ext>
            </a:extLst>
          </p:cNvPr>
          <p:cNvSpPr txBox="1"/>
          <p:nvPr/>
        </p:nvSpPr>
        <p:spPr>
          <a:xfrm>
            <a:off x="232378" y="408681"/>
            <a:ext cx="12035822" cy="646331"/>
          </a:xfrm>
          <a:prstGeom prst="rect">
            <a:avLst/>
          </a:prstGeom>
          <a:noFill/>
        </p:spPr>
        <p:txBody>
          <a:bodyPr wrap="square">
            <a:spAutoFit/>
          </a:bodyPr>
          <a:lstStyle/>
          <a:p>
            <a:r>
              <a:rPr lang="en-US" sz="3600" dirty="0">
                <a:latin typeface="Arial Nova Cond Light" panose="020B0306020202020204" pitchFamily="34" charset="0"/>
              </a:rPr>
              <a:t>11. OTHER WORD SEQUENCES THAT NEED LIGATURES</a:t>
            </a:r>
            <a:endParaRPr lang="en-PH" sz="3600" dirty="0">
              <a:latin typeface="Arial Nova Cond Light" panose="020B0306020202020204" pitchFamily="34" charset="0"/>
            </a:endParaRPr>
          </a:p>
        </p:txBody>
      </p:sp>
    </p:spTree>
    <p:extLst>
      <p:ext uri="{BB962C8B-B14F-4D97-AF65-F5344CB8AC3E}">
        <p14:creationId xmlns:p14="http://schemas.microsoft.com/office/powerpoint/2010/main" val="31848857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B47964-C16B-1D38-0466-1662A9132B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CF288-3C29-7739-9729-7DF49713A23E}"/>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302CB995-5ABB-FE8D-D003-E2F0D7890820}"/>
              </a:ext>
            </a:extLst>
          </p:cNvPr>
          <p:cNvSpPr>
            <a:spLocks noGrp="1"/>
          </p:cNvSpPr>
          <p:nvPr>
            <p:ph idx="1"/>
          </p:nvPr>
        </p:nvSpPr>
        <p:spPr>
          <a:xfrm>
            <a:off x="-29634" y="265785"/>
            <a:ext cx="12251267" cy="5804815"/>
          </a:xfrm>
        </p:spPr>
        <p:txBody>
          <a:bodyPr>
            <a:noAutofit/>
          </a:bodyPr>
          <a:lstStyle/>
          <a:p>
            <a:pPr marL="0" indent="0">
              <a:buNone/>
            </a:pPr>
            <a:r>
              <a:rPr lang="en-US" sz="1800" dirty="0">
                <a:latin typeface="Arial Nova Cond Light" panose="020B0306020202020204" pitchFamily="34" charset="0"/>
              </a:rPr>
              <a:t>Observe that, generally, the exceptions in the last four sequences contain either a possessive per­sonal pronoun that comes after a noun such as ko, </a:t>
            </a:r>
            <a:r>
              <a:rPr lang="en-US" sz="1800" dirty="0" err="1">
                <a:latin typeface="Arial Nova Cond Light" panose="020B0306020202020204" pitchFamily="34" charset="0"/>
              </a:rPr>
              <a:t>mo</a:t>
            </a:r>
            <a:r>
              <a:rPr lang="en-US" sz="1800" dirty="0">
                <a:latin typeface="Arial Nova Cond Light" panose="020B0306020202020204" pitchFamily="34" charset="0"/>
              </a:rPr>
              <a:t>, </a:t>
            </a:r>
            <a:r>
              <a:rPr lang="en-US" sz="1800" dirty="0" err="1">
                <a:latin typeface="Arial Nova Cond Light" panose="020B0306020202020204" pitchFamily="34" charset="0"/>
              </a:rPr>
              <a:t>niya</a:t>
            </a:r>
            <a:r>
              <a:rPr lang="en-US" sz="1800" dirty="0">
                <a:latin typeface="Arial Nova Cond Light" panose="020B0306020202020204" pitchFamily="34" charset="0"/>
              </a:rPr>
              <a:t>, </a:t>
            </a:r>
            <a:r>
              <a:rPr lang="en-US" sz="1800" dirty="0" err="1">
                <a:latin typeface="Arial Nova Cond Light" panose="020B0306020202020204" pitchFamily="34" charset="0"/>
              </a:rPr>
              <a:t>namin</a:t>
            </a:r>
            <a:r>
              <a:rPr lang="en-US" sz="1800" dirty="0">
                <a:latin typeface="Arial Nova Cond Light" panose="020B0306020202020204" pitchFamily="34" charset="0"/>
              </a:rPr>
              <a:t>, natin, </a:t>
            </a:r>
            <a:r>
              <a:rPr lang="en-US" sz="1800" dirty="0" err="1">
                <a:latin typeface="Arial Nova Cond Light" panose="020B0306020202020204" pitchFamily="34" charset="0"/>
              </a:rPr>
              <a:t>ninyo</a:t>
            </a:r>
            <a:r>
              <a:rPr lang="en-US" sz="1800" dirty="0">
                <a:latin typeface="Arial Nova Cond Light" panose="020B0306020202020204" pitchFamily="34" charset="0"/>
              </a:rPr>
              <a:t> </a:t>
            </a:r>
            <a:r>
              <a:rPr lang="en-US" sz="1800" dirty="0" err="1">
                <a:latin typeface="Arial Nova Cond Light" panose="020B0306020202020204" pitchFamily="34" charset="0"/>
              </a:rPr>
              <a:t>nila</a:t>
            </a:r>
            <a:r>
              <a:rPr lang="en-US" sz="1800" dirty="0">
                <a:latin typeface="Arial Nova Cond Light" panose="020B0306020202020204" pitchFamily="34" charset="0"/>
              </a:rPr>
              <a:t> or a nomi­native personal pronoun that changes form when used in an inverted word order sentence such as ka, kayo, kami, tayo, </a:t>
            </a:r>
            <a:r>
              <a:rPr lang="en-US" sz="1800" dirty="0" err="1">
                <a:latin typeface="Arial Nova Cond Light" panose="020B0306020202020204" pitchFamily="34" charset="0"/>
              </a:rPr>
              <a:t>siya</a:t>
            </a:r>
            <a:r>
              <a:rPr lang="en-US" sz="1800" dirty="0">
                <a:latin typeface="Arial Nova Cond Light" panose="020B0306020202020204" pitchFamily="34" charset="0"/>
              </a:rPr>
              <a:t>, and </a:t>
            </a:r>
            <a:r>
              <a:rPr lang="en-US" sz="1800" dirty="0" err="1">
                <a:latin typeface="Arial Nova Cond Light" panose="020B0306020202020204" pitchFamily="34" charset="0"/>
              </a:rPr>
              <a:t>sila</a:t>
            </a:r>
            <a:r>
              <a:rPr lang="en-US" sz="1800" dirty="0">
                <a:latin typeface="Arial Nova Cond Light" panose="020B0306020202020204" pitchFamily="34" charset="0"/>
              </a:rPr>
              <a:t>. </a:t>
            </a:r>
          </a:p>
          <a:p>
            <a:pPr marL="0" indent="0">
              <a:buNone/>
            </a:pPr>
            <a:r>
              <a:rPr lang="en-US" sz="1800" dirty="0">
                <a:latin typeface="Arial Nova Cond Light" panose="020B0306020202020204" pitchFamily="34" charset="0"/>
              </a:rPr>
              <a:t>Some sequences not mentioned above also do not need a ligature and these will be pointed out later.</a:t>
            </a:r>
          </a:p>
          <a:p>
            <a:pPr marL="0" indent="0">
              <a:buNone/>
            </a:pPr>
            <a:r>
              <a:rPr lang="en-US" sz="1800" dirty="0">
                <a:latin typeface="Arial Nova Cond Light" panose="020B0306020202020204" pitchFamily="34" charset="0"/>
              </a:rPr>
              <a:t>Also note that changing the sequence of nouns, adjectives, verbs and adverbs does not change the meaning of the phrases or the position of the ligatures, which still come after the first word. And the resulting sequences still follow the rules for using the ligatures -ng, -g, and </a:t>
            </a:r>
            <a:r>
              <a:rPr lang="en-US" sz="1800" dirty="0" err="1">
                <a:latin typeface="Arial Nova Cond Light" panose="020B0306020202020204" pitchFamily="34" charset="0"/>
              </a:rPr>
              <a:t>na.</a:t>
            </a:r>
            <a:endParaRPr lang="en-US" sz="1800" dirty="0">
              <a:latin typeface="Arial Nova Cond Light" panose="020B0306020202020204" pitchFamily="34" charset="0"/>
            </a:endParaRPr>
          </a:p>
          <a:p>
            <a:pPr marL="0" indent="0">
              <a:buNone/>
            </a:pPr>
            <a:r>
              <a:rPr lang="en-US" sz="1800" dirty="0" err="1">
                <a:latin typeface="Arial Nova Cond Light" panose="020B0306020202020204" pitchFamily="34" charset="0"/>
              </a:rPr>
              <a:t>bata</a:t>
            </a:r>
            <a:r>
              <a:rPr lang="en-US" sz="1800" dirty="0" err="1">
                <a:solidFill>
                  <a:srgbClr val="FF0000"/>
                </a:solidFill>
                <a:latin typeface="Arial Nova Cond Light" panose="020B0306020202020204" pitchFamily="34" charset="0"/>
              </a:rPr>
              <a:t>ng</a:t>
            </a:r>
            <a:r>
              <a:rPr lang="en-US" sz="1800" dirty="0">
                <a:latin typeface="Arial Nova Cond Light" panose="020B0306020202020204" pitchFamily="34" charset="0"/>
              </a:rPr>
              <a:t> </a:t>
            </a:r>
            <a:r>
              <a:rPr lang="en-US" sz="1800" dirty="0" err="1">
                <a:latin typeface="Arial Nova Cond Light" panose="020B0306020202020204" pitchFamily="34" charset="0"/>
              </a:rPr>
              <a:t>babae</a:t>
            </a:r>
            <a:r>
              <a:rPr lang="en-US" sz="1800" dirty="0">
                <a:latin typeface="Arial Nova Cond Light" panose="020B0306020202020204" pitchFamily="34" charset="0"/>
              </a:rPr>
              <a:t> or </a:t>
            </a:r>
            <a:r>
              <a:rPr lang="en-US" sz="1800" dirty="0" err="1">
                <a:latin typeface="Arial Nova Cond Light" panose="020B0306020202020204" pitchFamily="34" charset="0"/>
              </a:rPr>
              <a:t>babae</a:t>
            </a:r>
            <a:r>
              <a:rPr lang="en-US" sz="1800" dirty="0" err="1">
                <a:solidFill>
                  <a:srgbClr val="FF0000"/>
                </a:solidFill>
                <a:latin typeface="Arial Nova Cond Light" panose="020B0306020202020204" pitchFamily="34" charset="0"/>
              </a:rPr>
              <a:t>n</a:t>
            </a:r>
            <a:r>
              <a:rPr lang="en-US" sz="1800" dirty="0" err="1">
                <a:latin typeface="Arial Nova Cond Light" panose="020B0306020202020204" pitchFamily="34" charset="0"/>
              </a:rPr>
              <a:t>g</a:t>
            </a:r>
            <a:r>
              <a:rPr lang="en-US" sz="1800" dirty="0">
                <a:latin typeface="Arial Nova Cond Light" panose="020B0306020202020204" pitchFamily="34" charset="0"/>
              </a:rPr>
              <a:t> bata 			 young girl 		</a:t>
            </a:r>
            <a:r>
              <a:rPr lang="en-US" sz="1800" dirty="0" err="1">
                <a:latin typeface="Arial Nova Cond Light" panose="020B0306020202020204" pitchFamily="34" charset="0"/>
              </a:rPr>
              <a:t>mataba</a:t>
            </a:r>
            <a:r>
              <a:rPr lang="en-US" sz="1800" dirty="0" err="1">
                <a:solidFill>
                  <a:srgbClr val="FF0000"/>
                </a:solidFill>
                <a:latin typeface="Arial Nova Cond Light" panose="020B0306020202020204" pitchFamily="34" charset="0"/>
              </a:rPr>
              <a:t>ng</a:t>
            </a:r>
            <a:r>
              <a:rPr lang="en-US" sz="1800" dirty="0">
                <a:latin typeface="Arial Nova Cond Light" panose="020B0306020202020204" pitchFamily="34" charset="0"/>
              </a:rPr>
              <a:t> </a:t>
            </a:r>
            <a:r>
              <a:rPr lang="en-US" sz="1800" dirty="0" err="1">
                <a:latin typeface="Arial Nova Cond Light" panose="020B0306020202020204" pitchFamily="34" charset="0"/>
              </a:rPr>
              <a:t>lalaki</a:t>
            </a:r>
            <a:r>
              <a:rPr lang="en-US" sz="1800" dirty="0">
                <a:latin typeface="Arial Nova Cond Light" panose="020B0306020202020204" pitchFamily="34" charset="0"/>
              </a:rPr>
              <a:t> or </a:t>
            </a:r>
            <a:r>
              <a:rPr lang="en-US" sz="1800" dirty="0" err="1">
                <a:latin typeface="Arial Nova Cond Light" panose="020B0306020202020204" pitchFamily="34" charset="0"/>
              </a:rPr>
              <a:t>lalaki</a:t>
            </a:r>
            <a:r>
              <a:rPr lang="en-US" sz="1800" dirty="0" err="1">
                <a:solidFill>
                  <a:srgbClr val="FF0000"/>
                </a:solidFill>
                <a:latin typeface="Arial Nova Cond Light" panose="020B0306020202020204" pitchFamily="34" charset="0"/>
              </a:rPr>
              <a:t>ng</a:t>
            </a:r>
            <a:r>
              <a:rPr lang="en-US" sz="1800" dirty="0">
                <a:latin typeface="Arial Nova Cond Light" panose="020B0306020202020204" pitchFamily="34" charset="0"/>
              </a:rPr>
              <a:t> </a:t>
            </a:r>
            <a:r>
              <a:rPr lang="en-US" sz="1800" dirty="0" err="1">
                <a:latin typeface="Arial Nova Cond Light" panose="020B0306020202020204" pitchFamily="34" charset="0"/>
              </a:rPr>
              <a:t>mataba</a:t>
            </a:r>
            <a:r>
              <a:rPr lang="en-US" sz="1800" dirty="0">
                <a:latin typeface="Arial Nova Cond Light" panose="020B0306020202020204" pitchFamily="34" charset="0"/>
              </a:rPr>
              <a:t> 	fat man </a:t>
            </a:r>
          </a:p>
          <a:p>
            <a:pPr marL="0" indent="0">
              <a:buNone/>
            </a:pPr>
            <a:r>
              <a:rPr lang="en-US" sz="1800" dirty="0" err="1">
                <a:latin typeface="Arial Nova Cond Light" panose="020B0306020202020204" pitchFamily="34" charset="0"/>
              </a:rPr>
              <a:t>ibon</a:t>
            </a:r>
            <a:r>
              <a:rPr lang="en-US" sz="1800" dirty="0" err="1">
                <a:solidFill>
                  <a:srgbClr val="FF0000"/>
                </a:solidFill>
                <a:latin typeface="Arial Nova Cond Light" panose="020B0306020202020204" pitchFamily="34" charset="0"/>
              </a:rPr>
              <a:t>g</a:t>
            </a:r>
            <a:r>
              <a:rPr lang="en-US" sz="1800" dirty="0">
                <a:latin typeface="Arial Nova Cond Light" panose="020B0306020202020204" pitchFamily="34" charset="0"/>
              </a:rPr>
              <a:t> </a:t>
            </a:r>
            <a:r>
              <a:rPr lang="en-US" sz="1800" dirty="0" err="1">
                <a:latin typeface="Arial Nova Cond Light" panose="020B0306020202020204" pitchFamily="34" charset="0"/>
              </a:rPr>
              <a:t>lumilipad</a:t>
            </a:r>
            <a:r>
              <a:rPr lang="en-US" sz="1800" dirty="0">
                <a:latin typeface="Arial Nova Cond Light" panose="020B0306020202020204" pitchFamily="34" charset="0"/>
              </a:rPr>
              <a:t> or </a:t>
            </a:r>
            <a:r>
              <a:rPr lang="en-US" sz="1800" dirty="0" err="1">
                <a:latin typeface="Arial Nova Cond Light" panose="020B0306020202020204" pitchFamily="34" charset="0"/>
              </a:rPr>
              <a:t>lumilipad</a:t>
            </a:r>
            <a:r>
              <a:rPr lang="en-US" sz="1800" dirty="0">
                <a:latin typeface="Arial Nova Cond Light" panose="020B0306020202020204" pitchFamily="34" charset="0"/>
              </a:rPr>
              <a:t> </a:t>
            </a:r>
            <a:r>
              <a:rPr lang="en-US" sz="1800" dirty="0" err="1">
                <a:solidFill>
                  <a:srgbClr val="FF0000"/>
                </a:solidFill>
                <a:latin typeface="Arial Nova Cond Light" panose="020B0306020202020204" pitchFamily="34" charset="0"/>
              </a:rPr>
              <a:t>na</a:t>
            </a:r>
            <a:r>
              <a:rPr lang="en-US" sz="1800" dirty="0">
                <a:solidFill>
                  <a:srgbClr val="FF0000"/>
                </a:solidFill>
                <a:latin typeface="Arial Nova Cond Light" panose="020B0306020202020204" pitchFamily="34" charset="0"/>
              </a:rPr>
              <a:t> </a:t>
            </a:r>
            <a:r>
              <a:rPr lang="en-US" sz="1800" dirty="0" err="1">
                <a:latin typeface="Arial Nova Cond Light" panose="020B0306020202020204" pitchFamily="34" charset="0"/>
              </a:rPr>
              <a:t>ibon</a:t>
            </a:r>
            <a:r>
              <a:rPr lang="en-US" sz="1800" dirty="0">
                <a:latin typeface="Arial Nova Cond Light" panose="020B0306020202020204" pitchFamily="34" charset="0"/>
              </a:rPr>
              <a:t>		 flying bird </a:t>
            </a:r>
          </a:p>
          <a:p>
            <a:pPr marL="0" indent="0">
              <a:buNone/>
            </a:pPr>
            <a:r>
              <a:rPr lang="en-US" sz="1800" dirty="0">
                <a:latin typeface="Arial Nova Cond Light" panose="020B0306020202020204" pitchFamily="34" charset="0"/>
              </a:rPr>
              <a:t>pagod </a:t>
            </a:r>
            <a:r>
              <a:rPr lang="en-US" sz="1800" dirty="0" err="1">
                <a:solidFill>
                  <a:srgbClr val="FF0000"/>
                </a:solidFill>
                <a:latin typeface="Arial Nova Cond Light" panose="020B0306020202020204" pitchFamily="34" charset="0"/>
              </a:rPr>
              <a:t>na</a:t>
            </a:r>
            <a:r>
              <a:rPr lang="en-US" sz="1800" dirty="0">
                <a:latin typeface="Arial Nova Cond Light" panose="020B0306020202020204" pitchFamily="34" charset="0"/>
              </a:rPr>
              <a:t> </a:t>
            </a:r>
            <a:r>
              <a:rPr lang="en-US" sz="1800" dirty="0" err="1">
                <a:latin typeface="Arial Nova Cond Light" panose="020B0306020202020204" pitchFamily="34" charset="0"/>
              </a:rPr>
              <a:t>dumating</a:t>
            </a:r>
            <a:r>
              <a:rPr lang="en-US" sz="1800" dirty="0">
                <a:latin typeface="Arial Nova Cond Light" panose="020B0306020202020204" pitchFamily="34" charset="0"/>
              </a:rPr>
              <a:t> or </a:t>
            </a:r>
            <a:r>
              <a:rPr lang="en-US" sz="1800" dirty="0" err="1">
                <a:latin typeface="Arial Nova Cond Light" panose="020B0306020202020204" pitchFamily="34" charset="0"/>
              </a:rPr>
              <a:t>dumating</a:t>
            </a:r>
            <a:r>
              <a:rPr lang="en-US" sz="1800" dirty="0">
                <a:latin typeface="Arial Nova Cond Light" panose="020B0306020202020204" pitchFamily="34" charset="0"/>
              </a:rPr>
              <a:t> </a:t>
            </a:r>
            <a:r>
              <a:rPr lang="en-US" sz="1800" dirty="0" err="1">
                <a:solidFill>
                  <a:srgbClr val="FF0000"/>
                </a:solidFill>
                <a:latin typeface="Arial Nova Cond Light" panose="020B0306020202020204" pitchFamily="34" charset="0"/>
              </a:rPr>
              <a:t>na</a:t>
            </a:r>
            <a:r>
              <a:rPr lang="en-US" sz="1800" dirty="0">
                <a:solidFill>
                  <a:srgbClr val="FF0000"/>
                </a:solidFill>
                <a:latin typeface="Arial Nova Cond Light" panose="020B0306020202020204" pitchFamily="34" charset="0"/>
              </a:rPr>
              <a:t> </a:t>
            </a:r>
            <a:r>
              <a:rPr lang="en-US" sz="1800" dirty="0">
                <a:latin typeface="Arial Nova Cond Light" panose="020B0306020202020204" pitchFamily="34" charset="0"/>
              </a:rPr>
              <a:t>pagod	 	arrived tired </a:t>
            </a:r>
          </a:p>
          <a:p>
            <a:pPr marL="0" indent="0">
              <a:buNone/>
            </a:pPr>
            <a:r>
              <a:rPr lang="en-US" sz="1800" dirty="0" err="1">
                <a:latin typeface="Arial Nova Cond Light" panose="020B0306020202020204" pitchFamily="34" charset="0"/>
              </a:rPr>
              <a:t>kumain</a:t>
            </a:r>
            <a:r>
              <a:rPr lang="en-US" sz="1800" dirty="0" err="1">
                <a:solidFill>
                  <a:srgbClr val="FF0000"/>
                </a:solidFill>
                <a:latin typeface="Arial Nova Cond Light" panose="020B0306020202020204" pitchFamily="34" charset="0"/>
              </a:rPr>
              <a:t>g</a:t>
            </a:r>
            <a:r>
              <a:rPr lang="en-US" sz="1800" dirty="0">
                <a:latin typeface="Arial Nova Cond Light" panose="020B0306020202020204" pitchFamily="34" charset="0"/>
              </a:rPr>
              <a:t> </a:t>
            </a:r>
            <a:r>
              <a:rPr lang="en-US" sz="1800" dirty="0" err="1">
                <a:latin typeface="Arial Nova Cond Light" panose="020B0306020202020204" pitchFamily="34" charset="0"/>
              </a:rPr>
              <a:t>mabilis</a:t>
            </a:r>
            <a:r>
              <a:rPr lang="en-US" sz="1800" dirty="0">
                <a:latin typeface="Arial Nova Cond Light" panose="020B0306020202020204" pitchFamily="34" charset="0"/>
              </a:rPr>
              <a:t> or </a:t>
            </a:r>
            <a:r>
              <a:rPr lang="en-US" sz="1800" dirty="0" err="1">
                <a:latin typeface="Arial Nova Cond Light" panose="020B0306020202020204" pitchFamily="34" charset="0"/>
              </a:rPr>
              <a:t>mabilis</a:t>
            </a:r>
            <a:r>
              <a:rPr lang="en-US" sz="1800" dirty="0">
                <a:latin typeface="Arial Nova Cond Light" panose="020B0306020202020204" pitchFamily="34" charset="0"/>
              </a:rPr>
              <a:t> </a:t>
            </a:r>
            <a:r>
              <a:rPr lang="en-US" sz="1800" dirty="0" err="1">
                <a:solidFill>
                  <a:srgbClr val="FF0000"/>
                </a:solidFill>
                <a:latin typeface="Arial Nova Cond Light" panose="020B0306020202020204" pitchFamily="34" charset="0"/>
              </a:rPr>
              <a:t>na</a:t>
            </a:r>
            <a:r>
              <a:rPr lang="en-US" sz="1800" dirty="0">
                <a:solidFill>
                  <a:srgbClr val="FF0000"/>
                </a:solidFill>
                <a:latin typeface="Arial Nova Cond Light" panose="020B0306020202020204" pitchFamily="34" charset="0"/>
              </a:rPr>
              <a:t> </a:t>
            </a:r>
            <a:r>
              <a:rPr lang="en-US" sz="1800" dirty="0" err="1">
                <a:latin typeface="Arial Nova Cond Light" panose="020B0306020202020204" pitchFamily="34" charset="0"/>
              </a:rPr>
              <a:t>kumain</a:t>
            </a:r>
            <a:r>
              <a:rPr lang="en-US" sz="1800" dirty="0">
                <a:latin typeface="Arial Nova Cond Light" panose="020B0306020202020204" pitchFamily="34" charset="0"/>
              </a:rPr>
              <a:t>		 ate quickly </a:t>
            </a:r>
          </a:p>
          <a:p>
            <a:pPr marL="0" indent="0">
              <a:buNone/>
            </a:pPr>
            <a:r>
              <a:rPr lang="en-US" sz="1800" dirty="0" err="1">
                <a:latin typeface="Arial Nova Cond Light" panose="020B0306020202020204" pitchFamily="34" charset="0"/>
              </a:rPr>
              <a:t>matagal</a:t>
            </a:r>
            <a:r>
              <a:rPr lang="en-US" sz="1800" dirty="0">
                <a:latin typeface="Arial Nova Cond Light" panose="020B0306020202020204" pitchFamily="34" charset="0"/>
              </a:rPr>
              <a:t> </a:t>
            </a:r>
            <a:r>
              <a:rPr lang="en-US" sz="1800" dirty="0" err="1">
                <a:latin typeface="Arial Nova Cond Light" panose="020B0306020202020204" pitchFamily="34" charset="0"/>
              </a:rPr>
              <a:t>na</a:t>
            </a:r>
            <a:r>
              <a:rPr lang="en-US" sz="1800" dirty="0">
                <a:latin typeface="Arial Nova Cond Light" panose="020B0306020202020204" pitchFamily="34" charset="0"/>
              </a:rPr>
              <a:t> </a:t>
            </a:r>
            <a:r>
              <a:rPr lang="en-US" sz="1800" dirty="0" err="1">
                <a:latin typeface="Arial Nova Cond Light" panose="020B0306020202020204" pitchFamily="34" charset="0"/>
              </a:rPr>
              <a:t>pag-aaway</a:t>
            </a:r>
            <a:r>
              <a:rPr lang="en-US" sz="1800" dirty="0">
                <a:latin typeface="Arial Nova Cond Light" panose="020B0306020202020204" pitchFamily="34" charset="0"/>
              </a:rPr>
              <a:t> or </a:t>
            </a:r>
            <a:r>
              <a:rPr lang="en-US" sz="1800" dirty="0" err="1">
                <a:latin typeface="Arial Nova Cond Light" panose="020B0306020202020204" pitchFamily="34" charset="0"/>
              </a:rPr>
              <a:t>pag-aaway</a:t>
            </a:r>
            <a:r>
              <a:rPr lang="en-US" sz="1800" dirty="0">
                <a:latin typeface="Arial Nova Cond Light" panose="020B0306020202020204" pitchFamily="34" charset="0"/>
              </a:rPr>
              <a:t> </a:t>
            </a:r>
            <a:r>
              <a:rPr lang="en-US" sz="1800" dirty="0" err="1">
                <a:solidFill>
                  <a:srgbClr val="FF0000"/>
                </a:solidFill>
                <a:latin typeface="Arial Nova Cond Light" panose="020B0306020202020204" pitchFamily="34" charset="0"/>
              </a:rPr>
              <a:t>na</a:t>
            </a:r>
            <a:r>
              <a:rPr lang="en-US" sz="1800" dirty="0">
                <a:latin typeface="Arial Nova Cond Light" panose="020B0306020202020204" pitchFamily="34" charset="0"/>
              </a:rPr>
              <a:t> </a:t>
            </a:r>
            <a:r>
              <a:rPr lang="en-US" sz="1800" dirty="0" err="1">
                <a:latin typeface="Arial Nova Cond Light" panose="020B0306020202020204" pitchFamily="34" charset="0"/>
              </a:rPr>
              <a:t>matagal</a:t>
            </a:r>
            <a:r>
              <a:rPr lang="en-US" sz="1800" dirty="0">
                <a:latin typeface="Arial Nova Cond Light" panose="020B0306020202020204" pitchFamily="34" charset="0"/>
              </a:rPr>
              <a:t> 	long feud</a:t>
            </a:r>
          </a:p>
          <a:p>
            <a:pPr marL="0" indent="0">
              <a:buNone/>
            </a:pPr>
            <a:r>
              <a:rPr lang="en-US" sz="1800" dirty="0">
                <a:latin typeface="Arial Nova Cond Light" panose="020B0306020202020204" pitchFamily="34" charset="0"/>
              </a:rPr>
              <a:t>mahal </a:t>
            </a:r>
            <a:r>
              <a:rPr lang="en-US" sz="1800" dirty="0" err="1">
                <a:solidFill>
                  <a:srgbClr val="FF0000"/>
                </a:solidFill>
                <a:latin typeface="Arial Nova Cond Light" panose="020B0306020202020204" pitchFamily="34" charset="0"/>
              </a:rPr>
              <a:t>na</a:t>
            </a:r>
            <a:r>
              <a:rPr lang="en-US" sz="1800" dirty="0">
                <a:latin typeface="Arial Nova Cond Light" panose="020B0306020202020204" pitchFamily="34" charset="0"/>
              </a:rPr>
              <a:t> </a:t>
            </a:r>
            <a:r>
              <a:rPr lang="en-US" sz="1800" dirty="0" err="1">
                <a:latin typeface="Arial Nova Cond Light" panose="020B0306020202020204" pitchFamily="34" charset="0"/>
              </a:rPr>
              <a:t>totoo</a:t>
            </a:r>
            <a:r>
              <a:rPr lang="en-US" sz="1800" dirty="0">
                <a:latin typeface="Arial Nova Cond Light" panose="020B0306020202020204" pitchFamily="34" charset="0"/>
              </a:rPr>
              <a:t> or </a:t>
            </a:r>
            <a:r>
              <a:rPr lang="en-US" sz="1800" dirty="0" err="1">
                <a:latin typeface="Arial Nova Cond Light" panose="020B0306020202020204" pitchFamily="34" charset="0"/>
              </a:rPr>
              <a:t>totoo</a:t>
            </a:r>
            <a:r>
              <a:rPr lang="en-US" sz="1800" dirty="0" err="1">
                <a:solidFill>
                  <a:srgbClr val="FF0000"/>
                </a:solidFill>
                <a:latin typeface="Arial Nova Cond Light" panose="020B0306020202020204" pitchFamily="34" charset="0"/>
              </a:rPr>
              <a:t>ng</a:t>
            </a:r>
            <a:r>
              <a:rPr lang="en-US" sz="1800" dirty="0">
                <a:latin typeface="Arial Nova Cond Light" panose="020B0306020202020204" pitchFamily="34" charset="0"/>
              </a:rPr>
              <a:t> mahal			truly expensive</a:t>
            </a:r>
          </a:p>
          <a:p>
            <a:pPr marL="0" indent="0">
              <a:buNone/>
            </a:pPr>
            <a:endParaRPr lang="en-US" sz="1800" dirty="0">
              <a:latin typeface="Arial Nova Cond Light" panose="020B0306020202020204" pitchFamily="34" charset="0"/>
            </a:endParaRPr>
          </a:p>
          <a:p>
            <a:pPr marL="0" indent="0">
              <a:buNone/>
            </a:pPr>
            <a:r>
              <a:rPr lang="en-US" sz="1200" dirty="0">
                <a:latin typeface="Arial Nova Cond Light" panose="020B0306020202020204" pitchFamily="34" charset="0"/>
              </a:rPr>
              <a:t> </a:t>
            </a:r>
          </a:p>
          <a:p>
            <a:pPr marL="0" indent="0">
              <a:buNone/>
            </a:pPr>
            <a:endParaRPr lang="en-PH" sz="1200" dirty="0">
              <a:latin typeface="Arial Nova Cond Light" panose="020B0306020202020204" pitchFamily="34" charset="0"/>
            </a:endParaRPr>
          </a:p>
        </p:txBody>
      </p:sp>
    </p:spTree>
    <p:extLst>
      <p:ext uri="{BB962C8B-B14F-4D97-AF65-F5344CB8AC3E}">
        <p14:creationId xmlns:p14="http://schemas.microsoft.com/office/powerpoint/2010/main" val="37056233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05E9D3-5102-6F9F-DE1A-C5FB00ADC28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A9A912-62C3-F72C-C99B-9B57DEDF71F2}"/>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C7A0F90D-CBF3-8967-1828-EBC4A415C51B}"/>
              </a:ext>
            </a:extLst>
          </p:cNvPr>
          <p:cNvSpPr>
            <a:spLocks noGrp="1"/>
          </p:cNvSpPr>
          <p:nvPr>
            <p:ph idx="1"/>
          </p:nvPr>
        </p:nvSpPr>
        <p:spPr>
          <a:xfrm>
            <a:off x="1" y="136359"/>
            <a:ext cx="12192000" cy="4296470"/>
          </a:xfrm>
        </p:spPr>
        <p:txBody>
          <a:bodyPr>
            <a:noAutofit/>
          </a:bodyPr>
          <a:lstStyle/>
          <a:p>
            <a:pPr marL="0" indent="0">
              <a:buNone/>
            </a:pPr>
            <a:r>
              <a:rPr lang="en-PH" sz="1800" b="1" dirty="0">
                <a:latin typeface="Arial Nova Cond Light" panose="020B0306020202020204" pitchFamily="34" charset="0"/>
              </a:rPr>
              <a:t>Below are more examples of subjects and modifiers:</a:t>
            </a:r>
          </a:p>
          <a:p>
            <a:pPr marL="0" indent="0">
              <a:buNone/>
            </a:pPr>
            <a:r>
              <a:rPr lang="en-PH" sz="1800" b="1" dirty="0">
                <a:latin typeface="Arial Nova Cond Light" panose="020B0306020202020204" pitchFamily="34" charset="0"/>
              </a:rPr>
              <a:t>NOUNS					MODIFIERS</a:t>
            </a:r>
          </a:p>
          <a:p>
            <a:pPr marL="0" indent="0">
              <a:buNone/>
            </a:pPr>
            <a:r>
              <a:rPr lang="en-PH" sz="1800" dirty="0" err="1">
                <a:latin typeface="Arial Nova Cond Light" panose="020B0306020202020204" pitchFamily="34" charset="0"/>
              </a:rPr>
              <a:t>binata</a:t>
            </a:r>
            <a:r>
              <a:rPr lang="en-PH" sz="1800" dirty="0">
                <a:latin typeface="Arial Nova Cond Light" panose="020B0306020202020204" pitchFamily="34" charset="0"/>
              </a:rPr>
              <a:t>	 bachelor	 			</a:t>
            </a:r>
            <a:r>
              <a:rPr lang="en-PH" sz="1800" dirty="0" err="1">
                <a:latin typeface="Arial Nova Cond Light" panose="020B0306020202020204" pitchFamily="34" charset="0"/>
              </a:rPr>
              <a:t>marami</a:t>
            </a:r>
            <a:r>
              <a:rPr lang="en-PH" sz="1800" dirty="0">
                <a:latin typeface="Arial Nova Cond Light" panose="020B0306020202020204" pitchFamily="34" charset="0"/>
              </a:rPr>
              <a:t>	 many; much 	 </a:t>
            </a:r>
            <a:r>
              <a:rPr lang="en-PH" sz="1800" dirty="0" err="1">
                <a:latin typeface="Arial Nova Cond Light" panose="020B0306020202020204" pitchFamily="34" charset="0"/>
              </a:rPr>
              <a:t>mabilis</a:t>
            </a:r>
            <a:r>
              <a:rPr lang="en-PH" sz="1800" dirty="0">
                <a:latin typeface="Arial Nova Cond Light" panose="020B0306020202020204" pitchFamily="34" charset="0"/>
              </a:rPr>
              <a:t>	fast</a:t>
            </a:r>
          </a:p>
          <a:p>
            <a:pPr marL="0" indent="0">
              <a:buNone/>
            </a:pPr>
            <a:r>
              <a:rPr lang="en-PH" sz="1800" dirty="0" err="1">
                <a:latin typeface="Arial Nova Cond Light" panose="020B0306020202020204" pitchFamily="34" charset="0"/>
              </a:rPr>
              <a:t>dalaga</a:t>
            </a:r>
            <a:r>
              <a:rPr lang="en-PH" sz="1800" dirty="0">
                <a:latin typeface="Arial Nova Cond Light" panose="020B0306020202020204" pitchFamily="34" charset="0"/>
              </a:rPr>
              <a:t>	 unmarried woman			</a:t>
            </a:r>
            <a:r>
              <a:rPr lang="en-PH" sz="1800" dirty="0" err="1">
                <a:latin typeface="Arial Nova Cond Light" panose="020B0306020202020204" pitchFamily="34" charset="0"/>
              </a:rPr>
              <a:t>masipag</a:t>
            </a:r>
            <a:r>
              <a:rPr lang="en-PH" sz="1800" dirty="0">
                <a:latin typeface="Arial Nova Cond Light" panose="020B0306020202020204" pitchFamily="34" charset="0"/>
              </a:rPr>
              <a:t>	 industrious 	</a:t>
            </a:r>
            <a:r>
              <a:rPr lang="en-PH" sz="1800" dirty="0" err="1">
                <a:latin typeface="Arial Nova Cond Light" panose="020B0306020202020204" pitchFamily="34" charset="0"/>
              </a:rPr>
              <a:t>damit</a:t>
            </a:r>
            <a:r>
              <a:rPr lang="en-PH" sz="1800" dirty="0">
                <a:latin typeface="Arial Nova Cond Light" panose="020B0306020202020204" pitchFamily="34" charset="0"/>
              </a:rPr>
              <a:t>	cloth; dress		</a:t>
            </a:r>
          </a:p>
          <a:p>
            <a:pPr marL="0" indent="0">
              <a:buNone/>
            </a:pPr>
            <a:r>
              <a:rPr lang="en-PH" sz="1800" dirty="0">
                <a:latin typeface="Arial Nova Cond Light" panose="020B0306020202020204" pitchFamily="34" charset="0"/>
              </a:rPr>
              <a:t>gabi	night				</a:t>
            </a:r>
            <a:r>
              <a:rPr lang="en-PH" sz="1800" dirty="0" err="1">
                <a:latin typeface="Arial Nova Cond Light" panose="020B0306020202020204" pitchFamily="34" charset="0"/>
              </a:rPr>
              <a:t>marumi</a:t>
            </a:r>
            <a:r>
              <a:rPr lang="en-PH" sz="1800" dirty="0">
                <a:latin typeface="Arial Nova Cond Light" panose="020B0306020202020204" pitchFamily="34" charset="0"/>
              </a:rPr>
              <a:t>	dirty		</a:t>
            </a:r>
          </a:p>
          <a:p>
            <a:pPr marL="0" indent="0">
              <a:buNone/>
            </a:pPr>
            <a:r>
              <a:rPr lang="en-PH" sz="1800" dirty="0" err="1">
                <a:latin typeface="Arial Nova Cond Light" panose="020B0306020202020204" pitchFamily="34" charset="0"/>
              </a:rPr>
              <a:t>araw</a:t>
            </a:r>
            <a:r>
              <a:rPr lang="en-PH" sz="1800" dirty="0">
                <a:latin typeface="Arial Nova Cond Light" panose="020B0306020202020204" pitchFamily="34" charset="0"/>
              </a:rPr>
              <a:t>	day; sun				</a:t>
            </a:r>
            <a:r>
              <a:rPr lang="en-PH" sz="1800" dirty="0" err="1">
                <a:latin typeface="Arial Nova Cond Light" panose="020B0306020202020204" pitchFamily="34" charset="0"/>
              </a:rPr>
              <a:t>madilim</a:t>
            </a:r>
            <a:r>
              <a:rPr lang="en-PH" sz="1800" dirty="0">
                <a:latin typeface="Arial Nova Cond Light" panose="020B0306020202020204" pitchFamily="34" charset="0"/>
              </a:rPr>
              <a:t>	dark</a:t>
            </a:r>
          </a:p>
          <a:p>
            <a:pPr marL="0" indent="0">
              <a:buNone/>
            </a:pPr>
            <a:r>
              <a:rPr lang="en-PH" sz="1800" dirty="0" err="1">
                <a:latin typeface="Arial Nova Cond Light" panose="020B0306020202020204" pitchFamily="34" charset="0"/>
              </a:rPr>
              <a:t>gamot</a:t>
            </a:r>
            <a:r>
              <a:rPr lang="en-PH" sz="1800" dirty="0">
                <a:latin typeface="Arial Nova Cond Light" panose="020B0306020202020204" pitchFamily="34" charset="0"/>
              </a:rPr>
              <a:t>	medicine				</a:t>
            </a:r>
            <a:r>
              <a:rPr lang="en-PH" sz="1800" dirty="0" err="1">
                <a:latin typeface="Arial Nova Cond Light" panose="020B0306020202020204" pitchFamily="34" charset="0"/>
              </a:rPr>
              <a:t>luto</a:t>
            </a:r>
            <a:r>
              <a:rPr lang="en-PH" sz="1800" dirty="0">
                <a:latin typeface="Arial Nova Cond Light" panose="020B0306020202020204" pitchFamily="34" charset="0"/>
              </a:rPr>
              <a:t>	cooked</a:t>
            </a:r>
          </a:p>
          <a:p>
            <a:pPr marL="0" indent="0">
              <a:buNone/>
            </a:pPr>
            <a:r>
              <a:rPr lang="en-PH" sz="1800" dirty="0" err="1">
                <a:latin typeface="Arial Nova Cond Light" panose="020B0306020202020204" pitchFamily="34" charset="0"/>
              </a:rPr>
              <a:t>gulay</a:t>
            </a:r>
            <a:r>
              <a:rPr lang="en-PH" sz="1800" dirty="0">
                <a:latin typeface="Arial Nova Cond Light" panose="020B0306020202020204" pitchFamily="34" charset="0"/>
              </a:rPr>
              <a:t>	vegetable				</a:t>
            </a:r>
            <a:r>
              <a:rPr lang="en-PH" sz="1800" dirty="0" err="1">
                <a:latin typeface="Arial Nova Cond Light" panose="020B0306020202020204" pitchFamily="34" charset="0"/>
              </a:rPr>
              <a:t>mayaman</a:t>
            </a:r>
            <a:r>
              <a:rPr lang="en-PH" sz="1800" dirty="0">
                <a:latin typeface="Arial Nova Cond Light" panose="020B0306020202020204" pitchFamily="34" charset="0"/>
              </a:rPr>
              <a:t>	rich</a:t>
            </a:r>
          </a:p>
          <a:p>
            <a:pPr marL="0" indent="0">
              <a:buNone/>
            </a:pPr>
            <a:r>
              <a:rPr lang="en-PH" sz="1800" dirty="0" err="1">
                <a:latin typeface="Arial Nova Cond Light" panose="020B0306020202020204" pitchFamily="34" charset="0"/>
              </a:rPr>
              <a:t>guro</a:t>
            </a:r>
            <a:r>
              <a:rPr lang="en-PH" sz="1800" dirty="0">
                <a:latin typeface="Arial Nova Cond Light" panose="020B0306020202020204" pitchFamily="34" charset="0"/>
              </a:rPr>
              <a:t>	teacher				</a:t>
            </a:r>
            <a:r>
              <a:rPr lang="en-PH" sz="1800" dirty="0" err="1">
                <a:latin typeface="Arial Nova Cond Light" panose="020B0306020202020204" pitchFamily="34" charset="0"/>
              </a:rPr>
              <a:t>mahusay</a:t>
            </a:r>
            <a:r>
              <a:rPr lang="en-PH" sz="1800" dirty="0">
                <a:latin typeface="Arial Nova Cond Light" panose="020B0306020202020204" pitchFamily="34" charset="0"/>
              </a:rPr>
              <a:t>	efficient</a:t>
            </a:r>
          </a:p>
          <a:p>
            <a:pPr marL="0" indent="0">
              <a:buNone/>
            </a:pPr>
            <a:r>
              <a:rPr lang="en-PH" sz="1800" dirty="0" err="1">
                <a:latin typeface="Arial Nova Cond Light" panose="020B0306020202020204" pitchFamily="34" charset="0"/>
              </a:rPr>
              <a:t>ibon</a:t>
            </a:r>
            <a:r>
              <a:rPr lang="en-PH" sz="1800" dirty="0">
                <a:latin typeface="Arial Nova Cond Light" panose="020B0306020202020204" pitchFamily="34" charset="0"/>
              </a:rPr>
              <a:t>	bird				</a:t>
            </a:r>
            <a:r>
              <a:rPr lang="en-PH" sz="1800" dirty="0" err="1">
                <a:latin typeface="Arial Nova Cond Light" panose="020B0306020202020204" pitchFamily="34" charset="0"/>
              </a:rPr>
              <a:t>sariwa</a:t>
            </a:r>
            <a:r>
              <a:rPr lang="en-PH" sz="1800" dirty="0">
                <a:latin typeface="Arial Nova Cond Light" panose="020B0306020202020204" pitchFamily="34" charset="0"/>
              </a:rPr>
              <a:t>	fresh</a:t>
            </a:r>
          </a:p>
          <a:p>
            <a:pPr marL="0" indent="0">
              <a:buNone/>
            </a:pPr>
            <a:r>
              <a:rPr lang="en-PH" sz="1800" dirty="0" err="1">
                <a:latin typeface="Arial Nova Cond Light" panose="020B0306020202020204" pitchFamily="34" charset="0"/>
              </a:rPr>
              <a:t>isda</a:t>
            </a:r>
            <a:r>
              <a:rPr lang="en-PH" sz="1800" dirty="0">
                <a:latin typeface="Arial Nova Cond Light" panose="020B0306020202020204" pitchFamily="34" charset="0"/>
              </a:rPr>
              <a:t>	fish				</a:t>
            </a:r>
            <a:r>
              <a:rPr lang="en-PH" sz="1800" dirty="0" err="1">
                <a:latin typeface="Arial Nova Cond Light" panose="020B0306020202020204" pitchFamily="34" charset="0"/>
              </a:rPr>
              <a:t>payat</a:t>
            </a:r>
            <a:r>
              <a:rPr lang="en-PH" sz="1800" dirty="0">
                <a:latin typeface="Arial Nova Cond Light" panose="020B0306020202020204" pitchFamily="34" charset="0"/>
              </a:rPr>
              <a:t>	thin</a:t>
            </a:r>
          </a:p>
          <a:p>
            <a:pPr marL="0" indent="0">
              <a:buNone/>
            </a:pPr>
            <a:r>
              <a:rPr lang="en-PH" sz="1800" dirty="0" err="1">
                <a:latin typeface="Arial Nova Cond Light" panose="020B0306020202020204" pitchFamily="34" charset="0"/>
              </a:rPr>
              <a:t>lamok</a:t>
            </a:r>
            <a:r>
              <a:rPr lang="en-PH" sz="1800" dirty="0">
                <a:latin typeface="Arial Nova Cond Light" panose="020B0306020202020204" pitchFamily="34" charset="0"/>
              </a:rPr>
              <a:t>	mosquito				</a:t>
            </a:r>
            <a:r>
              <a:rPr lang="en-PH" sz="1800" dirty="0" err="1">
                <a:latin typeface="Arial Nova Cond Light" panose="020B0306020202020204" pitchFamily="34" charset="0"/>
              </a:rPr>
              <a:t>mataba</a:t>
            </a:r>
            <a:r>
              <a:rPr lang="en-PH" sz="1800" dirty="0">
                <a:latin typeface="Arial Nova Cond Light" panose="020B0306020202020204" pitchFamily="34" charset="0"/>
              </a:rPr>
              <a:t>	fat</a:t>
            </a:r>
          </a:p>
          <a:p>
            <a:pPr marL="0" indent="0">
              <a:buNone/>
            </a:pPr>
            <a:r>
              <a:rPr lang="en-PH" sz="1800" dirty="0" err="1">
                <a:latin typeface="Arial Nova Cond Light" panose="020B0306020202020204" pitchFamily="34" charset="0"/>
              </a:rPr>
              <a:t>tubig</a:t>
            </a:r>
            <a:r>
              <a:rPr lang="en-PH" sz="1800" dirty="0">
                <a:latin typeface="Arial Nova Cond Light" panose="020B0306020202020204" pitchFamily="34" charset="0"/>
              </a:rPr>
              <a:t>	water				</a:t>
            </a:r>
            <a:r>
              <a:rPr lang="en-PH" sz="1800" dirty="0" err="1">
                <a:latin typeface="Arial Nova Cond Light" panose="020B0306020202020204" pitchFamily="34" charset="0"/>
              </a:rPr>
              <a:t>maitim</a:t>
            </a:r>
            <a:r>
              <a:rPr lang="en-PH" sz="1800" dirty="0">
                <a:latin typeface="Arial Nova Cond Light" panose="020B0306020202020204" pitchFamily="34" charset="0"/>
              </a:rPr>
              <a:t>	black</a:t>
            </a:r>
          </a:p>
          <a:p>
            <a:pPr marL="0" indent="0">
              <a:buNone/>
            </a:pPr>
            <a:r>
              <a:rPr lang="en-PH" sz="1600" dirty="0">
                <a:latin typeface="Arial Nova Cond Light" panose="020B0306020202020204" pitchFamily="34" charset="0"/>
              </a:rPr>
              <a:t> </a:t>
            </a:r>
          </a:p>
          <a:p>
            <a:pPr marL="0" indent="0">
              <a:buNone/>
            </a:pPr>
            <a:endParaRPr lang="en-PH" sz="1600" dirty="0">
              <a:latin typeface="Arial Nova Cond Light" panose="020B0306020202020204" pitchFamily="34" charset="0"/>
            </a:endParaRPr>
          </a:p>
        </p:txBody>
      </p:sp>
    </p:spTree>
    <p:extLst>
      <p:ext uri="{BB962C8B-B14F-4D97-AF65-F5344CB8AC3E}">
        <p14:creationId xmlns:p14="http://schemas.microsoft.com/office/powerpoint/2010/main" val="172296434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6DF1B4-8538-BA06-B19F-CF02E2433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238DE3-3CA3-497F-3EFF-3DA7A99A77A0}"/>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3" name="Content Placeholder 2">
            <a:extLst>
              <a:ext uri="{FF2B5EF4-FFF2-40B4-BE49-F238E27FC236}">
                <a16:creationId xmlns:a16="http://schemas.microsoft.com/office/drawing/2014/main" id="{D960F40A-6043-667F-2418-99B3827B941C}"/>
              </a:ext>
            </a:extLst>
          </p:cNvPr>
          <p:cNvSpPr>
            <a:spLocks noGrp="1"/>
          </p:cNvSpPr>
          <p:nvPr>
            <p:ph idx="1"/>
          </p:nvPr>
        </p:nvSpPr>
        <p:spPr>
          <a:xfrm>
            <a:off x="16933" y="1169875"/>
            <a:ext cx="12192000" cy="4296470"/>
          </a:xfrm>
        </p:spPr>
        <p:txBody>
          <a:bodyPr>
            <a:noAutofit/>
          </a:bodyPr>
          <a:lstStyle/>
          <a:p>
            <a:pPr marL="0" indent="0">
              <a:buNone/>
            </a:pPr>
            <a:endParaRPr lang="en-PH" sz="1050" dirty="0">
              <a:latin typeface="Arial Nova Cond Light" panose="020B0306020202020204" pitchFamily="34" charset="0"/>
            </a:endParaRPr>
          </a:p>
          <a:p>
            <a:pPr marL="0" indent="0">
              <a:buNone/>
            </a:pPr>
            <a:r>
              <a:rPr lang="en-PH" sz="1800" b="1" dirty="0">
                <a:latin typeface="Arial Nova Cond Light" panose="020B0306020202020204" pitchFamily="34" charset="0"/>
              </a:rPr>
              <a:t>NOUNS				MODIFIERS</a:t>
            </a:r>
          </a:p>
          <a:p>
            <a:pPr marL="0" indent="0">
              <a:buNone/>
            </a:pPr>
            <a:r>
              <a:rPr lang="en-PH" sz="1800" dirty="0" err="1">
                <a:latin typeface="Arial Nova Cond Light" panose="020B0306020202020204" pitchFamily="34" charset="0"/>
              </a:rPr>
              <a:t>pagkain</a:t>
            </a:r>
            <a:r>
              <a:rPr lang="en-PH" sz="1800" dirty="0">
                <a:latin typeface="Arial Nova Cond Light" panose="020B0306020202020204" pitchFamily="34" charset="0"/>
              </a:rPr>
              <a:t>	food			</a:t>
            </a:r>
            <a:r>
              <a:rPr lang="en-PH" sz="1800" dirty="0" err="1">
                <a:latin typeface="Arial Nova Cond Light" panose="020B0306020202020204" pitchFamily="34" charset="0"/>
              </a:rPr>
              <a:t>maputi</a:t>
            </a:r>
            <a:r>
              <a:rPr lang="en-PH" sz="1800" dirty="0">
                <a:latin typeface="Arial Nova Cond Light" panose="020B0306020202020204" pitchFamily="34" charset="0"/>
              </a:rPr>
              <a:t>			whitish</a:t>
            </a:r>
          </a:p>
          <a:p>
            <a:pPr marL="0" indent="0">
              <a:buNone/>
            </a:pPr>
            <a:r>
              <a:rPr lang="en-PH" sz="1800" dirty="0" err="1">
                <a:latin typeface="Arial Nova Cond Light" panose="020B0306020202020204" pitchFamily="34" charset="0"/>
              </a:rPr>
              <a:t>dagat</a:t>
            </a:r>
            <a:r>
              <a:rPr lang="en-PH" sz="1800" dirty="0">
                <a:latin typeface="Arial Nova Cond Light" panose="020B0306020202020204" pitchFamily="34" charset="0"/>
              </a:rPr>
              <a:t>	sea			</a:t>
            </a:r>
            <a:r>
              <a:rPr lang="en-PH" sz="1800" dirty="0" err="1">
                <a:latin typeface="Arial Nova Cond Light" panose="020B0306020202020204" pitchFamily="34" charset="0"/>
              </a:rPr>
              <a:t>matapang</a:t>
            </a:r>
            <a:r>
              <a:rPr lang="en-PH" sz="1800" dirty="0">
                <a:latin typeface="Arial Nova Cond Light" panose="020B0306020202020204" pitchFamily="34" charset="0"/>
              </a:rPr>
              <a:t>			brave</a:t>
            </a:r>
          </a:p>
          <a:p>
            <a:pPr marL="0" indent="0">
              <a:buNone/>
            </a:pPr>
            <a:r>
              <a:rPr lang="en-PH" sz="1800" dirty="0" err="1">
                <a:latin typeface="Arial Nova Cond Light" panose="020B0306020202020204" pitchFamily="34" charset="0"/>
              </a:rPr>
              <a:t>langit</a:t>
            </a:r>
            <a:r>
              <a:rPr lang="en-PH" sz="1800" dirty="0">
                <a:latin typeface="Arial Nova Cond Light" panose="020B0306020202020204" pitchFamily="34" charset="0"/>
              </a:rPr>
              <a:t>	sky 			 </a:t>
            </a:r>
            <a:r>
              <a:rPr lang="en-PH" sz="1800" dirty="0" err="1">
                <a:latin typeface="Arial Nova Cond Light" panose="020B0306020202020204" pitchFamily="34" charset="0"/>
              </a:rPr>
              <a:t>maingay</a:t>
            </a:r>
            <a:r>
              <a:rPr lang="en-PH" sz="1800" dirty="0">
                <a:latin typeface="Arial Nova Cond Light" panose="020B0306020202020204" pitchFamily="34" charset="0"/>
              </a:rPr>
              <a:t>			 noisy </a:t>
            </a:r>
          </a:p>
          <a:p>
            <a:pPr marL="0" indent="0">
              <a:buNone/>
            </a:pPr>
            <a:r>
              <a:rPr lang="en-PH" sz="1800" dirty="0" err="1">
                <a:latin typeface="Arial Nova Cond Light" panose="020B0306020202020204" pitchFamily="34" charset="0"/>
              </a:rPr>
              <a:t>bundok</a:t>
            </a:r>
            <a:r>
              <a:rPr lang="en-PH" sz="1800" dirty="0">
                <a:latin typeface="Arial Nova Cond Light" panose="020B0306020202020204" pitchFamily="34" charset="0"/>
              </a:rPr>
              <a:t>	 mountain 			 </a:t>
            </a:r>
            <a:r>
              <a:rPr lang="en-PH" sz="1800" dirty="0" err="1">
                <a:latin typeface="Arial Nova Cond Light" panose="020B0306020202020204" pitchFamily="34" charset="0"/>
              </a:rPr>
              <a:t>tahimik</a:t>
            </a:r>
            <a:r>
              <a:rPr lang="en-PH" sz="1800" dirty="0">
                <a:latin typeface="Arial Nova Cond Light" panose="020B0306020202020204" pitchFamily="34" charset="0"/>
              </a:rPr>
              <a:t>			 quiet</a:t>
            </a:r>
          </a:p>
          <a:p>
            <a:pPr marL="0" indent="0">
              <a:buNone/>
            </a:pPr>
            <a:r>
              <a:rPr lang="en-PH" sz="1800" dirty="0" err="1">
                <a:latin typeface="Arial Nova Cond Light" panose="020B0306020202020204" pitchFamily="34" charset="0"/>
              </a:rPr>
              <a:t>dahon</a:t>
            </a:r>
            <a:r>
              <a:rPr lang="en-PH" sz="1800" dirty="0">
                <a:latin typeface="Arial Nova Cond Light" panose="020B0306020202020204" pitchFamily="34" charset="0"/>
              </a:rPr>
              <a:t>	 leaf 			 </a:t>
            </a:r>
            <a:r>
              <a:rPr lang="en-PH" sz="1800" dirty="0" err="1">
                <a:latin typeface="Arial Nova Cond Light" panose="020B0306020202020204" pitchFamily="34" charset="0"/>
              </a:rPr>
              <a:t>tamad</a:t>
            </a:r>
            <a:r>
              <a:rPr lang="en-PH" sz="1800" dirty="0">
                <a:latin typeface="Arial Nova Cond Light" panose="020B0306020202020204" pitchFamily="34" charset="0"/>
              </a:rPr>
              <a:t> 			lazy</a:t>
            </a:r>
          </a:p>
          <a:p>
            <a:pPr marL="0" indent="0">
              <a:buNone/>
            </a:pPr>
            <a:r>
              <a:rPr lang="en-PH" sz="1800" dirty="0" err="1">
                <a:latin typeface="Arial Nova Cond Light" panose="020B0306020202020204" pitchFamily="34" charset="0"/>
              </a:rPr>
              <a:t>bulaklak</a:t>
            </a:r>
            <a:r>
              <a:rPr lang="en-PH" sz="1800" dirty="0">
                <a:latin typeface="Arial Nova Cond Light" panose="020B0306020202020204" pitchFamily="34" charset="0"/>
              </a:rPr>
              <a:t>	 flower			</a:t>
            </a:r>
            <a:r>
              <a:rPr lang="en-PH" sz="1800" dirty="0" err="1">
                <a:latin typeface="Arial Nova Cond Light" panose="020B0306020202020204" pitchFamily="34" charset="0"/>
              </a:rPr>
              <a:t>matamis</a:t>
            </a:r>
            <a:r>
              <a:rPr lang="en-PH" sz="1800" dirty="0">
                <a:latin typeface="Arial Nova Cond Light" panose="020B0306020202020204" pitchFamily="34" charset="0"/>
              </a:rPr>
              <a:t>			sweet (food)</a:t>
            </a:r>
          </a:p>
          <a:p>
            <a:pPr marL="0" indent="0">
              <a:buNone/>
            </a:pPr>
            <a:endParaRPr lang="en-PH" sz="1800" dirty="0"/>
          </a:p>
          <a:p>
            <a:pPr marL="0" indent="0">
              <a:buNone/>
            </a:pPr>
            <a:endParaRPr lang="en-PH" sz="1800" dirty="0"/>
          </a:p>
          <a:p>
            <a:pPr marL="0" indent="0">
              <a:buNone/>
            </a:pPr>
            <a:r>
              <a:rPr lang="en-PH" sz="1050" dirty="0"/>
              <a:t> </a:t>
            </a:r>
          </a:p>
          <a:p>
            <a:pPr marL="0" indent="0">
              <a:buNone/>
            </a:pPr>
            <a:endParaRPr lang="en-PH" sz="1050" dirty="0"/>
          </a:p>
          <a:p>
            <a:pPr marL="0" indent="0">
              <a:buNone/>
            </a:pPr>
            <a:r>
              <a:rPr lang="en-PH" sz="1050" dirty="0"/>
              <a:t> </a:t>
            </a:r>
          </a:p>
          <a:p>
            <a:pPr marL="0" indent="0">
              <a:buNone/>
            </a:pPr>
            <a:endParaRPr lang="en-PH" sz="600" dirty="0"/>
          </a:p>
          <a:p>
            <a:pPr marL="0" indent="0">
              <a:buNone/>
            </a:pPr>
            <a:endParaRPr lang="en-PH" sz="600" dirty="0"/>
          </a:p>
        </p:txBody>
      </p:sp>
    </p:spTree>
    <p:extLst>
      <p:ext uri="{BB962C8B-B14F-4D97-AF65-F5344CB8AC3E}">
        <p14:creationId xmlns:p14="http://schemas.microsoft.com/office/powerpoint/2010/main" val="226135423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BB2087-BBA5-3A5F-B2AF-4DB0B1253E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03D6BE2-6E54-5F56-C3D8-B0DCBBFC67DE}"/>
              </a:ext>
            </a:extLst>
          </p:cNvPr>
          <p:cNvSpPr>
            <a:spLocks noGrp="1"/>
          </p:cNvSpPr>
          <p:nvPr>
            <p:ph type="title"/>
          </p:nvPr>
        </p:nvSpPr>
        <p:spPr>
          <a:xfrm>
            <a:off x="1506158" y="1391655"/>
            <a:ext cx="9603275" cy="440081"/>
          </a:xfrm>
        </p:spPr>
        <p:txBody>
          <a:bodyPr>
            <a:normAutofit fontScale="90000"/>
          </a:bodyPr>
          <a:lstStyle/>
          <a:p>
            <a:pPr lvl="0"/>
            <a:br>
              <a:rPr lang="en-PH" dirty="0"/>
            </a:br>
            <a:endParaRPr lang="en-PH" dirty="0"/>
          </a:p>
        </p:txBody>
      </p:sp>
      <p:sp>
        <p:nvSpPr>
          <p:cNvPr id="5" name="TextBox 4">
            <a:extLst>
              <a:ext uri="{FF2B5EF4-FFF2-40B4-BE49-F238E27FC236}">
                <a16:creationId xmlns:a16="http://schemas.microsoft.com/office/drawing/2014/main" id="{C98D4C54-FAE7-2444-0008-3BDF23C130D9}"/>
              </a:ext>
            </a:extLst>
          </p:cNvPr>
          <p:cNvSpPr txBox="1"/>
          <p:nvPr/>
        </p:nvSpPr>
        <p:spPr>
          <a:xfrm>
            <a:off x="0" y="602444"/>
            <a:ext cx="12192000" cy="3539430"/>
          </a:xfrm>
          <a:prstGeom prst="rect">
            <a:avLst/>
          </a:prstGeom>
          <a:noFill/>
        </p:spPr>
        <p:txBody>
          <a:bodyPr wrap="square">
            <a:spAutoFit/>
          </a:bodyPr>
          <a:lstStyle/>
          <a:p>
            <a:r>
              <a:rPr lang="en-US" sz="2400" b="1" dirty="0">
                <a:latin typeface="Arial Nova Cond Light" panose="020B0306020202020204" pitchFamily="34" charset="0"/>
              </a:rPr>
              <a:t>Give the formula for attaching ligatures to the following pairs of words, The first one has been given as an example. </a:t>
            </a:r>
          </a:p>
          <a:p>
            <a:endParaRPr lang="en-US" dirty="0">
              <a:latin typeface="Arial Nova Cond Light" panose="020B0306020202020204" pitchFamily="34" charset="0"/>
            </a:endParaRPr>
          </a:p>
          <a:p>
            <a:endParaRPr lang="en-US" dirty="0">
              <a:latin typeface="Arial Nova Cond Light" panose="020B0306020202020204" pitchFamily="34" charset="0"/>
            </a:endParaRPr>
          </a:p>
          <a:p>
            <a:endParaRPr lang="en-US" sz="2000" dirty="0">
              <a:latin typeface="Arial Nova Cond Light" panose="020B0306020202020204" pitchFamily="34" charset="0"/>
            </a:endParaRPr>
          </a:p>
          <a:p>
            <a:r>
              <a:rPr lang="en-US" sz="2400" dirty="0">
                <a:latin typeface="Arial Nova Cond Light" panose="020B0306020202020204" pitchFamily="34" charset="0"/>
              </a:rPr>
              <a:t>1. rich man					</a:t>
            </a:r>
            <a:r>
              <a:rPr lang="en-US" sz="2400" dirty="0" err="1">
                <a:latin typeface="Arial Nova Cond Light" panose="020B0306020202020204" pitchFamily="34" charset="0"/>
              </a:rPr>
              <a:t>lalaking</a:t>
            </a:r>
            <a:r>
              <a:rPr lang="en-US" sz="2400" dirty="0">
                <a:latin typeface="Arial Nova Cond Light" panose="020B0306020202020204" pitchFamily="34" charset="0"/>
              </a:rPr>
              <a:t> </a:t>
            </a:r>
            <a:r>
              <a:rPr lang="en-US" sz="2400" dirty="0" err="1">
                <a:latin typeface="Arial Nova Cond Light" panose="020B0306020202020204" pitchFamily="34" charset="0"/>
              </a:rPr>
              <a:t>mayaman</a:t>
            </a:r>
            <a:r>
              <a:rPr lang="en-US" sz="2400" dirty="0">
                <a:latin typeface="Arial Nova Cond Light" panose="020B0306020202020204" pitchFamily="34" charset="0"/>
              </a:rPr>
              <a:t>  / </a:t>
            </a:r>
            <a:r>
              <a:rPr lang="en-US" sz="2400" dirty="0" err="1">
                <a:latin typeface="Arial Nova Cond Light" panose="020B0306020202020204" pitchFamily="34" charset="0"/>
              </a:rPr>
              <a:t>mayamang</a:t>
            </a:r>
            <a:r>
              <a:rPr lang="en-US" sz="2400" dirty="0">
                <a:latin typeface="Arial Nova Cond Light" panose="020B0306020202020204" pitchFamily="34" charset="0"/>
              </a:rPr>
              <a:t> </a:t>
            </a:r>
            <a:r>
              <a:rPr lang="en-US" sz="2400" dirty="0" err="1">
                <a:latin typeface="Arial Nova Cond Light" panose="020B0306020202020204" pitchFamily="34" charset="0"/>
              </a:rPr>
              <a:t>lalaki</a:t>
            </a:r>
            <a:r>
              <a:rPr lang="en-US" sz="2400" dirty="0">
                <a:latin typeface="Arial Nova Cond Light" panose="020B0306020202020204" pitchFamily="34" charset="0"/>
              </a:rPr>
              <a:t>						</a:t>
            </a:r>
          </a:p>
          <a:p>
            <a:r>
              <a:rPr lang="en-US" sz="2400" dirty="0">
                <a:latin typeface="Arial Nova Cond Light" panose="020B0306020202020204" pitchFamily="34" charset="0"/>
              </a:rPr>
              <a:t>2. clean food				</a:t>
            </a:r>
            <a:r>
              <a:rPr lang="en-US" sz="2400" dirty="0" err="1">
                <a:latin typeface="Arial Nova Cond Light" panose="020B0306020202020204" pitchFamily="34" charset="0"/>
              </a:rPr>
              <a:t>malinis</a:t>
            </a:r>
            <a:r>
              <a:rPr lang="en-US" sz="2400" dirty="0">
                <a:latin typeface="Arial Nova Cond Light" panose="020B0306020202020204" pitchFamily="34" charset="0"/>
              </a:rPr>
              <a:t> </a:t>
            </a:r>
            <a:r>
              <a:rPr lang="en-US" sz="2400" dirty="0" err="1">
                <a:latin typeface="Arial Nova Cond Light" panose="020B0306020202020204" pitchFamily="34" charset="0"/>
              </a:rPr>
              <a:t>na</a:t>
            </a:r>
            <a:r>
              <a:rPr lang="en-US" sz="2400" dirty="0">
                <a:latin typeface="Arial Nova Cond Light" panose="020B0306020202020204" pitchFamily="34" charset="0"/>
              </a:rPr>
              <a:t> </a:t>
            </a:r>
            <a:r>
              <a:rPr lang="en-US" sz="2400" dirty="0" err="1">
                <a:latin typeface="Arial Nova Cond Light" panose="020B0306020202020204" pitchFamily="34" charset="0"/>
              </a:rPr>
              <a:t>pagkain</a:t>
            </a:r>
            <a:r>
              <a:rPr lang="en-US" sz="2400" dirty="0">
                <a:latin typeface="Arial Nova Cond Light" panose="020B0306020202020204" pitchFamily="34" charset="0"/>
              </a:rPr>
              <a:t> / </a:t>
            </a:r>
            <a:r>
              <a:rPr lang="en-US" sz="2400" dirty="0" err="1">
                <a:latin typeface="Arial Nova Cond Light" panose="020B0306020202020204" pitchFamily="34" charset="0"/>
              </a:rPr>
              <a:t>pagkaing</a:t>
            </a:r>
            <a:r>
              <a:rPr lang="en-US" sz="2400" dirty="0">
                <a:latin typeface="Arial Nova Cond Light" panose="020B0306020202020204" pitchFamily="34" charset="0"/>
              </a:rPr>
              <a:t> </a:t>
            </a:r>
            <a:r>
              <a:rPr lang="en-US" sz="2400" dirty="0" err="1">
                <a:latin typeface="Arial Nova Cond Light" panose="020B0306020202020204" pitchFamily="34" charset="0"/>
              </a:rPr>
              <a:t>malinis</a:t>
            </a:r>
            <a:endParaRPr lang="en-US" sz="2400" dirty="0">
              <a:latin typeface="Arial Nova Cond Light" panose="020B0306020202020204" pitchFamily="34" charset="0"/>
            </a:endParaRPr>
          </a:p>
          <a:p>
            <a:r>
              <a:rPr lang="en-US" sz="2400" dirty="0">
                <a:latin typeface="Arial Nova Cond Light" panose="020B0306020202020204" pitchFamily="34" charset="0"/>
              </a:rPr>
              <a:t>3.poor woman 				</a:t>
            </a:r>
            <a:r>
              <a:rPr lang="en-US" sz="2400" dirty="0" err="1">
                <a:latin typeface="Arial Nova Cond Light" panose="020B0306020202020204" pitchFamily="34" charset="0"/>
              </a:rPr>
              <a:t>mahirap</a:t>
            </a:r>
            <a:r>
              <a:rPr lang="en-US" sz="2400" dirty="0">
                <a:latin typeface="Arial Nova Cond Light" panose="020B0306020202020204" pitchFamily="34" charset="0"/>
              </a:rPr>
              <a:t> </a:t>
            </a:r>
            <a:r>
              <a:rPr lang="en-US" sz="2400" dirty="0" err="1">
                <a:latin typeface="Arial Nova Cond Light" panose="020B0306020202020204" pitchFamily="34" charset="0"/>
              </a:rPr>
              <a:t>na</a:t>
            </a:r>
            <a:r>
              <a:rPr lang="en-US" sz="2400" dirty="0">
                <a:latin typeface="Arial Nova Cond Light" panose="020B0306020202020204" pitchFamily="34" charset="0"/>
              </a:rPr>
              <a:t> </a:t>
            </a:r>
            <a:r>
              <a:rPr lang="en-US" sz="2400" dirty="0" err="1">
                <a:latin typeface="Arial Nova Cond Light" panose="020B0306020202020204" pitchFamily="34" charset="0"/>
              </a:rPr>
              <a:t>babae</a:t>
            </a:r>
            <a:r>
              <a:rPr lang="en-US" sz="2400" dirty="0">
                <a:latin typeface="Arial Nova Cond Light" panose="020B0306020202020204" pitchFamily="34" charset="0"/>
              </a:rPr>
              <a:t>  / </a:t>
            </a:r>
            <a:r>
              <a:rPr lang="en-US" sz="2400" dirty="0" err="1">
                <a:latin typeface="Arial Nova Cond Light" panose="020B0306020202020204" pitchFamily="34" charset="0"/>
              </a:rPr>
              <a:t>babaeng</a:t>
            </a:r>
            <a:r>
              <a:rPr lang="en-US" sz="2400" dirty="0">
                <a:latin typeface="Arial Nova Cond Light" panose="020B0306020202020204" pitchFamily="34" charset="0"/>
              </a:rPr>
              <a:t> </a:t>
            </a:r>
            <a:r>
              <a:rPr lang="en-US" sz="2400" dirty="0" err="1">
                <a:latin typeface="Arial Nova Cond Light" panose="020B0306020202020204" pitchFamily="34" charset="0"/>
              </a:rPr>
              <a:t>mahirap</a:t>
            </a:r>
            <a:endParaRPr lang="en-US" sz="2400" dirty="0">
              <a:latin typeface="Arial Nova Cond Light" panose="020B0306020202020204" pitchFamily="34" charset="0"/>
            </a:endParaRPr>
          </a:p>
          <a:p>
            <a:r>
              <a:rPr lang="en-US" sz="2400" dirty="0">
                <a:latin typeface="Arial Nova Cond Light" panose="020B0306020202020204" pitchFamily="34" charset="0"/>
              </a:rPr>
              <a:t>4.dirty shoes				</a:t>
            </a:r>
            <a:r>
              <a:rPr lang="en-US" sz="2400" dirty="0" err="1">
                <a:latin typeface="Arial Nova Cond Light" panose="020B0306020202020204" pitchFamily="34" charset="0"/>
              </a:rPr>
              <a:t>maruming</a:t>
            </a:r>
            <a:r>
              <a:rPr lang="en-US" sz="2400" dirty="0">
                <a:latin typeface="Arial Nova Cond Light" panose="020B0306020202020204" pitchFamily="34" charset="0"/>
              </a:rPr>
              <a:t> </a:t>
            </a:r>
            <a:r>
              <a:rPr lang="en-US" sz="2400" dirty="0" err="1">
                <a:latin typeface="Arial Nova Cond Light" panose="020B0306020202020204" pitchFamily="34" charset="0"/>
              </a:rPr>
              <a:t>sapatos</a:t>
            </a:r>
            <a:r>
              <a:rPr lang="en-US" sz="2400" dirty="0">
                <a:latin typeface="Arial Nova Cond Light" panose="020B0306020202020204" pitchFamily="34" charset="0"/>
              </a:rPr>
              <a:t> / </a:t>
            </a:r>
            <a:r>
              <a:rPr lang="en-US" sz="2400" dirty="0" err="1">
                <a:latin typeface="Arial Nova Cond Light" panose="020B0306020202020204" pitchFamily="34" charset="0"/>
              </a:rPr>
              <a:t>sapatos</a:t>
            </a:r>
            <a:r>
              <a:rPr lang="en-US" sz="2400" dirty="0">
                <a:latin typeface="Arial Nova Cond Light" panose="020B0306020202020204" pitchFamily="34" charset="0"/>
              </a:rPr>
              <a:t> </a:t>
            </a:r>
            <a:r>
              <a:rPr lang="en-US" sz="2400" dirty="0" err="1">
                <a:latin typeface="Arial Nova Cond Light" panose="020B0306020202020204" pitchFamily="34" charset="0"/>
              </a:rPr>
              <a:t>na</a:t>
            </a:r>
            <a:r>
              <a:rPr lang="en-US" sz="2400" dirty="0">
                <a:latin typeface="Arial Nova Cond Light" panose="020B0306020202020204" pitchFamily="34" charset="0"/>
              </a:rPr>
              <a:t> marumi	</a:t>
            </a:r>
          </a:p>
          <a:p>
            <a:r>
              <a:rPr lang="en-US" sz="2400" dirty="0">
                <a:latin typeface="Arial Nova Cond Light" panose="020B0306020202020204" pitchFamily="34" charset="0"/>
              </a:rPr>
              <a:t>5.strong boy					</a:t>
            </a:r>
            <a:r>
              <a:rPr lang="en-US" sz="2400" dirty="0" err="1">
                <a:latin typeface="Arial Nova Cond Light" panose="020B0306020202020204" pitchFamily="34" charset="0"/>
              </a:rPr>
              <a:t>batang</a:t>
            </a:r>
            <a:r>
              <a:rPr lang="en-US" sz="2400" dirty="0">
                <a:latin typeface="Arial Nova Cond Light" panose="020B0306020202020204" pitchFamily="34" charset="0"/>
              </a:rPr>
              <a:t> </a:t>
            </a:r>
            <a:r>
              <a:rPr lang="en-US" sz="2400" dirty="0" err="1">
                <a:latin typeface="Arial Nova Cond Light" panose="020B0306020202020204" pitchFamily="34" charset="0"/>
              </a:rPr>
              <a:t>lalaking</a:t>
            </a:r>
            <a:r>
              <a:rPr lang="en-US" sz="2400" dirty="0">
                <a:latin typeface="Arial Nova Cond Light" panose="020B0306020202020204" pitchFamily="34" charset="0"/>
              </a:rPr>
              <a:t> </a:t>
            </a:r>
            <a:r>
              <a:rPr lang="en-US" sz="2400" dirty="0" err="1">
                <a:latin typeface="Arial Nova Cond Light" panose="020B0306020202020204" pitchFamily="34" charset="0"/>
              </a:rPr>
              <a:t>malakas</a:t>
            </a:r>
            <a:r>
              <a:rPr lang="en-US" sz="2400" dirty="0">
                <a:latin typeface="Arial Nova Cond Light" panose="020B0306020202020204" pitchFamily="34" charset="0"/>
              </a:rPr>
              <a:t> / </a:t>
            </a:r>
            <a:r>
              <a:rPr lang="en-US" sz="2400" dirty="0" err="1">
                <a:latin typeface="Arial Nova Cond Light" panose="020B0306020202020204" pitchFamily="34" charset="0"/>
              </a:rPr>
              <a:t>malakas</a:t>
            </a:r>
            <a:r>
              <a:rPr lang="en-US" sz="2400" dirty="0">
                <a:latin typeface="Arial Nova Cond Light" panose="020B0306020202020204" pitchFamily="34" charset="0"/>
              </a:rPr>
              <a:t> </a:t>
            </a:r>
            <a:r>
              <a:rPr lang="en-US" sz="2400" dirty="0" err="1">
                <a:latin typeface="Arial Nova Cond Light" panose="020B0306020202020204" pitchFamily="34" charset="0"/>
              </a:rPr>
              <a:t>na</a:t>
            </a:r>
            <a:r>
              <a:rPr lang="en-US" sz="2400" dirty="0">
                <a:latin typeface="Arial Nova Cond Light" panose="020B0306020202020204" pitchFamily="34" charset="0"/>
              </a:rPr>
              <a:t> </a:t>
            </a:r>
            <a:r>
              <a:rPr lang="en-US" sz="2400" dirty="0" err="1">
                <a:latin typeface="Arial Nova Cond Light" panose="020B0306020202020204" pitchFamily="34" charset="0"/>
              </a:rPr>
              <a:t>batang</a:t>
            </a:r>
            <a:r>
              <a:rPr lang="en-US" sz="2400" dirty="0">
                <a:latin typeface="Arial Nova Cond Light" panose="020B0306020202020204" pitchFamily="34" charset="0"/>
              </a:rPr>
              <a:t> </a:t>
            </a:r>
            <a:r>
              <a:rPr lang="en-US" sz="2400" dirty="0" err="1">
                <a:latin typeface="Arial Nova Cond Light" panose="020B0306020202020204" pitchFamily="34" charset="0"/>
              </a:rPr>
              <a:t>lalaki</a:t>
            </a:r>
            <a:r>
              <a:rPr lang="en-US" sz="2400" dirty="0">
                <a:latin typeface="Arial Nova Cond Light" panose="020B0306020202020204" pitchFamily="34" charset="0"/>
              </a:rPr>
              <a:t>. </a:t>
            </a:r>
            <a:endParaRPr lang="en-US" dirty="0">
              <a:latin typeface="Arial Nova Cond Light" panose="020B0306020202020204" pitchFamily="34" charset="0"/>
            </a:endParaRPr>
          </a:p>
        </p:txBody>
      </p:sp>
    </p:spTree>
    <p:extLst>
      <p:ext uri="{BB962C8B-B14F-4D97-AF65-F5344CB8AC3E}">
        <p14:creationId xmlns:p14="http://schemas.microsoft.com/office/powerpoint/2010/main" val="31960046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848B93-72EF-D205-8960-BBC1F5B2E5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528393-84F5-C65C-5FA2-C513B482F2D8}"/>
              </a:ext>
            </a:extLst>
          </p:cNvPr>
          <p:cNvSpPr>
            <a:spLocks noGrp="1"/>
          </p:cNvSpPr>
          <p:nvPr>
            <p:ph type="ctrTitle"/>
          </p:nvPr>
        </p:nvSpPr>
        <p:spPr>
          <a:xfrm>
            <a:off x="1" y="1293365"/>
            <a:ext cx="12065000" cy="2541431"/>
          </a:xfrm>
        </p:spPr>
        <p:txBody>
          <a:bodyPr>
            <a:normAutofit/>
          </a:bodyPr>
          <a:lstStyle/>
          <a:p>
            <a:pPr algn="ctr"/>
            <a:r>
              <a:rPr lang="en-PH" sz="14900" dirty="0">
                <a:latin typeface="Arial Nova Cond Light" panose="020B0306020202020204" pitchFamily="34" charset="0"/>
              </a:rPr>
              <a:t>Salamat</a:t>
            </a:r>
          </a:p>
        </p:txBody>
      </p:sp>
    </p:spTree>
    <p:extLst>
      <p:ext uri="{BB962C8B-B14F-4D97-AF65-F5344CB8AC3E}">
        <p14:creationId xmlns:p14="http://schemas.microsoft.com/office/powerpoint/2010/main" val="3705155157"/>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Gallery</Template>
  <TotalTime>1842</TotalTime>
  <Words>3274</Words>
  <Application>Microsoft Office PowerPoint</Application>
  <PresentationFormat>Widescreen</PresentationFormat>
  <Paragraphs>329</Paragraphs>
  <Slides>39</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39</vt:i4>
      </vt:variant>
    </vt:vector>
  </HeadingPairs>
  <TitlesOfParts>
    <vt:vector size="45" baseType="lpstr">
      <vt:lpstr>Arial</vt:lpstr>
      <vt:lpstr>Arial Narrow</vt:lpstr>
      <vt:lpstr>Arial Nova Cond Light</vt:lpstr>
      <vt:lpstr>Calibri</vt:lpstr>
      <vt:lpstr>Gill Sans MT</vt:lpstr>
      <vt:lpstr>Gallery</vt:lpstr>
      <vt:lpstr>WELCOME back Pablo! </vt:lpstr>
      <vt:lpstr>Lesson 04 THE DEMONSTRATIVES  PRONOUNS ITO, IYAN AND IYON &amp;  WORDS THAT LINK AND DESCRIBE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Salamat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Charine Labao</dc:creator>
  <cp:lastModifiedBy>Charine Labao</cp:lastModifiedBy>
  <cp:revision>14</cp:revision>
  <dcterms:created xsi:type="dcterms:W3CDTF">2025-07-09T10:16:11Z</dcterms:created>
  <dcterms:modified xsi:type="dcterms:W3CDTF">2026-08-04T03:06:57Z</dcterms:modified>
</cp:coreProperties>
</file>