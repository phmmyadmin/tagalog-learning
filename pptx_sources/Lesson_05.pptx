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6" r:id="rId1"/>
  </p:sldMasterIdLst>
  <p:notesMasterIdLst>
    <p:notesMasterId r:id="rId26"/>
  </p:notesMasterIdLst>
  <p:sldIdLst>
    <p:sldId id="256" r:id="rId2"/>
    <p:sldId id="275" r:id="rId3"/>
    <p:sldId id="315" r:id="rId4"/>
    <p:sldId id="316" r:id="rId5"/>
    <p:sldId id="317" r:id="rId6"/>
    <p:sldId id="343" r:id="rId7"/>
    <p:sldId id="348" r:id="rId8"/>
    <p:sldId id="322" r:id="rId9"/>
    <p:sldId id="323" r:id="rId10"/>
    <p:sldId id="324" r:id="rId11"/>
    <p:sldId id="325" r:id="rId12"/>
    <p:sldId id="326" r:id="rId13"/>
    <p:sldId id="349" r:id="rId14"/>
    <p:sldId id="332" r:id="rId15"/>
    <p:sldId id="327" r:id="rId16"/>
    <p:sldId id="350" r:id="rId17"/>
    <p:sldId id="328" r:id="rId18"/>
    <p:sldId id="351" r:id="rId19"/>
    <p:sldId id="329" r:id="rId20"/>
    <p:sldId id="330" r:id="rId21"/>
    <p:sldId id="331" r:id="rId22"/>
    <p:sldId id="334" r:id="rId23"/>
    <p:sldId id="333" r:id="rId24"/>
    <p:sldId id="26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5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ne Labao" userId="d49f38c7da5d9737" providerId="LiveId" clId="{74BAE539-5A96-4830-AD90-F51E8ECC701B}"/>
    <pc:docChg chg="undo custSel addSld delSld modSld sldOrd">
      <pc:chgData name="Charine Labao" userId="d49f38c7da5d9737" providerId="LiveId" clId="{74BAE539-5A96-4830-AD90-F51E8ECC701B}" dt="2026-04-16T22:49:31.712" v="5539" actId="20577"/>
      <pc:docMkLst>
        <pc:docMk/>
      </pc:docMkLst>
      <pc:sldChg chg="modSp mod">
        <pc:chgData name="Charine Labao" userId="d49f38c7da5d9737" providerId="LiveId" clId="{74BAE539-5A96-4830-AD90-F51E8ECC701B}" dt="2026-04-16T22:04:34.720" v="4802" actId="20577"/>
        <pc:sldMkLst>
          <pc:docMk/>
          <pc:sldMk cId="4101661442" sldId="256"/>
        </pc:sldMkLst>
        <pc:spChg chg="mod">
          <ac:chgData name="Charine Labao" userId="d49f38c7da5d9737" providerId="LiveId" clId="{74BAE539-5A96-4830-AD90-F51E8ECC701B}" dt="2026-04-16T22:04:34.720" v="4802" actId="20577"/>
          <ac:spMkLst>
            <pc:docMk/>
            <pc:sldMk cId="4101661442" sldId="256"/>
            <ac:spMk id="5" creationId="{C9952615-B71B-7FBD-78A4-378A1F67E0BB}"/>
          </ac:spMkLst>
        </pc:spChg>
      </pc:sldChg>
      <pc:sldChg chg="modSp mod">
        <pc:chgData name="Charine Labao" userId="d49f38c7da5d9737" providerId="LiveId" clId="{74BAE539-5A96-4830-AD90-F51E8ECC701B}" dt="2026-04-16T22:06:01.549" v="4806" actId="207"/>
        <pc:sldMkLst>
          <pc:docMk/>
          <pc:sldMk cId="1737026159" sldId="315"/>
        </pc:sldMkLst>
        <pc:spChg chg="mod">
          <ac:chgData name="Charine Labao" userId="d49f38c7da5d9737" providerId="LiveId" clId="{74BAE539-5A96-4830-AD90-F51E8ECC701B}" dt="2026-04-16T22:06:01.549" v="4806" actId="207"/>
          <ac:spMkLst>
            <pc:docMk/>
            <pc:sldMk cId="1737026159" sldId="315"/>
            <ac:spMk id="2" creationId="{A6B032BC-B1D6-E99A-2D4C-C1D9C2B7AC88}"/>
          </ac:spMkLst>
        </pc:spChg>
        <pc:spChg chg="mod">
          <ac:chgData name="Charine Labao" userId="d49f38c7da5d9737" providerId="LiveId" clId="{74BAE539-5A96-4830-AD90-F51E8ECC701B}" dt="2026-04-16T22:05:57.635" v="4805" actId="14100"/>
          <ac:spMkLst>
            <pc:docMk/>
            <pc:sldMk cId="1737026159" sldId="315"/>
            <ac:spMk id="3" creationId="{0BB223B6-F5FA-EC54-98A9-E70D02BD73F2}"/>
          </ac:spMkLst>
        </pc:spChg>
      </pc:sldChg>
      <pc:sldChg chg="modSp mod">
        <pc:chgData name="Charine Labao" userId="d49f38c7da5d9737" providerId="LiveId" clId="{74BAE539-5A96-4830-AD90-F51E8ECC701B}" dt="2026-04-16T22:06:17.201" v="4809" actId="207"/>
        <pc:sldMkLst>
          <pc:docMk/>
          <pc:sldMk cId="3616196084" sldId="316"/>
        </pc:sldMkLst>
        <pc:spChg chg="mod">
          <ac:chgData name="Charine Labao" userId="d49f38c7da5d9737" providerId="LiveId" clId="{74BAE539-5A96-4830-AD90-F51E8ECC701B}" dt="2026-04-16T22:06:17.201" v="4809" actId="207"/>
          <ac:spMkLst>
            <pc:docMk/>
            <pc:sldMk cId="3616196084" sldId="316"/>
            <ac:spMk id="7" creationId="{31F91A49-93F7-8854-B4D6-1B2038FF816B}"/>
          </ac:spMkLst>
        </pc:spChg>
      </pc:sldChg>
      <pc:sldChg chg="modSp mod">
        <pc:chgData name="Charine Labao" userId="d49f38c7da5d9737" providerId="LiveId" clId="{74BAE539-5A96-4830-AD90-F51E8ECC701B}" dt="2026-04-16T22:14:37.701" v="4818" actId="207"/>
        <pc:sldMkLst>
          <pc:docMk/>
          <pc:sldMk cId="254400569" sldId="324"/>
        </pc:sldMkLst>
        <pc:spChg chg="mod">
          <ac:chgData name="Charine Labao" userId="d49f38c7da5d9737" providerId="LiveId" clId="{74BAE539-5A96-4830-AD90-F51E8ECC701B}" dt="2026-04-16T22:14:37.701" v="4818" actId="207"/>
          <ac:spMkLst>
            <pc:docMk/>
            <pc:sldMk cId="254400569" sldId="324"/>
            <ac:spMk id="7" creationId="{E0B75AB9-71AA-F65C-779C-484702C50948}"/>
          </ac:spMkLst>
        </pc:spChg>
      </pc:sldChg>
      <pc:sldChg chg="modSp mod">
        <pc:chgData name="Charine Labao" userId="d49f38c7da5d9737" providerId="LiveId" clId="{74BAE539-5A96-4830-AD90-F51E8ECC701B}" dt="2026-04-16T22:16:29.859" v="4822" actId="207"/>
        <pc:sldMkLst>
          <pc:docMk/>
          <pc:sldMk cId="1433527617" sldId="325"/>
        </pc:sldMkLst>
        <pc:spChg chg="mod">
          <ac:chgData name="Charine Labao" userId="d49f38c7da5d9737" providerId="LiveId" clId="{74BAE539-5A96-4830-AD90-F51E8ECC701B}" dt="2026-04-16T22:16:29.859" v="4822" actId="207"/>
          <ac:spMkLst>
            <pc:docMk/>
            <pc:sldMk cId="1433527617" sldId="325"/>
            <ac:spMk id="5" creationId="{8168AF62-CD9F-D791-9586-75EC8B036A78}"/>
          </ac:spMkLst>
        </pc:spChg>
      </pc:sldChg>
      <pc:sldChg chg="modSp mod">
        <pc:chgData name="Charine Labao" userId="d49f38c7da5d9737" providerId="LiveId" clId="{74BAE539-5A96-4830-AD90-F51E8ECC701B}" dt="2026-04-16T22:17:29.392" v="4829" actId="113"/>
        <pc:sldMkLst>
          <pc:docMk/>
          <pc:sldMk cId="2739966783" sldId="326"/>
        </pc:sldMkLst>
        <pc:spChg chg="mod">
          <ac:chgData name="Charine Labao" userId="d49f38c7da5d9737" providerId="LiveId" clId="{74BAE539-5A96-4830-AD90-F51E8ECC701B}" dt="2026-04-16T22:17:29.392" v="4829" actId="113"/>
          <ac:spMkLst>
            <pc:docMk/>
            <pc:sldMk cId="2739966783" sldId="326"/>
            <ac:spMk id="5" creationId="{AA4C9232-B1FB-C357-ED8E-F036B9C48D1E}"/>
          </ac:spMkLst>
        </pc:spChg>
      </pc:sldChg>
      <pc:sldChg chg="modSp mod">
        <pc:chgData name="Charine Labao" userId="d49f38c7da5d9737" providerId="LiveId" clId="{74BAE539-5A96-4830-AD90-F51E8ECC701B}" dt="2026-04-16T22:29:43.825" v="4943" actId="20577"/>
        <pc:sldMkLst>
          <pc:docMk/>
          <pc:sldMk cId="1189677554" sldId="328"/>
        </pc:sldMkLst>
        <pc:spChg chg="mod">
          <ac:chgData name="Charine Labao" userId="d49f38c7da5d9737" providerId="LiveId" clId="{74BAE539-5A96-4830-AD90-F51E8ECC701B}" dt="2026-04-16T22:29:43.825" v="4943" actId="20577"/>
          <ac:spMkLst>
            <pc:docMk/>
            <pc:sldMk cId="1189677554" sldId="328"/>
            <ac:spMk id="5" creationId="{FD2E4880-C405-2A35-0E6E-BA2387BFC8CB}"/>
          </ac:spMkLst>
        </pc:spChg>
      </pc:sldChg>
      <pc:sldChg chg="modSp mod">
        <pc:chgData name="Charine Labao" userId="d49f38c7da5d9737" providerId="LiveId" clId="{74BAE539-5A96-4830-AD90-F51E8ECC701B}" dt="2026-04-16T22:36:44.815" v="5352" actId="207"/>
        <pc:sldMkLst>
          <pc:docMk/>
          <pc:sldMk cId="2938806670" sldId="329"/>
        </pc:sldMkLst>
        <pc:spChg chg="mod">
          <ac:chgData name="Charine Labao" userId="d49f38c7da5d9737" providerId="LiveId" clId="{74BAE539-5A96-4830-AD90-F51E8ECC701B}" dt="2026-04-16T22:36:44.815" v="5352" actId="207"/>
          <ac:spMkLst>
            <pc:docMk/>
            <pc:sldMk cId="2938806670" sldId="329"/>
            <ac:spMk id="5" creationId="{368F66EF-6DC0-DF30-36C2-2B8A40CC26F3}"/>
          </ac:spMkLst>
        </pc:spChg>
      </pc:sldChg>
      <pc:sldChg chg="modSp mod">
        <pc:chgData name="Charine Labao" userId="d49f38c7da5d9737" providerId="LiveId" clId="{74BAE539-5A96-4830-AD90-F51E8ECC701B}" dt="2026-04-16T22:38:41.453" v="5362" actId="108"/>
        <pc:sldMkLst>
          <pc:docMk/>
          <pc:sldMk cId="3202397117" sldId="330"/>
        </pc:sldMkLst>
        <pc:spChg chg="mod">
          <ac:chgData name="Charine Labao" userId="d49f38c7da5d9737" providerId="LiveId" clId="{74BAE539-5A96-4830-AD90-F51E8ECC701B}" dt="2026-04-16T22:37:38.313" v="5357" actId="14100"/>
          <ac:spMkLst>
            <pc:docMk/>
            <pc:sldMk cId="3202397117" sldId="330"/>
            <ac:spMk id="3" creationId="{B6AF28D0-344D-3E7D-EC04-977351EACA10}"/>
          </ac:spMkLst>
        </pc:spChg>
        <pc:spChg chg="mod">
          <ac:chgData name="Charine Labao" userId="d49f38c7da5d9737" providerId="LiveId" clId="{74BAE539-5A96-4830-AD90-F51E8ECC701B}" dt="2026-04-16T22:38:41.453" v="5362" actId="108"/>
          <ac:spMkLst>
            <pc:docMk/>
            <pc:sldMk cId="3202397117" sldId="330"/>
            <ac:spMk id="5" creationId="{ECFAD770-37B3-5ADF-9760-5B531ED4D210}"/>
          </ac:spMkLst>
        </pc:spChg>
      </pc:sldChg>
      <pc:sldChg chg="modSp mod">
        <pc:chgData name="Charine Labao" userId="d49f38c7da5d9737" providerId="LiveId" clId="{74BAE539-5A96-4830-AD90-F51E8ECC701B}" dt="2026-04-16T22:38:56.274" v="5363" actId="2711"/>
        <pc:sldMkLst>
          <pc:docMk/>
          <pc:sldMk cId="2615811045" sldId="331"/>
        </pc:sldMkLst>
        <pc:spChg chg="mod">
          <ac:chgData name="Charine Labao" userId="d49f38c7da5d9737" providerId="LiveId" clId="{74BAE539-5A96-4830-AD90-F51E8ECC701B}" dt="2026-04-16T22:38:56.274" v="5363" actId="2711"/>
          <ac:spMkLst>
            <pc:docMk/>
            <pc:sldMk cId="2615811045" sldId="331"/>
            <ac:spMk id="5" creationId="{1139C38D-6DB3-338A-B8A5-588C1A6863B6}"/>
          </ac:spMkLst>
        </pc:spChg>
      </pc:sldChg>
      <pc:sldChg chg="modSp mod">
        <pc:chgData name="Charine Labao" userId="d49f38c7da5d9737" providerId="LiveId" clId="{74BAE539-5A96-4830-AD90-F51E8ECC701B}" dt="2026-04-16T22:49:31.712" v="5539" actId="20577"/>
        <pc:sldMkLst>
          <pc:docMk/>
          <pc:sldMk cId="329968195" sldId="333"/>
        </pc:sldMkLst>
        <pc:spChg chg="mod">
          <ac:chgData name="Charine Labao" userId="d49f38c7da5d9737" providerId="LiveId" clId="{74BAE539-5A96-4830-AD90-F51E8ECC701B}" dt="2026-04-16T22:49:31.712" v="5539" actId="20577"/>
          <ac:spMkLst>
            <pc:docMk/>
            <pc:sldMk cId="329968195" sldId="333"/>
            <ac:spMk id="13" creationId="{36E87857-D049-E52F-4C0B-5B248B6D7A9F}"/>
          </ac:spMkLst>
        </pc:spChg>
      </pc:sldChg>
      <pc:sldChg chg="modSp mod">
        <pc:chgData name="Charine Labao" userId="d49f38c7da5d9737" providerId="LiveId" clId="{74BAE539-5A96-4830-AD90-F51E8ECC701B}" dt="2026-04-16T22:48:31.393" v="5440" actId="207"/>
        <pc:sldMkLst>
          <pc:docMk/>
          <pc:sldMk cId="3864953645" sldId="334"/>
        </pc:sldMkLst>
        <pc:spChg chg="mod">
          <ac:chgData name="Charine Labao" userId="d49f38c7da5d9737" providerId="LiveId" clId="{74BAE539-5A96-4830-AD90-F51E8ECC701B}" dt="2026-04-16T22:48:31.393" v="5440" actId="207"/>
          <ac:spMkLst>
            <pc:docMk/>
            <pc:sldMk cId="3864953645" sldId="334"/>
            <ac:spMk id="5" creationId="{5759098C-9425-093D-67FF-A6A8318F633E}"/>
          </ac:spMkLst>
        </pc:spChg>
      </pc:sldChg>
      <pc:sldChg chg="modSp mod">
        <pc:chgData name="Charine Labao" userId="d49f38c7da5d9737" providerId="LiveId" clId="{74BAE539-5A96-4830-AD90-F51E8ECC701B}" dt="2026-04-16T22:07:46.742" v="4812" actId="20577"/>
        <pc:sldMkLst>
          <pc:docMk/>
          <pc:sldMk cId="2433800596" sldId="343"/>
        </pc:sldMkLst>
        <pc:spChg chg="mod">
          <ac:chgData name="Charine Labao" userId="d49f38c7da5d9737" providerId="LiveId" clId="{74BAE539-5A96-4830-AD90-F51E8ECC701B}" dt="2026-04-16T22:07:46.742" v="4812" actId="20577"/>
          <ac:spMkLst>
            <pc:docMk/>
            <pc:sldMk cId="2433800596" sldId="343"/>
            <ac:spMk id="7" creationId="{8B00DA4F-9445-75E0-30A1-3D132F892E58}"/>
          </ac:spMkLst>
        </pc:spChg>
      </pc:sldChg>
      <pc:sldChg chg="modSp mod">
        <pc:chgData name="Charine Labao" userId="d49f38c7da5d9737" providerId="LiveId" clId="{74BAE539-5A96-4830-AD90-F51E8ECC701B}" dt="2026-04-16T22:08:31.806" v="4813" actId="2711"/>
        <pc:sldMkLst>
          <pc:docMk/>
          <pc:sldMk cId="418883494" sldId="348"/>
        </pc:sldMkLst>
        <pc:spChg chg="mod">
          <ac:chgData name="Charine Labao" userId="d49f38c7da5d9737" providerId="LiveId" clId="{74BAE539-5A96-4830-AD90-F51E8ECC701B}" dt="2026-04-16T22:08:31.806" v="4813" actId="2711"/>
          <ac:spMkLst>
            <pc:docMk/>
            <pc:sldMk cId="418883494" sldId="348"/>
            <ac:spMk id="7" creationId="{204CE693-D413-1587-00B4-742FA93D2B83}"/>
          </ac:spMkLst>
        </pc:spChg>
      </pc:sldChg>
      <pc:sldChg chg="modSp mod">
        <pc:chgData name="Charine Labao" userId="d49f38c7da5d9737" providerId="LiveId" clId="{74BAE539-5A96-4830-AD90-F51E8ECC701B}" dt="2026-04-16T22:22:18.067" v="4830" actId="20577"/>
        <pc:sldMkLst>
          <pc:docMk/>
          <pc:sldMk cId="1634810711" sldId="350"/>
        </pc:sldMkLst>
        <pc:spChg chg="mod">
          <ac:chgData name="Charine Labao" userId="d49f38c7da5d9737" providerId="LiveId" clId="{74BAE539-5A96-4830-AD90-F51E8ECC701B}" dt="2026-04-16T22:22:18.067" v="4830" actId="20577"/>
          <ac:spMkLst>
            <pc:docMk/>
            <pc:sldMk cId="1634810711" sldId="350"/>
            <ac:spMk id="5" creationId="{6967A1B2-7238-5F36-CE28-C4C7CB7B36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9E4C6-9EB3-473B-A1C2-288F1938347A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AE25A-5D24-4004-A82D-A9BE88A40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060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AE25A-5D24-4004-A82D-A9BE88A40641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948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638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545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056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859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065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438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234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18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977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3991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4770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4175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694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8184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6308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3778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613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0710144-C51D-4F13-8FAF-CC827A160CBB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8361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50" r:id="rId4"/>
    <p:sldLayoutId id="2147484151" r:id="rId5"/>
    <p:sldLayoutId id="2147484152" r:id="rId6"/>
    <p:sldLayoutId id="2147484153" r:id="rId7"/>
    <p:sldLayoutId id="2147484154" r:id="rId8"/>
    <p:sldLayoutId id="2147484155" r:id="rId9"/>
    <p:sldLayoutId id="2147484156" r:id="rId10"/>
    <p:sldLayoutId id="2147484157" r:id="rId11"/>
    <p:sldLayoutId id="2147484158" r:id="rId12"/>
    <p:sldLayoutId id="2147484159" r:id="rId13"/>
    <p:sldLayoutId id="2147484160" r:id="rId14"/>
    <p:sldLayoutId id="2147484161" r:id="rId15"/>
    <p:sldLayoutId id="2147484162" r:id="rId16"/>
    <p:sldLayoutId id="21474841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952615-B71B-7FBD-78A4-378A1F67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6910"/>
            <a:ext cx="12192000" cy="3471471"/>
          </a:xfrm>
        </p:spPr>
        <p:txBody>
          <a:bodyPr>
            <a:noAutofit/>
          </a:bodyPr>
          <a:lstStyle/>
          <a:p>
            <a:pPr algn="ctr"/>
            <a:r>
              <a:rPr lang="en-PH" sz="13600" dirty="0">
                <a:latin typeface="Arial Nova Cond Light" panose="020B0306020202020204" pitchFamily="34" charset="0"/>
              </a:rPr>
              <a:t>Welcome Back Pablo!</a:t>
            </a:r>
          </a:p>
        </p:txBody>
      </p:sp>
    </p:spTree>
    <p:extLst>
      <p:ext uri="{BB962C8B-B14F-4D97-AF65-F5344CB8AC3E}">
        <p14:creationId xmlns:p14="http://schemas.microsoft.com/office/powerpoint/2010/main" val="410166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24FC-36EF-BF32-1929-24348699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469B-D37F-D990-E189-D913B41EB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4267"/>
            <a:ext cx="11946467" cy="2734733"/>
          </a:xfrm>
        </p:spPr>
        <p:txBody>
          <a:bodyPr>
            <a:normAutofit fontScale="90000"/>
          </a:bodyPr>
          <a:lstStyle/>
          <a:p>
            <a:pPr algn="ctr"/>
            <a:br>
              <a:rPr lang="en-PH" sz="14900" dirty="0">
                <a:latin typeface="Arial Narrow" panose="020B0606020202030204" pitchFamily="34" charset="0"/>
              </a:rPr>
            </a:br>
            <a:r>
              <a:rPr lang="en-PH" sz="21400" dirty="0">
                <a:latin typeface="Arial Nova Cond Light" panose="020B0306020202020204" pitchFamily="34" charset="0"/>
              </a:rPr>
              <a:t>Lesson 05</a:t>
            </a:r>
            <a:endParaRPr lang="en-PH" sz="149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22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35D8-B879-0DE4-A35C-444C61DB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32BC-B1D6-E99A-2D4C-C1D9C2B7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94154"/>
            <a:ext cx="12192000" cy="440081"/>
          </a:xfrm>
        </p:spPr>
        <p:txBody>
          <a:bodyPr>
            <a:noAutofit/>
          </a:bodyPr>
          <a:lstStyle/>
          <a:p>
            <a:pPr lvl="0" algn="ctr"/>
            <a:r>
              <a:rPr lang="en-PH" sz="88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Words That Show Possession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23B6-F5FA-EC54-98A9-E70D02BD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3932" y="1831736"/>
            <a:ext cx="12335932" cy="40525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3702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60D4-A038-F675-7C35-6F5B6B3E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F29B-110C-F112-C15A-82139F59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91A49-93F7-8854-B4D6-1B2038FF816B}"/>
              </a:ext>
            </a:extLst>
          </p:cNvPr>
          <p:cNvSpPr txBox="1"/>
          <p:nvPr/>
        </p:nvSpPr>
        <p:spPr>
          <a:xfrm>
            <a:off x="-97367" y="839739"/>
            <a:ext cx="12289367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980" marR="369570" indent="1270">
              <a:lnSpc>
                <a:spcPct val="108000"/>
              </a:lnSpc>
              <a:spcBef>
                <a:spcPts val="1375"/>
              </a:spcBef>
              <a:buNone/>
            </a:pP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Certain words in Tagalog are used to indicate  possession. These include the words </a:t>
            </a:r>
            <a:r>
              <a:rPr lang="en-US" sz="4400" dirty="0" err="1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</a:t>
            </a: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 and </a:t>
            </a:r>
            <a:r>
              <a:rPr lang="en-US" sz="4400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ng</a:t>
            </a: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; posses­sive pronouns such as </a:t>
            </a:r>
            <a:r>
              <a:rPr lang="en-US" sz="4400" dirty="0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akin</a:t>
            </a: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; as well as </a:t>
            </a:r>
            <a:r>
              <a:rPr lang="en-US" sz="4400" dirty="0" err="1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nito</a:t>
            </a: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, </a:t>
            </a:r>
            <a:r>
              <a:rPr lang="en-US" sz="4400" dirty="0" err="1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niyan</a:t>
            </a: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 and </a:t>
            </a:r>
            <a:r>
              <a:rPr lang="en-US" sz="4400" dirty="0" err="1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niyon</a:t>
            </a:r>
            <a:r>
              <a:rPr lang="en-US" sz="4400" dirty="0">
                <a:latin typeface="Arial Nova Cond Light" panose="020B0306020202020204" pitchFamily="34" charset="0"/>
                <a:ea typeface="+mj-ea"/>
                <a:cs typeface="+mj-cs"/>
              </a:rPr>
              <a:t>, which are the possessive counterparts of the demonstratives this and that</a:t>
            </a:r>
            <a:r>
              <a:rPr lang="en-US" sz="4400" dirty="0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.</a:t>
            </a:r>
            <a:endParaRPr lang="en-PH" sz="4400" dirty="0">
              <a:solidFill>
                <a:schemeClr val="accent1"/>
              </a:solidFill>
              <a:latin typeface="Arial Nova Cond Light" panose="020B0306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6196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81EF-E29B-1A62-5DC1-189FFDEB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C50C-5A7F-40B7-5F1E-FD16E199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717E8-A3F2-81ED-716D-98378E027D4C}"/>
              </a:ext>
            </a:extLst>
          </p:cNvPr>
          <p:cNvSpPr txBox="1"/>
          <p:nvPr/>
        </p:nvSpPr>
        <p:spPr>
          <a:xfrm>
            <a:off x="0" y="516467"/>
            <a:ext cx="12192000" cy="4807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">
              <a:spcBef>
                <a:spcPts val="5"/>
              </a:spcBef>
              <a:buNone/>
            </a:pP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I. THE POSSESSIVE WORDS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</a:t>
            </a:r>
            <a:r>
              <a:rPr lang="en-US" sz="3600" b="1" dirty="0"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AND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NG</a:t>
            </a:r>
            <a:endParaRPr lang="en-PH" sz="3600" b="1" dirty="0">
              <a:solidFill>
                <a:srgbClr val="FFFF00"/>
              </a:solidFill>
              <a:latin typeface="Arial Nova Cond Light" panose="020B0306020202020204" pitchFamily="34" charset="0"/>
              <a:ea typeface="+mj-ea"/>
              <a:cs typeface="+mj-cs"/>
            </a:endParaRPr>
          </a:p>
          <a:p>
            <a:pPr>
              <a:spcBef>
                <a:spcPts val="25"/>
              </a:spcBef>
              <a:buNone/>
            </a:pPr>
            <a:r>
              <a:rPr lang="en-US" sz="3600" dirty="0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 </a:t>
            </a:r>
            <a:endParaRPr lang="en-PH" sz="3600" dirty="0">
              <a:solidFill>
                <a:schemeClr val="accent1"/>
              </a:solidFill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95885" marR="363220" indent="-5715" algn="just">
              <a:lnSpc>
                <a:spcPct val="110000"/>
              </a:lnSpc>
              <a:spcBef>
                <a:spcPts val="5"/>
              </a:spcBef>
              <a:buNone/>
            </a:pP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To indicate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ownership,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 the possessive word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 is placed before a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proper noun such as Maria 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or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Pedro w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hile the word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 is placed before a common noun such as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guro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 (teacher) or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babae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 (woman).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ni</a:t>
            </a:r>
            <a:r>
              <a:rPr lang="en-US" sz="3600" b="1" dirty="0">
                <a:solidFill>
                  <a:schemeClr val="accent1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and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ng 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both mean </a:t>
            </a:r>
            <a:r>
              <a:rPr lang="en-US" sz="3600" b="1" i="1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of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in English. </a:t>
            </a:r>
          </a:p>
          <a:p>
            <a:pPr marL="95885" marR="363220" indent="-5715" algn="just">
              <a:lnSpc>
                <a:spcPct val="110000"/>
              </a:lnSpc>
              <a:spcBef>
                <a:spcPts val="5"/>
              </a:spcBef>
              <a:buNone/>
            </a:pPr>
            <a:r>
              <a:rPr lang="en-US" sz="3600" dirty="0">
                <a:latin typeface="Arial Nova Cond Light" panose="020B0306020202020204" pitchFamily="34" charset="0"/>
                <a:ea typeface="+mj-ea"/>
                <a:cs typeface="+mj-cs"/>
              </a:rPr>
              <a:t>Note that in Tagalog sentences, the object that is possessed must always come before the owner as in the following examples</a:t>
            </a:r>
            <a:r>
              <a:rPr lang="en-US" sz="3200" dirty="0"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:</a:t>
            </a:r>
            <a:endParaRPr lang="en-PH" sz="3200" dirty="0">
              <a:effectLst/>
              <a:latin typeface="Arial Nova Cond Light" panose="020B0306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52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3A1C8-F26F-B4B6-48EF-EEE0372C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9EF3-A55C-6589-5BC5-12DF52AC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0DA4F-9445-75E0-30A1-3D132F892E58}"/>
              </a:ext>
            </a:extLst>
          </p:cNvPr>
          <p:cNvSpPr txBox="1"/>
          <p:nvPr/>
        </p:nvSpPr>
        <p:spPr>
          <a:xfrm>
            <a:off x="0" y="516467"/>
            <a:ext cx="13716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bahay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latin typeface="Arial Nova Cond Light" panose="020B0306020202020204" pitchFamily="34" charset="0"/>
              </a:rPr>
              <a:t> maria 					the house of maria or maria's house </a:t>
            </a:r>
            <a:br>
              <a:rPr lang="en-US" sz="3600" dirty="0">
                <a:latin typeface="Arial Nova Cond Light" panose="020B0306020202020204" pitchFamily="34" charset="0"/>
              </a:rPr>
            </a:br>
            <a:r>
              <a:rPr lang="en-US" sz="3600" dirty="0">
                <a:latin typeface="Arial Nova Cond Light" panose="020B0306020202020204" pitchFamily="34" charset="0"/>
              </a:rPr>
              <a:t>ang lapis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Helen 					the pencil of Helen or Helen's pencil</a:t>
            </a:r>
            <a:br>
              <a:rPr lang="en-US" sz="3600" dirty="0">
                <a:latin typeface="Arial Nova Cond Light" panose="020B0306020202020204" pitchFamily="34" charset="0"/>
              </a:rPr>
            </a:br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baro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Juan 		 			the shirt of Juan or Juan's shirt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sapatos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Berto 				the shoes of Berto or Berto's shoes 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aklat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Paulo 					the book of Paulo or Paulo's book 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bahay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latin typeface="Arial Nova Cond Light" panose="020B0306020202020204" pitchFamily="34" charset="0"/>
              </a:rPr>
              <a:t>lalaki</a:t>
            </a:r>
            <a:r>
              <a:rPr lang="en-US" sz="3600" dirty="0">
                <a:latin typeface="Arial Nova Cond Light" panose="020B0306020202020204" pitchFamily="34" charset="0"/>
              </a:rPr>
              <a:t> 		 			the house of the man or man's house 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baro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dirty="0" err="1">
                <a:latin typeface="Arial Nova Cond Light" panose="020B0306020202020204" pitchFamily="34" charset="0"/>
              </a:rPr>
              <a:t>sanggol</a:t>
            </a:r>
            <a:r>
              <a:rPr lang="en-US" sz="3600" dirty="0">
                <a:latin typeface="Arial Nova Cond Light" panose="020B0306020202020204" pitchFamily="34" charset="0"/>
              </a:rPr>
              <a:t> 				the dress of the baby or baby's dress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lapis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latin typeface="Arial Nova Cond Light" panose="020B0306020202020204" pitchFamily="34" charset="0"/>
              </a:rPr>
              <a:t>guro</a:t>
            </a:r>
            <a:r>
              <a:rPr lang="en-US" sz="3600" dirty="0">
                <a:latin typeface="Arial Nova Cond Light" panose="020B0306020202020204" pitchFamily="34" charset="0"/>
              </a:rPr>
              <a:t> 			 		the pencil of the teacher or teacher's pencil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aklat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latin typeface="Arial Nova Cond Light" panose="020B0306020202020204" pitchFamily="34" charset="0"/>
              </a:rPr>
              <a:t>babae</a:t>
            </a:r>
            <a:r>
              <a:rPr lang="en-US" sz="3600" dirty="0">
                <a:latin typeface="Arial Nova Cond Light" panose="020B0306020202020204" pitchFamily="34" charset="0"/>
              </a:rPr>
              <a:t>					the book of the woman or the woman's book</a:t>
            </a:r>
          </a:p>
          <a:p>
            <a:endParaRPr lang="en-US" sz="3600" dirty="0">
              <a:latin typeface="Arial Nova Cond Light" panose="020B0306020202020204" pitchFamily="34" charset="0"/>
            </a:endParaRPr>
          </a:p>
          <a:p>
            <a:endParaRPr lang="en-US" sz="3600" dirty="0">
              <a:latin typeface="Arial Nova Cond Light" panose="020B0306020202020204" pitchFamily="34" charset="0"/>
            </a:endParaRPr>
          </a:p>
          <a:p>
            <a:endParaRPr lang="en-US" sz="3600" dirty="0">
              <a:latin typeface="Arial Nova Cond Light" panose="020B0306020202020204" pitchFamily="34" charset="0"/>
            </a:endParaRPr>
          </a:p>
          <a:p>
            <a:endParaRPr lang="en-US" sz="36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80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2B78-AFE8-063B-1146-1BC6FE6F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7F45-E25D-7C55-8C53-9A13BA205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CE693-D413-1587-00B4-742FA93D2B83}"/>
              </a:ext>
            </a:extLst>
          </p:cNvPr>
          <p:cNvSpPr txBox="1"/>
          <p:nvPr/>
        </p:nvSpPr>
        <p:spPr>
          <a:xfrm>
            <a:off x="0" y="103239"/>
            <a:ext cx="12192000" cy="576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 Nova Cond Light" panose="020B0306020202020204" pitchFamily="34" charset="0"/>
              </a:rPr>
              <a:t>Based on the plurality rule, when the owner or the thing that is possessed is more than one, the plu­ral form of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 and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</a:rPr>
              <a:t> are used. The plural form of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is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nina</a:t>
            </a:r>
            <a:r>
              <a:rPr lang="en-US" sz="3600" dirty="0">
                <a:latin typeface="Arial Nova Cond Light" panose="020B0306020202020204" pitchFamily="34" charset="0"/>
              </a:rPr>
              <a:t> while that of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</a:rPr>
              <a:t> is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.</a:t>
            </a:r>
          </a:p>
          <a:p>
            <a:endParaRPr lang="en-US" sz="3600" dirty="0">
              <a:latin typeface="Arial Nova Cond Light" panose="020B0306020202020204" pitchFamily="34" charset="0"/>
            </a:endParaRPr>
          </a:p>
          <a:p>
            <a:pPr marL="90170">
              <a:lnSpc>
                <a:spcPct val="125000"/>
              </a:lnSpc>
              <a:spcBef>
                <a:spcPts val="500"/>
              </a:spcBef>
            </a:pPr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bahay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nina</a:t>
            </a:r>
            <a:r>
              <a:rPr lang="en-US" sz="3600" dirty="0">
                <a:latin typeface="Arial Nova Cond Light" panose="020B0306020202020204" pitchFamily="34" charset="0"/>
              </a:rPr>
              <a:t> Maria at Pedro.			The house of maria and Pedro.</a:t>
            </a:r>
          </a:p>
          <a:p>
            <a:pPr marL="90170">
              <a:lnSpc>
                <a:spcPct val="125000"/>
              </a:lnSpc>
              <a:spcBef>
                <a:spcPts val="500"/>
              </a:spcBef>
            </a:pPr>
            <a:r>
              <a:rPr lang="en-US" sz="3600" dirty="0">
                <a:latin typeface="Arial Nova Cond Light" panose="020B0306020202020204" pitchFamily="34" charset="0"/>
              </a:rPr>
              <a:t>Ang lapis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nina</a:t>
            </a:r>
            <a:r>
              <a:rPr lang="en-US" sz="36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Helen							The pencil of Helen and company</a:t>
            </a:r>
            <a:br>
              <a:rPr lang="en-US" sz="3600" dirty="0">
                <a:latin typeface="Arial Nova Cond Light" panose="020B0306020202020204" pitchFamily="34" charset="0"/>
              </a:rPr>
            </a:br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sapatos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bata 					The shoes of the children or the 																</a:t>
            </a:r>
            <a:r>
              <a:rPr lang="en-US" sz="3600" dirty="0" err="1">
                <a:latin typeface="Arial Nova Cond Light" panose="020B0306020202020204" pitchFamily="34" charset="0"/>
              </a:rPr>
              <a:t>childre’s</a:t>
            </a:r>
            <a:r>
              <a:rPr lang="en-US" sz="3600" dirty="0">
                <a:latin typeface="Arial Nova Cond Light" panose="020B0306020202020204" pitchFamily="34" charset="0"/>
              </a:rPr>
              <a:t> shoes</a:t>
            </a:r>
          </a:p>
          <a:p>
            <a:endParaRPr lang="en-US" sz="36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5380-63AB-5022-0777-7F860885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32C5-3052-C8AA-5D16-1A4719F5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72CAD-4AEA-0755-CB6F-808BB6F7A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031928"/>
            <a:ext cx="11938000" cy="51328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3600" dirty="0">
                <a:latin typeface="Arial Nova Cond Light" panose="020B0306020202020204" pitchFamily="34" charset="0"/>
              </a:rPr>
              <a:t>Damit									Clothes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 err="1">
                <a:latin typeface="Arial Nova Cond Light" panose="020B0306020202020204" pitchFamily="34" charset="0"/>
              </a:rPr>
              <a:t>Kotse</a:t>
            </a:r>
            <a:r>
              <a:rPr lang="en-PH" sz="3600" dirty="0">
                <a:latin typeface="Arial Nova Cond Light" panose="020B0306020202020204" pitchFamily="34" charset="0"/>
              </a:rPr>
              <a:t>										Car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>
                <a:latin typeface="Arial Nova Cond Light" panose="020B0306020202020204" pitchFamily="34" charset="0"/>
              </a:rPr>
              <a:t>Gamot									Medicine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 err="1">
                <a:latin typeface="Arial Nova Cond Light" panose="020B0306020202020204" pitchFamily="34" charset="0"/>
              </a:rPr>
              <a:t>Pagkain</a:t>
            </a:r>
            <a:r>
              <a:rPr lang="en-PH" sz="3600" dirty="0">
                <a:latin typeface="Arial Nova Cond Light" panose="020B0306020202020204" pitchFamily="34" charset="0"/>
              </a:rPr>
              <a:t>									Food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>
                <a:latin typeface="Arial Nova Cond Light" panose="020B0306020202020204" pitchFamily="34" charset="0"/>
              </a:rPr>
              <a:t>Luma										Old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 err="1">
                <a:latin typeface="Arial Nova Cond Light" panose="020B0306020202020204" pitchFamily="34" charset="0"/>
              </a:rPr>
              <a:t>Paaralan</a:t>
            </a:r>
            <a:r>
              <a:rPr lang="en-PH" sz="3600" dirty="0">
                <a:latin typeface="Arial Nova Cond Light" panose="020B0306020202020204" pitchFamily="34" charset="0"/>
              </a:rPr>
              <a:t>									School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 err="1">
                <a:latin typeface="Arial Nova Cond Light" panose="020B0306020202020204" pitchFamily="34" charset="0"/>
              </a:rPr>
              <a:t>Malamig</a:t>
            </a:r>
            <a:r>
              <a:rPr lang="en-PH" sz="3600" dirty="0">
                <a:latin typeface="Arial Nova Cond Light" panose="020B0306020202020204" pitchFamily="34" charset="0"/>
              </a:rPr>
              <a:t> 								Cold</a:t>
            </a:r>
            <a:br>
              <a:rPr lang="en-PH" sz="3600" dirty="0">
                <a:latin typeface="Arial Nova Cond Light" panose="020B0306020202020204" pitchFamily="34" charset="0"/>
              </a:rPr>
            </a:br>
            <a:r>
              <a:rPr lang="en-PH" sz="3600" dirty="0" err="1">
                <a:latin typeface="Arial Nova Cond Light" panose="020B0306020202020204" pitchFamily="34" charset="0"/>
              </a:rPr>
              <a:t>Marumi</a:t>
            </a:r>
            <a:r>
              <a:rPr lang="en-PH" sz="3600" dirty="0">
                <a:latin typeface="Arial Nova Cond Light" panose="020B0306020202020204" pitchFamily="34" charset="0"/>
              </a:rPr>
              <a:t>									Dirty</a:t>
            </a:r>
          </a:p>
          <a:p>
            <a:pPr marL="0" indent="0">
              <a:buNone/>
            </a:pPr>
            <a:endParaRPr lang="en-PH" sz="3600" dirty="0">
              <a:latin typeface="Arial Nova Cond Light" panose="020B0306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B370B8-EAED-C6F5-8D66-7B87204FE07C}"/>
              </a:ext>
            </a:extLst>
          </p:cNvPr>
          <p:cNvSpPr txBox="1"/>
          <p:nvPr/>
        </p:nvSpPr>
        <p:spPr>
          <a:xfrm>
            <a:off x="0" y="125532"/>
            <a:ext cx="1219199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Arial Narrow" panose="020B0606020202030204" pitchFamily="34" charset="0"/>
              </a:rPr>
              <a:t>VOCABULARY LIST</a:t>
            </a:r>
          </a:p>
          <a:p>
            <a:pPr algn="ctr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60937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9874-F104-AB45-B871-48F52780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AE8B-0A28-8736-5C07-98C0D000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C4E629-B5AE-F0EF-F003-2911D6C2F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231797"/>
              </p:ext>
            </p:extLst>
          </p:nvPr>
        </p:nvGraphicFramePr>
        <p:xfrm>
          <a:off x="217715" y="1831736"/>
          <a:ext cx="11834949" cy="413670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456648">
                  <a:extLst>
                    <a:ext uri="{9D8B030D-6E8A-4147-A177-3AD203B41FA5}">
                      <a16:colId xmlns:a16="http://schemas.microsoft.com/office/drawing/2014/main" val="425171275"/>
                    </a:ext>
                  </a:extLst>
                </a:gridCol>
                <a:gridCol w="2738631">
                  <a:extLst>
                    <a:ext uri="{9D8B030D-6E8A-4147-A177-3AD203B41FA5}">
                      <a16:colId xmlns:a16="http://schemas.microsoft.com/office/drawing/2014/main" val="902142948"/>
                    </a:ext>
                  </a:extLst>
                </a:gridCol>
                <a:gridCol w="6639670">
                  <a:extLst>
                    <a:ext uri="{9D8B030D-6E8A-4147-A177-3AD203B41FA5}">
                      <a16:colId xmlns:a16="http://schemas.microsoft.com/office/drawing/2014/main" val="540441463"/>
                    </a:ext>
                  </a:extLst>
                </a:gridCol>
              </a:tblGrid>
              <a:tr h="403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marR="124460" algn="ctr">
                        <a:spcBef>
                          <a:spcPts val="170"/>
                        </a:spcBef>
                        <a:buNone/>
                      </a:pPr>
                      <a:r>
                        <a:rPr lang="en-US" sz="28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Singular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 marR="160655" algn="ctr">
                        <a:spcBef>
                          <a:spcPts val="120"/>
                        </a:spcBef>
                        <a:buNone/>
                      </a:pPr>
                      <a:r>
                        <a:rPr lang="en-US" sz="28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Plural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02835184"/>
                  </a:ext>
                </a:extLst>
              </a:tr>
              <a:tr h="20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>
                        <a:spcBef>
                          <a:spcPts val="15"/>
                        </a:spcBef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54305" marR="135890" algn="ctr"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en-US" sz="2800" spc="-5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person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>
                        <a:spcBef>
                          <a:spcPts val="45"/>
                        </a:spcBef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47320" marR="12192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akin</a:t>
                      </a:r>
                      <a:r>
                        <a:rPr lang="en-US" sz="2800" b="1" spc="-4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spc="-2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(my)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 marR="160020" algn="ctr">
                        <a:spcBef>
                          <a:spcPts val="410"/>
                        </a:spcBef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amin</a:t>
                      </a:r>
                      <a:r>
                        <a:rPr lang="en-US" sz="2800" b="0" spc="-10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or</a:t>
                      </a:r>
                      <a:r>
                        <a:rPr lang="en-US" sz="2800" b="0" spc="2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i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our</a:t>
                      </a:r>
                      <a:r>
                        <a:rPr lang="en-US" sz="2800" b="0" spc="-8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in</a:t>
                      </a:r>
                      <a:r>
                        <a:rPr lang="en-US" sz="2800" b="0" spc="2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the</a:t>
                      </a:r>
                      <a:r>
                        <a:rPr lang="en-US" sz="2800" b="0" spc="6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sense</a:t>
                      </a:r>
                      <a:r>
                        <a:rPr lang="en-US" sz="2800" b="0" spc="-9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of</a:t>
                      </a:r>
                      <a:r>
                        <a:rPr lang="en-US" sz="2800" b="0" spc="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his/her</a:t>
                      </a:r>
                      <a:r>
                        <a:rPr lang="en-US" sz="2800" b="0" spc="-10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and</a:t>
                      </a:r>
                      <a:r>
                        <a:rPr lang="en-US" sz="2800" b="0" spc="26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2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mine</a:t>
                      </a:r>
                      <a:endParaRPr lang="en-PH" sz="28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84785" marR="160655" algn="ctr">
                        <a:spcBef>
                          <a:spcPts val="20"/>
                        </a:spcBef>
                        <a:buNone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(excluding</a:t>
                      </a: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t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he</a:t>
                      </a:r>
                      <a:r>
                        <a:rPr lang="en-US" sz="2800" b="0" spc="-5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person</a:t>
                      </a:r>
                      <a:r>
                        <a:rPr lang="en-US" sz="2800" b="0" spc="-4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spoken</a:t>
                      </a:r>
                      <a:r>
                        <a:rPr lang="en-US" sz="2800" b="0" spc="5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2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to)</a:t>
                      </a:r>
                      <a:endParaRPr lang="en-PH" sz="28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>
                        <a:spcBef>
                          <a:spcPts val="10"/>
                        </a:spcBef>
                        <a:buNone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84785" marR="160655" algn="ctr">
                        <a:buNone/>
                      </a:pPr>
                      <a:r>
                        <a:rPr lang="en-US" sz="2800" b="1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atin</a:t>
                      </a:r>
                      <a:r>
                        <a:rPr lang="en-US" sz="2800" b="0" spc="-9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or</a:t>
                      </a:r>
                      <a:r>
                        <a:rPr lang="en-US" sz="2800" b="0" spc="6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i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our</a:t>
                      </a:r>
                      <a:r>
                        <a:rPr lang="en-US" sz="2800" b="0" spc="-3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in</a:t>
                      </a:r>
                      <a:r>
                        <a:rPr lang="en-US" sz="2800" b="0" spc="14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the</a:t>
                      </a:r>
                      <a:r>
                        <a:rPr lang="en-US" sz="2800" b="0" spc="13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sense</a:t>
                      </a:r>
                      <a:r>
                        <a:rPr lang="en-US" sz="2800" b="0" spc="-3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of</a:t>
                      </a:r>
                      <a:r>
                        <a:rPr lang="en-US" sz="2800" b="0" spc="-3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yours,</a:t>
                      </a:r>
                      <a:r>
                        <a:rPr lang="en-US" sz="2800" b="0" spc="-5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his/her</a:t>
                      </a:r>
                      <a:r>
                        <a:rPr lang="en-US" sz="2800" b="0" spc="-5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and</a:t>
                      </a:r>
                      <a:r>
                        <a:rPr lang="en-US" sz="2800" b="0" spc="36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2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mine</a:t>
                      </a:r>
                      <a:endParaRPr lang="en-PH" sz="28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84785" marR="151130" algn="ctr">
                        <a:spcBef>
                          <a:spcPts val="25"/>
                        </a:spcBef>
                        <a:buNone/>
                      </a:pP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(including</a:t>
                      </a:r>
                      <a:r>
                        <a:rPr lang="en-US" sz="2800" b="0" spc="-5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the</a:t>
                      </a:r>
                      <a:r>
                        <a:rPr lang="en-US" sz="2800" b="0" spc="-2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speaker</a:t>
                      </a:r>
                      <a:r>
                        <a:rPr lang="en-US" sz="2800" b="0" spc="-7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and</a:t>
                      </a:r>
                      <a:r>
                        <a:rPr lang="en-US" sz="2800" b="0" spc="1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person</a:t>
                      </a:r>
                      <a:r>
                        <a:rPr lang="en-US" sz="2800" b="0" spc="-4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spoken</a:t>
                      </a:r>
                      <a:r>
                        <a:rPr lang="en-US" sz="2800" b="0" spc="3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0" spc="-2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to)</a:t>
                      </a:r>
                      <a:endParaRPr lang="en-PH" sz="28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15268902"/>
                  </a:ext>
                </a:extLst>
              </a:tr>
              <a:tr h="557415">
                <a:tc>
                  <a:txBody>
                    <a:bodyPr/>
                    <a:lstStyle/>
                    <a:p>
                      <a:pPr marL="154305" marR="139700" algn="ctr">
                        <a:spcBef>
                          <a:spcPts val="310"/>
                        </a:spcBef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Second</a:t>
                      </a:r>
                      <a:r>
                        <a:rPr lang="en-US" sz="2800" spc="9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person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 marR="116840" algn="ctr">
                        <a:spcBef>
                          <a:spcPts val="215"/>
                        </a:spcBef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Iyo</a:t>
                      </a:r>
                      <a:r>
                        <a:rPr lang="en-US" sz="2800" b="1" spc="-7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(your)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 marR="160655" algn="ctr">
                        <a:spcBef>
                          <a:spcPts val="170"/>
                        </a:spcBef>
                        <a:buNone/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inyo</a:t>
                      </a:r>
                      <a:r>
                        <a:rPr lang="en-US" sz="2800" b="1" spc="-15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en-US" sz="2800" b="1" i="1" spc="-1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your</a:t>
                      </a:r>
                      <a:r>
                        <a:rPr lang="en-US" sz="2800" b="1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10621744"/>
                  </a:ext>
                </a:extLst>
              </a:tr>
              <a:tr h="592254">
                <a:tc>
                  <a:txBody>
                    <a:bodyPr/>
                    <a:lstStyle/>
                    <a:p>
                      <a:pPr marL="149860" marR="139700" algn="ctr">
                        <a:spcBef>
                          <a:spcPts val="260"/>
                        </a:spcBef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Third</a:t>
                      </a:r>
                      <a:r>
                        <a:rPr lang="en-US" sz="2800" spc="12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person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 marR="124460" algn="ctr">
                        <a:spcBef>
                          <a:spcPts val="170"/>
                        </a:spcBef>
                        <a:buNone/>
                      </a:pPr>
                      <a:r>
                        <a:rPr lang="en-US" sz="2800" b="1" dirty="0" err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kaniya</a:t>
                      </a:r>
                      <a:r>
                        <a:rPr lang="en-US" sz="2800" b="1" spc="-15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(his/her)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 marR="154305" algn="ctr">
                        <a:spcBef>
                          <a:spcPts val="120"/>
                        </a:spcBef>
                        <a:buNone/>
                      </a:pPr>
                      <a:r>
                        <a:rPr lang="en-US" sz="2800" b="1" spc="-1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kanila</a:t>
                      </a:r>
                      <a:r>
                        <a:rPr lang="en-US" sz="2800" b="1" spc="-4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800" b="1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en-US" sz="2800" b="1" spc="-1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their</a:t>
                      </a:r>
                      <a:r>
                        <a:rPr lang="en-US" sz="2800" b="1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  <a:endParaRPr lang="en-PH" sz="28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63993784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C01F9ABB-3E6B-2DF3-2620-D2D71C4F6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0298"/>
            <a:ext cx="871727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Arial Nova Cond Light" panose="020B0306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THE POSSESSIVE PRONOUNS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Nova Cond Light" panose="020B0306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AKIN,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IY</a:t>
            </a:r>
            <a:r>
              <a:rPr lang="en-US" altLang="en-US" sz="2400" b="1" dirty="0">
                <a:solidFill>
                  <a:srgbClr val="FFFF00"/>
                </a:solidFill>
                <a:latin typeface="Arial Nova Cond Light" panose="020B0306020202020204" pitchFamily="34" charset="0"/>
                <a:ea typeface="Times New Roman" panose="02020603050405020304" pitchFamily="18" charset="0"/>
              </a:rPr>
              <a:t>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Nova Cond Light" panose="020B0306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KANIYA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Nova Cond Light" panose="020B0306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H" altLang="en-US" sz="2400" i="0" u="none" strike="noStrike" cap="none" normalizeH="0" baseline="0" dirty="0">
              <a:ln>
                <a:noFill/>
              </a:ln>
              <a:effectLst/>
              <a:latin typeface="Arial Nova Cond Light" panose="020B0306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The following possessive pronouns are used in Tagalog: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H" altLang="en-US" sz="2400" b="0" i="0" u="none" strike="noStrike" cap="none" normalizeH="0" baseline="0" dirty="0">
              <a:ln>
                <a:noFill/>
              </a:ln>
              <a:effectLst/>
              <a:latin typeface="Arial Nova Cond Light" panose="020B0306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Table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 Nova Cond Light" panose="020B0306020202020204" pitchFamily="34" charset="0"/>
                <a:ea typeface="Times New Roman" panose="02020603050405020304" pitchFamily="18" charset="0"/>
              </a:rPr>
              <a:t>List of possessive pronouns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7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DAD00-F7FF-79A9-6CFE-C31644D1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E53A-09E4-705A-67F4-662A9E3AE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75AB9-71AA-F65C-779C-484702C50948}"/>
              </a:ext>
            </a:extLst>
          </p:cNvPr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 Nova Cond Light" panose="020B0306020202020204" pitchFamily="34" charset="0"/>
              </a:rPr>
              <a:t>These possessive pronouns are used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either (1) before a noun </a:t>
            </a:r>
            <a:r>
              <a:rPr lang="en-US" sz="2800" dirty="0">
                <a:latin typeface="Arial Nova Cond Light" panose="020B0306020202020204" pitchFamily="34" charset="0"/>
              </a:rPr>
              <a:t>or (2)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after a noun</a:t>
            </a:r>
            <a:r>
              <a:rPr lang="en-US" sz="2800" dirty="0">
                <a:latin typeface="Arial Nova Cond Light" panose="020B0306020202020204" pitchFamily="34" charset="0"/>
              </a:rPr>
              <a:t>. 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When the pronouns are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used before a noun</a:t>
            </a:r>
            <a:r>
              <a:rPr lang="en-US" sz="2800" dirty="0">
                <a:latin typeface="Arial Nova Cond Light" panose="020B0306020202020204" pitchFamily="34" charset="0"/>
              </a:rPr>
              <a:t>,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note that the ligatures -ng, -g </a:t>
            </a:r>
            <a:r>
              <a:rPr lang="en-US" sz="2800" dirty="0">
                <a:latin typeface="Arial Nova Cond Light" panose="020B0306020202020204" pitchFamily="34" charset="0"/>
              </a:rPr>
              <a:t>and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na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are needed. </a:t>
            </a:r>
            <a:r>
              <a:rPr lang="en-US" sz="2800" dirty="0">
                <a:latin typeface="Arial Nova Cond Light" panose="020B0306020202020204" pitchFamily="34" charset="0"/>
              </a:rPr>
              <a:t>Possessive pronouns placed after the noun change their forms as seen in the examples below.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1.	Akin(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g</a:t>
            </a:r>
            <a:r>
              <a:rPr lang="en-US" sz="2800" dirty="0">
                <a:latin typeface="Arial Nova Cond Light" panose="020B0306020202020204" pitchFamily="34" charset="0"/>
              </a:rPr>
              <a:t>) becomes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ko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when placed after the noun.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aking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ay Malaki.					My house is big.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ko</a:t>
            </a:r>
            <a:r>
              <a:rPr lang="en-US" sz="2800" dirty="0">
                <a:latin typeface="Arial Nova Cond Light" panose="020B0306020202020204" pitchFamily="34" charset="0"/>
              </a:rPr>
              <a:t> ay Malaki.</a:t>
            </a:r>
          </a:p>
          <a:p>
            <a:endParaRPr lang="en-US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2.	</a:t>
            </a:r>
            <a:r>
              <a:rPr lang="en-US" sz="2800" dirty="0" err="1">
                <a:latin typeface="Arial Nova Cond Light" panose="020B0306020202020204" pitchFamily="34" charset="0"/>
              </a:rPr>
              <a:t>lyo</a:t>
            </a:r>
            <a:r>
              <a:rPr lang="en-US" sz="2800" dirty="0">
                <a:latin typeface="Arial Nova Cond Light" panose="020B0306020202020204" pitchFamily="34" charset="0"/>
              </a:rPr>
              <a:t>(ng) becomes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mo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when placed after the noun.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iyong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latin typeface="Arial Nova Cond Light" panose="020B0306020202020204" pitchFamily="34" charset="0"/>
              </a:rPr>
              <a:t>baro</a:t>
            </a:r>
            <a:r>
              <a:rPr lang="en-US" sz="2800" dirty="0">
                <a:latin typeface="Arial Nova Cond Light" panose="020B0306020202020204" pitchFamily="34" charset="0"/>
              </a:rPr>
              <a:t> ay </a:t>
            </a:r>
            <a:r>
              <a:rPr lang="en-US" sz="2800" dirty="0" err="1">
                <a:latin typeface="Arial Nova Cond Light" panose="020B0306020202020204" pitchFamily="34" charset="0"/>
              </a:rPr>
              <a:t>bago</a:t>
            </a:r>
            <a:r>
              <a:rPr lang="en-US" sz="2800" dirty="0">
                <a:latin typeface="Arial Nova Cond Light" panose="020B0306020202020204" pitchFamily="34" charset="0"/>
              </a:rPr>
              <a:t>.						Your dress is new.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latin typeface="Arial Nova Cond Light" panose="020B0306020202020204" pitchFamily="34" charset="0"/>
              </a:rPr>
              <a:t>baro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mo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ay </a:t>
            </a:r>
            <a:r>
              <a:rPr lang="en-US" sz="2800" dirty="0" err="1">
                <a:latin typeface="Arial Nova Cond Light" panose="020B0306020202020204" pitchFamily="34" charset="0"/>
              </a:rPr>
              <a:t>bago</a:t>
            </a:r>
            <a:r>
              <a:rPr lang="en-US" sz="2800" dirty="0">
                <a:latin typeface="Arial Nova Cond Light" panose="020B0306020202020204" pitchFamily="34" charset="0"/>
              </a:rPr>
              <a:t>.</a:t>
            </a:r>
          </a:p>
          <a:p>
            <a:endParaRPr lang="en-US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3.	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Kaniya</a:t>
            </a:r>
            <a:r>
              <a:rPr lang="en-US" sz="2800" dirty="0">
                <a:latin typeface="Arial Nova Cond Light" panose="020B0306020202020204" pitchFamily="34" charset="0"/>
              </a:rPr>
              <a:t>(ng), which may be shortened to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kanya</a:t>
            </a:r>
            <a:r>
              <a:rPr lang="en-US" sz="2800" dirty="0">
                <a:latin typeface="Arial Nova Cond Light" panose="020B0306020202020204" pitchFamily="34" charset="0"/>
              </a:rPr>
              <a:t>, becomes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when placed after the noun.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Malinis ang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kaniyang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latin typeface="Arial Nova Cond Light" panose="020B0306020202020204" pitchFamily="34" charset="0"/>
              </a:rPr>
              <a:t>sapatos</a:t>
            </a:r>
            <a:r>
              <a:rPr lang="en-US" sz="2800" dirty="0">
                <a:latin typeface="Arial Nova Cond Light" panose="020B0306020202020204" pitchFamily="34" charset="0"/>
              </a:rPr>
              <a:t>.					 </a:t>
            </a:r>
            <a:r>
              <a:rPr lang="en-US" sz="2800" dirty="0" err="1">
                <a:latin typeface="Arial Nova Cond Light" panose="020B0306020202020204" pitchFamily="34" charset="0"/>
              </a:rPr>
              <a:t>His/Her</a:t>
            </a:r>
            <a:r>
              <a:rPr lang="en-US" sz="2800" dirty="0">
                <a:latin typeface="Arial Nova Cond Light" panose="020B0306020202020204" pitchFamily="34" charset="0"/>
              </a:rPr>
              <a:t> shoes are clean.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Malinis ang </a:t>
            </a:r>
            <a:r>
              <a:rPr lang="en-US" sz="2800" dirty="0" err="1">
                <a:latin typeface="Arial Nova Cond Light" panose="020B0306020202020204" pitchFamily="34" charset="0"/>
              </a:rPr>
              <a:t>sapatos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dirty="0">
                <a:latin typeface="Arial Nova Cond Light" panose="020B0306020202020204" pitchFamily="34" charset="0"/>
              </a:rPr>
              <a:t>.</a:t>
            </a:r>
          </a:p>
          <a:p>
            <a:endParaRPr lang="en-US" sz="24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ED91D-7245-1B3A-2343-8529355E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9443-EC1B-5B83-AC26-173E434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4265-F872-0987-9AB9-888DE8F88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831736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8AF62-CD9F-D791-9586-75EC8B036A78}"/>
              </a:ext>
            </a:extLst>
          </p:cNvPr>
          <p:cNvSpPr txBox="1"/>
          <p:nvPr/>
        </p:nvSpPr>
        <p:spPr>
          <a:xfrm>
            <a:off x="-25400" y="516466"/>
            <a:ext cx="1219200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Nova Cond Light" panose="020B0306020202020204" pitchFamily="34" charset="0"/>
              </a:rPr>
              <a:t>4.	Amin(g) (or his/her and mine) becomes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namin</a:t>
            </a:r>
            <a:r>
              <a:rPr lang="en-US" sz="3200" dirty="0">
                <a:latin typeface="Arial Nova Cond Light" panose="020B0306020202020204" pitchFamily="34" charset="0"/>
              </a:rPr>
              <a:t> when placed after the noun.</a:t>
            </a:r>
          </a:p>
          <a:p>
            <a:r>
              <a:rPr lang="en-US" sz="3200" dirty="0">
                <a:latin typeface="Arial Nova Cond Light" panose="020B0306020202020204" pitchFamily="34" charset="0"/>
              </a:rPr>
              <a:t>Luma ang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aming</a:t>
            </a:r>
            <a:r>
              <a:rPr lang="en-US" sz="3200" dirty="0">
                <a:latin typeface="Arial Nova Cond Light" panose="020B0306020202020204" pitchFamily="34" charset="0"/>
              </a:rPr>
              <a:t> </a:t>
            </a:r>
            <a:r>
              <a:rPr lang="en-US" sz="3200" dirty="0" err="1">
                <a:latin typeface="Arial Nova Cond Light" panose="020B0306020202020204" pitchFamily="34" charset="0"/>
              </a:rPr>
              <a:t>kotse</a:t>
            </a:r>
            <a:r>
              <a:rPr lang="en-US" sz="3200" dirty="0">
                <a:latin typeface="Arial Nova Cond Light" panose="020B0306020202020204" pitchFamily="34" charset="0"/>
              </a:rPr>
              <a:t>.						Our car is old.</a:t>
            </a:r>
          </a:p>
          <a:p>
            <a:r>
              <a:rPr lang="en-US" sz="3200" dirty="0">
                <a:latin typeface="Arial Nova Cond Light" panose="020B0306020202020204" pitchFamily="34" charset="0"/>
              </a:rPr>
              <a:t>Luma ang </a:t>
            </a:r>
            <a:r>
              <a:rPr lang="en-US" sz="3200" dirty="0" err="1">
                <a:latin typeface="Arial Nova Cond Light" panose="020B0306020202020204" pitchFamily="34" charset="0"/>
              </a:rPr>
              <a:t>kotse</a:t>
            </a:r>
            <a:r>
              <a:rPr lang="en-US" sz="3200" dirty="0">
                <a:latin typeface="Arial Nova Cond Light" panose="020B0306020202020204" pitchFamily="34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namin</a:t>
            </a:r>
            <a:r>
              <a:rPr lang="en-US" sz="3200" dirty="0">
                <a:latin typeface="Arial Nova Cond Light" panose="020B0306020202020204" pitchFamily="34" charset="0"/>
              </a:rPr>
              <a:t>.</a:t>
            </a:r>
          </a:p>
          <a:p>
            <a:endParaRPr lang="en-US" sz="3200" dirty="0">
              <a:latin typeface="Arial Nova Cond Light" panose="020B0306020202020204" pitchFamily="34" charset="0"/>
            </a:endParaRPr>
          </a:p>
          <a:p>
            <a:r>
              <a:rPr lang="en-US" sz="3200" dirty="0">
                <a:latin typeface="Arial Nova Cond Light" panose="020B0306020202020204" pitchFamily="34" charset="0"/>
              </a:rPr>
              <a:t>5.Atin(g) (or yours, his/her, and mine) becomes </a:t>
            </a:r>
            <a:r>
              <a:rPr lang="en-US" sz="32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natin</a:t>
            </a:r>
            <a:r>
              <a:rPr lang="en-US" sz="3200" dirty="0">
                <a:latin typeface="Arial Nova Cond Light" panose="020B0306020202020204" pitchFamily="34" charset="0"/>
              </a:rPr>
              <a:t> when placed after the noun.</a:t>
            </a:r>
          </a:p>
          <a:p>
            <a:r>
              <a:rPr lang="en-US" sz="3200" dirty="0">
                <a:latin typeface="Arial Nova Cond Light" panose="020B0306020202020204" pitchFamily="34" charset="0"/>
              </a:rPr>
              <a:t>Malaki ang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ating</a:t>
            </a:r>
            <a:r>
              <a:rPr lang="en-US" sz="3200" dirty="0">
                <a:latin typeface="Arial Nova Cond Light" panose="020B0306020202020204" pitchFamily="34" charset="0"/>
              </a:rPr>
              <a:t> </a:t>
            </a:r>
            <a:r>
              <a:rPr lang="en-US" sz="3200" dirty="0" err="1">
                <a:latin typeface="Arial Nova Cond Light" panose="020B0306020202020204" pitchFamily="34" charset="0"/>
              </a:rPr>
              <a:t>bahay</a:t>
            </a:r>
            <a:r>
              <a:rPr lang="en-US" sz="3200" dirty="0">
                <a:latin typeface="Arial Nova Cond Light" panose="020B0306020202020204" pitchFamily="34" charset="0"/>
              </a:rPr>
              <a:t>.  					Our house is big.</a:t>
            </a:r>
          </a:p>
          <a:p>
            <a:r>
              <a:rPr lang="en-US" sz="3200" dirty="0">
                <a:latin typeface="Arial Nova Cond Light" panose="020B0306020202020204" pitchFamily="34" charset="0"/>
              </a:rPr>
              <a:t>Malaki ang </a:t>
            </a:r>
            <a:r>
              <a:rPr lang="en-US" sz="3200" dirty="0" err="1">
                <a:latin typeface="Arial Nova Cond Light" panose="020B0306020202020204" pitchFamily="34" charset="0"/>
              </a:rPr>
              <a:t>bahay</a:t>
            </a:r>
            <a:r>
              <a:rPr lang="en-US" sz="3200" dirty="0">
                <a:latin typeface="Arial Nova Cond Light" panose="020B0306020202020204" pitchFamily="34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natin</a:t>
            </a:r>
            <a:r>
              <a:rPr lang="en-US" sz="3200" dirty="0">
                <a:latin typeface="Arial Nova Cond Light" panose="020B0306020202020204" pitchFamily="34" charset="0"/>
              </a:rPr>
              <a:t>.</a:t>
            </a:r>
            <a:br>
              <a:rPr lang="en-US" sz="3200" dirty="0">
                <a:latin typeface="Arial Nova Cond Light" panose="020B0306020202020204" pitchFamily="34" charset="0"/>
              </a:rPr>
            </a:br>
            <a:endParaRPr lang="en-US" sz="3200" dirty="0">
              <a:latin typeface="Arial Nova Cond Light" panose="020B0306020202020204" pitchFamily="34" charset="0"/>
            </a:endParaRPr>
          </a:p>
          <a:p>
            <a:pPr lvl="0"/>
            <a:r>
              <a:rPr lang="en-US" sz="3200" dirty="0">
                <a:latin typeface="Arial Nova Cond Light" panose="020B0306020202020204" pitchFamily="34" charset="0"/>
              </a:rPr>
              <a:t>6. </a:t>
            </a:r>
            <a:r>
              <a:rPr lang="en-US" sz="3200" dirty="0" err="1">
                <a:latin typeface="Arial Nova Cond Light" panose="020B0306020202020204" pitchFamily="34" charset="0"/>
              </a:rPr>
              <a:t>lnyo</a:t>
            </a:r>
            <a:r>
              <a:rPr lang="en-US" sz="3200" dirty="0">
                <a:latin typeface="Arial Nova Cond Light" panose="020B0306020202020204" pitchFamily="34" charset="0"/>
              </a:rPr>
              <a:t>(ng) becomes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ninyo</a:t>
            </a:r>
            <a:r>
              <a:rPr lang="en-US" sz="32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200" dirty="0">
                <a:latin typeface="Arial Nova Cond Light" panose="020B0306020202020204" pitchFamily="34" charset="0"/>
              </a:rPr>
              <a:t>when placed after the noun.</a:t>
            </a:r>
            <a:endParaRPr lang="en-PH" sz="3200" dirty="0">
              <a:latin typeface="Arial Nova Cond Light" panose="020B0306020202020204" pitchFamily="34" charset="0"/>
            </a:endParaRPr>
          </a:p>
          <a:p>
            <a:r>
              <a:rPr lang="en-US" sz="3200" dirty="0">
                <a:latin typeface="Arial Nova Cond Light" panose="020B0306020202020204" pitchFamily="34" charset="0"/>
              </a:rPr>
              <a:t>Ang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inyong</a:t>
            </a:r>
            <a:r>
              <a:rPr lang="en-US" sz="3200" dirty="0">
                <a:latin typeface="Arial Nova Cond Light" panose="020B0306020202020204" pitchFamily="34" charset="0"/>
              </a:rPr>
              <a:t> ama ay </a:t>
            </a:r>
            <a:r>
              <a:rPr lang="en-US" sz="3200" dirty="0" err="1">
                <a:latin typeface="Arial Nova Cond Light" panose="020B0306020202020204" pitchFamily="34" charset="0"/>
              </a:rPr>
              <a:t>masipag</a:t>
            </a:r>
            <a:r>
              <a:rPr lang="en-US" sz="3200" dirty="0">
                <a:latin typeface="Arial Nova Cond Light" panose="020B0306020202020204" pitchFamily="34" charset="0"/>
              </a:rPr>
              <a:t>.			Your father is industrious. (plural)</a:t>
            </a:r>
            <a:endParaRPr lang="en-PH" sz="3200" dirty="0">
              <a:latin typeface="Arial Nova Cond Light" panose="020B0306020202020204" pitchFamily="34" charset="0"/>
            </a:endParaRPr>
          </a:p>
          <a:p>
            <a:r>
              <a:rPr lang="en-US" sz="3200" dirty="0">
                <a:latin typeface="Arial Nova Cond Light" panose="020B0306020202020204" pitchFamily="34" charset="0"/>
              </a:rPr>
              <a:t>Ang ama </a:t>
            </a:r>
            <a:r>
              <a:rPr lang="en-US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ninyo</a:t>
            </a:r>
            <a:r>
              <a:rPr lang="en-US" sz="3200" dirty="0">
                <a:latin typeface="Arial Nova Cond Light" panose="020B0306020202020204" pitchFamily="34" charset="0"/>
              </a:rPr>
              <a:t> ay </a:t>
            </a:r>
            <a:r>
              <a:rPr lang="en-US" sz="3200" dirty="0" err="1">
                <a:latin typeface="Arial Nova Cond Light" panose="020B0306020202020204" pitchFamily="34" charset="0"/>
              </a:rPr>
              <a:t>masipag</a:t>
            </a:r>
            <a:r>
              <a:rPr lang="en-US" sz="3200" dirty="0">
                <a:latin typeface="Arial Nova Cond Light" panose="020B0306020202020204" pitchFamily="34" charset="0"/>
              </a:rPr>
              <a:t>.</a:t>
            </a:r>
            <a:endParaRPr lang="en-PH" sz="3200" dirty="0">
              <a:latin typeface="Arial Nova Cond Light" panose="020B0306020202020204" pitchFamily="34" charset="0"/>
            </a:endParaRPr>
          </a:p>
          <a:p>
            <a:endParaRPr lang="en-PH" sz="2800" dirty="0">
              <a:latin typeface="Arial Nova Cond Light" panose="020B0306020202020204" pitchFamily="34" charset="0"/>
            </a:endParaRPr>
          </a:p>
          <a:p>
            <a:endParaRPr lang="en-US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52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348C1-9F43-42E4-F8E9-A82539DC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313F-6CC6-FD32-4501-8C676DE2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D538B-2385-D9A7-AA47-DCF6B1A59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831736"/>
            <a:ext cx="12014199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C9232-B1FB-C357-ED8E-F036B9C48D1E}"/>
              </a:ext>
            </a:extLst>
          </p:cNvPr>
          <p:cNvSpPr txBox="1"/>
          <p:nvPr/>
        </p:nvSpPr>
        <p:spPr>
          <a:xfrm>
            <a:off x="0" y="360603"/>
            <a:ext cx="1219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 startAt="7"/>
            </a:pPr>
            <a:r>
              <a:rPr lang="en-PH" sz="3200" dirty="0">
                <a:latin typeface="Arial Nova Cond Light" panose="020B0306020202020204" pitchFamily="34" charset="0"/>
              </a:rPr>
              <a:t>Kanila(ng) becomes </a:t>
            </a:r>
            <a:r>
              <a:rPr lang="en-PH" sz="32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nila</a:t>
            </a:r>
            <a:r>
              <a:rPr lang="en-PH" sz="3200" dirty="0">
                <a:latin typeface="Arial Nova Cond Light" panose="020B0306020202020204" pitchFamily="34" charset="0"/>
              </a:rPr>
              <a:t> when placed after the noun.</a:t>
            </a:r>
            <a:br>
              <a:rPr lang="en-PH" sz="3200" dirty="0">
                <a:latin typeface="Arial Nova Cond Light" panose="020B0306020202020204" pitchFamily="34" charset="0"/>
              </a:rPr>
            </a:br>
            <a:endParaRPr lang="en-PH" sz="3200" dirty="0">
              <a:latin typeface="Arial Nova Cond Light" panose="020B0306020202020204" pitchFamily="34" charset="0"/>
            </a:endParaRPr>
          </a:p>
          <a:p>
            <a:r>
              <a:rPr lang="en-PH" sz="3200" dirty="0">
                <a:latin typeface="Arial Nova Cond Light" panose="020B0306020202020204" pitchFamily="34" charset="0"/>
              </a:rPr>
              <a:t> </a:t>
            </a:r>
            <a:r>
              <a:rPr lang="en-PH" sz="3200" dirty="0" err="1">
                <a:latin typeface="Arial Nova Cond Light" panose="020B0306020202020204" pitchFamily="34" charset="0"/>
              </a:rPr>
              <a:t>Mahaba</a:t>
            </a:r>
            <a:r>
              <a:rPr lang="en-PH" sz="3200" dirty="0">
                <a:latin typeface="Arial Nova Cond Light" panose="020B0306020202020204" pitchFamily="34" charset="0"/>
              </a:rPr>
              <a:t> ang</a:t>
            </a:r>
            <a:r>
              <a:rPr lang="en-PH" sz="32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kanilang</a:t>
            </a:r>
            <a:r>
              <a:rPr lang="en-PH" sz="32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3200" dirty="0">
                <a:latin typeface="Arial Nova Cond Light" panose="020B0306020202020204" pitchFamily="34" charset="0"/>
              </a:rPr>
              <a:t>lapis.		Their pencil is long.			</a:t>
            </a:r>
          </a:p>
          <a:p>
            <a:r>
              <a:rPr lang="en-PH" sz="3200" dirty="0">
                <a:latin typeface="Arial Nova Cond Light" panose="020B0306020202020204" pitchFamily="34" charset="0"/>
              </a:rPr>
              <a:t> </a:t>
            </a:r>
            <a:r>
              <a:rPr lang="en-PH" sz="3200" dirty="0" err="1">
                <a:latin typeface="Arial Nova Cond Light" panose="020B0306020202020204" pitchFamily="34" charset="0"/>
              </a:rPr>
              <a:t>Mahaba</a:t>
            </a:r>
            <a:r>
              <a:rPr lang="en-PH" sz="3200" dirty="0">
                <a:latin typeface="Arial Nova Cond Light" panose="020B0306020202020204" pitchFamily="34" charset="0"/>
              </a:rPr>
              <a:t> ang lapis </a:t>
            </a:r>
            <a:r>
              <a:rPr lang="en-PH" sz="32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nila</a:t>
            </a:r>
            <a:r>
              <a:rPr lang="en-PH" sz="32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.</a:t>
            </a:r>
          </a:p>
          <a:p>
            <a:endParaRPr lang="en-PH" sz="3200" dirty="0">
              <a:latin typeface="Arial Nova Cond Light" panose="020B0306020202020204" pitchFamily="34" charset="0"/>
            </a:endParaRPr>
          </a:p>
          <a:p>
            <a:endParaRPr lang="en-PH" sz="3200" dirty="0">
              <a:latin typeface="Arial Nova Cond Light" panose="020B0306020202020204" pitchFamily="34" charset="0"/>
            </a:endParaRPr>
          </a:p>
          <a:p>
            <a:r>
              <a:rPr lang="en-PH" sz="3200" dirty="0">
                <a:latin typeface="Arial Nova Cond Light" panose="020B0306020202020204" pitchFamily="34" charset="0"/>
              </a:rPr>
              <a:t>Remember the following changes when pronouns </a:t>
            </a:r>
            <a:r>
              <a:rPr lang="en-PH" sz="32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are place after a nouns</a:t>
            </a:r>
            <a:r>
              <a:rPr lang="en-PH" sz="3200" dirty="0">
                <a:latin typeface="Arial Nova Cond Light" panose="020B0306020202020204" pitchFamily="34" charset="0"/>
              </a:rPr>
              <a:t>.</a:t>
            </a:r>
          </a:p>
          <a:p>
            <a:endParaRPr lang="en-PH" sz="32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6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B4B1-E277-5084-BDD7-56FB747D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9650-FBDB-93CE-14B5-C038B0F94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43AB9-CB74-E199-91F8-57C30BF88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831736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39265-D8F0-595D-D81A-49CD3686E821}"/>
              </a:ext>
            </a:extLst>
          </p:cNvPr>
          <p:cNvSpPr txBox="1"/>
          <p:nvPr/>
        </p:nvSpPr>
        <p:spPr>
          <a:xfrm>
            <a:off x="368663" y="1197697"/>
            <a:ext cx="1145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200" dirty="0">
                <a:latin typeface="Arial Narrow" panose="020B0606020202030204" pitchFamily="34" charset="0"/>
              </a:rPr>
              <a:t>Table 2. Changes in possessive pronouns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02236F-C9A8-3523-4ECB-947B3FF46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179161"/>
              </p:ext>
            </p:extLst>
          </p:nvPr>
        </p:nvGraphicFramePr>
        <p:xfrm>
          <a:off x="183630" y="1930263"/>
          <a:ext cx="11834949" cy="36928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456648">
                  <a:extLst>
                    <a:ext uri="{9D8B030D-6E8A-4147-A177-3AD203B41FA5}">
                      <a16:colId xmlns:a16="http://schemas.microsoft.com/office/drawing/2014/main" val="425171275"/>
                    </a:ext>
                  </a:extLst>
                </a:gridCol>
                <a:gridCol w="3675637">
                  <a:extLst>
                    <a:ext uri="{9D8B030D-6E8A-4147-A177-3AD203B41FA5}">
                      <a16:colId xmlns:a16="http://schemas.microsoft.com/office/drawing/2014/main" val="902142948"/>
                    </a:ext>
                  </a:extLst>
                </a:gridCol>
                <a:gridCol w="5702664">
                  <a:extLst>
                    <a:ext uri="{9D8B030D-6E8A-4147-A177-3AD203B41FA5}">
                      <a16:colId xmlns:a16="http://schemas.microsoft.com/office/drawing/2014/main" val="540441463"/>
                    </a:ext>
                  </a:extLst>
                </a:gridCol>
              </a:tblGrid>
              <a:tr h="403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PH" sz="28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marR="124460" algn="ctr">
                        <a:spcBef>
                          <a:spcPts val="170"/>
                        </a:spcBef>
                        <a:buNone/>
                      </a:pPr>
                      <a:r>
                        <a:rPr lang="en-US" sz="32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Singular</a:t>
                      </a:r>
                      <a:endParaRPr lang="en-PH" sz="44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 marR="160655" algn="ctr">
                        <a:spcBef>
                          <a:spcPts val="120"/>
                        </a:spcBef>
                        <a:buNone/>
                      </a:pPr>
                      <a:r>
                        <a:rPr lang="en-US" sz="3200" spc="-1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Plural</a:t>
                      </a:r>
                      <a:endParaRPr lang="en-PH" sz="440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02835184"/>
                  </a:ext>
                </a:extLst>
              </a:tr>
              <a:tr h="20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15"/>
                        </a:spcBef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154305" marR="135890" algn="ctr"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person</a:t>
                      </a: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45"/>
                        </a:spcBef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 </a:t>
                      </a: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147320" marR="121920" algn="ctr">
                        <a:buNone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akin</a:t>
                      </a: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becomes </a:t>
                      </a: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ko</a:t>
                      </a:r>
                      <a:endParaRPr lang="en-PH" sz="2800" b="1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 marR="160020" algn="ctr">
                        <a:spcBef>
                          <a:spcPts val="410"/>
                        </a:spcBef>
                        <a:buNone/>
                      </a:pP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184785" marR="160020" algn="ctr">
                        <a:spcBef>
                          <a:spcPts val="410"/>
                        </a:spcBef>
                        <a:buNone/>
                      </a:pPr>
                      <a:r>
                        <a:rPr lang="en-PH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Amin </a:t>
                      </a:r>
                      <a:r>
                        <a:rPr lang="en-PH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becomes </a:t>
                      </a:r>
                      <a:r>
                        <a:rPr lang="en-PH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namin</a:t>
                      </a:r>
                      <a:endParaRPr lang="en-PH" sz="2800" b="1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184785" marR="160020" algn="ctr">
                        <a:spcBef>
                          <a:spcPts val="410"/>
                        </a:spcBef>
                        <a:buNone/>
                      </a:pPr>
                      <a:r>
                        <a:rPr lang="en-PH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Atin </a:t>
                      </a:r>
                      <a:r>
                        <a:rPr lang="en-PH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becomes </a:t>
                      </a:r>
                      <a:r>
                        <a:rPr lang="en-PH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natin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15268902"/>
                  </a:ext>
                </a:extLst>
              </a:tr>
              <a:tr h="557415">
                <a:tc>
                  <a:txBody>
                    <a:bodyPr/>
                    <a:lstStyle/>
                    <a:p>
                      <a:pPr marL="154305" marR="139700" algn="ctr">
                        <a:spcBef>
                          <a:spcPts val="310"/>
                        </a:spcBef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Second person</a:t>
                      </a:r>
                      <a:endParaRPr lang="en-PH" sz="2800" b="0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 marR="116840" algn="ctr">
                        <a:spcBef>
                          <a:spcPts val="215"/>
                        </a:spcBef>
                        <a:buNone/>
                      </a:pP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iyo</a:t>
                      </a: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becomes </a:t>
                      </a: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mo</a:t>
                      </a:r>
                      <a:endParaRPr lang="en-PH" sz="2800" b="1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 marR="160655" algn="ctr">
                        <a:spcBef>
                          <a:spcPts val="170"/>
                        </a:spcBef>
                        <a:buNone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inyo</a:t>
                      </a: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becomes </a:t>
                      </a: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ninyo</a:t>
                      </a:r>
                      <a:endParaRPr lang="en-PH" sz="2800" b="1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10621744"/>
                  </a:ext>
                </a:extLst>
              </a:tr>
              <a:tr h="592254">
                <a:tc>
                  <a:txBody>
                    <a:bodyPr/>
                    <a:lstStyle/>
                    <a:p>
                      <a:pPr marL="149860" marR="139700" algn="ctr">
                        <a:spcBef>
                          <a:spcPts val="260"/>
                        </a:spcBef>
                        <a:buNone/>
                      </a:pPr>
                      <a:r>
                        <a:rPr lang="en-US" sz="2800" b="0" kern="120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Third person</a:t>
                      </a:r>
                      <a:endParaRPr lang="en-PH" sz="2800" b="0" kern="120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 marR="124460" algn="ctr">
                        <a:spcBef>
                          <a:spcPts val="170"/>
                        </a:spcBef>
                        <a:buNone/>
                      </a:pP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kaniya</a:t>
                      </a: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becomes </a:t>
                      </a: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niya</a:t>
                      </a:r>
                      <a:endParaRPr lang="en-PH" sz="2800" b="1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 marR="154305" algn="ctr">
                        <a:spcBef>
                          <a:spcPts val="120"/>
                        </a:spcBef>
                        <a:buNone/>
                      </a:pP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kanila</a:t>
                      </a:r>
                      <a:r>
                        <a:rPr lang="en-US" sz="2800" b="0" kern="1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becomes </a:t>
                      </a: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nila</a:t>
                      </a:r>
                      <a:endParaRPr lang="en-PH" sz="2800" b="1" kern="1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63993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4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C3C77-79D6-394A-26AA-844E73B8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7590-B152-F4FF-101F-33C212A6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FA635-E366-CA57-C1B7-4EE52B81F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831736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835CD3-49BE-3D61-5CAE-96D9EDFC492A}"/>
              </a:ext>
            </a:extLst>
          </p:cNvPr>
          <p:cNvSpPr txBox="1"/>
          <p:nvPr/>
        </p:nvSpPr>
        <p:spPr>
          <a:xfrm>
            <a:off x="59266" y="0"/>
            <a:ext cx="120734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 Nova Cond Light" panose="020B0306020202020204" pitchFamily="34" charset="0"/>
              </a:rPr>
              <a:t>ln cases where two pronouns are used in a sentence, a combination of the two styles (possessive pronouns used before and after the nouns) instead of only one style for both pronouns, will produce a better sentence. 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For example, the sentence </a:t>
            </a:r>
            <a:r>
              <a:rPr lang="en-US" sz="2800" i="1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Her mother went to her house</a:t>
            </a:r>
            <a:r>
              <a:rPr lang="en-US" sz="2800" dirty="0">
                <a:latin typeface="Arial Nova Cond Light" panose="020B0306020202020204" pitchFamily="34" charset="0"/>
              </a:rPr>
              <a:t> uses the pronoun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her</a:t>
            </a:r>
            <a:r>
              <a:rPr lang="en-US" sz="2800" dirty="0">
                <a:latin typeface="Arial Nova Cond Light" panose="020B0306020202020204" pitchFamily="34" charset="0"/>
              </a:rPr>
              <a:t> twice. 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Sticking to one style will produce the following awkward sentences:</a:t>
            </a:r>
          </a:p>
          <a:p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Not Good:  Ang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kanyang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ina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ay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pumunta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sa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kanyang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.</a:t>
            </a:r>
          </a:p>
          <a:p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Not Good:  Ang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ina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ay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pumunta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sa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	The two sentences above use similar possessive pronouns, thus producing redundant sounds of either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dirty="0">
                <a:latin typeface="Arial Nova Cond Light" panose="020B0306020202020204" pitchFamily="34" charset="0"/>
              </a:rPr>
              <a:t> or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kaniya</a:t>
            </a:r>
            <a:r>
              <a:rPr lang="en-US" sz="2800" dirty="0">
                <a:latin typeface="Arial Nova Cond Light" panose="020B0306020202020204" pitchFamily="34" charset="0"/>
              </a:rPr>
              <a:t>.</a:t>
            </a:r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	However, a combination of two different possessive pronouns, one placed before the first noun and another placed after the second noun, will produce better sounding sentences.</a:t>
            </a:r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Good:  Ang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ina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b="1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ay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pumunta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sa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kanyang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</a:p>
          <a:p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Good:  Ang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kanyang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ina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ay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pumunta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sa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28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.</a:t>
            </a:r>
            <a:endParaRPr lang="en-PH" sz="2800" dirty="0">
              <a:solidFill>
                <a:schemeClr val="accent1"/>
              </a:solidFill>
              <a:latin typeface="Arial Nova Cond Light" panose="020B0306020202020204" pitchFamily="34" charset="0"/>
            </a:endParaRPr>
          </a:p>
          <a:p>
            <a:r>
              <a:rPr lang="en-US" sz="1600" b="1" dirty="0">
                <a:latin typeface="Arial Nova Cond Light" panose="020B0306020202020204" pitchFamily="34" charset="0"/>
              </a:rPr>
              <a:t> </a:t>
            </a:r>
            <a:endParaRPr lang="en-PH" sz="1600" dirty="0">
              <a:latin typeface="Arial Nova Cond Light" panose="020B0306020202020204" pitchFamily="34" charset="0"/>
            </a:endParaRPr>
          </a:p>
          <a:p>
            <a:endParaRPr lang="en-US" sz="16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737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06DC-FCAE-2F71-F811-9FFA7D859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4B50-1F36-EE34-F81B-BC0E7031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357F6-7342-751E-FB64-D106220E1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831736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7BADF-6790-A5DE-D721-22D063F355CF}"/>
              </a:ext>
            </a:extLst>
          </p:cNvPr>
          <p:cNvSpPr txBox="1"/>
          <p:nvPr/>
        </p:nvSpPr>
        <p:spPr>
          <a:xfrm>
            <a:off x="74147" y="1219028"/>
            <a:ext cx="1204370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 Nova Cond Light" panose="020B0306020202020204" pitchFamily="34" charset="0"/>
              </a:rPr>
              <a:t>Each sentence above uses two different versions of the possessive pronoun to avoid the repetition of either </a:t>
            </a:r>
            <a:r>
              <a:rPr lang="en-US" sz="30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3000" dirty="0">
                <a:latin typeface="Arial Nova Cond Light" panose="020B0306020202020204" pitchFamily="34" charset="0"/>
              </a:rPr>
              <a:t> or </a:t>
            </a:r>
            <a:r>
              <a:rPr lang="en-US" sz="30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kanya</a:t>
            </a:r>
            <a:r>
              <a:rPr lang="en-US" sz="3000" dirty="0">
                <a:latin typeface="Arial Nova Cond Light" panose="020B0306020202020204" pitchFamily="34" charset="0"/>
              </a:rPr>
              <a:t> in the same sentence. 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However, the first sentence has the tongue-twisting phrase </a:t>
            </a:r>
            <a:r>
              <a:rPr lang="en-US" sz="30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ina</a:t>
            </a:r>
            <a:r>
              <a:rPr lang="en-US" sz="30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0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3000" dirty="0">
                <a:latin typeface="Arial Nova Cond Light" panose="020B0306020202020204" pitchFamily="34" charset="0"/>
              </a:rPr>
              <a:t>. The second sentence sounds better as it eliminates the phrase by pairing </a:t>
            </a:r>
            <a:r>
              <a:rPr lang="en-US" sz="30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ina</a:t>
            </a:r>
            <a:r>
              <a:rPr lang="en-US" sz="3000" dirty="0">
                <a:latin typeface="Arial Nova Cond Light" panose="020B0306020202020204" pitchFamily="34" charset="0"/>
              </a:rPr>
              <a:t> with </a:t>
            </a:r>
            <a:r>
              <a:rPr lang="en-US" sz="3000" dirty="0">
                <a:solidFill>
                  <a:schemeClr val="accent1"/>
                </a:solidFill>
                <a:latin typeface="Arial Nova Cond Light" panose="020B0306020202020204" pitchFamily="34" charset="0"/>
              </a:rPr>
              <a:t>kanya</a:t>
            </a:r>
            <a:r>
              <a:rPr lang="en-US" sz="3000" dirty="0">
                <a:latin typeface="Arial Nova Cond Light" panose="020B0306020202020204" pitchFamily="34" charset="0"/>
              </a:rPr>
              <a:t> and </a:t>
            </a:r>
            <a:r>
              <a:rPr lang="en-US" sz="30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bahay</a:t>
            </a:r>
            <a:r>
              <a:rPr lang="en-US" sz="3000" dirty="0">
                <a:latin typeface="Arial Nova Cond Light" panose="020B0306020202020204" pitchFamily="34" charset="0"/>
              </a:rPr>
              <a:t> with </a:t>
            </a:r>
            <a:r>
              <a:rPr lang="en-US" sz="3000" dirty="0" err="1">
                <a:solidFill>
                  <a:schemeClr val="accent1"/>
                </a:solidFill>
                <a:latin typeface="Arial Nova Cond Light" panose="020B0306020202020204" pitchFamily="34" charset="0"/>
              </a:rPr>
              <a:t>niya</a:t>
            </a:r>
            <a:r>
              <a:rPr lang="en-US" sz="3000" dirty="0">
                <a:latin typeface="Arial Nova Cond Light" panose="020B0306020202020204" pitchFamily="34" charset="0"/>
              </a:rPr>
              <a:t>. Both sentences, however, are correct.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In other words, it is better if the same form of a possessive pronoun is not used twice in the same sentence. 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In this case, Tagalog speakers prefer to use two different forms of the same possessive pro­noun (one appearing before and one after the nouns they modify).</a:t>
            </a:r>
          </a:p>
        </p:txBody>
      </p:sp>
    </p:spTree>
    <p:extLst>
      <p:ext uri="{BB962C8B-B14F-4D97-AF65-F5344CB8AC3E}">
        <p14:creationId xmlns:p14="http://schemas.microsoft.com/office/powerpoint/2010/main" val="2799871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FB9F-4EA9-15D5-8000-B4AD3999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3487-2313-2CB0-A82D-831C0017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957A5-0C45-EC8D-4DDC-EF280B5FB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1736"/>
            <a:ext cx="12221505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7A1B2-7238-5F36-CE28-C4C7CB7B36DA}"/>
              </a:ext>
            </a:extLst>
          </p:cNvPr>
          <p:cNvSpPr txBox="1"/>
          <p:nvPr/>
        </p:nvSpPr>
        <p:spPr>
          <a:xfrm>
            <a:off x="74147" y="1219028"/>
            <a:ext cx="120437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 Nova Cond Light" panose="020B0306020202020204" pitchFamily="34" charset="0"/>
              </a:rPr>
              <a:t>In the case of plural nouns, the possessive personal pronouns are placed between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ang</a:t>
            </a:r>
            <a:r>
              <a:rPr lang="en-US" sz="3000" b="1" dirty="0">
                <a:latin typeface="Arial Nova Cond Light" panose="020B0306020202020204" pitchFamily="34" charset="0"/>
              </a:rPr>
              <a:t> </a:t>
            </a:r>
            <a:r>
              <a:rPr lang="en-US" sz="3000" dirty="0">
                <a:latin typeface="Arial Nova Cond Light" panose="020B0306020202020204" pitchFamily="34" charset="0"/>
              </a:rPr>
              <a:t>and </a:t>
            </a:r>
            <a:r>
              <a:rPr lang="en-US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.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Similarly, the adjectives should be in their plural forms as well.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	Right: 	  </a:t>
            </a:r>
            <a:r>
              <a:rPr lang="en-US" sz="30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000" b="1" dirty="0">
                <a:latin typeface="Arial Nova Cond Light" panose="020B0306020202020204" pitchFamily="34" charset="0"/>
              </a:rPr>
              <a:t>Ang </a:t>
            </a:r>
            <a:r>
              <a:rPr lang="en-US" sz="30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aking</a:t>
            </a:r>
            <a:r>
              <a:rPr lang="en-US" sz="3000" dirty="0">
                <a:latin typeface="Arial Nova Cond Light" panose="020B0306020202020204" pitchFamily="34" charset="0"/>
              </a:rPr>
              <a:t> </a:t>
            </a:r>
            <a:r>
              <a:rPr lang="en-US" sz="3000" b="1" dirty="0" err="1">
                <a:latin typeface="Arial Nova Cond Light" panose="020B0306020202020204" pitchFamily="34" charset="0"/>
              </a:rPr>
              <a:t>mga</a:t>
            </a:r>
            <a:r>
              <a:rPr lang="en-US" sz="3000" dirty="0">
                <a:latin typeface="Arial Nova Cond Light" panose="020B0306020202020204" pitchFamily="34" charset="0"/>
              </a:rPr>
              <a:t> </a:t>
            </a:r>
            <a:r>
              <a:rPr lang="en-US" sz="3000" dirty="0" err="1">
                <a:latin typeface="Arial Nova Cond Light" panose="020B0306020202020204" pitchFamily="34" charset="0"/>
              </a:rPr>
              <a:t>anak</a:t>
            </a:r>
            <a:r>
              <a:rPr lang="en-US" sz="3000" dirty="0">
                <a:latin typeface="Arial Nova Cond Light" panose="020B0306020202020204" pitchFamily="34" charset="0"/>
              </a:rPr>
              <a:t> ay </a:t>
            </a:r>
            <a:r>
              <a:rPr lang="en-US" sz="3000" dirty="0" err="1">
                <a:latin typeface="Arial Nova Cond Light" panose="020B0306020202020204" pitchFamily="34" charset="0"/>
              </a:rPr>
              <a:t>mababait</a:t>
            </a:r>
            <a:r>
              <a:rPr lang="en-US" sz="3000" dirty="0">
                <a:latin typeface="Arial Nova Cond Light" panose="020B0306020202020204" pitchFamily="34" charset="0"/>
              </a:rPr>
              <a:t>.     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	Wrong:  Ang </a:t>
            </a:r>
            <a:r>
              <a:rPr lang="en-US" sz="3000" dirty="0" err="1">
                <a:latin typeface="Arial Nova Cond Light" panose="020B0306020202020204" pitchFamily="34" charset="0"/>
              </a:rPr>
              <a:t>mga</a:t>
            </a:r>
            <a:r>
              <a:rPr lang="en-US" sz="3000" dirty="0">
                <a:latin typeface="Arial Nova Cond Light" panose="020B0306020202020204" pitchFamily="34" charset="0"/>
              </a:rPr>
              <a:t> </a:t>
            </a:r>
            <a:r>
              <a:rPr lang="en-US" sz="3000" dirty="0" err="1">
                <a:latin typeface="Arial Nova Cond Light" panose="020B0306020202020204" pitchFamily="34" charset="0"/>
              </a:rPr>
              <a:t>aking</a:t>
            </a:r>
            <a:r>
              <a:rPr lang="en-US" sz="3000" dirty="0">
                <a:latin typeface="Arial Nova Cond Light" panose="020B0306020202020204" pitchFamily="34" charset="0"/>
              </a:rPr>
              <a:t> </a:t>
            </a:r>
            <a:r>
              <a:rPr lang="en-US" sz="3000" dirty="0" err="1">
                <a:latin typeface="Arial Nova Cond Light" panose="020B0306020202020204" pitchFamily="34" charset="0"/>
              </a:rPr>
              <a:t>anak</a:t>
            </a:r>
            <a:r>
              <a:rPr lang="en-US" sz="3000" dirty="0">
                <a:latin typeface="Arial Nova Cond Light" panose="020B0306020202020204" pitchFamily="34" charset="0"/>
              </a:rPr>
              <a:t> ay </a:t>
            </a:r>
            <a:r>
              <a:rPr lang="en-US" sz="3000" dirty="0" err="1">
                <a:latin typeface="Arial Nova Cond Light" panose="020B0306020202020204" pitchFamily="34" charset="0"/>
              </a:rPr>
              <a:t>mababait</a:t>
            </a:r>
            <a:r>
              <a:rPr lang="en-US" sz="3000" dirty="0">
                <a:latin typeface="Arial Nova Cond Light" panose="020B0306020202020204" pitchFamily="34" charset="0"/>
              </a:rPr>
              <a:t>.</a:t>
            </a:r>
          </a:p>
          <a:p>
            <a:r>
              <a:rPr lang="en-US" sz="3000" dirty="0">
                <a:latin typeface="Arial Nova Cond Light" panose="020B0306020202020204" pitchFamily="34" charset="0"/>
              </a:rPr>
              <a:t>			  My children are good.</a:t>
            </a:r>
          </a:p>
        </p:txBody>
      </p:sp>
    </p:spTree>
    <p:extLst>
      <p:ext uri="{BB962C8B-B14F-4D97-AF65-F5344CB8AC3E}">
        <p14:creationId xmlns:p14="http://schemas.microsoft.com/office/powerpoint/2010/main" val="1634810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D18FE-0462-E3E6-F36C-5228A898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30ED-CBD7-C878-087A-9FF7D5EF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1BE5-3210-3C3B-956E-F72B92D3D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831736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E4880-C405-2A35-0E6E-BA2387BFC8CB}"/>
              </a:ext>
            </a:extLst>
          </p:cNvPr>
          <p:cNvSpPr txBox="1"/>
          <p:nvPr/>
        </p:nvSpPr>
        <p:spPr>
          <a:xfrm>
            <a:off x="0" y="-62088"/>
            <a:ext cx="12192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600" b="1" dirty="0">
                <a:latin typeface="Arial Nova Cond Light" panose="020B0306020202020204" pitchFamily="34" charset="0"/>
              </a:rPr>
              <a:t>									Exercises</a:t>
            </a:r>
            <a:endParaRPr lang="en-PH" sz="2600" dirty="0">
              <a:latin typeface="Arial Nova Cond Light" panose="020B0306020202020204" pitchFamily="34" charset="0"/>
            </a:endParaRPr>
          </a:p>
          <a:p>
            <a:r>
              <a:rPr lang="en-PH" sz="2600" dirty="0">
                <a:latin typeface="Arial Nova Cond Light" panose="020B0306020202020204" pitchFamily="34" charset="0"/>
              </a:rPr>
              <a:t>Fill in the blanks with the appropriate possessive pronouns.</a:t>
            </a:r>
          </a:p>
          <a:p>
            <a:pPr marL="514350" indent="-514350">
              <a:buAutoNum type="arabicPeriod"/>
            </a:pPr>
            <a:r>
              <a:rPr lang="en-PH" sz="2600" dirty="0" err="1">
                <a:latin typeface="Arial Nova Cond Light" panose="020B0306020202020204" pitchFamily="34" charset="0"/>
              </a:rPr>
              <a:t>Kakulay</a:t>
            </a:r>
            <a:r>
              <a:rPr lang="en-PH" sz="2600" dirty="0">
                <a:latin typeface="Arial Nova Cond Light" panose="020B0306020202020204" pitchFamily="34" charset="0"/>
              </a:rPr>
              <a:t> ng </a:t>
            </a:r>
            <a:r>
              <a:rPr lang="en-PH" sz="2600" u="sng" dirty="0">
                <a:latin typeface="Arial Nova Cond Light" panose="020B0306020202020204" pitchFamily="34" charset="0"/>
              </a:rPr>
              <a:t>_</a:t>
            </a:r>
            <a:r>
              <a:rPr lang="en-PH" sz="2600" u="sng" dirty="0" err="1">
                <a:latin typeface="Arial Nova Cond Light" panose="020B0306020202020204" pitchFamily="34" charset="0"/>
              </a:rPr>
              <a:t>iyong</a:t>
            </a:r>
            <a:r>
              <a:rPr lang="en-PH" sz="2600" u="sng" dirty="0">
                <a:latin typeface="Arial Nova Cond Light" panose="020B0306020202020204" pitchFamily="34" charset="0"/>
              </a:rPr>
              <a:t>___</a:t>
            </a:r>
            <a:r>
              <a:rPr lang="en-PH" sz="2600" dirty="0" err="1">
                <a:latin typeface="Arial Nova Cond Light" panose="020B0306020202020204" pitchFamily="34" charset="0"/>
              </a:rPr>
              <a:t>baro</a:t>
            </a:r>
            <a:r>
              <a:rPr lang="en-PH" sz="2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2600" dirty="0">
                <a:latin typeface="Arial Nova Cond Light" panose="020B0306020202020204" pitchFamily="34" charset="0"/>
              </a:rPr>
              <a:t>ang </a:t>
            </a:r>
            <a:r>
              <a:rPr lang="en-PH" sz="2600" dirty="0" err="1">
                <a:latin typeface="Arial Nova Cond Light" panose="020B0306020202020204" pitchFamily="34" charset="0"/>
              </a:rPr>
              <a:t>pitaka_mo</a:t>
            </a:r>
            <a:r>
              <a:rPr lang="en-PH" sz="2600" dirty="0">
                <a:latin typeface="Arial Nova Cond Light" panose="020B0306020202020204" pitchFamily="34" charset="0"/>
              </a:rPr>
              <a:t>_.(</a:t>
            </a:r>
            <a:r>
              <a:rPr lang="en-PH" sz="2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you</a:t>
            </a:r>
            <a:r>
              <a:rPr lang="en-PH" sz="2600" dirty="0">
                <a:latin typeface="Arial Nova Cond Light" panose="020B0306020202020204" pitchFamily="34" charset="0"/>
              </a:rPr>
              <a:t>, singular)</a:t>
            </a:r>
          </a:p>
          <a:p>
            <a:r>
              <a:rPr lang="en-PH" sz="2600" dirty="0">
                <a:latin typeface="Arial Nova Cond Light" panose="020B0306020202020204" pitchFamily="34" charset="0"/>
              </a:rPr>
              <a:t>	</a:t>
            </a:r>
            <a:r>
              <a:rPr lang="en-PH" sz="2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Your </a:t>
            </a:r>
            <a:r>
              <a:rPr lang="en-PH" sz="2600" dirty="0">
                <a:latin typeface="Arial Nova Cond Light" panose="020B0306020202020204" pitchFamily="34" charset="0"/>
              </a:rPr>
              <a:t>dress has the same color as </a:t>
            </a:r>
            <a:r>
              <a:rPr lang="en-PH" sz="2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your</a:t>
            </a:r>
            <a:r>
              <a:rPr lang="en-PH" sz="2600" dirty="0">
                <a:latin typeface="Arial Nova Cond Light" panose="020B0306020202020204" pitchFamily="34" charset="0"/>
              </a:rPr>
              <a:t> wallet.</a:t>
            </a:r>
          </a:p>
          <a:p>
            <a:endParaRPr lang="en-PH" sz="2600" dirty="0">
              <a:latin typeface="Arial Nova Cond Light" panose="020B0306020202020204" pitchFamily="34" charset="0"/>
            </a:endParaRPr>
          </a:p>
          <a:p>
            <a:pPr marL="514350" indent="-514350">
              <a:buAutoNum type="arabicPeriod" startAt="2"/>
            </a:pPr>
            <a:r>
              <a:rPr lang="en-PH" sz="2600" dirty="0" err="1">
                <a:latin typeface="Arial Nova Cond Light" panose="020B0306020202020204" pitchFamily="34" charset="0"/>
              </a:rPr>
              <a:t>Pumunta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dirty="0" err="1">
                <a:latin typeface="Arial Nova Cond Light" panose="020B0306020202020204" pitchFamily="34" charset="0"/>
              </a:rPr>
              <a:t>sa</a:t>
            </a:r>
            <a:r>
              <a:rPr lang="en-PH" sz="2600" dirty="0">
                <a:latin typeface="Arial Nova Cond Light" panose="020B0306020202020204" pitchFamily="34" charset="0"/>
              </a:rPr>
              <a:t>__</a:t>
            </a:r>
            <a:r>
              <a:rPr lang="en-PH" sz="2600" dirty="0" err="1">
                <a:latin typeface="Arial Nova Cond Light" panose="020B0306020202020204" pitchFamily="34" charset="0"/>
              </a:rPr>
              <a:t>aming</a:t>
            </a:r>
            <a:r>
              <a:rPr lang="en-PH" sz="2600" dirty="0">
                <a:latin typeface="Arial Nova Cond Light" panose="020B0306020202020204" pitchFamily="34" charset="0"/>
              </a:rPr>
              <a:t>__</a:t>
            </a:r>
            <a:r>
              <a:rPr lang="en-PH" sz="2600" dirty="0" err="1">
                <a:latin typeface="Arial Nova Cond Light" panose="020B0306020202020204" pitchFamily="34" charset="0"/>
              </a:rPr>
              <a:t>bahay</a:t>
            </a:r>
            <a:r>
              <a:rPr lang="en-PH" sz="2600" dirty="0">
                <a:latin typeface="Arial Nova Cond Light" panose="020B0306020202020204" pitchFamily="34" charset="0"/>
              </a:rPr>
              <a:t> ang </a:t>
            </a:r>
            <a:r>
              <a:rPr lang="en-PH" sz="2600" dirty="0" err="1">
                <a:latin typeface="Arial Nova Cond Light" panose="020B0306020202020204" pitchFamily="34" charset="0"/>
              </a:rPr>
              <a:t>guro</a:t>
            </a:r>
            <a:r>
              <a:rPr lang="en-PH" sz="2600" u="sng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_namin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 </a:t>
            </a:r>
            <a:r>
              <a:rPr lang="en-PH" sz="2600" dirty="0">
                <a:latin typeface="Arial Nova Cond Light" panose="020B0306020202020204" pitchFamily="34" charset="0"/>
              </a:rPr>
              <a:t>(our excluding listener) </a:t>
            </a:r>
          </a:p>
          <a:p>
            <a:r>
              <a:rPr lang="en-PH" sz="2600" dirty="0">
                <a:latin typeface="Arial Nova Cond Light" panose="020B0306020202020204" pitchFamily="34" charset="0"/>
              </a:rPr>
              <a:t>	Our teacher went to our house.</a:t>
            </a:r>
          </a:p>
          <a:p>
            <a:endParaRPr lang="en-PH" sz="2600" dirty="0">
              <a:latin typeface="Arial Nova Cond Light" panose="020B0306020202020204" pitchFamily="34" charset="0"/>
            </a:endParaRPr>
          </a:p>
          <a:p>
            <a:r>
              <a:rPr lang="en-PH" sz="2600" dirty="0">
                <a:latin typeface="Arial Nova Cond Light" panose="020B0306020202020204" pitchFamily="34" charset="0"/>
              </a:rPr>
              <a:t>3.	</a:t>
            </a:r>
            <a:r>
              <a:rPr lang="en-PH" sz="2600" dirty="0" err="1">
                <a:latin typeface="Arial Nova Cond Light" panose="020B0306020202020204" pitchFamily="34" charset="0"/>
              </a:rPr>
              <a:t>Naghanap</a:t>
            </a:r>
            <a:r>
              <a:rPr lang="en-PH" sz="2600" dirty="0">
                <a:latin typeface="Arial Nova Cond Light" panose="020B0306020202020204" pitchFamily="34" charset="0"/>
              </a:rPr>
              <a:t> ang</a:t>
            </a:r>
            <a:r>
              <a:rPr lang="en-PH" sz="2600" u="sng" dirty="0">
                <a:latin typeface="Arial Nova Cond Light" panose="020B0306020202020204" pitchFamily="34" charset="0"/>
              </a:rPr>
              <a:t> _</a:t>
            </a:r>
            <a:r>
              <a:rPr lang="en-PH" sz="2600" u="sng" dirty="0" err="1">
                <a:latin typeface="Arial Nova Cond Light" panose="020B0306020202020204" pitchFamily="34" charset="0"/>
              </a:rPr>
              <a:t>aking</a:t>
            </a:r>
            <a:r>
              <a:rPr lang="en-PH" sz="2600" u="sng" dirty="0">
                <a:latin typeface="Arial Nova Cond Light" panose="020B0306020202020204" pitchFamily="34" charset="0"/>
              </a:rPr>
              <a:t>__</a:t>
            </a:r>
            <a:r>
              <a:rPr lang="en-PH" sz="2600" dirty="0" err="1">
                <a:latin typeface="Arial Nova Cond Light" panose="020B0306020202020204" pitchFamily="34" charset="0"/>
              </a:rPr>
              <a:t>anak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dirty="0" err="1">
                <a:latin typeface="Arial Nova Cond Light" panose="020B0306020202020204" pitchFamily="34" charset="0"/>
              </a:rPr>
              <a:t>na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dirty="0" err="1">
                <a:latin typeface="Arial Nova Cond Light" panose="020B0306020202020204" pitchFamily="34" charset="0"/>
              </a:rPr>
              <a:t>babae</a:t>
            </a:r>
            <a:r>
              <a:rPr lang="en-PH" sz="2600" dirty="0">
                <a:latin typeface="Arial Nova Cond Light" panose="020B0306020202020204" pitchFamily="34" charset="0"/>
              </a:rPr>
              <a:t> ng regalo para </a:t>
            </a:r>
            <a:r>
              <a:rPr lang="en-PH" sz="2600" dirty="0" err="1">
                <a:latin typeface="Arial Nova Cond Light" panose="020B0306020202020204" pitchFamily="34" charset="0"/>
              </a:rPr>
              <a:t>sa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2600" u="sng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kanyang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__</a:t>
            </a:r>
            <a:r>
              <a:rPr lang="en-PH" sz="2600" dirty="0" err="1">
                <a:latin typeface="Arial Nova Cond Light" panose="020B0306020202020204" pitchFamily="34" charset="0"/>
              </a:rPr>
              <a:t>kapatid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dirty="0" err="1">
                <a:latin typeface="Arial Nova Cond Light" panose="020B0306020202020204" pitchFamily="34" charset="0"/>
              </a:rPr>
              <a:t>na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dirty="0" err="1">
                <a:latin typeface="Arial Nova Cond Light" panose="020B0306020202020204" pitchFamily="34" charset="0"/>
              </a:rPr>
              <a:t>babae</a:t>
            </a:r>
            <a:r>
              <a:rPr lang="en-PH" sz="2600" dirty="0">
                <a:latin typeface="Arial Nova Cond Light" panose="020B0306020202020204" pitchFamily="34" charset="0"/>
              </a:rPr>
              <a:t>.</a:t>
            </a:r>
          </a:p>
          <a:p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	</a:t>
            </a:r>
            <a:r>
              <a:rPr lang="en-PH" sz="2600" dirty="0">
                <a:latin typeface="Arial Nova Cond Light" panose="020B0306020202020204" pitchFamily="34" charset="0"/>
              </a:rPr>
              <a:t>My daughter looked for my gift for her sister. (literal)</a:t>
            </a:r>
          </a:p>
          <a:p>
            <a:endParaRPr lang="en-PH" sz="2600" dirty="0">
              <a:latin typeface="Arial Nova Cond Light" panose="020B0306020202020204" pitchFamily="34" charset="0"/>
            </a:endParaRPr>
          </a:p>
          <a:p>
            <a:pPr marL="514350" indent="-514350">
              <a:buAutoNum type="arabicPeriod" startAt="4"/>
            </a:pPr>
            <a:r>
              <a:rPr lang="en-PH" sz="2600" dirty="0" err="1">
                <a:latin typeface="Arial Nova Cond Light" panose="020B0306020202020204" pitchFamily="34" charset="0"/>
              </a:rPr>
              <a:t>Mahaba</a:t>
            </a:r>
            <a:r>
              <a:rPr lang="en-PH" sz="2600" dirty="0">
                <a:latin typeface="Arial Nova Cond Light" panose="020B0306020202020204" pitchFamily="34" charset="0"/>
              </a:rPr>
              <a:t> ang </a:t>
            </a:r>
            <a:r>
              <a:rPr lang="en-PH" sz="2600" dirty="0" err="1">
                <a:latin typeface="Arial Nova Cond Light" panose="020B0306020202020204" pitchFamily="34" charset="0"/>
              </a:rPr>
              <a:t>pasensiya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</a:t>
            </a:r>
            <a:r>
              <a:rPr lang="en-PH" sz="2600" u="sng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nila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__</a:t>
            </a:r>
            <a:r>
              <a:rPr lang="en-PH" sz="2600" dirty="0" err="1">
                <a:latin typeface="Arial Nova Cond Light" panose="020B0306020202020204" pitchFamily="34" charset="0"/>
              </a:rPr>
              <a:t>sa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</a:t>
            </a:r>
            <a:r>
              <a:rPr lang="en-PH" sz="2600" u="sng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kanilang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__</a:t>
            </a:r>
            <a:r>
              <a:rPr lang="en-PH" sz="2600" dirty="0">
                <a:latin typeface="Arial Nova Cond Light" panose="020B0306020202020204" pitchFamily="34" charset="0"/>
              </a:rPr>
              <a:t>ama. (their)</a:t>
            </a:r>
            <a:endParaRPr lang="en-PH" sz="2600" dirty="0">
              <a:solidFill>
                <a:srgbClr val="FFFF00"/>
              </a:solidFill>
              <a:latin typeface="Arial Nova Cond Light" panose="020B0306020202020204" pitchFamily="34" charset="0"/>
            </a:endParaRPr>
          </a:p>
          <a:p>
            <a:pPr lvl="1"/>
            <a:r>
              <a:rPr lang="en-PH" sz="2600" dirty="0">
                <a:latin typeface="Arial Nova Cond Light" panose="020B0306020202020204" pitchFamily="34" charset="0"/>
              </a:rPr>
              <a:t>They have long patience for their father.</a:t>
            </a:r>
          </a:p>
          <a:p>
            <a:endParaRPr lang="en-PH" sz="2600" dirty="0">
              <a:latin typeface="Arial Nova Cond Light" panose="020B0306020202020204" pitchFamily="34" charset="0"/>
            </a:endParaRPr>
          </a:p>
          <a:p>
            <a:pPr marL="514350" indent="-514350">
              <a:buAutoNum type="arabicPeriod" startAt="5"/>
            </a:pPr>
            <a:r>
              <a:rPr lang="en-PH" sz="2600" dirty="0">
                <a:latin typeface="Arial Nova Cond Light" panose="020B0306020202020204" pitchFamily="34" charset="0"/>
              </a:rPr>
              <a:t>Ang pang-</a:t>
            </a:r>
            <a:r>
              <a:rPr lang="en-PH" sz="2600" dirty="0" err="1">
                <a:latin typeface="Arial Nova Cond Light" panose="020B0306020202020204" pitchFamily="34" charset="0"/>
              </a:rPr>
              <a:t>unawa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</a:t>
            </a:r>
            <a:r>
              <a:rPr lang="en-PH" sz="2600" u="sng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ninyo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___</a:t>
            </a:r>
            <a:r>
              <a:rPr lang="en-PH" sz="2600" dirty="0">
                <a:latin typeface="Arial Nova Cond Light" panose="020B0306020202020204" pitchFamily="34" charset="0"/>
              </a:rPr>
              <a:t>ay mas </a:t>
            </a:r>
            <a:r>
              <a:rPr lang="en-PH" sz="2600" dirty="0" err="1">
                <a:latin typeface="Arial Nova Cond Light" panose="020B0306020202020204" pitchFamily="34" charset="0"/>
              </a:rPr>
              <a:t>mahalaga</a:t>
            </a:r>
            <a:r>
              <a:rPr lang="en-PH" sz="2600" dirty="0">
                <a:latin typeface="Arial Nova Cond Light" panose="020B0306020202020204" pitchFamily="34" charset="0"/>
              </a:rPr>
              <a:t> </a:t>
            </a:r>
            <a:r>
              <a:rPr lang="en-PH" sz="2600" dirty="0" err="1">
                <a:latin typeface="Arial Nova Cond Light" panose="020B0306020202020204" pitchFamily="34" charset="0"/>
              </a:rPr>
              <a:t>sa</a:t>
            </a:r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__</a:t>
            </a:r>
            <a:r>
              <a:rPr lang="en-PH" sz="2600" u="sng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inyong</a:t>
            </a:r>
            <a:r>
              <a:rPr lang="en-PH" sz="2600" u="sng" dirty="0">
                <a:solidFill>
                  <a:srgbClr val="FFFF00"/>
                </a:solidFill>
                <a:latin typeface="Arial Nova Cond Light" panose="020B0306020202020204" pitchFamily="34" charset="0"/>
              </a:rPr>
              <a:t>___ </a:t>
            </a:r>
            <a:r>
              <a:rPr lang="en-PH" sz="2600" dirty="0" err="1">
                <a:latin typeface="Arial Nova Cond Light" panose="020B0306020202020204" pitchFamily="34" charset="0"/>
              </a:rPr>
              <a:t>abuloy</a:t>
            </a:r>
            <a:r>
              <a:rPr lang="en-PH" sz="2600" dirty="0">
                <a:latin typeface="Arial Nova Cond Light" panose="020B0306020202020204" pitchFamily="34" charset="0"/>
              </a:rPr>
              <a:t>. (you, plural) </a:t>
            </a:r>
          </a:p>
          <a:p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	</a:t>
            </a:r>
            <a:r>
              <a:rPr lang="en-PH" sz="2600" dirty="0">
                <a:latin typeface="Arial Nova Cond Light" panose="020B0306020202020204" pitchFamily="34" charset="0"/>
              </a:rPr>
              <a:t>Your understanding is more important than your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189677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7FBC-3298-51F0-E895-3D39C7EB2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en-PH" sz="16600" dirty="0">
                <a:latin typeface="Arial Nova Cond Light" panose="020B0306020202020204" pitchFamily="34" charset="0"/>
              </a:rPr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2084332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3249-D649-68DC-43EE-22CCDF5F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04FD-0485-EF56-114A-9D773A84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01AC1-E121-CCBE-4702-D662A9E4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99" y="1831736"/>
            <a:ext cx="12014199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F66EF-6DC0-DF30-36C2-2B8A40CC26F3}"/>
              </a:ext>
            </a:extLst>
          </p:cNvPr>
          <p:cNvSpPr txBox="1"/>
          <p:nvPr/>
        </p:nvSpPr>
        <p:spPr>
          <a:xfrm>
            <a:off x="46566" y="89122"/>
            <a:ext cx="121454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 Nova Cond Light" panose="020B0306020202020204" pitchFamily="34" charset="0"/>
              </a:rPr>
              <a:t>Translate the following sentences into Tagalog using both the subject-predicate word order and the inverted or transposed order.</a:t>
            </a:r>
          </a:p>
          <a:p>
            <a:endParaRPr lang="en-US" sz="2400" dirty="0">
              <a:latin typeface="Arial Nova Cond Light" panose="020B0306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400" dirty="0">
                <a:latin typeface="Arial Nova Cond Light" panose="020B0306020202020204" pitchFamily="34" charset="0"/>
              </a:rPr>
              <a:t>The man's shoes are new. 				</a:t>
            </a:r>
          </a:p>
          <a:p>
            <a:pPr marL="514350" indent="-514350">
              <a:buAutoNum type="arabicPeriod" startAt="2"/>
            </a:pPr>
            <a:r>
              <a:rPr lang="en-US" sz="2400" dirty="0">
                <a:latin typeface="Arial Nova Cond Light" panose="020B0306020202020204" pitchFamily="34" charset="0"/>
              </a:rPr>
              <a:t>Their house is big. 			 				</a:t>
            </a:r>
          </a:p>
          <a:p>
            <a:pPr marL="514350" indent="-514350">
              <a:buAutoNum type="arabicPeriod" startAt="2"/>
            </a:pPr>
            <a:r>
              <a:rPr lang="en-US" sz="2400" dirty="0">
                <a:latin typeface="Arial Nova Cond Light" panose="020B0306020202020204" pitchFamily="34" charset="0"/>
              </a:rPr>
              <a:t>The child's dress is dirty. 				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4. 	Peter's book is clean. 										 </a:t>
            </a:r>
          </a:p>
          <a:p>
            <a:pPr marL="514350" indent="-514350">
              <a:buAutoNum type="arabicPeriod" startAt="5"/>
            </a:pPr>
            <a:r>
              <a:rPr lang="en-US" sz="2400" dirty="0">
                <a:latin typeface="Arial Nova Cond Light" panose="020B0306020202020204" pitchFamily="34" charset="0"/>
              </a:rPr>
              <a:t>Your food is cold.			</a:t>
            </a:r>
          </a:p>
          <a:p>
            <a:pPr marL="514350" indent="-514350">
              <a:buAutoNum type="arabicPeriod" startAt="5"/>
            </a:pPr>
            <a:r>
              <a:rPr lang="en-US" sz="2400" dirty="0">
                <a:latin typeface="Arial Nova Cond Light" panose="020B0306020202020204" pitchFamily="34" charset="0"/>
              </a:rPr>
              <a:t>My food is delicious 																									</a:t>
            </a:r>
          </a:p>
        </p:txBody>
      </p:sp>
    </p:spTree>
    <p:extLst>
      <p:ext uri="{BB962C8B-B14F-4D97-AF65-F5344CB8AC3E}">
        <p14:creationId xmlns:p14="http://schemas.microsoft.com/office/powerpoint/2010/main" val="2938806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663A-FC5A-76C4-F3E7-33D9C82E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4083-5BD9-0D66-4C83-106FCD4F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F28D0-344D-3E7D-EC04-977351EAC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831736"/>
            <a:ext cx="12149666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AD770-37B3-5ADF-9760-5B531ED4D210}"/>
              </a:ext>
            </a:extLst>
          </p:cNvPr>
          <p:cNvSpPr txBox="1"/>
          <p:nvPr/>
        </p:nvSpPr>
        <p:spPr>
          <a:xfrm>
            <a:off x="79127" y="98993"/>
            <a:ext cx="1184193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Arial Nova Cond Light" panose="020B0306020202020204" pitchFamily="34" charset="0"/>
            </a:endParaRPr>
          </a:p>
          <a:p>
            <a:r>
              <a:rPr lang="en-US" sz="3600" b="1" dirty="0">
                <a:latin typeface="Arial Nova Cond Light" panose="020B0306020202020204" pitchFamily="34" charset="0"/>
              </a:rPr>
              <a:t>Ill. THE POSSESSIVES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NITO, NIYAN AND NIYON</a:t>
            </a:r>
          </a:p>
          <a:p>
            <a:endParaRPr lang="en-US" sz="2800" dirty="0">
              <a:latin typeface="Arial Nova Cond Light" panose="020B0306020202020204" pitchFamily="34" charset="0"/>
            </a:endParaRPr>
          </a:p>
          <a:p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lto</a:t>
            </a:r>
            <a:r>
              <a:rPr lang="en-US" sz="28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,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lyan</a:t>
            </a:r>
            <a:r>
              <a:rPr lang="en-US" sz="28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and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l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yon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are similar to 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this and that</a:t>
            </a:r>
            <a:r>
              <a:rPr lang="en-US" sz="2800" dirty="0">
                <a:latin typeface="Arial Nova Cond Light" panose="020B0306020202020204" pitchFamily="34" charset="0"/>
              </a:rPr>
              <a:t>; they indicate where an object is in relation to the speak­er.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As possessives, they change into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nito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(of this person),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niyan</a:t>
            </a:r>
            <a:r>
              <a:rPr lang="en-US" sz="2800" dirty="0">
                <a:latin typeface="Arial Nova Cond Light" panose="020B0306020202020204" pitchFamily="34" charset="0"/>
              </a:rPr>
              <a:t> and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niyon</a:t>
            </a:r>
            <a:r>
              <a:rPr lang="en-US" sz="2800" dirty="0">
                <a:latin typeface="Arial Nova Cond Light" panose="020B0306020202020204" pitchFamily="34" charset="0"/>
              </a:rPr>
              <a:t> (</a:t>
            </a:r>
            <a:r>
              <a:rPr lang="en-US" sz="28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of that person) </a:t>
            </a:r>
            <a:r>
              <a:rPr lang="en-US" sz="2800" dirty="0">
                <a:latin typeface="Arial Nova Cond Light" panose="020B0306020202020204" pitchFamily="34" charset="0"/>
              </a:rPr>
              <a:t>and point to a possession belonging to a person near or far from the speaker or persons spoken to. When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nito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,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niyan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,</a:t>
            </a:r>
            <a:r>
              <a:rPr lang="en-US" sz="2800" dirty="0">
                <a:latin typeface="Arial Nova Cond Light" panose="020B0306020202020204" pitchFamily="34" charset="0"/>
              </a:rPr>
              <a:t> and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niyon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are used, the speaker assumes that the person he/she is talking to also recognizes the owner.</a:t>
            </a:r>
          </a:p>
        </p:txBody>
      </p:sp>
    </p:spTree>
    <p:extLst>
      <p:ext uri="{BB962C8B-B14F-4D97-AF65-F5344CB8AC3E}">
        <p14:creationId xmlns:p14="http://schemas.microsoft.com/office/powerpoint/2010/main" val="3202397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84F2-66DD-1AC7-47A9-0C0FC979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A192-4C01-7689-9203-C66EF250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6B1B-7815-1511-9BC3-87FA78FAC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379" y="1827139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9C38D-6DB3-338A-B8A5-588C1A6863B6}"/>
              </a:ext>
            </a:extLst>
          </p:cNvPr>
          <p:cNvSpPr txBox="1"/>
          <p:nvPr/>
        </p:nvSpPr>
        <p:spPr>
          <a:xfrm>
            <a:off x="0" y="1"/>
            <a:ext cx="12192000" cy="6691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 Nova Cond Light" panose="020B0306020202020204" pitchFamily="34" charset="0"/>
              </a:rPr>
              <a:t>Note that in contrast with the preceding examples using possessive personal pronouns, the posses­sives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nito</a:t>
            </a:r>
            <a:r>
              <a:rPr lang="en-US" sz="28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,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niyan</a:t>
            </a:r>
            <a:r>
              <a:rPr lang="en-US" sz="2800" dirty="0">
                <a:latin typeface="Arial Nova Cond Light" panose="020B0306020202020204" pitchFamily="34" charset="0"/>
              </a:rPr>
              <a:t>, and </a:t>
            </a:r>
            <a:r>
              <a:rPr lang="en-US" sz="28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niyon</a:t>
            </a:r>
            <a:r>
              <a:rPr lang="en-US" sz="28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are always used in the same place after the noun, even in an inverted sen­tence.</a:t>
            </a:r>
          </a:p>
          <a:p>
            <a:endParaRPr lang="en-US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nito</a:t>
            </a:r>
            <a:r>
              <a:rPr lang="en-US" sz="2800" dirty="0">
                <a:latin typeface="Arial Nova Cond Light" panose="020B0306020202020204" pitchFamily="34" charset="0"/>
              </a:rPr>
              <a:t> ay </a:t>
            </a:r>
            <a:r>
              <a:rPr lang="en-US" sz="2800" dirty="0" err="1">
                <a:latin typeface="Arial Nova Cond Light" panose="020B0306020202020204" pitchFamily="34" charset="0"/>
              </a:rPr>
              <a:t>malaki</a:t>
            </a:r>
            <a:r>
              <a:rPr lang="en-US" sz="2800" dirty="0">
                <a:latin typeface="Arial Nova Cond Light" panose="020B0306020202020204" pitchFamily="34" charset="0"/>
              </a:rPr>
              <a:t>. 						Malaki 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latin typeface="Arial Nova Cond Light" panose="020B0306020202020204" pitchFamily="34" charset="0"/>
              </a:rPr>
              <a:t>nito</a:t>
            </a:r>
            <a:r>
              <a:rPr lang="en-US" sz="2800" dirty="0">
                <a:latin typeface="Arial Nova Cond Light" panose="020B0306020202020204" pitchFamily="34" charset="0"/>
              </a:rPr>
              <a:t>.</a:t>
            </a:r>
          </a:p>
          <a:p>
            <a:r>
              <a:rPr lang="en-US" sz="2800" dirty="0">
                <a:latin typeface="Arial Nova Cond Light" panose="020B0306020202020204" pitchFamily="34" charset="0"/>
              </a:rPr>
              <a:t>The house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of this (person) </a:t>
            </a:r>
            <a:r>
              <a:rPr lang="en-US" sz="2800" dirty="0">
                <a:latin typeface="Arial Nova Cond Light" panose="020B0306020202020204" pitchFamily="34" charset="0"/>
              </a:rPr>
              <a:t>is big. 				(Owner of house is near the speaker)</a:t>
            </a:r>
          </a:p>
          <a:p>
            <a:endParaRPr lang="en-US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niyan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ay </a:t>
            </a:r>
            <a:r>
              <a:rPr lang="en-US" sz="2800" dirty="0" err="1">
                <a:latin typeface="Arial Nova Cond Light" panose="020B0306020202020204" pitchFamily="34" charset="0"/>
              </a:rPr>
              <a:t>maliit</a:t>
            </a:r>
            <a:r>
              <a:rPr lang="en-US" sz="2800" dirty="0">
                <a:latin typeface="Arial Nova Cond Light" panose="020B0306020202020204" pitchFamily="34" charset="0"/>
              </a:rPr>
              <a:t>. 						</a:t>
            </a:r>
            <a:r>
              <a:rPr lang="en-US" sz="2800" dirty="0" err="1">
                <a:latin typeface="Arial Nova Cond Light" panose="020B0306020202020204" pitchFamily="34" charset="0"/>
              </a:rPr>
              <a:t>Maliit</a:t>
            </a:r>
            <a:r>
              <a:rPr lang="en-US" sz="2800" dirty="0">
                <a:latin typeface="Arial Nova Cond Light" panose="020B0306020202020204" pitchFamily="34" charset="0"/>
              </a:rPr>
              <a:t> 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latin typeface="Arial Nova Cond Light" panose="020B0306020202020204" pitchFamily="34" charset="0"/>
              </a:rPr>
              <a:t>niyan</a:t>
            </a:r>
            <a:r>
              <a:rPr lang="en-US" sz="2800" dirty="0">
                <a:latin typeface="Arial Nova Cond Light" panose="020B0306020202020204" pitchFamily="34" charset="0"/>
              </a:rPr>
              <a:t>.</a:t>
            </a:r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The house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of that </a:t>
            </a:r>
            <a:r>
              <a:rPr lang="en-US" sz="2800" dirty="0">
                <a:latin typeface="Arial Nova Cond Light" panose="020B0306020202020204" pitchFamily="34" charset="0"/>
              </a:rPr>
              <a:t>(person) is small.</a:t>
            </a:r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(Owner of the house is near the person spoken to)</a:t>
            </a:r>
            <a:endParaRPr lang="en-PH" sz="2800" dirty="0">
              <a:latin typeface="Arial Nova Cond Light" panose="020B0306020202020204" pitchFamily="34" charset="0"/>
            </a:endParaRPr>
          </a:p>
          <a:p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niyon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2800" dirty="0">
                <a:latin typeface="Arial Nova Cond Light" panose="020B0306020202020204" pitchFamily="34" charset="0"/>
              </a:rPr>
              <a:t>ay </a:t>
            </a:r>
            <a:r>
              <a:rPr lang="en-US" sz="2800" dirty="0" err="1">
                <a:latin typeface="Arial Nova Cond Light" panose="020B0306020202020204" pitchFamily="34" charset="0"/>
              </a:rPr>
              <a:t>maliit</a:t>
            </a:r>
            <a:r>
              <a:rPr lang="en-US" sz="2800" dirty="0">
                <a:latin typeface="Arial Nova Cond Light" panose="020B0306020202020204" pitchFamily="34" charset="0"/>
              </a:rPr>
              <a:t>. 						</a:t>
            </a:r>
            <a:r>
              <a:rPr lang="en-US" sz="2800" dirty="0" err="1">
                <a:latin typeface="Arial Nova Cond Light" panose="020B0306020202020204" pitchFamily="34" charset="0"/>
              </a:rPr>
              <a:t>Maliit</a:t>
            </a:r>
            <a:r>
              <a:rPr lang="en-US" sz="2800" dirty="0">
                <a:latin typeface="Arial Nova Cond Light" panose="020B0306020202020204" pitchFamily="34" charset="0"/>
              </a:rPr>
              <a:t> ang </a:t>
            </a:r>
            <a:r>
              <a:rPr lang="en-US" sz="2800" dirty="0" err="1">
                <a:latin typeface="Arial Nova Cond Light" panose="020B0306020202020204" pitchFamily="34" charset="0"/>
              </a:rPr>
              <a:t>bahay</a:t>
            </a:r>
            <a:r>
              <a:rPr lang="en-US" sz="2800" dirty="0">
                <a:latin typeface="Arial Nova Cond Light" panose="020B0306020202020204" pitchFamily="34" charset="0"/>
              </a:rPr>
              <a:t> </a:t>
            </a:r>
            <a:r>
              <a:rPr lang="en-US" sz="2800" dirty="0" err="1">
                <a:latin typeface="Arial Nova Cond Light" panose="020B0306020202020204" pitchFamily="34" charset="0"/>
              </a:rPr>
              <a:t>niyon</a:t>
            </a:r>
            <a:r>
              <a:rPr lang="en-US" sz="2800" dirty="0">
                <a:latin typeface="Arial Nova Cond Light" panose="020B0306020202020204" pitchFamily="34" charset="0"/>
              </a:rPr>
              <a:t>.</a:t>
            </a:r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The house </a:t>
            </a:r>
            <a:r>
              <a:rPr lang="en-US" sz="28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of that </a:t>
            </a:r>
            <a:r>
              <a:rPr lang="en-US" sz="2800" dirty="0">
                <a:latin typeface="Arial Nova Cond Light" panose="020B0306020202020204" pitchFamily="34" charset="0"/>
              </a:rPr>
              <a:t>(person) is small.</a:t>
            </a:r>
            <a:endParaRPr lang="en-PH" sz="2800" dirty="0">
              <a:latin typeface="Arial Nova Cond Light" panose="020B0306020202020204" pitchFamily="34" charset="0"/>
            </a:endParaRPr>
          </a:p>
          <a:p>
            <a:r>
              <a:rPr lang="en-US" sz="2800" dirty="0">
                <a:latin typeface="Arial Nova Cond Light" panose="020B0306020202020204" pitchFamily="34" charset="0"/>
              </a:rPr>
              <a:t>(Owner of the house is far from the persons talking)</a:t>
            </a:r>
            <a:endParaRPr lang="en-PH" sz="2800" dirty="0">
              <a:latin typeface="Arial Nova Cond Light" panose="020B0306020202020204" pitchFamily="34" charset="0"/>
            </a:endParaRPr>
          </a:p>
          <a:p>
            <a:endParaRPr lang="en-US" sz="28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811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D7E3-876C-53CB-3A0B-9791D18B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FF7D-6CBB-0064-3A9A-412AB0A4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3824-65CF-2AFB-80E0-44D9F3CD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379" y="1827139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9098C-9425-093D-67FF-A6A8318F633E}"/>
              </a:ext>
            </a:extLst>
          </p:cNvPr>
          <p:cNvSpPr txBox="1"/>
          <p:nvPr/>
        </p:nvSpPr>
        <p:spPr>
          <a:xfrm>
            <a:off x="59267" y="978264"/>
            <a:ext cx="1213273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 Nova Cond Light" panose="020B0306020202020204" pitchFamily="34" charset="0"/>
              </a:rPr>
              <a:t>As previously mentioned in prev. lesson, Tagalog sentences follow the plurality rule. In the case of possessive pronouns, their plural forms are formed by adding </a:t>
            </a:r>
            <a:r>
              <a:rPr lang="en-US" sz="36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b="1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to the demonstratives </a:t>
            </a:r>
            <a:r>
              <a:rPr lang="en-US" sz="3600" b="1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ito</a:t>
            </a:r>
            <a:r>
              <a:rPr lang="en-US" sz="36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iyan</a:t>
            </a:r>
            <a:r>
              <a:rPr lang="en-US" sz="3600" dirty="0">
                <a:latin typeface="Arial Nova Cond Light" panose="020B0306020202020204" pitchFamily="34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iyon</a:t>
            </a:r>
            <a:r>
              <a:rPr lang="en-US" sz="3600" dirty="0">
                <a:latin typeface="Arial Nova Cond Light" panose="020B0306020202020204" pitchFamily="34" charset="0"/>
              </a:rPr>
              <a:t> ; and not to the possessives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nito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,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niyan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latin typeface="Arial Nova Cond Light" panose="020B0306020202020204" pitchFamily="34" charset="0"/>
              </a:rPr>
              <a:t>and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niyon</a:t>
            </a:r>
            <a:r>
              <a:rPr lang="en-US" sz="3600" dirty="0">
                <a:latin typeface="Arial Nova Cond Light" panose="020B0306020202020204" pitchFamily="34" charset="0"/>
              </a:rPr>
              <a:t>. As </a:t>
            </a:r>
            <a:r>
              <a:rPr lang="en-US" sz="36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ng</a:t>
            </a:r>
            <a:r>
              <a:rPr lang="en-US" sz="3600" dirty="0">
                <a:latin typeface="Arial Nova Cond Light" panose="020B0306020202020204" pitchFamily="34" charset="0"/>
              </a:rPr>
              <a:t> is already a possessive word, 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b="1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b="1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niyan</a:t>
            </a:r>
            <a:r>
              <a:rPr lang="en-US" sz="36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, </a:t>
            </a:r>
            <a:r>
              <a:rPr lang="en-US" sz="3600" dirty="0">
                <a:latin typeface="Arial Nova Cond Light" panose="020B0306020202020204" pitchFamily="34" charset="0"/>
              </a:rPr>
              <a:t>for example is both wrong and redundant.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bahay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ito</a:t>
            </a:r>
            <a:r>
              <a:rPr lang="en-US" sz="3600" dirty="0">
                <a:latin typeface="Arial Nova Cond Light" panose="020B0306020202020204" pitchFamily="34" charset="0"/>
              </a:rPr>
              <a:t>				the house of these people 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bahay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iyan</a:t>
            </a:r>
            <a:r>
              <a:rPr lang="en-US" sz="3600" dirty="0">
                <a:latin typeface="Arial Nova Cond Light" panose="020B0306020202020204" pitchFamily="34" charset="0"/>
              </a:rPr>
              <a:t>			the house of those people </a:t>
            </a:r>
          </a:p>
          <a:p>
            <a:r>
              <a:rPr lang="en-US" sz="3600" dirty="0">
                <a:latin typeface="Arial Nova Cond Light" panose="020B0306020202020204" pitchFamily="34" charset="0"/>
              </a:rPr>
              <a:t>ang </a:t>
            </a:r>
            <a:r>
              <a:rPr lang="en-US" sz="3600" dirty="0" err="1">
                <a:latin typeface="Arial Nova Cond Light" panose="020B0306020202020204" pitchFamily="34" charset="0"/>
              </a:rPr>
              <a:t>bahay</a:t>
            </a:r>
            <a:r>
              <a:rPr lang="en-US" sz="3600" dirty="0">
                <a:latin typeface="Arial Nova Cond Light" panose="020B0306020202020204" pitchFamily="34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ng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mga</a:t>
            </a:r>
            <a:r>
              <a:rPr lang="en-US" sz="3600" dirty="0">
                <a:solidFill>
                  <a:srgbClr val="FFFF00"/>
                </a:solidFill>
                <a:latin typeface="Arial Nova Cond Light" panose="020B0306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 Nova Cond Light" panose="020B0306020202020204" pitchFamily="34" charset="0"/>
              </a:rPr>
              <a:t>iyon</a:t>
            </a:r>
            <a:r>
              <a:rPr lang="en-US" sz="3600" dirty="0">
                <a:latin typeface="Arial Nova Cond Light" panose="020B0306020202020204" pitchFamily="34" charset="0"/>
              </a:rPr>
              <a:t>			the house of those people</a:t>
            </a:r>
          </a:p>
          <a:p>
            <a:endParaRPr lang="en-US" sz="24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953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6374-82CB-AC60-6A5E-413E14D3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462A-07C9-771E-CF79-0DE22247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158" y="1391655"/>
            <a:ext cx="9603275" cy="440081"/>
          </a:xfrm>
        </p:spPr>
        <p:txBody>
          <a:bodyPr>
            <a:normAutofit fontScale="90000"/>
          </a:bodyPr>
          <a:lstStyle/>
          <a:p>
            <a:pPr lvl="0"/>
            <a:br>
              <a:rPr lang="en-PH" dirty="0"/>
            </a:b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1427B-62DD-ABC4-2A5F-E2347E69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379" y="1827139"/>
            <a:ext cx="10877054" cy="40525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87857-D049-E52F-4C0B-5B248B6D7A9F}"/>
              </a:ext>
            </a:extLst>
          </p:cNvPr>
          <p:cNvSpPr txBox="1"/>
          <p:nvPr/>
        </p:nvSpPr>
        <p:spPr>
          <a:xfrm>
            <a:off x="0" y="0"/>
            <a:ext cx="12192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Nova Cond Light" panose="020B0306020202020204" pitchFamily="34" charset="0"/>
              </a:rPr>
              <a:t>												</a:t>
            </a:r>
            <a:r>
              <a:rPr lang="en-US" sz="2400" b="1" dirty="0">
                <a:latin typeface="Arial Nova Cond Light" panose="020B0306020202020204" pitchFamily="34" charset="0"/>
              </a:rPr>
              <a:t>Exercises</a:t>
            </a:r>
            <a:endParaRPr lang="en-US" sz="1600" dirty="0">
              <a:latin typeface="Arial Nova Cond Light" panose="020B0306020202020204" pitchFamily="34" charset="0"/>
            </a:endParaRPr>
          </a:p>
          <a:p>
            <a:r>
              <a:rPr lang="en-US" sz="2400" dirty="0">
                <a:latin typeface="Arial Nova Cond Light" panose="020B0306020202020204" pitchFamily="34" charset="0"/>
              </a:rPr>
              <a:t>Translate the following sentences into Tagalog using the subject-predicate word order to indicate that the owner is near, far from the listener, and far from both you and the listener. Follow the sentence patterns of the first sentence.</a:t>
            </a:r>
          </a:p>
          <a:p>
            <a:endParaRPr lang="en-US" sz="2400" dirty="0">
              <a:latin typeface="Arial Nova Cond Light" panose="020B0306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Arial Nova Cond Light" panose="020B0306020202020204" pitchFamily="34" charset="0"/>
              </a:rPr>
              <a:t>Robert's dog is intelligent.</a:t>
            </a:r>
            <a:br>
              <a:rPr lang="en-US" sz="2400" dirty="0">
                <a:latin typeface="Arial Nova Cond Light" panose="020B0306020202020204" pitchFamily="34" charset="0"/>
              </a:rPr>
            </a:br>
            <a:r>
              <a:rPr lang="en-US" sz="2400" dirty="0">
                <a:latin typeface="Arial Nova Cond Light" panose="020B0306020202020204" pitchFamily="34" charset="0"/>
              </a:rPr>
              <a:t>Ang </a:t>
            </a:r>
            <a:r>
              <a:rPr 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nito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marunong</a:t>
            </a:r>
            <a:r>
              <a:rPr lang="en-US" sz="2400" dirty="0">
                <a:latin typeface="Arial Nova Cond Light" panose="020B0306020202020204" pitchFamily="34" charset="0"/>
              </a:rPr>
              <a:t>       Ang </a:t>
            </a:r>
            <a:r>
              <a:rPr 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</a:t>
            </a:r>
            <a:r>
              <a:rPr lang="en-US" sz="2400" dirty="0">
                <a:latin typeface="Arial Nova Cond Light" panose="020B0306020202020204" pitchFamily="34" charset="0"/>
              </a:rPr>
              <a:t> Robert ay </a:t>
            </a:r>
            <a:r>
              <a:rPr lang="en-US" sz="2400" dirty="0" err="1">
                <a:latin typeface="Arial Nova Cond Light" panose="020B0306020202020204" pitchFamily="34" charset="0"/>
              </a:rPr>
              <a:t>marunong</a:t>
            </a:r>
            <a:r>
              <a:rPr lang="en-US" sz="2400" dirty="0">
                <a:latin typeface="Arial Nova Cond Light" panose="020B0306020202020204" pitchFamily="34" charset="0"/>
              </a:rPr>
              <a:t>. </a:t>
            </a:r>
          </a:p>
          <a:p>
            <a:pPr lvl="1"/>
            <a:r>
              <a:rPr lang="en-US" sz="2400" dirty="0">
                <a:latin typeface="Arial Nova Cond Light" panose="020B0306020202020204" pitchFamily="34" charset="0"/>
              </a:rPr>
              <a:t>Ang </a:t>
            </a:r>
            <a:r>
              <a:rPr 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niyan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marunong</a:t>
            </a:r>
            <a:r>
              <a:rPr lang="en-US" sz="2400" dirty="0">
                <a:latin typeface="Arial Nova Cond Light" panose="020B0306020202020204" pitchFamily="34" charset="0"/>
              </a:rPr>
              <a:t>.</a:t>
            </a:r>
            <a:br>
              <a:rPr lang="en-US" sz="2400" dirty="0">
                <a:latin typeface="Arial Nova Cond Light" panose="020B0306020202020204" pitchFamily="34" charset="0"/>
              </a:rPr>
            </a:br>
            <a:r>
              <a:rPr lang="en-US" sz="2400" dirty="0">
                <a:latin typeface="Arial Nova Cond Light" panose="020B0306020202020204" pitchFamily="34" charset="0"/>
              </a:rPr>
              <a:t>Ang </a:t>
            </a:r>
            <a:r>
              <a:rPr 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niyon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marunong</a:t>
            </a:r>
            <a:r>
              <a:rPr lang="en-US" sz="2400" dirty="0">
                <a:latin typeface="Arial Nova Cond Light" panose="020B0306020202020204" pitchFamily="34" charset="0"/>
              </a:rPr>
              <a:t>.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       </a:t>
            </a:r>
          </a:p>
          <a:p>
            <a:pPr marL="514350" indent="-514350">
              <a:buAutoNum type="arabicPeriod" startAt="2"/>
            </a:pPr>
            <a:r>
              <a:rPr lang="en-US" sz="2400" dirty="0">
                <a:latin typeface="Arial Nova Cond Light" panose="020B0306020202020204" pitchFamily="34" charset="0"/>
              </a:rPr>
              <a:t>Peter's book is clean.   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Ang </a:t>
            </a:r>
            <a:r>
              <a:rPr lang="en-US" sz="2400" dirty="0" err="1">
                <a:latin typeface="Arial Nova Cond Light" panose="020B0306020202020204" pitchFamily="34" charset="0"/>
              </a:rPr>
              <a:t>libro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nito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malinis</a:t>
            </a:r>
            <a:r>
              <a:rPr lang="en-US" sz="2400" dirty="0">
                <a:latin typeface="Arial Nova Cond Light" panose="020B0306020202020204" pitchFamily="34" charset="0"/>
              </a:rPr>
              <a:t>. 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Ang </a:t>
            </a:r>
            <a:r>
              <a:rPr lang="en-US" sz="2400" dirty="0" err="1">
                <a:latin typeface="Arial Nova Cond Light" panose="020B0306020202020204" pitchFamily="34" charset="0"/>
              </a:rPr>
              <a:t>libro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niyan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malinis</a:t>
            </a:r>
            <a:r>
              <a:rPr lang="en-US" sz="2400" dirty="0">
                <a:latin typeface="Arial Nova Cond Light" panose="020B0306020202020204" pitchFamily="34" charset="0"/>
              </a:rPr>
              <a:t>. 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Ang </a:t>
            </a:r>
            <a:r>
              <a:rPr lang="en-US" sz="2400" dirty="0" err="1">
                <a:latin typeface="Arial Nova Cond Light" panose="020B0306020202020204" pitchFamily="34" charset="0"/>
              </a:rPr>
              <a:t>libro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niyon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malinis</a:t>
            </a:r>
            <a:r>
              <a:rPr lang="en-US" sz="2400" dirty="0">
                <a:latin typeface="Arial Nova Cond Light" panose="020B0306020202020204" pitchFamily="34" charset="0"/>
              </a:rPr>
              <a:t>. 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   	</a:t>
            </a:r>
          </a:p>
          <a:p>
            <a:pPr marL="457200" indent="-457200">
              <a:buAutoNum type="arabicPeriod" startAt="3"/>
            </a:pPr>
            <a:r>
              <a:rPr lang="en-US" sz="2400" dirty="0">
                <a:latin typeface="Arial Nova Cond Light" panose="020B0306020202020204" pitchFamily="34" charset="0"/>
              </a:rPr>
              <a:t>Cha and Sam’s pencils are tall. 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Ang lapis ng </a:t>
            </a:r>
            <a:r>
              <a:rPr lang="en-US" sz="2400" dirty="0" err="1">
                <a:latin typeface="Arial Nova Cond Light" panose="020B0306020202020204" pitchFamily="34" charset="0"/>
              </a:rPr>
              <a:t>mga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ito</a:t>
            </a:r>
            <a:r>
              <a:rPr lang="en-US" sz="2400" dirty="0">
                <a:latin typeface="Arial Nova Cond Light" panose="020B0306020202020204" pitchFamily="34" charset="0"/>
              </a:rPr>
              <a:t>	ay </a:t>
            </a:r>
            <a:r>
              <a:rPr lang="en-US" sz="2400" dirty="0" err="1">
                <a:latin typeface="Arial Nova Cond Light" panose="020B0306020202020204" pitchFamily="34" charset="0"/>
              </a:rPr>
              <a:t>mahaba</a:t>
            </a:r>
            <a:r>
              <a:rPr lang="en-US" sz="2400" dirty="0">
                <a:latin typeface="Arial Nova Cond Light" panose="020B0306020202020204" pitchFamily="34" charset="0"/>
              </a:rPr>
              <a:t>.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Ang lapis ng </a:t>
            </a:r>
            <a:r>
              <a:rPr lang="en-US" sz="2400" dirty="0" err="1">
                <a:latin typeface="Arial Nova Cond Light" panose="020B0306020202020204" pitchFamily="34" charset="0"/>
              </a:rPr>
              <a:t>mga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iyan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mahaba</a:t>
            </a:r>
            <a:r>
              <a:rPr lang="en-US" sz="2400" dirty="0">
                <a:latin typeface="Arial Nova Cond Light" panose="020B0306020202020204" pitchFamily="34" charset="0"/>
              </a:rPr>
              <a:t>. 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Ang lapis ng </a:t>
            </a:r>
            <a:r>
              <a:rPr lang="en-US" sz="2400" dirty="0" err="1">
                <a:latin typeface="Arial Nova Cond Light" panose="020B0306020202020204" pitchFamily="34" charset="0"/>
              </a:rPr>
              <a:t>mga</a:t>
            </a:r>
            <a:r>
              <a:rPr lang="en-US" sz="2400" dirty="0">
                <a:latin typeface="Arial Nova Cond Light" panose="020B0306020202020204" pitchFamily="34" charset="0"/>
              </a:rPr>
              <a:t> </a:t>
            </a:r>
            <a:r>
              <a:rPr lang="en-US" sz="2400" dirty="0" err="1">
                <a:latin typeface="Arial Nova Cond Light" panose="020B0306020202020204" pitchFamily="34" charset="0"/>
              </a:rPr>
              <a:t>iyon</a:t>
            </a:r>
            <a:r>
              <a:rPr lang="en-US" sz="2400" dirty="0">
                <a:latin typeface="Arial Nova Cond Light" panose="020B0306020202020204" pitchFamily="34" charset="0"/>
              </a:rPr>
              <a:t> ay </a:t>
            </a:r>
            <a:r>
              <a:rPr lang="en-US" sz="2400" dirty="0" err="1">
                <a:latin typeface="Arial Nova Cond Light" panose="020B0306020202020204" pitchFamily="34" charset="0"/>
              </a:rPr>
              <a:t>mahaba</a:t>
            </a:r>
            <a:r>
              <a:rPr lang="en-US" sz="2400" dirty="0">
                <a:latin typeface="Arial Nova Cond Light" panose="020B0306020202020204" pitchFamily="34" charset="0"/>
              </a:rPr>
              <a:t>. 	</a:t>
            </a:r>
          </a:p>
          <a:p>
            <a:r>
              <a:rPr lang="en-US" sz="2400" dirty="0">
                <a:latin typeface="Arial Nova Cond Light" panose="020B0306020202020204" pitchFamily="34" charset="0"/>
              </a:rPr>
              <a:t>						</a:t>
            </a:r>
            <a:br>
              <a:rPr lang="en-US" sz="2400" dirty="0">
                <a:latin typeface="Arial Nova Cond Light" panose="020B0306020202020204" pitchFamily="34" charset="0"/>
              </a:rPr>
            </a:br>
            <a:r>
              <a:rPr lang="en-US" sz="2400" dirty="0">
                <a:latin typeface="Arial Nova Cond Light" panose="020B0306020202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29968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8B93-72EF-D205-8960-BBC1F5B2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8393-84F5-C65C-5FA2-C513B482F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33" y="1293365"/>
            <a:ext cx="11921067" cy="2541431"/>
          </a:xfrm>
        </p:spPr>
        <p:txBody>
          <a:bodyPr>
            <a:noAutofit/>
          </a:bodyPr>
          <a:lstStyle/>
          <a:p>
            <a:pPr algn="ctr"/>
            <a:r>
              <a:rPr lang="en-PH" sz="8800" dirty="0"/>
              <a:t>Great we just indeed our lesson!</a:t>
            </a:r>
          </a:p>
        </p:txBody>
      </p:sp>
    </p:spTree>
    <p:extLst>
      <p:ext uri="{BB962C8B-B14F-4D97-AF65-F5344CB8AC3E}">
        <p14:creationId xmlns:p14="http://schemas.microsoft.com/office/powerpoint/2010/main" val="3705155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2576</TotalTime>
  <Words>2209</Words>
  <Application>Microsoft Office PowerPoint</Application>
  <PresentationFormat>Widescreen</PresentationFormat>
  <Paragraphs>245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 Narrow</vt:lpstr>
      <vt:lpstr>Arial Nova Cond Light</vt:lpstr>
      <vt:lpstr>Calibri</vt:lpstr>
      <vt:lpstr>Century Gothic</vt:lpstr>
      <vt:lpstr>Wingdings 3</vt:lpstr>
      <vt:lpstr>Ion</vt:lpstr>
      <vt:lpstr>Welcome Back Pablo!</vt:lpstr>
      <vt:lpstr> Lesson 05</vt:lpstr>
      <vt:lpstr>Words That Show Possession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Assignment</vt:lpstr>
      <vt:lpstr> </vt:lpstr>
      <vt:lpstr> </vt:lpstr>
      <vt:lpstr> </vt:lpstr>
      <vt:lpstr> </vt:lpstr>
      <vt:lpstr> </vt:lpstr>
      <vt:lpstr>Great we just indeed our lesson!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Charine Labao</dc:creator>
  <cp:lastModifiedBy>Charine Labao</cp:lastModifiedBy>
  <cp:revision>12</cp:revision>
  <dcterms:created xsi:type="dcterms:W3CDTF">2025-07-09T10:16:11Z</dcterms:created>
  <dcterms:modified xsi:type="dcterms:W3CDTF">2026-08-04T03:51:37Z</dcterms:modified>
</cp:coreProperties>
</file>