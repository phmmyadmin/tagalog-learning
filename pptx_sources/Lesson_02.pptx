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5" r:id="rId3"/>
    <p:sldId id="279" r:id="rId4"/>
    <p:sldId id="292" r:id="rId5"/>
    <p:sldId id="282" r:id="rId6"/>
    <p:sldId id="284" r:id="rId7"/>
    <p:sldId id="283" r:id="rId8"/>
    <p:sldId id="285" r:id="rId9"/>
    <p:sldId id="287" r:id="rId10"/>
    <p:sldId id="288" r:id="rId11"/>
    <p:sldId id="289" r:id="rId12"/>
    <p:sldId id="290" r:id="rId13"/>
    <p:sldId id="297" r:id="rId14"/>
    <p:sldId id="293" r:id="rId15"/>
    <p:sldId id="296" r:id="rId16"/>
    <p:sldId id="295" r:id="rId17"/>
    <p:sldId id="294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F2FC3-923C-404B-BA4B-B611AB39A46A}" v="12" dt="2026-06-18T08:46:59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9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ne Labao" userId="d49f38c7da5d9737" providerId="LiveId" clId="{74BAE539-5A96-4830-AD90-F51E8ECC701B}"/>
    <pc:docChg chg="undo custSel addSld delSld modSld sldOrd">
      <pc:chgData name="Charine Labao" userId="d49f38c7da5d9737" providerId="LiveId" clId="{74BAE539-5A96-4830-AD90-F51E8ECC701B}" dt="2026-06-18T08:46:59.988" v="1174" actId="14100"/>
      <pc:docMkLst>
        <pc:docMk/>
      </pc:docMkLst>
      <pc:sldChg chg="modSp mod">
        <pc:chgData name="Charine Labao" userId="d49f38c7da5d9737" providerId="LiveId" clId="{74BAE539-5A96-4830-AD90-F51E8ECC701B}" dt="2026-06-08T15:58:57.438" v="709" actId="14100"/>
        <pc:sldMkLst>
          <pc:docMk/>
          <pc:sldMk cId="4101661442" sldId="256"/>
        </pc:sldMkLst>
        <pc:spChg chg="mod">
          <ac:chgData name="Charine Labao" userId="d49f38c7da5d9737" providerId="LiveId" clId="{74BAE539-5A96-4830-AD90-F51E8ECC701B}" dt="2026-06-08T15:58:57.438" v="709" actId="14100"/>
          <ac:spMkLst>
            <pc:docMk/>
            <pc:sldMk cId="4101661442" sldId="256"/>
            <ac:spMk id="2" creationId="{00BCFF50-8CD8-2A55-F5E3-38E524DAEEFB}"/>
          </ac:spMkLst>
        </pc:spChg>
      </pc:sldChg>
      <pc:sldChg chg="ord">
        <pc:chgData name="Charine Labao" userId="d49f38c7da5d9737" providerId="LiveId" clId="{74BAE539-5A96-4830-AD90-F51E8ECC701B}" dt="2026-06-10T17:00:53.047" v="753"/>
        <pc:sldMkLst>
          <pc:docMk/>
          <pc:sldMk cId="3705155157" sldId="268"/>
        </pc:sldMkLst>
      </pc:sldChg>
      <pc:sldChg chg="modSp mod">
        <pc:chgData name="Charine Labao" userId="d49f38c7da5d9737" providerId="LiveId" clId="{74BAE539-5A96-4830-AD90-F51E8ECC701B}" dt="2026-06-08T15:58:44.214" v="706" actId="113"/>
        <pc:sldMkLst>
          <pc:docMk/>
          <pc:sldMk cId="3685224177" sldId="275"/>
        </pc:sldMkLst>
        <pc:spChg chg="mod">
          <ac:chgData name="Charine Labao" userId="d49f38c7da5d9737" providerId="LiveId" clId="{74BAE539-5A96-4830-AD90-F51E8ECC701B}" dt="2026-06-08T15:58:44.214" v="706" actId="113"/>
          <ac:spMkLst>
            <pc:docMk/>
            <pc:sldMk cId="3685224177" sldId="275"/>
            <ac:spMk id="2" creationId="{CA34469B-D37F-D990-E189-D913B41EB93D}"/>
          </ac:spMkLst>
        </pc:spChg>
      </pc:sldChg>
      <pc:sldChg chg="modSp mod">
        <pc:chgData name="Charine Labao" userId="d49f38c7da5d9737" providerId="LiveId" clId="{74BAE539-5A96-4830-AD90-F51E8ECC701B}" dt="2026-06-08T16:03:32.379" v="710" actId="2711"/>
        <pc:sldMkLst>
          <pc:docMk/>
          <pc:sldMk cId="4241467785" sldId="279"/>
        </pc:sldMkLst>
        <pc:spChg chg="mod">
          <ac:chgData name="Charine Labao" userId="d49f38c7da5d9737" providerId="LiveId" clId="{74BAE539-5A96-4830-AD90-F51E8ECC701B}" dt="2026-06-08T16:03:32.379" v="710" actId="2711"/>
          <ac:spMkLst>
            <pc:docMk/>
            <pc:sldMk cId="4241467785" sldId="279"/>
            <ac:spMk id="3" creationId="{8FC36DA1-5346-98C9-8321-1D5E117E63A9}"/>
          </ac:spMkLst>
        </pc:spChg>
      </pc:sldChg>
      <pc:sldChg chg="modSp mod">
        <pc:chgData name="Charine Labao" userId="d49f38c7da5d9737" providerId="LiveId" clId="{74BAE539-5A96-4830-AD90-F51E8ECC701B}" dt="2026-06-09T02:36:38.981" v="717" actId="2711"/>
        <pc:sldMkLst>
          <pc:docMk/>
          <pc:sldMk cId="3857817127" sldId="282"/>
        </pc:sldMkLst>
        <pc:spChg chg="mod">
          <ac:chgData name="Charine Labao" userId="d49f38c7da5d9737" providerId="LiveId" clId="{74BAE539-5A96-4830-AD90-F51E8ECC701B}" dt="2026-06-09T02:36:38.981" v="717" actId="2711"/>
          <ac:spMkLst>
            <pc:docMk/>
            <pc:sldMk cId="3857817127" sldId="282"/>
            <ac:spMk id="3" creationId="{85741AD2-7C20-9EA3-5D9A-DC26D0AB614B}"/>
          </ac:spMkLst>
        </pc:spChg>
      </pc:sldChg>
      <pc:sldChg chg="modSp mod">
        <pc:chgData name="Charine Labao" userId="d49f38c7da5d9737" providerId="LiveId" clId="{74BAE539-5A96-4830-AD90-F51E8ECC701B}" dt="2026-06-08T16:14:31.341" v="714" actId="14100"/>
        <pc:sldMkLst>
          <pc:docMk/>
          <pc:sldMk cId="1645306211" sldId="283"/>
        </pc:sldMkLst>
        <pc:spChg chg="mod">
          <ac:chgData name="Charine Labao" userId="d49f38c7da5d9737" providerId="LiveId" clId="{74BAE539-5A96-4830-AD90-F51E8ECC701B}" dt="2026-06-08T16:14:31.341" v="714" actId="14100"/>
          <ac:spMkLst>
            <pc:docMk/>
            <pc:sldMk cId="1645306211" sldId="283"/>
            <ac:spMk id="3" creationId="{77124CCB-2047-2F21-8623-BF1C259B086E}"/>
          </ac:spMkLst>
        </pc:spChg>
      </pc:sldChg>
      <pc:sldChg chg="modSp mod">
        <pc:chgData name="Charine Labao" userId="d49f38c7da5d9737" providerId="LiveId" clId="{74BAE539-5A96-4830-AD90-F51E8ECC701B}" dt="2026-06-09T02:36:43.243" v="718" actId="2711"/>
        <pc:sldMkLst>
          <pc:docMk/>
          <pc:sldMk cId="3838615138" sldId="284"/>
        </pc:sldMkLst>
        <pc:spChg chg="mod">
          <ac:chgData name="Charine Labao" userId="d49f38c7da5d9737" providerId="LiveId" clId="{74BAE539-5A96-4830-AD90-F51E8ECC701B}" dt="2026-06-09T02:36:43.243" v="718" actId="2711"/>
          <ac:spMkLst>
            <pc:docMk/>
            <pc:sldMk cId="3838615138" sldId="284"/>
            <ac:spMk id="3" creationId="{0C156F5D-6312-0772-B581-5FF149C50729}"/>
          </ac:spMkLst>
        </pc:spChg>
      </pc:sldChg>
      <pc:sldChg chg="addSp delSp modSp mod">
        <pc:chgData name="Charine Labao" userId="d49f38c7da5d9737" providerId="LiveId" clId="{74BAE539-5A96-4830-AD90-F51E8ECC701B}" dt="2026-06-18T08:46:59.988" v="1174" actId="14100"/>
        <pc:sldMkLst>
          <pc:docMk/>
          <pc:sldMk cId="3391925447" sldId="285"/>
        </pc:sldMkLst>
        <pc:spChg chg="mod">
          <ac:chgData name="Charine Labao" userId="d49f38c7da5d9737" providerId="LiveId" clId="{74BAE539-5A96-4830-AD90-F51E8ECC701B}" dt="2026-06-10T17:05:02.540" v="758" actId="2711"/>
          <ac:spMkLst>
            <pc:docMk/>
            <pc:sldMk cId="3391925447" sldId="285"/>
            <ac:spMk id="2" creationId="{2AF4CA5D-3493-A480-25EB-CC8779F5FD5D}"/>
          </ac:spMkLst>
        </pc:spChg>
        <pc:spChg chg="add mod">
          <ac:chgData name="Charine Labao" userId="d49f38c7da5d9737" providerId="LiveId" clId="{74BAE539-5A96-4830-AD90-F51E8ECC701B}" dt="2026-06-18T08:46:59.988" v="1174" actId="14100"/>
          <ac:spMkLst>
            <pc:docMk/>
            <pc:sldMk cId="3391925447" sldId="285"/>
            <ac:spMk id="5" creationId="{EA198F0E-DF41-42BD-1F57-636EBDF6E9E8}"/>
          </ac:spMkLst>
        </pc:spChg>
      </pc:sldChg>
      <pc:sldChg chg="modSp mod">
        <pc:chgData name="Charine Labao" userId="d49f38c7da5d9737" providerId="LiveId" clId="{74BAE539-5A96-4830-AD90-F51E8ECC701B}" dt="2026-06-10T17:08:33.256" v="764" actId="113"/>
        <pc:sldMkLst>
          <pc:docMk/>
          <pc:sldMk cId="2272684426" sldId="287"/>
        </pc:sldMkLst>
        <pc:spChg chg="mod">
          <ac:chgData name="Charine Labao" userId="d49f38c7da5d9737" providerId="LiveId" clId="{74BAE539-5A96-4830-AD90-F51E8ECC701B}" dt="2026-06-10T17:08:33.256" v="764" actId="113"/>
          <ac:spMkLst>
            <pc:docMk/>
            <pc:sldMk cId="2272684426" sldId="287"/>
            <ac:spMk id="3" creationId="{27DEB235-6C79-AE61-6662-2ECD977E4649}"/>
          </ac:spMkLst>
        </pc:spChg>
      </pc:sldChg>
      <pc:sldChg chg="modSp mod">
        <pc:chgData name="Charine Labao" userId="d49f38c7da5d9737" providerId="LiveId" clId="{74BAE539-5A96-4830-AD90-F51E8ECC701B}" dt="2026-06-10T17:09:48.132" v="770" actId="14100"/>
        <pc:sldMkLst>
          <pc:docMk/>
          <pc:sldMk cId="3269731803" sldId="288"/>
        </pc:sldMkLst>
        <pc:spChg chg="mod">
          <ac:chgData name="Charine Labao" userId="d49f38c7da5d9737" providerId="LiveId" clId="{74BAE539-5A96-4830-AD90-F51E8ECC701B}" dt="2026-06-10T17:09:48.132" v="770" actId="14100"/>
          <ac:spMkLst>
            <pc:docMk/>
            <pc:sldMk cId="3269731803" sldId="288"/>
            <ac:spMk id="3" creationId="{8162FB5D-9EF7-92D1-F00F-CBB32422146B}"/>
          </ac:spMkLst>
        </pc:spChg>
      </pc:sldChg>
      <pc:sldChg chg="modSp mod">
        <pc:chgData name="Charine Labao" userId="d49f38c7da5d9737" providerId="LiveId" clId="{74BAE539-5A96-4830-AD90-F51E8ECC701B}" dt="2026-06-10T17:11:26.092" v="778" actId="20578"/>
        <pc:sldMkLst>
          <pc:docMk/>
          <pc:sldMk cId="2469415364" sldId="289"/>
        </pc:sldMkLst>
        <pc:spChg chg="mod">
          <ac:chgData name="Charine Labao" userId="d49f38c7da5d9737" providerId="LiveId" clId="{74BAE539-5A96-4830-AD90-F51E8ECC701B}" dt="2026-06-10T17:11:26.092" v="778" actId="20578"/>
          <ac:spMkLst>
            <pc:docMk/>
            <pc:sldMk cId="2469415364" sldId="289"/>
            <ac:spMk id="3" creationId="{1932E786-464F-507E-476F-3A988D558F6B}"/>
          </ac:spMkLst>
        </pc:spChg>
      </pc:sldChg>
      <pc:sldChg chg="modSp mod">
        <pc:chgData name="Charine Labao" userId="d49f38c7da5d9737" providerId="LiveId" clId="{74BAE539-5A96-4830-AD90-F51E8ECC701B}" dt="2026-06-10T17:12:53.146" v="805" actId="207"/>
        <pc:sldMkLst>
          <pc:docMk/>
          <pc:sldMk cId="3076088242" sldId="290"/>
        </pc:sldMkLst>
        <pc:spChg chg="mod">
          <ac:chgData name="Charine Labao" userId="d49f38c7da5d9737" providerId="LiveId" clId="{74BAE539-5A96-4830-AD90-F51E8ECC701B}" dt="2026-06-10T17:12:53.146" v="805" actId="207"/>
          <ac:spMkLst>
            <pc:docMk/>
            <pc:sldMk cId="3076088242" sldId="290"/>
            <ac:spMk id="3" creationId="{B073640F-7901-4BE0-B13B-17BC848D7299}"/>
          </ac:spMkLst>
        </pc:spChg>
      </pc:sldChg>
      <pc:sldChg chg="modSp mod">
        <pc:chgData name="Charine Labao" userId="d49f38c7da5d9737" providerId="LiveId" clId="{74BAE539-5A96-4830-AD90-F51E8ECC701B}" dt="2026-06-10T17:03:37.919" v="755" actId="20577"/>
        <pc:sldMkLst>
          <pc:docMk/>
          <pc:sldMk cId="1098120148" sldId="292"/>
        </pc:sldMkLst>
        <pc:spChg chg="mod">
          <ac:chgData name="Charine Labao" userId="d49f38c7da5d9737" providerId="LiveId" clId="{74BAE539-5A96-4830-AD90-F51E8ECC701B}" dt="2026-06-10T17:03:37.919" v="755" actId="20577"/>
          <ac:spMkLst>
            <pc:docMk/>
            <pc:sldMk cId="1098120148" sldId="292"/>
            <ac:spMk id="3" creationId="{8B008528-4FF3-8BEB-C315-2094F4120720}"/>
          </ac:spMkLst>
        </pc:spChg>
      </pc:sldChg>
      <pc:sldChg chg="modSp mod">
        <pc:chgData name="Charine Labao" userId="d49f38c7da5d9737" providerId="LiveId" clId="{74BAE539-5A96-4830-AD90-F51E8ECC701B}" dt="2026-06-10T17:19:45.672" v="1146" actId="20577"/>
        <pc:sldMkLst>
          <pc:docMk/>
          <pc:sldMk cId="3041904174" sldId="293"/>
        </pc:sldMkLst>
        <pc:spChg chg="mod">
          <ac:chgData name="Charine Labao" userId="d49f38c7da5d9737" providerId="LiveId" clId="{74BAE539-5A96-4830-AD90-F51E8ECC701B}" dt="2026-06-10T17:19:45.672" v="1146" actId="20577"/>
          <ac:spMkLst>
            <pc:docMk/>
            <pc:sldMk cId="3041904174" sldId="293"/>
            <ac:spMk id="3" creationId="{A3458E8A-50FC-6EF3-C459-435AEB33023B}"/>
          </ac:spMkLst>
        </pc:spChg>
      </pc:sldChg>
      <pc:sldChg chg="modSp mod">
        <pc:chgData name="Charine Labao" userId="d49f38c7da5d9737" providerId="LiveId" clId="{74BAE539-5A96-4830-AD90-F51E8ECC701B}" dt="2026-06-10T17:00:33.767" v="749" actId="20577"/>
        <pc:sldMkLst>
          <pc:docMk/>
          <pc:sldMk cId="1896743930" sldId="295"/>
        </pc:sldMkLst>
        <pc:spChg chg="mod">
          <ac:chgData name="Charine Labao" userId="d49f38c7da5d9737" providerId="LiveId" clId="{74BAE539-5A96-4830-AD90-F51E8ECC701B}" dt="2026-06-10T17:00:33.767" v="749" actId="20577"/>
          <ac:spMkLst>
            <pc:docMk/>
            <pc:sldMk cId="1896743930" sldId="295"/>
            <ac:spMk id="3" creationId="{D5D9C3FB-557D-582C-66B5-4E5F02B1B42F}"/>
          </ac:spMkLst>
        </pc:spChg>
      </pc:sldChg>
      <pc:sldChg chg="modSp mod">
        <pc:chgData name="Charine Labao" userId="d49f38c7da5d9737" providerId="LiveId" clId="{74BAE539-5A96-4830-AD90-F51E8ECC701B}" dt="2026-06-10T17:20:02.323" v="1147" actId="2711"/>
        <pc:sldMkLst>
          <pc:docMk/>
          <pc:sldMk cId="3071673028" sldId="296"/>
        </pc:sldMkLst>
        <pc:graphicFrameChg chg="modGraphic">
          <ac:chgData name="Charine Labao" userId="d49f38c7da5d9737" providerId="LiveId" clId="{74BAE539-5A96-4830-AD90-F51E8ECC701B}" dt="2026-06-10T17:20:02.323" v="1147" actId="2711"/>
          <ac:graphicFrameMkLst>
            <pc:docMk/>
            <pc:sldMk cId="3071673028" sldId="296"/>
            <ac:graphicFrameMk id="2" creationId="{A39C5337-0DD5-1381-7AA2-C5BD08602769}"/>
          </ac:graphicFrameMkLst>
        </pc:graphicFrameChg>
      </pc:sldChg>
      <pc:sldChg chg="delSp modSp new mod">
        <pc:chgData name="Charine Labao" userId="d49f38c7da5d9737" providerId="LiveId" clId="{74BAE539-5A96-4830-AD90-F51E8ECC701B}" dt="2026-06-10T17:26:33.701" v="1172" actId="478"/>
        <pc:sldMkLst>
          <pc:docMk/>
          <pc:sldMk cId="4160936467" sldId="297"/>
        </pc:sldMkLst>
        <pc:spChg chg="mod">
          <ac:chgData name="Charine Labao" userId="d49f38c7da5d9737" providerId="LiveId" clId="{74BAE539-5A96-4830-AD90-F51E8ECC701B}" dt="2026-06-10T17:26:31.728" v="1171" actId="122"/>
          <ac:spMkLst>
            <pc:docMk/>
            <pc:sldMk cId="4160936467" sldId="297"/>
            <ac:spMk id="2" creationId="{75CB7CAC-10D5-85A1-F7A5-FD3DBB256A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9E4C6-9EB3-473B-A1C2-288F1938347A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AE25A-5D24-4004-A82D-A9BE88A40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060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AE25A-5D24-4004-A82D-A9BE88A40641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5278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3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33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13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99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24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77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223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16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35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69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19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10144-C51D-4F13-8FAF-CC827A160CBB}" type="datetimeFigureOut">
              <a:rPr lang="en-PH" smtClean="0"/>
              <a:t>7/24/2026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DD131BB-748F-41AA-A188-03FFE40F9EE7}" type="slidenum">
              <a:rPr lang="en-PH" smtClean="0"/>
              <a:t>‹#›</a:t>
            </a:fld>
            <a:endParaRPr lang="en-PH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81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FF50-8CD8-2A55-F5E3-38E524DAE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89149"/>
            <a:ext cx="12192000" cy="2541431"/>
          </a:xfrm>
        </p:spPr>
        <p:txBody>
          <a:bodyPr>
            <a:noAutofit/>
          </a:bodyPr>
          <a:lstStyle/>
          <a:p>
            <a:pPr algn="ctr"/>
            <a:r>
              <a:rPr lang="en-PH" sz="11200" b="1" dirty="0">
                <a:latin typeface="Arial Nova Cond Light" panose="020B0306020202020204" pitchFamily="34" charset="0"/>
              </a:rPr>
              <a:t>WELCOME back </a:t>
            </a:r>
            <a:br>
              <a:rPr lang="en-PH" sz="11200" b="1" dirty="0">
                <a:latin typeface="Arial Nova Cond Light" panose="020B0306020202020204" pitchFamily="34" charset="0"/>
              </a:rPr>
            </a:br>
            <a:r>
              <a:rPr lang="en-PH" sz="11200" b="1" dirty="0">
                <a:latin typeface="Arial Nova Cond Light" panose="020B0306020202020204" pitchFamily="34" charset="0"/>
              </a:rPr>
              <a:t>Pablo!</a:t>
            </a:r>
            <a:br>
              <a:rPr lang="en-PH" sz="11200" dirty="0">
                <a:latin typeface="Arial Nova Cond Light" panose="020B0306020202020204" pitchFamily="34" charset="0"/>
              </a:rPr>
            </a:br>
            <a:endParaRPr lang="en-PH" sz="112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66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24FC-36EF-BF32-1929-24348699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469B-D37F-D990-E189-D913B41EB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733" y="3708400"/>
            <a:ext cx="9264377" cy="1380068"/>
          </a:xfrm>
        </p:spPr>
        <p:txBody>
          <a:bodyPr>
            <a:normAutofit fontScale="90000"/>
          </a:bodyPr>
          <a:lstStyle/>
          <a:p>
            <a:pPr algn="ctr"/>
            <a:r>
              <a:rPr lang="en-PH" sz="14900" b="1" dirty="0">
                <a:latin typeface="Arial Nova Cond Light" panose="020B0306020202020204" pitchFamily="34" charset="0"/>
              </a:rPr>
              <a:t>Lesson 02</a:t>
            </a:r>
            <a:br>
              <a:rPr lang="en-PH" dirty="0"/>
            </a:br>
            <a:endParaRPr lang="en-PH" sz="14900" dirty="0"/>
          </a:p>
        </p:txBody>
      </p:sp>
    </p:spTree>
    <p:extLst>
      <p:ext uri="{BB962C8B-B14F-4D97-AF65-F5344CB8AC3E}">
        <p14:creationId xmlns:p14="http://schemas.microsoft.com/office/powerpoint/2010/main" val="368522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69E8-08F4-6070-927A-12410692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36DA1-5346-98C9-8321-1D5E117E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215" y="1066800"/>
            <a:ext cx="11145519" cy="4512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4000" dirty="0">
                <a:latin typeface="Arial Nova Cond Light" panose="020B0306020202020204" pitchFamily="34" charset="0"/>
              </a:rPr>
              <a:t>IN THE END OF THIS LESSON, WE WILL LEARN:</a:t>
            </a:r>
          </a:p>
          <a:p>
            <a:pPr marL="0" indent="0">
              <a:buNone/>
            </a:pPr>
            <a:r>
              <a:rPr lang="en-PH" sz="4400" dirty="0">
                <a:latin typeface="Arial Nova Cond Light" panose="020B0306020202020204" pitchFamily="34" charset="0"/>
              </a:rPr>
              <a:t>1.The article of 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SI</a:t>
            </a:r>
            <a:r>
              <a:rPr lang="en-PH" sz="4400" dirty="0">
                <a:latin typeface="Arial Nova Cond Light" panose="020B0306020202020204" pitchFamily="34" charset="0"/>
              </a:rPr>
              <a:t> and 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SINA</a:t>
            </a:r>
            <a:b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</a:rPr>
            </a:br>
            <a:r>
              <a:rPr lang="en-PH" sz="4400" dirty="0">
                <a:latin typeface="Arial Nova Cond Light" panose="020B0306020202020204" pitchFamily="34" charset="0"/>
              </a:rPr>
              <a:t>2.The article of 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 </a:t>
            </a:r>
            <a:r>
              <a:rPr lang="en-PH" sz="4400" dirty="0">
                <a:latin typeface="Arial Nova Cond Light" panose="020B0306020202020204" pitchFamily="34" charset="0"/>
              </a:rPr>
              <a:t>and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MGA</a:t>
            </a:r>
            <a:b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</a:rPr>
            </a:br>
            <a:r>
              <a:rPr lang="en-PH" sz="4400" dirty="0">
                <a:latin typeface="Arial Nova Cond Light" panose="020B0306020202020204" pitchFamily="34" charset="0"/>
              </a:rPr>
              <a:t>3. Sentence formation </a:t>
            </a:r>
            <a:endParaRPr lang="en-PH" sz="4400" dirty="0">
              <a:solidFill>
                <a:srgbClr val="FF0000"/>
              </a:solidFill>
              <a:latin typeface="Arial Nova Cond Light" panose="020B0306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146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6C064-E6A1-0C8B-08BE-53FCB195A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8528-4FF3-8BEB-C315-2094F412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17600"/>
            <a:ext cx="12191999" cy="50630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PH" sz="8000" dirty="0">
                <a:latin typeface="Arial Nova Cond Light" panose="020B0306020202020204" pitchFamily="34" charset="0"/>
                <a:ea typeface="+mj-ea"/>
                <a:cs typeface="+mj-cs"/>
              </a:rPr>
              <a:t>The Article </a:t>
            </a:r>
            <a:r>
              <a:rPr lang="en-PH" sz="8000" i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</a:t>
            </a:r>
            <a:r>
              <a:rPr lang="en-PH" sz="8000" dirty="0">
                <a:latin typeface="Arial Nova Cond Light" panose="020B0306020202020204" pitchFamily="34" charset="0"/>
                <a:ea typeface="+mj-ea"/>
                <a:cs typeface="+mj-cs"/>
              </a:rPr>
              <a:t> and </a:t>
            </a:r>
            <a:r>
              <a:rPr lang="en-PH" sz="8000" i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SINA</a:t>
            </a:r>
            <a:br>
              <a:rPr lang="en-PH" sz="80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The article SI is use before the name of a person and the plural article 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SINA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is used before the name of two or more persons. </a:t>
            </a:r>
            <a:b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Ex.  </a:t>
            </a:r>
            <a:b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Liza is a woman				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Liza ay </a:t>
            </a:r>
            <a:r>
              <a:rPr lang="en-PH" sz="4400" dirty="0" err="1">
                <a:latin typeface="Arial Nova Cond Light" panose="020B0306020202020204" pitchFamily="34" charset="0"/>
                <a:ea typeface="+mj-ea"/>
                <a:cs typeface="+mj-cs"/>
              </a:rPr>
              <a:t>babae</a:t>
            </a:r>
            <a:b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Simon and Tom are good.		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Sina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Simon at Tom ay </a:t>
            </a:r>
            <a:r>
              <a:rPr lang="en-PH" sz="4400" dirty="0" err="1">
                <a:latin typeface="Arial Nova Cond Light" panose="020B0306020202020204" pitchFamily="34" charset="0"/>
                <a:ea typeface="+mj-ea"/>
                <a:cs typeface="+mj-cs"/>
              </a:rPr>
              <a:t>mababait</a:t>
            </a:r>
            <a:b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Helen and tom are children.		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Sina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Helen at tom ay </a:t>
            </a:r>
            <a:r>
              <a:rPr lang="en-PH" sz="4400" dirty="0" err="1"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bata.</a:t>
            </a:r>
          </a:p>
          <a:p>
            <a:pPr marL="0" indent="0">
              <a:buNone/>
            </a:pPr>
            <a:b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Note that </a:t>
            </a:r>
            <a:r>
              <a:rPr lang="en-PH" sz="2600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tagalog</a:t>
            </a:r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sentences follow a plurality rule where either the subject or predicate may be plural. However, the pluralization of both subject  and predicate is optional. In the sentence above, the article </a:t>
            </a:r>
            <a:r>
              <a:rPr lang="en-PH" sz="2600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sina</a:t>
            </a:r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indicates that the subject is plural while </a:t>
            </a:r>
            <a:r>
              <a:rPr lang="en-PH" sz="2600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PH" sz="26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( a plural marker that has no meaning on its own) before bata indicates that the noun is plural. </a:t>
            </a:r>
          </a:p>
          <a:p>
            <a:pPr marL="0" indent="0">
              <a:buNone/>
            </a:pP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Adjective form their plural by 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duplicating the first syllable of the root word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.</a:t>
            </a:r>
          </a:p>
          <a:p>
            <a:pPr marL="0" indent="0">
              <a:buNone/>
            </a:pP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For ex. (kind root word is </a:t>
            </a:r>
            <a:r>
              <a:rPr lang="en-PH" sz="4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bait)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	ma bait=singular of good		prefix </a:t>
            </a:r>
            <a:r>
              <a:rPr lang="en-PH" sz="4400" dirty="0" err="1">
                <a:latin typeface="Arial Nova Cond Light" panose="020B0306020202020204" pitchFamily="34" charset="0"/>
                <a:ea typeface="+mj-ea"/>
                <a:cs typeface="+mj-cs"/>
              </a:rPr>
              <a:t>mababait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  ma </a:t>
            </a:r>
            <a:r>
              <a:rPr lang="en-PH" sz="4400" dirty="0" err="1">
                <a:latin typeface="Arial Nova Cond Light" panose="020B0306020202020204" pitchFamily="34" charset="0"/>
                <a:ea typeface="+mj-ea"/>
                <a:cs typeface="+mj-cs"/>
              </a:rPr>
              <a:t>ganda</a:t>
            </a:r>
            <a:endParaRPr lang="en-PH" sz="6500" dirty="0">
              <a:latin typeface="Arial Nova Cond Light" panose="020B0306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9812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9DA4-7F3E-CDF8-22A0-B0D318D1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41AD2-7C20-9EA3-5D9A-DC26D0AB6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95867"/>
            <a:ext cx="12192000" cy="5308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5600" dirty="0">
                <a:latin typeface="Arial Nova Cond Light" panose="020B0306020202020204" pitchFamily="34" charset="0"/>
              </a:rPr>
              <a:t>The Article of </a:t>
            </a:r>
            <a:r>
              <a:rPr lang="en-PH" sz="5600" i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</a:t>
            </a:r>
            <a:r>
              <a:rPr lang="en-PH" sz="5600" dirty="0">
                <a:latin typeface="Arial Nova Cond Light" panose="020B0306020202020204" pitchFamily="34" charset="0"/>
              </a:rPr>
              <a:t> and </a:t>
            </a:r>
            <a:r>
              <a:rPr lang="en-PH" sz="5600" i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MGA</a:t>
            </a:r>
            <a:br>
              <a:rPr lang="en-PH" sz="4400" i="1" dirty="0">
                <a:solidFill>
                  <a:srgbClr val="FF0000"/>
                </a:solidFill>
                <a:latin typeface="Arial Nova Cond Light" panose="020B0306020202020204" pitchFamily="34" charset="0"/>
              </a:rPr>
            </a:br>
            <a:r>
              <a:rPr lang="en-PH" sz="2700" dirty="0">
                <a:latin typeface="Arial Nova Cond Light" panose="020B0306020202020204" pitchFamily="34" charset="0"/>
              </a:rPr>
              <a:t>The article </a:t>
            </a:r>
            <a:r>
              <a:rPr lang="en-PH" sz="2700" i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 </a:t>
            </a:r>
            <a:r>
              <a:rPr lang="en-PH" sz="2700" dirty="0">
                <a:latin typeface="Arial Nova Cond Light" panose="020B0306020202020204" pitchFamily="34" charset="0"/>
              </a:rPr>
              <a:t>is used before the name of a single thing or place while </a:t>
            </a:r>
            <a:r>
              <a:rPr lang="en-PH" sz="2700" i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 MGA</a:t>
            </a:r>
            <a:r>
              <a:rPr lang="en-PH" sz="2700" dirty="0">
                <a:latin typeface="Arial Nova Cond Light" panose="020B0306020202020204" pitchFamily="34" charset="0"/>
              </a:rPr>
              <a:t>(manga) is used before the names of two or more things or places.</a:t>
            </a:r>
            <a:br>
              <a:rPr lang="en-PH" sz="2700" dirty="0">
                <a:latin typeface="Arial Nova Cond Light" panose="020B0306020202020204" pitchFamily="34" charset="0"/>
              </a:rPr>
            </a:br>
            <a:r>
              <a:rPr lang="en-PH" sz="2700" dirty="0" err="1">
                <a:latin typeface="Arial Nova Cond Light" panose="020B0306020202020204" pitchFamily="34" charset="0"/>
              </a:rPr>
              <a:t>Halimbawa</a:t>
            </a:r>
            <a:r>
              <a:rPr lang="en-PH" sz="2700" dirty="0">
                <a:latin typeface="Arial Nova Cond Light" panose="020B0306020202020204" pitchFamily="34" charset="0"/>
              </a:rPr>
              <a:t>:</a:t>
            </a:r>
            <a:br>
              <a:rPr lang="en-PH" sz="2700" dirty="0">
                <a:latin typeface="Arial Nova Cond Light" panose="020B0306020202020204" pitchFamily="34" charset="0"/>
              </a:rPr>
            </a:br>
            <a:r>
              <a:rPr lang="en-PH" sz="2700" dirty="0">
                <a:latin typeface="Arial Nova Cond Light" panose="020B0306020202020204" pitchFamily="34" charset="0"/>
              </a:rPr>
              <a:t>The child is good.				Ang bata ay </a:t>
            </a:r>
            <a:r>
              <a:rPr lang="en-PH" sz="2700" dirty="0" err="1">
                <a:latin typeface="Arial Nova Cond Light" panose="020B0306020202020204" pitchFamily="34" charset="0"/>
              </a:rPr>
              <a:t>mabait</a:t>
            </a:r>
            <a:br>
              <a:rPr lang="en-PH" sz="2700" dirty="0">
                <a:latin typeface="Arial Nova Cond Light" panose="020B0306020202020204" pitchFamily="34" charset="0"/>
              </a:rPr>
            </a:br>
            <a:r>
              <a:rPr lang="en-PH" sz="2700" dirty="0">
                <a:latin typeface="Arial Nova Cond Light" panose="020B0306020202020204" pitchFamily="34" charset="0"/>
              </a:rPr>
              <a:t>The children and the dogs are good.		</a:t>
            </a:r>
            <a:r>
              <a:rPr lang="en-PH" sz="27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 </a:t>
            </a:r>
            <a:r>
              <a:rPr lang="en-PH" sz="2700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mga</a:t>
            </a:r>
            <a:r>
              <a:rPr lang="en-PH" sz="27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2700" dirty="0">
                <a:latin typeface="Arial Nova Cond Light" panose="020B0306020202020204" pitchFamily="34" charset="0"/>
              </a:rPr>
              <a:t>bata at </a:t>
            </a:r>
            <a:r>
              <a:rPr lang="en-PH" sz="27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 </a:t>
            </a:r>
            <a:r>
              <a:rPr lang="en-PH" sz="2700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mga</a:t>
            </a:r>
            <a:r>
              <a:rPr lang="en-PH" sz="27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2700" dirty="0" err="1">
                <a:solidFill>
                  <a:srgbClr val="FF0000"/>
                </a:solidFill>
                <a:latin typeface="Arial Nova Cond Light" panose="020B0306020202020204" pitchFamily="34" charset="0"/>
              </a:rPr>
              <a:t>aso</a:t>
            </a:r>
            <a:r>
              <a:rPr lang="en-PH" sz="27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 </a:t>
            </a:r>
            <a:r>
              <a:rPr lang="en-PH" sz="2700" dirty="0">
                <a:latin typeface="Arial Nova Cond Light" panose="020B0306020202020204" pitchFamily="34" charset="0"/>
              </a:rPr>
              <a:t>ay </a:t>
            </a:r>
            <a:r>
              <a:rPr lang="en-PH" sz="2700" dirty="0" err="1">
                <a:latin typeface="Arial Nova Cond Light" panose="020B0306020202020204" pitchFamily="34" charset="0"/>
              </a:rPr>
              <a:t>mababait</a:t>
            </a:r>
            <a:r>
              <a:rPr lang="en-PH" sz="2700" dirty="0">
                <a:latin typeface="Arial Nova Cond Light" panose="020B0306020202020204" pitchFamily="34" charset="0"/>
              </a:rPr>
              <a:t>.</a:t>
            </a:r>
            <a:endParaRPr lang="en-PH" sz="2700" dirty="0">
              <a:solidFill>
                <a:srgbClr val="FF0000"/>
              </a:solidFill>
              <a:latin typeface="Arial Nova Cond Light" panose="020B0306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5781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426C-B1D2-E970-9337-34BD52D2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6F5D-6312-0772-B581-5FF149C5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270000"/>
            <a:ext cx="12056533" cy="45703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sz="3500" dirty="0">
                <a:latin typeface="Arial Nova Cond Light" panose="020B0306020202020204" pitchFamily="34" charset="0"/>
                <a:ea typeface="+mj-ea"/>
                <a:cs typeface="+mj-cs"/>
              </a:rPr>
              <a:t>	</a:t>
            </a:r>
            <a:r>
              <a:rPr lang="en-PH" sz="3500" dirty="0">
                <a:latin typeface="Arial Nova Cond Light" panose="020B0306020202020204" pitchFamily="34" charset="0"/>
              </a:rPr>
              <a:t> The article  </a:t>
            </a:r>
            <a:r>
              <a:rPr lang="en-PH" sz="3500" dirty="0">
                <a:solidFill>
                  <a:srgbClr val="FF0000"/>
                </a:solidFill>
                <a:latin typeface="Arial Nova Cond Light" panose="020B0306020202020204" pitchFamily="34" charset="0"/>
              </a:rPr>
              <a:t>ANG</a:t>
            </a:r>
            <a:r>
              <a:rPr lang="en-PH" sz="3500" dirty="0">
                <a:latin typeface="Arial Nova Cond Light" panose="020B0306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The article  </a:t>
            </a:r>
            <a:r>
              <a:rPr lang="en-PH" sz="2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ANG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 must always precede the </a:t>
            </a:r>
            <a:r>
              <a:rPr lang="en-PH" sz="2400" b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name of a place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. However, the article </a:t>
            </a:r>
            <a:r>
              <a:rPr lang="en-PH" sz="24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MANGA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 may be place before the adjective, which must then take on a plural form if there is more than one name of place in the subject , or before the noun. </a:t>
            </a:r>
            <a:b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Ex. </a:t>
            </a:r>
          </a:p>
          <a:p>
            <a:pPr marL="0" indent="0">
              <a:buNone/>
            </a:pP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Ang Manila ay </a:t>
            </a:r>
            <a:r>
              <a:rPr lang="en-PH" sz="2400" dirty="0" err="1">
                <a:latin typeface="Arial Nova Cond Light" panose="020B0306020202020204" pitchFamily="34" charset="0"/>
                <a:ea typeface="+mj-ea"/>
                <a:cs typeface="+mj-cs"/>
              </a:rPr>
              <a:t>isang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PH" sz="2400" dirty="0" err="1">
                <a:latin typeface="Arial Nova Cond Light" panose="020B0306020202020204" pitchFamily="34" charset="0"/>
                <a:ea typeface="+mj-ea"/>
                <a:cs typeface="+mj-cs"/>
              </a:rPr>
              <a:t>lungsod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 ng Pilipinas.			Manila is a city in the Philippines </a:t>
            </a:r>
          </a:p>
          <a:p>
            <a:pPr marL="0" indent="0">
              <a:buNone/>
            </a:pPr>
            <a:r>
              <a:rPr lang="en-PH" sz="2400" u="sng" dirty="0">
                <a:latin typeface="Arial Nova Cond Light" panose="020B0306020202020204" pitchFamily="34" charset="0"/>
                <a:ea typeface="+mj-ea"/>
                <a:cs typeface="+mj-cs"/>
              </a:rPr>
              <a:t>Ang Manila at ang Washington 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D.C ay </a:t>
            </a:r>
            <a:r>
              <a:rPr lang="en-PH" sz="2400" dirty="0" err="1"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PH" sz="2400" dirty="0" err="1">
                <a:latin typeface="Arial Nova Cond Light" panose="020B0306020202020204" pitchFamily="34" charset="0"/>
                <a:ea typeface="+mj-ea"/>
                <a:cs typeface="+mj-cs"/>
              </a:rPr>
              <a:t>lungsod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 		</a:t>
            </a:r>
            <a:r>
              <a:rPr lang="en-PH" sz="2400" u="sng" dirty="0">
                <a:latin typeface="Arial Nova Cond Light" panose="020B0306020202020204" pitchFamily="34" charset="0"/>
                <a:ea typeface="+mj-ea"/>
                <a:cs typeface="+mj-cs"/>
              </a:rPr>
              <a:t>Manila and Washington </a:t>
            </a:r>
            <a: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  <a:t>D.C are cities </a:t>
            </a:r>
            <a:b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</a:br>
            <a:br>
              <a:rPr lang="en-PH" sz="24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22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Note that it is acceptable to delete the second ANG before the second name of a place and the meaning of the sentence will not change</a:t>
            </a:r>
            <a:endParaRPr lang="en-PH" sz="2400" dirty="0">
              <a:solidFill>
                <a:srgbClr val="FF0000"/>
              </a:solidFill>
              <a:latin typeface="Arial Nova Cond Light" panose="020B0306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861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DE4B-68CF-6ED2-8F11-8C287E0E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24CCB-2047-2F21-8623-BF1C259B0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95564"/>
            <a:ext cx="12191999" cy="46027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8000" b="1" dirty="0">
                <a:latin typeface="Arial Nova Cond Light" panose="020B0306020202020204" pitchFamily="34" charset="0"/>
                <a:ea typeface="+mj-ea"/>
                <a:cs typeface="+mj-cs"/>
              </a:rPr>
              <a:t>Vocabulary list for today</a:t>
            </a:r>
          </a:p>
          <a:p>
            <a:pPr marL="0" indent="0">
              <a:buNone/>
            </a:pPr>
            <a:r>
              <a:rPr lang="en-PH" sz="2700" dirty="0" err="1">
                <a:latin typeface="Arial Nova Cond Light" panose="020B0306020202020204" pitchFamily="34" charset="0"/>
                <a:ea typeface="+mj-ea"/>
                <a:cs typeface="+mj-cs"/>
              </a:rPr>
              <a:t>Marunong</a:t>
            </a: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/</a:t>
            </a:r>
            <a:r>
              <a:rPr lang="en-PH" sz="2700" dirty="0" err="1">
                <a:latin typeface="Arial Nova Cond Light" panose="020B0306020202020204" pitchFamily="34" charset="0"/>
                <a:ea typeface="+mj-ea"/>
                <a:cs typeface="+mj-cs"/>
              </a:rPr>
              <a:t>matalino</a:t>
            </a: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-intelligent			</a:t>
            </a:r>
            <a:r>
              <a:rPr lang="en-PH" sz="2700" dirty="0" err="1">
                <a:latin typeface="Arial Nova Cond Light" panose="020B0306020202020204" pitchFamily="34" charset="0"/>
                <a:ea typeface="+mj-ea"/>
                <a:cs typeface="+mj-cs"/>
              </a:rPr>
              <a:t>Magkapatid</a:t>
            </a: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-Siblings</a:t>
            </a:r>
          </a:p>
          <a:p>
            <a:pPr marL="0" indent="0">
              <a:buNone/>
            </a:pP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Bata- young(adj.) ; child (noun)		Malinis-Clean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H" sz="2700" dirty="0" err="1">
                <a:latin typeface="Arial Nova Cond Light" panose="020B0306020202020204" pitchFamily="34" charset="0"/>
                <a:ea typeface="+mj-ea"/>
                <a:cs typeface="+mj-cs"/>
              </a:rPr>
              <a:t>Lungsod</a:t>
            </a: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-City					</a:t>
            </a:r>
            <a:r>
              <a:rPr lang="en-PH" sz="2700" dirty="0" err="1">
                <a:latin typeface="Arial Nova Cond Light" panose="020B0306020202020204" pitchFamily="34" charset="0"/>
                <a:ea typeface="+mj-ea"/>
                <a:cs typeface="+mj-cs"/>
              </a:rPr>
              <a:t>Sapatos</a:t>
            </a: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-Shoes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H" sz="2700" dirty="0">
                <a:latin typeface="Arial Nova Cond Light" panose="020B0306020202020204" pitchFamily="34" charset="0"/>
                <a:ea typeface="+mj-ea"/>
                <a:cs typeface="+mj-cs"/>
              </a:rPr>
              <a:t>Lugar-Place					Mahal - expensive; beloved</a:t>
            </a:r>
            <a:r>
              <a:rPr lang="en-PH" sz="4400" dirty="0">
                <a:latin typeface="Arial Nova Cond Light" panose="020B0306020202020204" pitchFamily="34" charset="0"/>
                <a:ea typeface="+mj-ea"/>
                <a:cs typeface="+mj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4530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CA5D-3493-A480-25EB-CC8779F5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3613"/>
            <a:ext cx="12191999" cy="600141"/>
          </a:xfrm>
        </p:spPr>
        <p:txBody>
          <a:bodyPr/>
          <a:lstStyle/>
          <a:p>
            <a:pPr algn="ctr"/>
            <a:r>
              <a:rPr lang="en-PH" b="1" dirty="0">
                <a:latin typeface="Arial Nova Cond Light" panose="020B0306020202020204" pitchFamily="34" charset="0"/>
              </a:rPr>
              <a:t>Exercises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198F0E-DF41-42BD-1F57-636EBDF6E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1" y="1853754"/>
            <a:ext cx="12115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u="sng" dirty="0">
                <a:latin typeface="Arial Nova Cond Light" panose="020B0306020202020204" pitchFamily="34" charset="0"/>
              </a:rPr>
              <a:t>_Ang </a:t>
            </a:r>
            <a:r>
              <a:rPr lang="en-US" altLang="en-US" sz="2400" b="1" u="sng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b="1" u="sng" dirty="0">
                <a:latin typeface="Arial Nova Cond Light" panose="020B0306020202020204" pitchFamily="34" charset="0"/>
              </a:rPr>
              <a:t>__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>
                <a:latin typeface="Arial Nova Cond Light" panose="020B0306020202020204" pitchFamily="34" charset="0"/>
              </a:rPr>
              <a:t>bata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malilinis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u="sng" dirty="0">
                <a:latin typeface="Arial Nova Cond Light" panose="020B0306020202020204" pitchFamily="34" charset="0"/>
              </a:rPr>
              <a:t>_Ang </a:t>
            </a:r>
            <a:r>
              <a:rPr lang="en-US" altLang="en-US" sz="2400" u="sng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____b</a:t>
            </a:r>
            <a:r>
              <a:rPr lang="en-US" altLang="en-US" sz="2400" dirty="0">
                <a:latin typeface="Arial Nova Cond Light" panose="020B0306020202020204" pitchFamily="34" charset="0"/>
              </a:rPr>
              <a:t>ata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at_</a:t>
            </a:r>
            <a:r>
              <a:rPr lang="en-US" altLang="en-US" sz="2400" u="sng" dirty="0" err="1">
                <a:latin typeface="Arial Nova Cond Light" panose="020B0306020202020204" pitchFamily="34" charset="0"/>
              </a:rPr>
              <a:t>ang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</a:t>
            </a:r>
            <a:r>
              <a:rPr lang="en-US" altLang="en-US" sz="2400" u="sng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_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altLang="en-US" sz="2400" dirty="0">
                <a:latin typeface="Arial Nova Cond Light" panose="020B0306020202020204" pitchFamily="34" charset="0"/>
              </a:rPr>
              <a:t>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mababait</a:t>
            </a:r>
            <a:r>
              <a:rPr lang="en-US" altLang="en-US" sz="2400" dirty="0">
                <a:latin typeface="Arial Nova Cond Light" panose="020B0306020202020204" pitchFamily="34" charset="0"/>
              </a:rPr>
              <a:t>.  	 The dogs are ugly.  	(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pangit</a:t>
            </a:r>
            <a:r>
              <a:rPr lang="en-US" altLang="en-US" sz="2400" dirty="0">
                <a:latin typeface="Arial Nova Cond Light" panose="020B0306020202020204" pitchFamily="34" charset="0"/>
              </a:rPr>
              <a:t>)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u="sng" dirty="0">
                <a:latin typeface="Arial Nova Cond Light" panose="020B0306020202020204" pitchFamily="34" charset="0"/>
              </a:rPr>
              <a:t>_Sina___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>
                <a:latin typeface="Arial Nova Cond Light" panose="020B0306020202020204" pitchFamily="34" charset="0"/>
              </a:rPr>
              <a:t>Ruth at Peter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magkapatid</a:t>
            </a:r>
            <a:r>
              <a:rPr lang="en-US" altLang="en-US" sz="2400" dirty="0">
                <a:latin typeface="Arial Nova Cond Light" panose="020B0306020202020204" pitchFamily="34" charset="0"/>
              </a:rPr>
              <a:t>. 		  Ang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altLang="en-US" sz="2400" dirty="0">
                <a:latin typeface="Arial Nova Cond Light" panose="020B0306020202020204" pitchFamily="34" charset="0"/>
              </a:rPr>
              <a:t>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pangit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u="sng" dirty="0">
                <a:latin typeface="Arial Nova Cond Light" panose="020B0306020202020204" pitchFamily="34" charset="0"/>
              </a:rPr>
              <a:t>_Ang___</a:t>
            </a:r>
            <a:r>
              <a:rPr lang="en-US" altLang="en-US" sz="2400" dirty="0">
                <a:latin typeface="Arial Nova Cond Light" panose="020B0306020202020204" pitchFamily="34" charset="0"/>
              </a:rPr>
              <a:t> Amerika at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Aprika</a:t>
            </a:r>
            <a:r>
              <a:rPr lang="en-US" altLang="en-US" sz="2400" dirty="0">
                <a:latin typeface="Arial Nova Cond Light" panose="020B0306020202020204" pitchFamily="34" charset="0"/>
              </a:rPr>
              <a:t>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malalaki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u="sng" dirty="0">
                <a:latin typeface="Arial Nova Cond Light" panose="020B0306020202020204" pitchFamily="34" charset="0"/>
              </a:rPr>
              <a:t>_Sina__</a:t>
            </a:r>
            <a:r>
              <a:rPr lang="en-US" altLang="en-US" sz="2400" dirty="0">
                <a:latin typeface="Arial Nova Cond Light" panose="020B0306020202020204" pitchFamily="34" charset="0"/>
              </a:rPr>
              <a:t> Peter at Ruth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mababait</a:t>
            </a:r>
            <a:r>
              <a:rPr lang="en-US" altLang="en-US" sz="2400" dirty="0">
                <a:latin typeface="Arial Nova Cond Light" panose="020B0306020202020204" pitchFamily="34" charset="0"/>
              </a:rPr>
              <a:t> at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marurunong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u="sng" dirty="0">
                <a:latin typeface="Arial Nova Cond Light" panose="020B0306020202020204" pitchFamily="34" charset="0"/>
              </a:rPr>
              <a:t>_</a:t>
            </a:r>
            <a:r>
              <a:rPr lang="en-US" altLang="en-US" sz="2400" b="1" u="sng" dirty="0">
                <a:latin typeface="Arial Nova Cond Light" panose="020B0306020202020204" pitchFamily="34" charset="0"/>
              </a:rPr>
              <a:t>Sina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___</a:t>
            </a:r>
            <a:r>
              <a:rPr lang="en-US" altLang="en-US" sz="2400" dirty="0">
                <a:latin typeface="Arial Nova Cond Light" panose="020B0306020202020204" pitchFamily="34" charset="0"/>
              </a:rPr>
              <a:t>Helen, Tom, Mary at John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malilinis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u="sng" dirty="0">
                <a:latin typeface="Arial Nova Cond Light" panose="020B0306020202020204" pitchFamily="34" charset="0"/>
              </a:rPr>
              <a:t>_Ang </a:t>
            </a:r>
            <a:r>
              <a:rPr lang="en-US" altLang="en-US" sz="2400" b="1" u="sng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b="1" u="sng" dirty="0">
                <a:latin typeface="Arial Nova Cond Light" panose="020B0306020202020204" pitchFamily="34" charset="0"/>
              </a:rPr>
              <a:t>___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>
                <a:latin typeface="Arial Nova Cond Light" panose="020B0306020202020204" pitchFamily="34" charset="0"/>
              </a:rPr>
              <a:t>bata at </a:t>
            </a:r>
            <a:r>
              <a:rPr lang="en-US" altLang="en-US" sz="2400" b="1" u="sng" dirty="0" err="1">
                <a:latin typeface="Arial Nova Cond Light" panose="020B0306020202020204" pitchFamily="34" charset="0"/>
              </a:rPr>
              <a:t>si</a:t>
            </a:r>
            <a:r>
              <a:rPr lang="en-US" altLang="en-US" sz="2400" u="sng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>
                <a:latin typeface="Arial Nova Cond Light" panose="020B0306020202020204" pitchFamily="34" charset="0"/>
              </a:rPr>
              <a:t>Helen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magaganda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u="sng" dirty="0">
                <a:latin typeface="Arial Nova Cond Light" panose="020B0306020202020204" pitchFamily="34" charset="0"/>
              </a:rPr>
              <a:t>_</a:t>
            </a:r>
            <a:r>
              <a:rPr lang="en-US" altLang="en-US" sz="2400" b="1" u="sng" dirty="0" err="1">
                <a:latin typeface="Arial Nova Cond Light" panose="020B0306020202020204" pitchFamily="34" charset="0"/>
              </a:rPr>
              <a:t>Sina___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Tom</a:t>
            </a:r>
            <a:r>
              <a:rPr lang="en-US" altLang="en-US" sz="2400" dirty="0">
                <a:latin typeface="Arial Nova Cond Light" panose="020B0306020202020204" pitchFamily="34" charset="0"/>
              </a:rPr>
              <a:t>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mababait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  <a:r>
              <a:rPr lang="en-US" altLang="en-US" sz="2400" i="1" dirty="0">
                <a:latin typeface="Arial Nova Cond Light" panose="020B0306020202020204" pitchFamily="34" charset="0"/>
              </a:rPr>
              <a:t>(</a:t>
            </a:r>
            <a:r>
              <a:rPr lang="en-US" altLang="en-US" sz="2400" dirty="0">
                <a:latin typeface="Arial Nova Cond Light" panose="020B0306020202020204" pitchFamily="34" charset="0"/>
              </a:rPr>
              <a:t>Tom and his companions are good</a:t>
            </a:r>
            <a:r>
              <a:rPr lang="en-US" altLang="en-US" sz="2400" i="1" dirty="0">
                <a:latin typeface="Arial Nova Cond Light" panose="020B0306020202020204" pitchFamily="34" charset="0"/>
              </a:rPr>
              <a:t>.)</a:t>
            </a:r>
            <a:r>
              <a:rPr lang="en-US" altLang="en-US" sz="2400" dirty="0">
                <a:latin typeface="Arial Nova Cond Light" panose="020B0306020202020204" pitchFamily="34" charset="0"/>
              </a:rPr>
              <a:t>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u="sng" dirty="0">
                <a:latin typeface="Arial Nova Cond Light" panose="020B0306020202020204" pitchFamily="34" charset="0"/>
              </a:rPr>
              <a:t>_</a:t>
            </a:r>
            <a:r>
              <a:rPr lang="en-US" altLang="en-US" sz="2400" u="sng" dirty="0" err="1">
                <a:latin typeface="Arial Nova Cond Light" panose="020B0306020202020204" pitchFamily="34" charset="0"/>
              </a:rPr>
              <a:t>Sina__H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elen</a:t>
            </a:r>
            <a:r>
              <a:rPr lang="en-US" altLang="en-US" sz="2400" dirty="0">
                <a:latin typeface="Arial Nova Cond Light" panose="020B0306020202020204" pitchFamily="34" charset="0"/>
              </a:rPr>
              <a:t>, John at Peter at </a:t>
            </a:r>
            <a:r>
              <a:rPr lang="en-US" altLang="en-US" sz="2400" b="1" u="sng" dirty="0">
                <a:latin typeface="Arial Nova Cond Light" panose="020B0306020202020204" pitchFamily="34" charset="0"/>
              </a:rPr>
              <a:t>_ang </a:t>
            </a:r>
            <a:r>
              <a:rPr lang="en-US" altLang="en-US" sz="2400" b="1" u="sng" dirty="0" err="1">
                <a:latin typeface="Arial Nova Cond Light" panose="020B0306020202020204" pitchFamily="34" charset="0"/>
              </a:rPr>
              <a:t>mga</a:t>
            </a:r>
            <a:r>
              <a:rPr lang="en-US" altLang="en-US" sz="2400" b="1" u="sng" dirty="0">
                <a:latin typeface="Arial Nova Cond Light" panose="020B0306020202020204" pitchFamily="34" charset="0"/>
              </a:rPr>
              <a:t>__</a:t>
            </a:r>
            <a:r>
              <a:rPr lang="en-US" altLang="en-US" sz="2400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aso</a:t>
            </a:r>
            <a:r>
              <a:rPr lang="en-US" altLang="en-US" sz="2400" dirty="0">
                <a:latin typeface="Arial Nova Cond Light" panose="020B0306020202020204" pitchFamily="34" charset="0"/>
              </a:rPr>
              <a:t>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mababait</a:t>
            </a:r>
            <a:r>
              <a:rPr lang="en-US" altLang="en-US" sz="2400" dirty="0">
                <a:latin typeface="Arial Nova Cond Light" panose="020B0306020202020204" pitchFamily="34" charset="0"/>
              </a:rPr>
              <a:t>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>
                <a:latin typeface="Arial Nova Cond Light" panose="020B0306020202020204" pitchFamily="34" charset="0"/>
              </a:rPr>
              <a:t>_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Ang</a:t>
            </a:r>
            <a:r>
              <a:rPr lang="en-US" altLang="en-US" sz="2400" u="sng" dirty="0" err="1">
                <a:latin typeface="Arial Nova Cond Light" panose="020B0306020202020204" pitchFamily="34" charset="0"/>
              </a:rPr>
              <a:t>__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bata</a:t>
            </a:r>
            <a:r>
              <a:rPr lang="en-US" altLang="en-US" sz="2400" dirty="0">
                <a:latin typeface="Arial Nova Cond Light" panose="020B0306020202020204" pitchFamily="34" charset="0"/>
              </a:rPr>
              <a:t> ay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naglalaro</a:t>
            </a:r>
            <a:r>
              <a:rPr lang="en-US" altLang="en-US" sz="2400" dirty="0">
                <a:latin typeface="Arial Nova Cond Light" panose="020B0306020202020204" pitchFamily="34" charset="0"/>
              </a:rPr>
              <a:t>.(playing)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naglaro,naglalaro</a:t>
            </a:r>
            <a:r>
              <a:rPr lang="en-US" altLang="en-US" sz="2400" dirty="0">
                <a:latin typeface="Arial Nova Cond Light" panose="020B0306020202020204" pitchFamily="34" charset="0"/>
              </a:rPr>
              <a:t> </a:t>
            </a:r>
            <a:r>
              <a:rPr lang="en-US" altLang="en-US" sz="2400" dirty="0" err="1">
                <a:latin typeface="Arial Nova Cond Light" panose="020B0306020202020204" pitchFamily="34" charset="0"/>
              </a:rPr>
              <a:t>maglalaro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2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34788-9EF2-978B-E25E-51752194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EB235-6C79-AE61-6662-2ECD977E4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6" y="295564"/>
            <a:ext cx="11849782" cy="46027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8000" dirty="0">
                <a:latin typeface="Arial Nova Cond Light" panose="020B0306020202020204" pitchFamily="34" charset="0"/>
                <a:ea typeface="+mj-ea"/>
                <a:cs typeface="+mj-cs"/>
              </a:rPr>
              <a:t>SENTENCE FORMATION</a:t>
            </a:r>
          </a:p>
          <a:p>
            <a:pPr marL="0" indent="0">
              <a:buNone/>
            </a:pPr>
            <a:r>
              <a:rPr lang="en-PH" sz="4000" b="1" dirty="0">
                <a:latin typeface="Arial Nova Cond Light" panose="020B0306020202020204" pitchFamily="34" charset="0"/>
                <a:ea typeface="+mj-ea"/>
                <a:cs typeface="+mj-cs"/>
              </a:rPr>
              <a:t>There are two basic way to form a sentence in a </a:t>
            </a:r>
            <a:r>
              <a:rPr lang="en-PH" sz="4000" b="1" dirty="0" err="1">
                <a:latin typeface="Arial Nova Cond Light" panose="020B0306020202020204" pitchFamily="34" charset="0"/>
                <a:ea typeface="+mj-ea"/>
                <a:cs typeface="+mj-cs"/>
              </a:rPr>
              <a:t>tagalog</a:t>
            </a:r>
            <a:endParaRPr lang="en-PH" sz="4000" b="1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H" sz="4000" dirty="0" err="1">
                <a:latin typeface="Arial Nova Cond Light" panose="020B0306020202020204" pitchFamily="34" charset="0"/>
                <a:ea typeface="+mj-ea"/>
                <a:cs typeface="+mj-cs"/>
              </a:rPr>
              <a:t>I.Subject</a:t>
            </a:r>
            <a:r>
              <a:rPr lang="en-PH" sz="4000" dirty="0">
                <a:latin typeface="Arial Nova Cond Light" panose="020B0306020202020204" pitchFamily="34" charset="0"/>
                <a:ea typeface="+mj-ea"/>
                <a:cs typeface="+mj-cs"/>
              </a:rPr>
              <a:t>-predicate word order</a:t>
            </a:r>
          </a:p>
          <a:p>
            <a:pPr marL="0" indent="0">
              <a:buNone/>
            </a:pPr>
            <a:r>
              <a:rPr lang="en-PH" sz="4000" dirty="0" err="1">
                <a:latin typeface="Arial Nova Cond Light" panose="020B0306020202020204" pitchFamily="34" charset="0"/>
                <a:ea typeface="+mj-ea"/>
                <a:cs typeface="+mj-cs"/>
              </a:rPr>
              <a:t>II.Inverted</a:t>
            </a:r>
            <a:r>
              <a:rPr lang="en-PH" sz="4000" dirty="0">
                <a:latin typeface="Arial Nova Cond Light" panose="020B0306020202020204" pitchFamily="34" charset="0"/>
                <a:ea typeface="+mj-ea"/>
                <a:cs typeface="+mj-cs"/>
              </a:rPr>
              <a:t> or transposed sentence order</a:t>
            </a:r>
          </a:p>
        </p:txBody>
      </p:sp>
    </p:spTree>
    <p:extLst>
      <p:ext uri="{BB962C8B-B14F-4D97-AF65-F5344CB8AC3E}">
        <p14:creationId xmlns:p14="http://schemas.microsoft.com/office/powerpoint/2010/main" val="227268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9A780-A52D-AD3F-CB40-DF1CBF21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FB5D-9EF7-92D1-F00F-CBB32422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6" y="295564"/>
            <a:ext cx="12044514" cy="7668565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endParaRPr lang="en-PH" sz="4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PH" sz="10000" dirty="0">
                <a:latin typeface="Arial Nova Cond Light" panose="020B0306020202020204" pitchFamily="34" charset="0"/>
              </a:rPr>
              <a:t>1.SUBJECT-PREDICATE WORD/SENTENCE ORDER</a:t>
            </a:r>
            <a:br>
              <a:rPr lang="en-PH" sz="10000" dirty="0">
                <a:latin typeface="Arial Nova Cond Light" panose="020B0306020202020204" pitchFamily="34" charset="0"/>
              </a:rPr>
            </a:br>
            <a:endParaRPr lang="en-PH" sz="10000" dirty="0">
              <a:latin typeface="Arial Nova Cond Light" panose="020B0306020202020204" pitchFamily="34" charset="0"/>
            </a:endParaRPr>
          </a:p>
          <a:p>
            <a:pPr marL="0" indent="0">
              <a:buNone/>
            </a:pPr>
            <a:r>
              <a:rPr lang="en-PH" sz="9000" dirty="0">
                <a:latin typeface="Arial Nova Cond Light" panose="020B0306020202020204" pitchFamily="34" charset="0"/>
                <a:ea typeface="+mj-ea"/>
                <a:cs typeface="+mj-cs"/>
              </a:rPr>
              <a:t>Where the </a:t>
            </a:r>
            <a:r>
              <a:rPr lang="en-PH" sz="9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subject appears </a:t>
            </a:r>
            <a:r>
              <a:rPr lang="en-PH" sz="9000" dirty="0">
                <a:latin typeface="Arial Nova Cond Light" panose="020B0306020202020204" pitchFamily="34" charset="0"/>
                <a:ea typeface="+mj-ea"/>
                <a:cs typeface="+mj-cs"/>
              </a:rPr>
              <a:t>at </a:t>
            </a:r>
            <a:r>
              <a:rPr lang="en-PH" sz="9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the beginning of the sentence</a:t>
            </a:r>
            <a:r>
              <a:rPr lang="en-PH" sz="9000" dirty="0">
                <a:latin typeface="Arial Nova Cond Light" panose="020B0306020202020204" pitchFamily="34" charset="0"/>
                <a:ea typeface="+mj-ea"/>
                <a:cs typeface="+mj-cs"/>
              </a:rPr>
              <a:t>.</a:t>
            </a:r>
            <a:br>
              <a:rPr lang="en-PH" sz="90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9000" dirty="0">
                <a:latin typeface="Arial Nova Cond Light" panose="020B0306020202020204" pitchFamily="34" charset="0"/>
                <a:ea typeface="+mj-ea"/>
                <a:cs typeface="+mj-cs"/>
              </a:rPr>
              <a:t>A sentence in this order when the subject is the most important element in the sentence and it comes first within the sentence. In this order, the word</a:t>
            </a:r>
            <a:r>
              <a:rPr lang="en-PH" sz="9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AY</a:t>
            </a:r>
            <a:r>
              <a:rPr lang="en-PH" sz="9000" dirty="0">
                <a:latin typeface="Arial Nova Cond Light" panose="020B0306020202020204" pitchFamily="34" charset="0"/>
                <a:ea typeface="+mj-ea"/>
                <a:cs typeface="+mj-cs"/>
              </a:rPr>
              <a:t>(is) &amp; (are) is used.</a:t>
            </a:r>
          </a:p>
          <a:p>
            <a:pPr marL="0" indent="0">
              <a:buNone/>
            </a:pPr>
            <a:endParaRPr lang="en-PH" sz="11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H" sz="4000" dirty="0">
                <a:latin typeface="Arial Nova Cond Light" panose="020B0306020202020204" pitchFamily="34" charset="0"/>
              </a:rPr>
              <a:t>Subject- </a:t>
            </a:r>
            <a:r>
              <a:rPr lang="en-PH" sz="4500" dirty="0">
                <a:latin typeface="Arial Nova Cond Light" panose="020B0306020202020204" pitchFamily="34" charset="0"/>
              </a:rPr>
              <a:t>tell us who or what the sentence is about</a:t>
            </a:r>
            <a:br>
              <a:rPr lang="en-PH" sz="4500" dirty="0">
                <a:latin typeface="Arial Nova Cond Light" panose="020B0306020202020204" pitchFamily="34" charset="0"/>
              </a:rPr>
            </a:br>
            <a:r>
              <a:rPr lang="en-PH" sz="4500" dirty="0">
                <a:latin typeface="Arial Nova Cond Light" panose="020B0306020202020204" pitchFamily="34" charset="0"/>
              </a:rPr>
              <a:t>Predicate tells us what the subject </a:t>
            </a:r>
            <a:r>
              <a:rPr lang="en-PH" sz="4500" i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does or is .</a:t>
            </a:r>
            <a:r>
              <a:rPr lang="en-PH" sz="4500" dirty="0">
                <a:latin typeface="Arial Nova Cond Light" panose="020B0306020202020204" pitchFamily="34" charset="0"/>
              </a:rPr>
              <a:t>It contains the verb and all the words related to action or state.</a:t>
            </a:r>
            <a:br>
              <a:rPr lang="en-PH" sz="6000" dirty="0"/>
            </a:br>
            <a:endParaRPr lang="en-PH" sz="6000" dirty="0"/>
          </a:p>
          <a:p>
            <a:pPr marL="0" indent="0">
              <a:buNone/>
            </a:pPr>
            <a:br>
              <a:rPr lang="en-PH" sz="4000" dirty="0">
                <a:latin typeface="+mj-lt"/>
                <a:ea typeface="+mj-ea"/>
                <a:cs typeface="+mj-cs"/>
              </a:rPr>
            </a:br>
            <a:endParaRPr lang="en-PH" sz="4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9731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FFC0-4958-73F2-FF26-6C874B0C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E786-464F-507E-476F-3A988D558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6" y="211668"/>
            <a:ext cx="12044514" cy="584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40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PH" sz="4000" dirty="0">
                <a:latin typeface="Arial Nova Cond Light" panose="020B0306020202020204" pitchFamily="34" charset="0"/>
              </a:rPr>
              <a:t>Example: </a:t>
            </a:r>
            <a:r>
              <a:rPr lang="en-PH" sz="4000" dirty="0" err="1">
                <a:latin typeface="Arial Nova Cond Light" panose="020B0306020202020204" pitchFamily="34" charset="0"/>
              </a:rPr>
              <a:t>Halimbawa</a:t>
            </a:r>
            <a:endParaRPr lang="en-PH" sz="4000" dirty="0">
              <a:latin typeface="Arial Nova Cond Light" panose="020B0306020202020204" pitchFamily="34" charset="0"/>
            </a:endParaRP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1.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Ang </a:t>
            </a:r>
            <a:r>
              <a:rPr lang="en-PH" sz="3000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bahay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ay Malaki.			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The house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is big.</a:t>
            </a: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2. Si Peter ay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mabait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	.			Peter is good.</a:t>
            </a: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3.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Sina Peter at Mary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ay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bata.		Peter and Mary are children.</a:t>
            </a: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4. 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Ang </a:t>
            </a:r>
            <a:r>
              <a:rPr lang="en-PH" sz="3000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bata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ay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kumakain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.		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The children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are eating.</a:t>
            </a: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5.Ang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babae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at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lalaki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ay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nagluluto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		The woman and the man are cooking.</a:t>
            </a:r>
            <a:b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</a:br>
            <a:endParaRPr lang="en-PH" sz="3000" dirty="0">
              <a:latin typeface="Arial Nova Cond Light" panose="020B0306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941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968A-3C99-45DD-BBFC-0428D6B9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3640F-7901-4BE0-B13B-17BC848D7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64" y="0"/>
            <a:ext cx="12069336" cy="62123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4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PH" sz="4000" b="1" dirty="0">
                <a:latin typeface="Arial Nova Cond Light" panose="020B0306020202020204" pitchFamily="34" charset="0"/>
              </a:rPr>
              <a:t>THE INVERTED OR TRANSPOSED SENTENCE ORDER</a:t>
            </a: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A sentence is 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in the inverted or transposed word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order 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when the predicate comes at the beginning of the sentence before the subject.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The word </a:t>
            </a:r>
            <a:r>
              <a:rPr lang="en-PH" sz="3000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AY 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is not used the inverted word order sentence.</a:t>
            </a:r>
            <a:b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</a:b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Example: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Halimbawa</a:t>
            </a:r>
            <a:endParaRPr lang="en-PH" sz="3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Malaki ang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bahay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			The house is big		Ang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bahay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ay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malaki</a:t>
            </a:r>
            <a:endParaRPr lang="en-PH" sz="3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Kumakain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ang bata			The child is eating</a:t>
            </a:r>
          </a:p>
          <a:p>
            <a:pPr marL="0" indent="0">
              <a:buNone/>
            </a:pP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Mabait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PH" sz="3000" dirty="0" err="1">
                <a:latin typeface="Arial Nova Cond Light" panose="020B0306020202020204" pitchFamily="34" charset="0"/>
                <a:ea typeface="+mj-ea"/>
                <a:cs typeface="+mj-cs"/>
              </a:rPr>
              <a:t>si</a:t>
            </a:r>
            <a:r>
              <a:rPr lang="en-PH" sz="3000" dirty="0">
                <a:latin typeface="Arial Nova Cond Light" panose="020B0306020202020204" pitchFamily="34" charset="0"/>
                <a:ea typeface="+mj-ea"/>
                <a:cs typeface="+mj-cs"/>
              </a:rPr>
              <a:t> Peter			Peter is good/kind</a:t>
            </a:r>
          </a:p>
        </p:txBody>
      </p:sp>
    </p:spTree>
    <p:extLst>
      <p:ext uri="{BB962C8B-B14F-4D97-AF65-F5344CB8AC3E}">
        <p14:creationId xmlns:p14="http://schemas.microsoft.com/office/powerpoint/2010/main" val="3076088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8A3E-9A62-A9D1-3F0C-F89D9AE6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B0D7E-9511-CFD3-F9A5-BDB3B116D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839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93D3-40A1-4A87-91FF-A72FA4CA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58E8A-50FC-6EF3-C459-435AEB330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1" y="0"/>
            <a:ext cx="12191999" cy="6244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Nova Cond Light" panose="020B0306020202020204" pitchFamily="34" charset="0"/>
                <a:ea typeface="+mj-ea"/>
                <a:cs typeface="+mj-cs"/>
              </a:rPr>
              <a:t>The focus or emphasis in such sentence is on the </a:t>
            </a:r>
            <a:r>
              <a:rPr lang="en-US" b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predicate rather than on the subject</a:t>
            </a:r>
            <a:r>
              <a:rPr lang="en-US" dirty="0">
                <a:latin typeface="Arial Nova Cond Light" panose="020B0306020202020204" pitchFamily="34" charset="0"/>
                <a:ea typeface="+mj-ea"/>
                <a:cs typeface="+mj-cs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 Nova Cond Light" panose="020B0306020202020204" pitchFamily="34" charset="0"/>
                <a:ea typeface="+mj-ea"/>
                <a:cs typeface="+mj-cs"/>
              </a:rPr>
              <a:t> In inverted word order sentences having </a:t>
            </a:r>
            <a:r>
              <a:rPr lang="en-US" b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plural nouns as their subject</a:t>
            </a:r>
            <a:r>
              <a:rPr lang="en-US" dirty="0">
                <a:latin typeface="Arial Nova Cond Light" panose="020B0306020202020204" pitchFamily="34" charset="0"/>
                <a:ea typeface="+mj-ea"/>
                <a:cs typeface="+mj-cs"/>
              </a:rPr>
              <a:t>, the word </a:t>
            </a:r>
            <a:r>
              <a:rPr lang="en-US" b="1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US" dirty="0">
                <a:latin typeface="Arial Nova Cond Light" panose="020B0306020202020204" pitchFamily="34" charset="0"/>
                <a:ea typeface="+mj-ea"/>
                <a:cs typeface="+mj-cs"/>
              </a:rPr>
              <a:t>-not </a:t>
            </a:r>
            <a:r>
              <a:rPr lang="en-US" b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ang </a:t>
            </a:r>
            <a:r>
              <a:rPr lang="en-US" b="1" dirty="0" err="1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mga</a:t>
            </a:r>
            <a:r>
              <a:rPr lang="en-US" b="1" dirty="0">
                <a:solidFill>
                  <a:srgbClr val="FF0000"/>
                </a:solidFill>
                <a:latin typeface="Arial Nova Cond Light" panose="020B0306020202020204" pitchFamily="34" charset="0"/>
                <a:ea typeface="+mj-ea"/>
                <a:cs typeface="+mj-cs"/>
              </a:rPr>
              <a:t> </a:t>
            </a:r>
            <a:r>
              <a:rPr lang="en-US" dirty="0">
                <a:latin typeface="Arial Nova Cond Light" panose="020B0306020202020204" pitchFamily="34" charset="0"/>
                <a:ea typeface="+mj-ea"/>
                <a:cs typeface="+mj-cs"/>
              </a:rPr>
              <a:t>comes before the first nouns</a:t>
            </a:r>
            <a:r>
              <a:rPr lang="en-US" sz="4000" dirty="0">
                <a:latin typeface="Arial Nova Cond Light" panose="020B0306020202020204" pitchFamily="34" charset="0"/>
                <a:ea typeface="+mj-ea"/>
                <a:cs typeface="+mj-cs"/>
              </a:rPr>
              <a:t>.</a:t>
            </a:r>
          </a:p>
          <a:p>
            <a:pPr marL="0" indent="0" algn="ctr">
              <a:buNone/>
            </a:pPr>
            <a:endParaRPr lang="en-PH" sz="4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PH" sz="3200" dirty="0">
                <a:latin typeface="Arial Nova Cond Light" panose="020B0306020202020204" pitchFamily="34" charset="0"/>
              </a:rPr>
              <a:t>Example: </a:t>
            </a:r>
            <a:r>
              <a:rPr lang="en-PH" sz="3200" dirty="0" err="1">
                <a:latin typeface="Arial Nova Cond Light" panose="020B0306020202020204" pitchFamily="34" charset="0"/>
              </a:rPr>
              <a:t>Halimbawa</a:t>
            </a:r>
            <a:endParaRPr lang="en-PH" sz="3200" dirty="0">
              <a:latin typeface="Arial Nova Cond Light" panose="020B0306020202020204" pitchFamily="34" charset="0"/>
            </a:endParaRPr>
          </a:p>
          <a:p>
            <a:pPr marL="0" indent="0">
              <a:buNone/>
            </a:pPr>
            <a:r>
              <a:rPr lang="en-PH" sz="2800" dirty="0">
                <a:latin typeface="Arial Nova Cond Light" panose="020B0306020202020204" pitchFamily="34" charset="0"/>
              </a:rPr>
              <a:t>Mga </a:t>
            </a:r>
            <a:r>
              <a:rPr lang="en-PH" sz="2800" dirty="0" err="1">
                <a:latin typeface="Arial Nova Cond Light" panose="020B0306020202020204" pitchFamily="34" charset="0"/>
              </a:rPr>
              <a:t>lungsod</a:t>
            </a:r>
            <a:r>
              <a:rPr lang="en-PH" sz="2800" dirty="0">
                <a:latin typeface="Arial Nova Cond Light" panose="020B0306020202020204" pitchFamily="34" charset="0"/>
              </a:rPr>
              <a:t> ang Manila at Cebu			Manila and Cebu are cities</a:t>
            </a:r>
          </a:p>
          <a:p>
            <a:pPr marL="0" indent="0">
              <a:buNone/>
            </a:pPr>
            <a:r>
              <a:rPr lang="en-PH" sz="2800" dirty="0">
                <a:latin typeface="Arial Nova Cond Light" panose="020B0306020202020204" pitchFamily="34" charset="0"/>
              </a:rPr>
              <a:t>Mga </a:t>
            </a:r>
            <a:r>
              <a:rPr lang="en-PH" sz="2800" dirty="0" err="1">
                <a:latin typeface="Arial Nova Cond Light" panose="020B0306020202020204" pitchFamily="34" charset="0"/>
              </a:rPr>
              <a:t>babae</a:t>
            </a:r>
            <a:r>
              <a:rPr lang="en-PH" sz="2800" dirty="0">
                <a:latin typeface="Arial Nova Cond Light" panose="020B0306020202020204" pitchFamily="34" charset="0"/>
              </a:rPr>
              <a:t> </a:t>
            </a:r>
            <a:r>
              <a:rPr lang="en-PH" sz="2800" dirty="0" err="1">
                <a:latin typeface="Arial Nova Cond Light" panose="020B0306020202020204" pitchFamily="34" charset="0"/>
              </a:rPr>
              <a:t>sina</a:t>
            </a:r>
            <a:r>
              <a:rPr lang="en-PH" sz="2800" dirty="0">
                <a:latin typeface="Arial Nova Cond Light" panose="020B0306020202020204" pitchFamily="34" charset="0"/>
              </a:rPr>
              <a:t> Lisa at Cha				Lisa and Cha are women</a:t>
            </a:r>
          </a:p>
          <a:p>
            <a:pPr marL="0" indent="0">
              <a:buNone/>
            </a:pPr>
            <a:endParaRPr lang="en-PH" sz="28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904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E6EE-F73A-5593-3D80-7AF2E669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9C5337-0DD5-1381-7AA2-C5BD08602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904066"/>
              </p:ext>
            </p:extLst>
          </p:nvPr>
        </p:nvGraphicFramePr>
        <p:xfrm>
          <a:off x="1" y="1"/>
          <a:ext cx="12192001" cy="6896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8104">
                  <a:extLst>
                    <a:ext uri="{9D8B030D-6E8A-4147-A177-3AD203B41FA5}">
                      <a16:colId xmlns:a16="http://schemas.microsoft.com/office/drawing/2014/main" val="102174114"/>
                    </a:ext>
                  </a:extLst>
                </a:gridCol>
                <a:gridCol w="3989324">
                  <a:extLst>
                    <a:ext uri="{9D8B030D-6E8A-4147-A177-3AD203B41FA5}">
                      <a16:colId xmlns:a16="http://schemas.microsoft.com/office/drawing/2014/main" val="1440058906"/>
                    </a:ext>
                  </a:extLst>
                </a:gridCol>
                <a:gridCol w="2365645">
                  <a:extLst>
                    <a:ext uri="{9D8B030D-6E8A-4147-A177-3AD203B41FA5}">
                      <a16:colId xmlns:a16="http://schemas.microsoft.com/office/drawing/2014/main" val="3237132725"/>
                    </a:ext>
                  </a:extLst>
                </a:gridCol>
                <a:gridCol w="4048928">
                  <a:extLst>
                    <a:ext uri="{9D8B030D-6E8A-4147-A177-3AD203B41FA5}">
                      <a16:colId xmlns:a16="http://schemas.microsoft.com/office/drawing/2014/main" val="1282972100"/>
                    </a:ext>
                  </a:extLst>
                </a:gridCol>
              </a:tblGrid>
              <a:tr h="4949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SUBJECTS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 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PREDICATES 	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 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4697746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babae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woman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maganda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beautiful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38134845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lalaki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man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marunong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intelligent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57289358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batå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child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mataba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fat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49432850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bahay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house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mabait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kind; good (Of character)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30735500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bansa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nation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mabuti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good (of condition or quality)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69671300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1841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tubig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water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maliit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small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63929902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pagkain</a:t>
                      </a: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 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food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malaki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big 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39311890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bulaklak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flower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mainit</a:t>
                      </a: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 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hot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0995115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mesa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table 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malamig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cold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10230994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silya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chair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malinis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clean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1392995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paaralan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school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bago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new 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40929535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304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kotse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car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mura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cheap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32560675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304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Iapis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pencil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mahal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dear; expensive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61579141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304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papél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paper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masarap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delicious; delightful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36850094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304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kapé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coffee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malusog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healthy 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26199643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304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isda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fish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luma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old (inanimate)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59681285"/>
                  </a:ext>
                </a:extLst>
              </a:tr>
              <a:tr h="5200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araw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sun; day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matanda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old (animate)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43425063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304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hangin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wind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mataas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high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6033880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aklat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book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mababa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low 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2343228"/>
                  </a:ext>
                </a:extLst>
              </a:tr>
              <a:tr h="309551">
                <a:tc>
                  <a:txBody>
                    <a:bodyPr/>
                    <a:lstStyle/>
                    <a:p>
                      <a:pPr marL="1206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simbahan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>
                          <a:effectLst/>
                          <a:latin typeface="Arial Nova Cond Light" panose="020B0306020202020204" pitchFamily="34" charset="0"/>
                        </a:rPr>
                        <a:t>church</a:t>
                      </a:r>
                      <a:endParaRPr lang="en-PH" sz="2000" b="1" kern="10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 err="1">
                          <a:effectLst/>
                          <a:latin typeface="Arial Nova Cond Light" panose="020B0306020202020204" pitchFamily="34" charset="0"/>
                        </a:rPr>
                        <a:t>mahirap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000" b="1" kern="100" dirty="0">
                          <a:effectLst/>
                          <a:latin typeface="Arial Nova Cond Light" panose="020B0306020202020204" pitchFamily="34" charset="0"/>
                        </a:rPr>
                        <a:t>poor; difficult 	</a:t>
                      </a:r>
                      <a:endParaRPr lang="en-PH" sz="2000" b="1" kern="100" dirty="0">
                        <a:solidFill>
                          <a:srgbClr val="000000"/>
                        </a:solidFill>
                        <a:effectLst/>
                        <a:latin typeface="Arial Nova Cond Light" panose="020B0306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27179943"/>
                  </a:ext>
                </a:extLst>
              </a:tr>
            </a:tbl>
          </a:graphicData>
        </a:graphic>
      </p:graphicFrame>
      <p:pic>
        <p:nvPicPr>
          <p:cNvPr id="1045" name="Picture 98879">
            <a:extLst>
              <a:ext uri="{FF2B5EF4-FFF2-40B4-BE49-F238E27FC236}">
                <a16:creationId xmlns:a16="http://schemas.microsoft.com/office/drawing/2014/main" id="{017603C2-D78B-21DE-E057-28505D781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98877">
            <a:extLst>
              <a:ext uri="{FF2B5EF4-FFF2-40B4-BE49-F238E27FC236}">
                <a16:creationId xmlns:a16="http://schemas.microsoft.com/office/drawing/2014/main" id="{F0DCD9FD-9D85-F849-3ED4-7019B755B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98880">
            <a:extLst>
              <a:ext uri="{FF2B5EF4-FFF2-40B4-BE49-F238E27FC236}">
                <a16:creationId xmlns:a16="http://schemas.microsoft.com/office/drawing/2014/main" id="{8C598A92-AAF1-4502-AE6B-7F0C07C0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98878">
            <a:extLst>
              <a:ext uri="{FF2B5EF4-FFF2-40B4-BE49-F238E27FC236}">
                <a16:creationId xmlns:a16="http://schemas.microsoft.com/office/drawing/2014/main" id="{1A562A59-F930-DBAD-3B97-5240A3150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98881">
            <a:extLst>
              <a:ext uri="{FF2B5EF4-FFF2-40B4-BE49-F238E27FC236}">
                <a16:creationId xmlns:a16="http://schemas.microsoft.com/office/drawing/2014/main" id="{745A86C8-BF37-531A-91FC-8B4144562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98882">
            <a:extLst>
              <a:ext uri="{FF2B5EF4-FFF2-40B4-BE49-F238E27FC236}">
                <a16:creationId xmlns:a16="http://schemas.microsoft.com/office/drawing/2014/main" id="{CC72CC13-6BBC-FE9A-12E6-A42A6D2A8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98883">
            <a:extLst>
              <a:ext uri="{FF2B5EF4-FFF2-40B4-BE49-F238E27FC236}">
                <a16:creationId xmlns:a16="http://schemas.microsoft.com/office/drawing/2014/main" id="{6AD883DD-7C25-9544-81FA-58CD9E03A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98884">
            <a:extLst>
              <a:ext uri="{FF2B5EF4-FFF2-40B4-BE49-F238E27FC236}">
                <a16:creationId xmlns:a16="http://schemas.microsoft.com/office/drawing/2014/main" id="{54DD76BC-E613-5311-0076-B63078842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98885">
            <a:extLst>
              <a:ext uri="{FF2B5EF4-FFF2-40B4-BE49-F238E27FC236}">
                <a16:creationId xmlns:a16="http://schemas.microsoft.com/office/drawing/2014/main" id="{35A7D103-8DD7-62F1-23E7-E736785EC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98886">
            <a:extLst>
              <a:ext uri="{FF2B5EF4-FFF2-40B4-BE49-F238E27FC236}">
                <a16:creationId xmlns:a16="http://schemas.microsoft.com/office/drawing/2014/main" id="{BBD67B40-1B1C-449F-7BCE-E3C6445A5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98887">
            <a:extLst>
              <a:ext uri="{FF2B5EF4-FFF2-40B4-BE49-F238E27FC236}">
                <a16:creationId xmlns:a16="http://schemas.microsoft.com/office/drawing/2014/main" id="{9916C2C2-3CC5-AB58-FFBF-E803EE604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98888">
            <a:extLst>
              <a:ext uri="{FF2B5EF4-FFF2-40B4-BE49-F238E27FC236}">
                <a16:creationId xmlns:a16="http://schemas.microsoft.com/office/drawing/2014/main" id="{F70CDF89-94B8-9D16-6A50-626B54F8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8889">
            <a:extLst>
              <a:ext uri="{FF2B5EF4-FFF2-40B4-BE49-F238E27FC236}">
                <a16:creationId xmlns:a16="http://schemas.microsoft.com/office/drawing/2014/main" id="{FA6C7D9A-3EB6-3183-1898-B32829D5E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98890">
            <a:extLst>
              <a:ext uri="{FF2B5EF4-FFF2-40B4-BE49-F238E27FC236}">
                <a16:creationId xmlns:a16="http://schemas.microsoft.com/office/drawing/2014/main" id="{53AC2E00-F0C7-6A5D-B4D9-65F6055F1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98891">
            <a:extLst>
              <a:ext uri="{FF2B5EF4-FFF2-40B4-BE49-F238E27FC236}">
                <a16:creationId xmlns:a16="http://schemas.microsoft.com/office/drawing/2014/main" id="{3FBE0D88-1B1C-265D-6319-62DBC1088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98892">
            <a:extLst>
              <a:ext uri="{FF2B5EF4-FFF2-40B4-BE49-F238E27FC236}">
                <a16:creationId xmlns:a16="http://schemas.microsoft.com/office/drawing/2014/main" id="{1292640C-8509-B9E5-6EC2-43D662D42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98893">
            <a:extLst>
              <a:ext uri="{FF2B5EF4-FFF2-40B4-BE49-F238E27FC236}">
                <a16:creationId xmlns:a16="http://schemas.microsoft.com/office/drawing/2014/main" id="{1054F75D-8CB3-2EDA-AB16-D95C19018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98895">
            <a:extLst>
              <a:ext uri="{FF2B5EF4-FFF2-40B4-BE49-F238E27FC236}">
                <a16:creationId xmlns:a16="http://schemas.microsoft.com/office/drawing/2014/main" id="{FCBFC5C5-FE5A-4FCB-4510-278A27A95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98894">
            <a:extLst>
              <a:ext uri="{FF2B5EF4-FFF2-40B4-BE49-F238E27FC236}">
                <a16:creationId xmlns:a16="http://schemas.microsoft.com/office/drawing/2014/main" id="{509E2827-032F-0759-BB72-FCD1A59A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98896">
            <a:extLst>
              <a:ext uri="{FF2B5EF4-FFF2-40B4-BE49-F238E27FC236}">
                <a16:creationId xmlns:a16="http://schemas.microsoft.com/office/drawing/2014/main" id="{9166FB2C-23A7-8CC3-D887-254169F42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98897">
            <a:extLst>
              <a:ext uri="{FF2B5EF4-FFF2-40B4-BE49-F238E27FC236}">
                <a16:creationId xmlns:a16="http://schemas.microsoft.com/office/drawing/2014/main" id="{C2D638A5-97E7-019B-EC56-7444F62A4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914525"/>
            <a:ext cx="7937" cy="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673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B916F-DBE5-F448-ADE6-C82E7878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C3FB-557D-582C-66B5-4E5F02B1B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2443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4000" dirty="0">
              <a:latin typeface="Arial Nova Cond Light" panose="020B0306020202020204" pitchFamily="34" charset="0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PH" sz="4000" dirty="0">
                <a:latin typeface="Arial Nova Cond Light" panose="020B0306020202020204" pitchFamily="34" charset="0"/>
                <a:ea typeface="+mj-ea"/>
                <a:cs typeface="+mj-cs"/>
              </a:rPr>
              <a:t>Exercises</a:t>
            </a:r>
            <a:endParaRPr lang="en-PH" sz="3200" dirty="0">
              <a:latin typeface="Arial Nova Cond Light" panose="020B0306020202020204" pitchFamily="34" charset="0"/>
            </a:endParaRPr>
          </a:p>
          <a:p>
            <a:pPr marL="514350" indent="-514350">
              <a:buAutoNum type="arabicPeriod"/>
            </a:pPr>
            <a:r>
              <a:rPr lang="en-PH" sz="3200" dirty="0">
                <a:latin typeface="Arial Nova Cond Light" panose="020B0306020202020204" pitchFamily="34" charset="0"/>
              </a:rPr>
              <a:t>Si peter ay </a:t>
            </a:r>
            <a:r>
              <a:rPr lang="en-PH" sz="3200" dirty="0" err="1">
                <a:latin typeface="Arial Nova Cond Light" panose="020B0306020202020204" pitchFamily="34" charset="0"/>
              </a:rPr>
              <a:t>Lalaki</a:t>
            </a:r>
            <a:r>
              <a:rPr lang="en-PH" sz="3200" dirty="0">
                <a:latin typeface="Arial Nova Cond Light" panose="020B0306020202020204" pitchFamily="34" charset="0"/>
              </a:rPr>
              <a:t>. 				</a:t>
            </a:r>
          </a:p>
          <a:p>
            <a:pPr marL="514350" indent="-514350">
              <a:buAutoNum type="arabicPeriod"/>
            </a:pPr>
            <a:r>
              <a:rPr lang="en-PH" sz="3200" dirty="0">
                <a:latin typeface="Arial Nova Cond Light" panose="020B0306020202020204" pitchFamily="34" charset="0"/>
              </a:rPr>
              <a:t>Si Liza ay </a:t>
            </a:r>
            <a:r>
              <a:rPr lang="en-PH" sz="3200" dirty="0" err="1">
                <a:latin typeface="Arial Nova Cond Light" panose="020B0306020202020204" pitchFamily="34" charset="0"/>
              </a:rPr>
              <a:t>batang</a:t>
            </a:r>
            <a:r>
              <a:rPr lang="en-PH" sz="3200" dirty="0">
                <a:latin typeface="Arial Nova Cond Light" panose="020B0306020202020204" pitchFamily="34" charset="0"/>
              </a:rPr>
              <a:t> </a:t>
            </a:r>
            <a:r>
              <a:rPr lang="en-PH" sz="3200" dirty="0" err="1">
                <a:latin typeface="Arial Nova Cond Light" panose="020B0306020202020204" pitchFamily="34" charset="0"/>
              </a:rPr>
              <a:t>babae</a:t>
            </a:r>
            <a:r>
              <a:rPr lang="en-PH" sz="3200" dirty="0">
                <a:latin typeface="Arial Nova Cond Light" panose="020B0306020202020204" pitchFamily="34" charset="0"/>
              </a:rPr>
              <a:t>.			</a:t>
            </a:r>
          </a:p>
          <a:p>
            <a:pPr marL="514350" indent="-514350">
              <a:buAutoNum type="arabicPeriod"/>
            </a:pPr>
            <a:r>
              <a:rPr lang="en-PH" sz="3200" dirty="0">
                <a:latin typeface="Arial Nova Cond Light" panose="020B0306020202020204" pitchFamily="34" charset="0"/>
              </a:rPr>
              <a:t>Si Ruth ay Maganda.				 </a:t>
            </a:r>
          </a:p>
          <a:p>
            <a:pPr marL="514350" indent="-514350">
              <a:buAutoNum type="arabicPeriod"/>
            </a:pPr>
            <a:r>
              <a:rPr lang="en-PH" sz="3200" dirty="0">
                <a:latin typeface="Arial Nova Cond Light" panose="020B0306020202020204" pitchFamily="34" charset="0"/>
              </a:rPr>
              <a:t>Si Peter ay </a:t>
            </a:r>
            <a:r>
              <a:rPr lang="en-PH" sz="3200" dirty="0" err="1">
                <a:latin typeface="Arial Nova Cond Light" panose="020B0306020202020204" pitchFamily="34" charset="0"/>
              </a:rPr>
              <a:t>marunong</a:t>
            </a:r>
            <a:r>
              <a:rPr lang="en-PH" sz="3200" dirty="0">
                <a:latin typeface="Arial Nova Cond Light" panose="020B0306020202020204" pitchFamily="34" charset="0"/>
              </a:rPr>
              <a:t>.				</a:t>
            </a:r>
          </a:p>
          <a:p>
            <a:pPr marL="514350" indent="-514350">
              <a:buAutoNum type="arabicPeriod"/>
            </a:pPr>
            <a:r>
              <a:rPr lang="en-PH" sz="3200" dirty="0">
                <a:latin typeface="Arial Nova Cond Light" panose="020B0306020202020204" pitchFamily="34" charset="0"/>
              </a:rPr>
              <a:t>Sina Helen at Tom ay </a:t>
            </a:r>
            <a:r>
              <a:rPr lang="en-PH" sz="3200" dirty="0" err="1">
                <a:latin typeface="Arial Nova Cond Light" panose="020B0306020202020204" pitchFamily="34" charset="0"/>
              </a:rPr>
              <a:t>mababait</a:t>
            </a:r>
            <a:r>
              <a:rPr lang="en-PH" sz="3200" dirty="0">
                <a:latin typeface="Arial Nova Cond Light" panose="020B0306020202020204" pitchFamily="34" charset="0"/>
              </a:rPr>
              <a:t>.		</a:t>
            </a:r>
          </a:p>
          <a:p>
            <a:pPr marL="514350" indent="-514350">
              <a:buAutoNum type="arabicPeriod"/>
            </a:pPr>
            <a:r>
              <a:rPr lang="en-PH" sz="3200" dirty="0">
                <a:latin typeface="Arial Nova Cond Light" panose="020B0306020202020204" pitchFamily="34" charset="0"/>
              </a:rPr>
              <a:t>Ang </a:t>
            </a:r>
            <a:r>
              <a:rPr lang="en-PH" sz="3200" dirty="0" err="1">
                <a:latin typeface="Arial Nova Cond Light" panose="020B0306020202020204" pitchFamily="34" charset="0"/>
              </a:rPr>
              <a:t>mga</a:t>
            </a:r>
            <a:r>
              <a:rPr lang="en-PH" sz="3200" dirty="0">
                <a:latin typeface="Arial Nova Cond Light" panose="020B0306020202020204" pitchFamily="34" charset="0"/>
              </a:rPr>
              <a:t> </a:t>
            </a:r>
            <a:r>
              <a:rPr lang="en-PH" sz="3200" dirty="0" err="1">
                <a:latin typeface="Arial Nova Cond Light" panose="020B0306020202020204" pitchFamily="34" charset="0"/>
              </a:rPr>
              <a:t>sapatos</a:t>
            </a:r>
            <a:r>
              <a:rPr lang="en-PH" sz="3200" dirty="0">
                <a:latin typeface="Arial Nova Cond Light" panose="020B0306020202020204" pitchFamily="34" charset="0"/>
              </a:rPr>
              <a:t> ay </a:t>
            </a:r>
            <a:r>
              <a:rPr lang="en-PH" sz="3200" dirty="0" err="1">
                <a:latin typeface="Arial Nova Cond Light" panose="020B0306020202020204" pitchFamily="34" charset="0"/>
              </a:rPr>
              <a:t>malilinis</a:t>
            </a:r>
            <a:r>
              <a:rPr lang="en-PH" sz="3200" dirty="0">
                <a:latin typeface="Arial Nova Cond Light" panose="020B0306020202020204" pitchFamily="34" charset="0"/>
              </a:rPr>
              <a:t>.		. </a:t>
            </a:r>
          </a:p>
        </p:txBody>
      </p:sp>
    </p:spTree>
    <p:extLst>
      <p:ext uri="{BB962C8B-B14F-4D97-AF65-F5344CB8AC3E}">
        <p14:creationId xmlns:p14="http://schemas.microsoft.com/office/powerpoint/2010/main" val="1896743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9C38-4D89-F65E-EEFD-269266F6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D0148-0E2E-7D8D-DFCE-880CC30F5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1999" cy="59944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Arial Nova Cond Light" panose="020B0306020202020204" pitchFamily="34" charset="0"/>
            </a:endParaRPr>
          </a:p>
          <a:p>
            <a:pPr marL="0" indent="0">
              <a:buNone/>
            </a:pPr>
            <a:r>
              <a:rPr lang="en-PH" sz="3200" dirty="0">
                <a:latin typeface="Arial Nova Cond Light" panose="020B0306020202020204" pitchFamily="34" charset="0"/>
              </a:rPr>
              <a:t>					</a:t>
            </a:r>
            <a:r>
              <a:rPr lang="en-PH" sz="3200" b="1" dirty="0">
                <a:latin typeface="Arial Nova Cond Light" panose="020B0306020202020204" pitchFamily="34" charset="0"/>
              </a:rPr>
              <a:t>Vocabulary List</a:t>
            </a:r>
          </a:p>
          <a:p>
            <a:pPr marL="0" indent="0">
              <a:buNone/>
            </a:pPr>
            <a:endParaRPr lang="en-PH" sz="3200" dirty="0">
              <a:latin typeface="Arial Nova Cond Light" panose="020B0306020202020204" pitchFamily="34" charset="0"/>
            </a:endParaRPr>
          </a:p>
          <a:p>
            <a:pPr marL="0" indent="0">
              <a:buNone/>
            </a:pPr>
            <a:r>
              <a:rPr lang="en-PH" sz="3200" dirty="0">
                <a:latin typeface="Arial Nova Cond Light" panose="020B0306020202020204" pitchFamily="34" charset="0"/>
              </a:rPr>
              <a:t>Bahay			House				</a:t>
            </a:r>
            <a:r>
              <a:rPr lang="en-PH" sz="3200" dirty="0" err="1">
                <a:latin typeface="Arial Nova Cond Light" panose="020B0306020202020204" pitchFamily="34" charset="0"/>
              </a:rPr>
              <a:t>Nagluluto</a:t>
            </a:r>
            <a:r>
              <a:rPr lang="en-PH" sz="3200" dirty="0">
                <a:latin typeface="Arial Nova Cond Light" panose="020B0306020202020204" pitchFamily="34" charset="0"/>
              </a:rPr>
              <a:t>		Cooking</a:t>
            </a:r>
          </a:p>
          <a:p>
            <a:pPr marL="0" indent="0">
              <a:buNone/>
            </a:pPr>
            <a:r>
              <a:rPr lang="en-PH" sz="3200" dirty="0">
                <a:latin typeface="Arial Nova Cond Light" panose="020B0306020202020204" pitchFamily="34" charset="0"/>
              </a:rPr>
              <a:t>Aso			Dog			</a:t>
            </a:r>
          </a:p>
          <a:p>
            <a:pPr marL="0" indent="0">
              <a:buNone/>
            </a:pPr>
            <a:r>
              <a:rPr lang="en-PH" sz="3200" dirty="0" err="1">
                <a:latin typeface="Arial Nova Cond Light" panose="020B0306020202020204" pitchFamily="34" charset="0"/>
              </a:rPr>
              <a:t>Kumakain</a:t>
            </a:r>
            <a:r>
              <a:rPr lang="en-PH" sz="3200" dirty="0">
                <a:latin typeface="Arial Nova Cond Light" panose="020B0306020202020204" pitchFamily="34" charset="0"/>
              </a:rPr>
              <a:t>		is/are eating</a:t>
            </a:r>
          </a:p>
          <a:p>
            <a:pPr marL="0" indent="0">
              <a:buNone/>
            </a:pPr>
            <a:r>
              <a:rPr lang="en-PH" sz="3200" dirty="0" err="1">
                <a:latin typeface="Arial Nova Cond Light" panose="020B0306020202020204" pitchFamily="34" charset="0"/>
              </a:rPr>
              <a:t>Mainit</a:t>
            </a:r>
            <a:r>
              <a:rPr lang="en-PH" sz="3200" dirty="0">
                <a:latin typeface="Arial Nova Cond Light" panose="020B0306020202020204" pitchFamily="34" charset="0"/>
              </a:rPr>
              <a:t>			Hot</a:t>
            </a:r>
          </a:p>
          <a:p>
            <a:pPr marL="0" indent="0">
              <a:buNone/>
            </a:pPr>
            <a:r>
              <a:rPr lang="en-PH" sz="3200" dirty="0">
                <a:latin typeface="Arial Nova Cond Light" panose="020B0306020202020204" pitchFamily="34" charset="0"/>
              </a:rPr>
              <a:t>Pusa			Cat</a:t>
            </a:r>
          </a:p>
        </p:txBody>
      </p:sp>
    </p:spTree>
    <p:extLst>
      <p:ext uri="{BB962C8B-B14F-4D97-AF65-F5344CB8AC3E}">
        <p14:creationId xmlns:p14="http://schemas.microsoft.com/office/powerpoint/2010/main" val="4042752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8B93-72EF-D205-8960-BBC1F5B2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8393-84F5-C65C-5FA2-C513B482F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3365"/>
            <a:ext cx="12065000" cy="2541431"/>
          </a:xfrm>
        </p:spPr>
        <p:txBody>
          <a:bodyPr>
            <a:normAutofit/>
          </a:bodyPr>
          <a:lstStyle/>
          <a:p>
            <a:pPr algn="ctr"/>
            <a:r>
              <a:rPr lang="en-PH" sz="14900" dirty="0">
                <a:latin typeface="Arial Nova Cond Light" panose="020B0306020202020204" pitchFamily="34" charset="0"/>
              </a:rPr>
              <a:t>Salamat!</a:t>
            </a:r>
          </a:p>
        </p:txBody>
      </p:sp>
    </p:spTree>
    <p:extLst>
      <p:ext uri="{BB962C8B-B14F-4D97-AF65-F5344CB8AC3E}">
        <p14:creationId xmlns:p14="http://schemas.microsoft.com/office/powerpoint/2010/main" val="370515515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1191</TotalTime>
  <Words>1198</Words>
  <Application>Microsoft Office PowerPoint</Application>
  <PresentationFormat>Widescreen</PresentationFormat>
  <Paragraphs>160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Nova Cond Light</vt:lpstr>
      <vt:lpstr>Calibri</vt:lpstr>
      <vt:lpstr>Gill Sans MT</vt:lpstr>
      <vt:lpstr>Gallery</vt:lpstr>
      <vt:lpstr>WELCOME back  Pablo! </vt:lpstr>
      <vt:lpstr>Lesson 02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Salamat!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Charine Labao</dc:creator>
  <cp:lastModifiedBy>Charine Labao</cp:lastModifiedBy>
  <cp:revision>12</cp:revision>
  <dcterms:created xsi:type="dcterms:W3CDTF">2025-07-09T10:16:11Z</dcterms:created>
  <dcterms:modified xsi:type="dcterms:W3CDTF">2026-07-23T16:23:59Z</dcterms:modified>
</cp:coreProperties>
</file>